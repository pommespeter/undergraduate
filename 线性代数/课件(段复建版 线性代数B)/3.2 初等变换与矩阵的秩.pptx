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88" r:id="rId2"/>
    <p:sldId id="271" r:id="rId3"/>
    <p:sldId id="280" r:id="rId4"/>
    <p:sldId id="281" r:id="rId5"/>
    <p:sldId id="282" r:id="rId6"/>
    <p:sldId id="297" r:id="rId7"/>
    <p:sldId id="298" r:id="rId8"/>
    <p:sldId id="283" r:id="rId9"/>
    <p:sldId id="289" r:id="rId10"/>
    <p:sldId id="295" r:id="rId11"/>
    <p:sldId id="290" r:id="rId12"/>
    <p:sldId id="285" r:id="rId13"/>
    <p:sldId id="286" r:id="rId14"/>
    <p:sldId id="291" r:id="rId15"/>
    <p:sldId id="292" r:id="rId16"/>
    <p:sldId id="293" r:id="rId17"/>
    <p:sldId id="294" r:id="rId18"/>
    <p:sldId id="287" r:id="rId19"/>
    <p:sldId id="299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F8C"/>
    <a:srgbClr val="F17623"/>
    <a:srgbClr val="8A8A8A"/>
    <a:srgbClr val="4876CA"/>
    <a:srgbClr val="9DC3E6"/>
    <a:srgbClr val="2E75B6"/>
    <a:srgbClr val="1F4E79"/>
    <a:srgbClr val="FFFFFF"/>
    <a:srgbClr val="548235"/>
    <a:srgbClr val="3857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7" autoAdjust="0"/>
    <p:restoredTop sz="94667" autoAdjust="0"/>
  </p:normalViewPr>
  <p:slideViewPr>
    <p:cSldViewPr snapToGrid="0">
      <p:cViewPr>
        <p:scale>
          <a:sx n="79" d="100"/>
          <a:sy n="79" d="100"/>
        </p:scale>
        <p:origin x="-324" y="-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image" Target="../media/image10.wmf"/><Relationship Id="rId7" Type="http://schemas.openxmlformats.org/officeDocument/2006/relationships/image" Target="../media/image15.wmf"/><Relationship Id="rId2" Type="http://schemas.openxmlformats.org/officeDocument/2006/relationships/image" Target="../media/image9.wmf"/><Relationship Id="rId1" Type="http://schemas.openxmlformats.org/officeDocument/2006/relationships/image" Target="../media/image6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Relationship Id="rId9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6" Type="http://schemas.openxmlformats.org/officeDocument/2006/relationships/image" Target="../media/image23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image" Target="../media/image26.wmf"/><Relationship Id="rId7" Type="http://schemas.openxmlformats.org/officeDocument/2006/relationships/image" Target="../media/image30.wmf"/><Relationship Id="rId12" Type="http://schemas.openxmlformats.org/officeDocument/2006/relationships/image" Target="../media/image35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6" Type="http://schemas.openxmlformats.org/officeDocument/2006/relationships/image" Target="../media/image29.wmf"/><Relationship Id="rId11" Type="http://schemas.openxmlformats.org/officeDocument/2006/relationships/image" Target="../media/image34.wmf"/><Relationship Id="rId5" Type="http://schemas.openxmlformats.org/officeDocument/2006/relationships/image" Target="../media/image28.wmf"/><Relationship Id="rId10" Type="http://schemas.openxmlformats.org/officeDocument/2006/relationships/image" Target="../media/image33.wmf"/><Relationship Id="rId4" Type="http://schemas.openxmlformats.org/officeDocument/2006/relationships/image" Target="../media/image27.wmf"/><Relationship Id="rId9" Type="http://schemas.openxmlformats.org/officeDocument/2006/relationships/image" Target="../media/image32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image" Target="../media/image38.wmf"/><Relationship Id="rId7" Type="http://schemas.openxmlformats.org/officeDocument/2006/relationships/image" Target="../media/image42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Relationship Id="rId4" Type="http://schemas.openxmlformats.org/officeDocument/2006/relationships/image" Target="../media/image46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image" Target="../media/image49.wmf"/><Relationship Id="rId7" Type="http://schemas.openxmlformats.org/officeDocument/2006/relationships/image" Target="../media/image52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6" Type="http://schemas.openxmlformats.org/officeDocument/2006/relationships/image" Target="../media/image40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Relationship Id="rId9" Type="http://schemas.openxmlformats.org/officeDocument/2006/relationships/image" Target="../media/image54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7" Type="http://schemas.openxmlformats.org/officeDocument/2006/relationships/image" Target="../media/image61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6" Type="http://schemas.openxmlformats.org/officeDocument/2006/relationships/image" Target="../media/image60.wmf"/><Relationship Id="rId5" Type="http://schemas.openxmlformats.org/officeDocument/2006/relationships/image" Target="../media/image59.wmf"/><Relationship Id="rId4" Type="http://schemas.openxmlformats.org/officeDocument/2006/relationships/image" Target="../media/image58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3" Type="http://schemas.openxmlformats.org/officeDocument/2006/relationships/image" Target="../media/image57.wmf"/><Relationship Id="rId7" Type="http://schemas.openxmlformats.org/officeDocument/2006/relationships/image" Target="../media/image66.wmf"/><Relationship Id="rId2" Type="http://schemas.openxmlformats.org/officeDocument/2006/relationships/image" Target="../media/image56.wmf"/><Relationship Id="rId1" Type="http://schemas.openxmlformats.org/officeDocument/2006/relationships/image" Target="../media/image62.wmf"/><Relationship Id="rId6" Type="http://schemas.openxmlformats.org/officeDocument/2006/relationships/image" Target="../media/image65.wmf"/><Relationship Id="rId5" Type="http://schemas.openxmlformats.org/officeDocument/2006/relationships/image" Target="../media/image64.wmf"/><Relationship Id="rId4" Type="http://schemas.openxmlformats.org/officeDocument/2006/relationships/image" Target="../media/image63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Relationship Id="rId6" Type="http://schemas.openxmlformats.org/officeDocument/2006/relationships/image" Target="../media/image75.wmf"/><Relationship Id="rId5" Type="http://schemas.openxmlformats.org/officeDocument/2006/relationships/image" Target="../media/image74.wmf"/><Relationship Id="rId4" Type="http://schemas.openxmlformats.org/officeDocument/2006/relationships/image" Target="../media/image73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7.wmf"/><Relationship Id="rId2" Type="http://schemas.openxmlformats.org/officeDocument/2006/relationships/image" Target="../media/image76.wmf"/><Relationship Id="rId1" Type="http://schemas.openxmlformats.org/officeDocument/2006/relationships/image" Target="../media/image70.wmf"/><Relationship Id="rId4" Type="http://schemas.openxmlformats.org/officeDocument/2006/relationships/image" Target="../media/image78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0.wmf"/><Relationship Id="rId1" Type="http://schemas.openxmlformats.org/officeDocument/2006/relationships/image" Target="../media/image79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3" Type="http://schemas.openxmlformats.org/officeDocument/2006/relationships/image" Target="../media/image83.wmf"/><Relationship Id="rId7" Type="http://schemas.openxmlformats.org/officeDocument/2006/relationships/image" Target="../media/image87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Relationship Id="rId6" Type="http://schemas.openxmlformats.org/officeDocument/2006/relationships/image" Target="../media/image86.wmf"/><Relationship Id="rId5" Type="http://schemas.openxmlformats.org/officeDocument/2006/relationships/image" Target="../media/image85.wmf"/><Relationship Id="rId4" Type="http://schemas.openxmlformats.org/officeDocument/2006/relationships/image" Target="../media/image84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3" Type="http://schemas.openxmlformats.org/officeDocument/2006/relationships/image" Target="../media/image91.wmf"/><Relationship Id="rId7" Type="http://schemas.openxmlformats.org/officeDocument/2006/relationships/image" Target="../media/image95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Relationship Id="rId6" Type="http://schemas.openxmlformats.org/officeDocument/2006/relationships/image" Target="../media/image94.wmf"/><Relationship Id="rId11" Type="http://schemas.openxmlformats.org/officeDocument/2006/relationships/image" Target="../media/image99.wmf"/><Relationship Id="rId5" Type="http://schemas.openxmlformats.org/officeDocument/2006/relationships/image" Target="../media/image93.wmf"/><Relationship Id="rId10" Type="http://schemas.openxmlformats.org/officeDocument/2006/relationships/image" Target="../media/image98.wmf"/><Relationship Id="rId4" Type="http://schemas.openxmlformats.org/officeDocument/2006/relationships/image" Target="../media/image92.wmf"/><Relationship Id="rId9" Type="http://schemas.openxmlformats.org/officeDocument/2006/relationships/image" Target="../media/image97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13" Type="http://schemas.openxmlformats.org/officeDocument/2006/relationships/image" Target="../media/image112.wmf"/><Relationship Id="rId3" Type="http://schemas.openxmlformats.org/officeDocument/2006/relationships/image" Target="../media/image102.wmf"/><Relationship Id="rId7" Type="http://schemas.openxmlformats.org/officeDocument/2006/relationships/image" Target="../media/image106.wmf"/><Relationship Id="rId12" Type="http://schemas.openxmlformats.org/officeDocument/2006/relationships/image" Target="../media/image111.wmf"/><Relationship Id="rId2" Type="http://schemas.openxmlformats.org/officeDocument/2006/relationships/image" Target="../media/image101.wmf"/><Relationship Id="rId1" Type="http://schemas.openxmlformats.org/officeDocument/2006/relationships/image" Target="../media/image100.wmf"/><Relationship Id="rId6" Type="http://schemas.openxmlformats.org/officeDocument/2006/relationships/image" Target="../media/image105.wmf"/><Relationship Id="rId11" Type="http://schemas.openxmlformats.org/officeDocument/2006/relationships/image" Target="../media/image110.wmf"/><Relationship Id="rId5" Type="http://schemas.openxmlformats.org/officeDocument/2006/relationships/image" Target="../media/image104.wmf"/><Relationship Id="rId10" Type="http://schemas.openxmlformats.org/officeDocument/2006/relationships/image" Target="../media/image109.wmf"/><Relationship Id="rId4" Type="http://schemas.openxmlformats.org/officeDocument/2006/relationships/image" Target="../media/image103.wmf"/><Relationship Id="rId9" Type="http://schemas.openxmlformats.org/officeDocument/2006/relationships/image" Target="../media/image108.wmf"/><Relationship Id="rId14" Type="http://schemas.openxmlformats.org/officeDocument/2006/relationships/image" Target="../media/image11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CD7AA7-6893-499C-8B93-CFD8D864E84E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92EE49-8C34-44D6-A4FF-74519DC616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3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2EE49-8C34-44D6-A4FF-74519DC6166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8010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2EE49-8C34-44D6-A4FF-74519DC6166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3997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2EE49-8C34-44D6-A4FF-74519DC6166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7478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 smtClean="0"/>
              <a:t>线性代数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4454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61806" y="161741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525195" y="915711"/>
            <a:ext cx="11133406" cy="140677"/>
            <a:chOff x="478302" y="1098594"/>
            <a:chExt cx="11133406" cy="140677"/>
          </a:xfrm>
        </p:grpSpPr>
        <p:cxnSp>
          <p:nvCxnSpPr>
            <p:cNvPr id="12" name="直接连接符 11"/>
            <p:cNvCxnSpPr/>
            <p:nvPr userDrawn="1"/>
          </p:nvCxnSpPr>
          <p:spPr>
            <a:xfrm>
              <a:off x="478302" y="1098594"/>
              <a:ext cx="11133406" cy="0"/>
            </a:xfrm>
            <a:prstGeom prst="line">
              <a:avLst/>
            </a:prstGeom>
            <a:ln w="38100">
              <a:solidFill>
                <a:srgbClr val="004F8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 userDrawn="1"/>
          </p:nvSpPr>
          <p:spPr>
            <a:xfrm>
              <a:off x="478302" y="1098594"/>
              <a:ext cx="6386732" cy="140677"/>
            </a:xfrm>
            <a:prstGeom prst="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26" name="Picture 2" descr="top_img[1]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06"/>
          <a:stretch>
            <a:fillRect/>
          </a:stretch>
        </p:blipFill>
        <p:spPr bwMode="auto">
          <a:xfrm>
            <a:off x="525195" y="0"/>
            <a:ext cx="3649955" cy="887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13855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5463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985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2539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89905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49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707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395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988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675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7" descr="4校标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brigh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" y="36776"/>
            <a:ext cx="6718242" cy="669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11298" y="2181443"/>
            <a:ext cx="12192000" cy="2690766"/>
            <a:chOff x="0" y="1966958"/>
            <a:chExt cx="12192000" cy="2690766"/>
          </a:xfrm>
        </p:grpSpPr>
        <p:sp>
          <p:nvSpPr>
            <p:cNvPr id="8" name="矩形 7"/>
            <p:cNvSpPr/>
            <p:nvPr/>
          </p:nvSpPr>
          <p:spPr bwMode="auto">
            <a:xfrm>
              <a:off x="0" y="1966958"/>
              <a:ext cx="12192000" cy="2690766"/>
            </a:xfrm>
            <a:prstGeom prst="rect">
              <a:avLst/>
            </a:prstGeom>
            <a:solidFill>
              <a:srgbClr val="284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Arial" pitchFamily="34" charset="0"/>
                <a:ea typeface="微软雅黑" pitchFamily="34" charset="-122"/>
                <a:sym typeface="Arial" pitchFamily="34" charset="0"/>
              </a:endParaRPr>
            </a:p>
          </p:txBody>
        </p:sp>
        <p:pic>
          <p:nvPicPr>
            <p:cNvPr id="9" name="图片 17" descr="4校标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932" y="2159818"/>
              <a:ext cx="2112433" cy="2103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0" name="直接连接符 9"/>
            <p:cNvCxnSpPr/>
            <p:nvPr userDrawn="1"/>
          </p:nvCxnSpPr>
          <p:spPr>
            <a:xfrm>
              <a:off x="3016249" y="3182938"/>
              <a:ext cx="914400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6"/>
          <p:cNvSpPr txBox="1">
            <a:spLocks noChangeArrowheads="1"/>
          </p:cNvSpPr>
          <p:nvPr userDrawn="1"/>
        </p:nvSpPr>
        <p:spPr bwMode="auto">
          <a:xfrm>
            <a:off x="2779663" y="2548386"/>
            <a:ext cx="9652000" cy="719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线性代数 </a:t>
            </a:r>
            <a:r>
              <a:rPr lang="en-US" altLang="zh-CN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—— </a:t>
            </a:r>
            <a:r>
              <a:rPr lang="zh-CN" altLang="en-US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第三章 线性方程组</a:t>
            </a:r>
            <a:endParaRPr lang="en-US" altLang="zh-CN" sz="4000" b="1" dirty="0">
              <a:solidFill>
                <a:schemeClr val="bg1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  <p:sp>
        <p:nvSpPr>
          <p:cNvPr id="12" name="文本框 32"/>
          <p:cNvSpPr txBox="1">
            <a:spLocks noChangeArrowheads="1"/>
          </p:cNvSpPr>
          <p:nvPr userDrawn="1"/>
        </p:nvSpPr>
        <p:spPr bwMode="auto">
          <a:xfrm>
            <a:off x="2333567" y="3526826"/>
            <a:ext cx="9652000" cy="60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32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      </a:t>
            </a:r>
            <a:r>
              <a:rPr lang="en-US" altLang="zh-CN" sz="32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3.2</a:t>
            </a:r>
            <a:r>
              <a:rPr lang="en-US" altLang="zh-CN" sz="3200" baseline="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</a:t>
            </a:r>
            <a:r>
              <a:rPr lang="zh-CN" altLang="en-US" sz="3200" baseline="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初等变换与矩阵的秩</a:t>
            </a:r>
            <a:endParaRPr lang="zh-CN" altLang="en-US" sz="3200" dirty="0">
              <a:solidFill>
                <a:schemeClr val="bg1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15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333375"/>
            <a:ext cx="10972800" cy="57927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16FE48-A04E-4D3C-B4D2-BB6506D55B2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6313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50789-27F0-408F-9528-9DD877FE9CA3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722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oleObject" Target="../embeddings/oleObject9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7.wmf"/><Relationship Id="rId12" Type="http://schemas.openxmlformats.org/officeDocument/2006/relationships/image" Target="../media/image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11" Type="http://schemas.openxmlformats.org/officeDocument/2006/relationships/oleObject" Target="../embeddings/oleObject8.bin"/><Relationship Id="rId5" Type="http://schemas.openxmlformats.org/officeDocument/2006/relationships/image" Target="../media/image6.wmf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4.bin"/><Relationship Id="rId9" Type="http://schemas.openxmlformats.org/officeDocument/2006/relationships/image" Target="../media/image8.wmf"/><Relationship Id="rId14" Type="http://schemas.openxmlformats.org/officeDocument/2006/relationships/image" Target="../media/image10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1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oleObject" Target="../embeddings/oleObject16.bin"/><Relationship Id="rId18" Type="http://schemas.openxmlformats.org/officeDocument/2006/relationships/image" Target="../media/image16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3.wmf"/><Relationship Id="rId17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5.wmf"/><Relationship Id="rId20" Type="http://schemas.openxmlformats.org/officeDocument/2006/relationships/image" Target="../media/image17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5" Type="http://schemas.openxmlformats.org/officeDocument/2006/relationships/oleObject" Target="../embeddings/oleObject17.bin"/><Relationship Id="rId10" Type="http://schemas.openxmlformats.org/officeDocument/2006/relationships/image" Target="../media/image12.wmf"/><Relationship Id="rId19" Type="http://schemas.openxmlformats.org/officeDocument/2006/relationships/oleObject" Target="../embeddings/oleObject19.bin"/><Relationship Id="rId4" Type="http://schemas.openxmlformats.org/officeDocument/2006/relationships/image" Target="../media/image6.w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14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oleObject" Target="../embeddings/oleObject25.bin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2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21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23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oleObject" Target="../embeddings/oleObject32.bin"/><Relationship Id="rId18" Type="http://schemas.openxmlformats.org/officeDocument/2006/relationships/image" Target="../media/image30.wmf"/><Relationship Id="rId26" Type="http://schemas.openxmlformats.org/officeDocument/2006/relationships/image" Target="../media/image34.wmf"/><Relationship Id="rId3" Type="http://schemas.openxmlformats.org/officeDocument/2006/relationships/oleObject" Target="../embeddings/oleObject26.bin"/><Relationship Id="rId21" Type="http://schemas.openxmlformats.org/officeDocument/2006/relationships/oleObject" Target="../embeddings/oleObject36.bin"/><Relationship Id="rId7" Type="http://schemas.openxmlformats.org/officeDocument/2006/relationships/oleObject" Target="../embeddings/oleObject28.bin"/><Relationship Id="rId12" Type="http://schemas.openxmlformats.org/officeDocument/2006/relationships/oleObject" Target="../embeddings/oleObject31.bin"/><Relationship Id="rId17" Type="http://schemas.openxmlformats.org/officeDocument/2006/relationships/oleObject" Target="../embeddings/oleObject34.bin"/><Relationship Id="rId25" Type="http://schemas.openxmlformats.org/officeDocument/2006/relationships/oleObject" Target="../embeddings/oleObject3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9.wmf"/><Relationship Id="rId20" Type="http://schemas.openxmlformats.org/officeDocument/2006/relationships/image" Target="../media/image31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25.wmf"/><Relationship Id="rId11" Type="http://schemas.openxmlformats.org/officeDocument/2006/relationships/image" Target="../media/image27.wmf"/><Relationship Id="rId24" Type="http://schemas.openxmlformats.org/officeDocument/2006/relationships/image" Target="../media/image33.wmf"/><Relationship Id="rId5" Type="http://schemas.openxmlformats.org/officeDocument/2006/relationships/oleObject" Target="../embeddings/oleObject27.bin"/><Relationship Id="rId15" Type="http://schemas.openxmlformats.org/officeDocument/2006/relationships/oleObject" Target="../embeddings/oleObject33.bin"/><Relationship Id="rId23" Type="http://schemas.openxmlformats.org/officeDocument/2006/relationships/oleObject" Target="../embeddings/oleObject37.bin"/><Relationship Id="rId28" Type="http://schemas.openxmlformats.org/officeDocument/2006/relationships/image" Target="../media/image35.wmf"/><Relationship Id="rId10" Type="http://schemas.openxmlformats.org/officeDocument/2006/relationships/oleObject" Target="../embeddings/oleObject30.bin"/><Relationship Id="rId19" Type="http://schemas.openxmlformats.org/officeDocument/2006/relationships/oleObject" Target="../embeddings/oleObject35.bin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9.bin"/><Relationship Id="rId14" Type="http://schemas.openxmlformats.org/officeDocument/2006/relationships/image" Target="../media/image28.wmf"/><Relationship Id="rId22" Type="http://schemas.openxmlformats.org/officeDocument/2006/relationships/image" Target="../media/image32.wmf"/><Relationship Id="rId27" Type="http://schemas.openxmlformats.org/officeDocument/2006/relationships/oleObject" Target="../embeddings/oleObject39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oleObject" Target="../embeddings/oleObject45.bin"/><Relationship Id="rId18" Type="http://schemas.openxmlformats.org/officeDocument/2006/relationships/oleObject" Target="../embeddings/oleObject48.bin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12" Type="http://schemas.openxmlformats.org/officeDocument/2006/relationships/image" Target="../media/image40.wmf"/><Relationship Id="rId17" Type="http://schemas.openxmlformats.org/officeDocument/2006/relationships/image" Target="../media/image42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47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37.wmf"/><Relationship Id="rId11" Type="http://schemas.openxmlformats.org/officeDocument/2006/relationships/oleObject" Target="../embeddings/oleObject44.bin"/><Relationship Id="rId5" Type="http://schemas.openxmlformats.org/officeDocument/2006/relationships/oleObject" Target="../embeddings/oleObject41.bin"/><Relationship Id="rId15" Type="http://schemas.openxmlformats.org/officeDocument/2006/relationships/oleObject" Target="../embeddings/oleObject46.bin"/><Relationship Id="rId10" Type="http://schemas.openxmlformats.org/officeDocument/2006/relationships/image" Target="../media/image39.wmf"/><Relationship Id="rId19" Type="http://schemas.openxmlformats.org/officeDocument/2006/relationships/image" Target="../media/image43.wmf"/><Relationship Id="rId4" Type="http://schemas.openxmlformats.org/officeDocument/2006/relationships/image" Target="../media/image36.wmf"/><Relationship Id="rId9" Type="http://schemas.openxmlformats.org/officeDocument/2006/relationships/oleObject" Target="../embeddings/oleObject43.bin"/><Relationship Id="rId14" Type="http://schemas.openxmlformats.org/officeDocument/2006/relationships/image" Target="../media/image41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5.wmf"/><Relationship Id="rId11" Type="http://schemas.openxmlformats.org/officeDocument/2006/relationships/image" Target="../media/image46.wmf"/><Relationship Id="rId5" Type="http://schemas.openxmlformats.org/officeDocument/2006/relationships/oleObject" Target="../embeddings/oleObject50.bin"/><Relationship Id="rId10" Type="http://schemas.openxmlformats.org/officeDocument/2006/relationships/oleObject" Target="../embeddings/oleObject53.bin"/><Relationship Id="rId4" Type="http://schemas.openxmlformats.org/officeDocument/2006/relationships/image" Target="../media/image44.wmf"/><Relationship Id="rId9" Type="http://schemas.openxmlformats.org/officeDocument/2006/relationships/oleObject" Target="../embeddings/oleObject52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13" Type="http://schemas.openxmlformats.org/officeDocument/2006/relationships/oleObject" Target="../embeddings/oleObject59.bin"/><Relationship Id="rId18" Type="http://schemas.openxmlformats.org/officeDocument/2006/relationships/oleObject" Target="../embeddings/oleObject62.bin"/><Relationship Id="rId3" Type="http://schemas.openxmlformats.org/officeDocument/2006/relationships/oleObject" Target="../embeddings/oleObject54.bin"/><Relationship Id="rId21" Type="http://schemas.openxmlformats.org/officeDocument/2006/relationships/image" Target="../media/image54.wmf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51.wmf"/><Relationship Id="rId17" Type="http://schemas.openxmlformats.org/officeDocument/2006/relationships/oleObject" Target="../embeddings/oleObject6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2.wmf"/><Relationship Id="rId20" Type="http://schemas.openxmlformats.org/officeDocument/2006/relationships/oleObject" Target="../embeddings/oleObject63.bin"/><Relationship Id="rId1" Type="http://schemas.openxmlformats.org/officeDocument/2006/relationships/vmlDrawing" Target="../drawings/vmlDrawing9.vml"/><Relationship Id="rId6" Type="http://schemas.openxmlformats.org/officeDocument/2006/relationships/image" Target="../media/image48.wmf"/><Relationship Id="rId11" Type="http://schemas.openxmlformats.org/officeDocument/2006/relationships/oleObject" Target="../embeddings/oleObject58.bin"/><Relationship Id="rId5" Type="http://schemas.openxmlformats.org/officeDocument/2006/relationships/oleObject" Target="../embeddings/oleObject55.bin"/><Relationship Id="rId15" Type="http://schemas.openxmlformats.org/officeDocument/2006/relationships/oleObject" Target="../embeddings/oleObject60.bin"/><Relationship Id="rId10" Type="http://schemas.openxmlformats.org/officeDocument/2006/relationships/image" Target="../media/image50.wmf"/><Relationship Id="rId19" Type="http://schemas.openxmlformats.org/officeDocument/2006/relationships/image" Target="../media/image53.wmf"/><Relationship Id="rId4" Type="http://schemas.openxmlformats.org/officeDocument/2006/relationships/image" Target="../media/image47.wmf"/><Relationship Id="rId9" Type="http://schemas.openxmlformats.org/officeDocument/2006/relationships/oleObject" Target="../embeddings/oleObject57.bin"/><Relationship Id="rId14" Type="http://schemas.openxmlformats.org/officeDocument/2006/relationships/image" Target="../media/image40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13" Type="http://schemas.openxmlformats.org/officeDocument/2006/relationships/oleObject" Target="../embeddings/oleObject69.bin"/><Relationship Id="rId3" Type="http://schemas.openxmlformats.org/officeDocument/2006/relationships/oleObject" Target="../embeddings/oleObject64.bin"/><Relationship Id="rId7" Type="http://schemas.openxmlformats.org/officeDocument/2006/relationships/oleObject" Target="../embeddings/oleObject66.bin"/><Relationship Id="rId12" Type="http://schemas.openxmlformats.org/officeDocument/2006/relationships/image" Target="../media/image59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1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6.wmf"/><Relationship Id="rId11" Type="http://schemas.openxmlformats.org/officeDocument/2006/relationships/oleObject" Target="../embeddings/oleObject68.bin"/><Relationship Id="rId5" Type="http://schemas.openxmlformats.org/officeDocument/2006/relationships/oleObject" Target="../embeddings/oleObject65.bin"/><Relationship Id="rId15" Type="http://schemas.openxmlformats.org/officeDocument/2006/relationships/oleObject" Target="../embeddings/oleObject70.bin"/><Relationship Id="rId10" Type="http://schemas.openxmlformats.org/officeDocument/2006/relationships/image" Target="../media/image58.wmf"/><Relationship Id="rId4" Type="http://schemas.openxmlformats.org/officeDocument/2006/relationships/image" Target="../media/image55.wmf"/><Relationship Id="rId9" Type="http://schemas.openxmlformats.org/officeDocument/2006/relationships/oleObject" Target="../embeddings/oleObject67.bin"/><Relationship Id="rId14" Type="http://schemas.openxmlformats.org/officeDocument/2006/relationships/image" Target="../media/image60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3.bin"/><Relationship Id="rId13" Type="http://schemas.openxmlformats.org/officeDocument/2006/relationships/image" Target="../media/image64.wmf"/><Relationship Id="rId18" Type="http://schemas.openxmlformats.org/officeDocument/2006/relationships/oleObject" Target="../embeddings/oleObject78.bin"/><Relationship Id="rId3" Type="http://schemas.openxmlformats.org/officeDocument/2006/relationships/notesSlide" Target="../notesSlides/notesSlide3.xml"/><Relationship Id="rId21" Type="http://schemas.microsoft.com/office/2007/relationships/hdphoto" Target="../media/hdphoto2.wdp"/><Relationship Id="rId7" Type="http://schemas.openxmlformats.org/officeDocument/2006/relationships/image" Target="../media/image56.wmf"/><Relationship Id="rId12" Type="http://schemas.openxmlformats.org/officeDocument/2006/relationships/oleObject" Target="../embeddings/oleObject75.bin"/><Relationship Id="rId17" Type="http://schemas.openxmlformats.org/officeDocument/2006/relationships/image" Target="../media/image66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77.bin"/><Relationship Id="rId20" Type="http://schemas.openxmlformats.org/officeDocument/2006/relationships/image" Target="../media/image68.png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72.bin"/><Relationship Id="rId11" Type="http://schemas.openxmlformats.org/officeDocument/2006/relationships/image" Target="../media/image63.wmf"/><Relationship Id="rId5" Type="http://schemas.openxmlformats.org/officeDocument/2006/relationships/image" Target="../media/image62.wmf"/><Relationship Id="rId15" Type="http://schemas.openxmlformats.org/officeDocument/2006/relationships/image" Target="../media/image65.wmf"/><Relationship Id="rId23" Type="http://schemas.microsoft.com/office/2007/relationships/hdphoto" Target="../media/hdphoto3.wdp"/><Relationship Id="rId10" Type="http://schemas.openxmlformats.org/officeDocument/2006/relationships/oleObject" Target="../embeddings/oleObject74.bin"/><Relationship Id="rId19" Type="http://schemas.openxmlformats.org/officeDocument/2006/relationships/image" Target="../media/image67.wmf"/><Relationship Id="rId4" Type="http://schemas.openxmlformats.org/officeDocument/2006/relationships/oleObject" Target="../embeddings/oleObject71.bin"/><Relationship Id="rId9" Type="http://schemas.openxmlformats.org/officeDocument/2006/relationships/image" Target="../media/image57.wmf"/><Relationship Id="rId14" Type="http://schemas.openxmlformats.org/officeDocument/2006/relationships/oleObject" Target="../embeddings/oleObject76.bin"/><Relationship Id="rId22" Type="http://schemas.openxmlformats.org/officeDocument/2006/relationships/image" Target="../media/image6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13" Type="http://schemas.openxmlformats.org/officeDocument/2006/relationships/oleObject" Target="../embeddings/oleObject84.bin"/><Relationship Id="rId3" Type="http://schemas.openxmlformats.org/officeDocument/2006/relationships/oleObject" Target="../embeddings/oleObject79.bin"/><Relationship Id="rId7" Type="http://schemas.openxmlformats.org/officeDocument/2006/relationships/oleObject" Target="../embeddings/oleObject81.bin"/><Relationship Id="rId12" Type="http://schemas.openxmlformats.org/officeDocument/2006/relationships/image" Target="../media/image7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71.wmf"/><Relationship Id="rId11" Type="http://schemas.openxmlformats.org/officeDocument/2006/relationships/oleObject" Target="../embeddings/oleObject83.bin"/><Relationship Id="rId5" Type="http://schemas.openxmlformats.org/officeDocument/2006/relationships/oleObject" Target="../embeddings/oleObject80.bin"/><Relationship Id="rId10" Type="http://schemas.openxmlformats.org/officeDocument/2006/relationships/image" Target="../media/image73.wmf"/><Relationship Id="rId4" Type="http://schemas.openxmlformats.org/officeDocument/2006/relationships/image" Target="../media/image70.wmf"/><Relationship Id="rId9" Type="http://schemas.openxmlformats.org/officeDocument/2006/relationships/oleObject" Target="../embeddings/oleObject82.bin"/><Relationship Id="rId14" Type="http://schemas.openxmlformats.org/officeDocument/2006/relationships/image" Target="../media/image75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3" Type="http://schemas.openxmlformats.org/officeDocument/2006/relationships/oleObject" Target="../embeddings/oleObject85.bin"/><Relationship Id="rId7" Type="http://schemas.openxmlformats.org/officeDocument/2006/relationships/oleObject" Target="../embeddings/oleObject8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6.wmf"/><Relationship Id="rId5" Type="http://schemas.openxmlformats.org/officeDocument/2006/relationships/oleObject" Target="../embeddings/oleObject86.bin"/><Relationship Id="rId10" Type="http://schemas.openxmlformats.org/officeDocument/2006/relationships/image" Target="../media/image78.wmf"/><Relationship Id="rId4" Type="http://schemas.openxmlformats.org/officeDocument/2006/relationships/image" Target="../media/image70.wmf"/><Relationship Id="rId9" Type="http://schemas.openxmlformats.org/officeDocument/2006/relationships/oleObject" Target="../embeddings/oleObject88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80.wmf"/><Relationship Id="rId5" Type="http://schemas.openxmlformats.org/officeDocument/2006/relationships/oleObject" Target="../embeddings/oleObject90.bin"/><Relationship Id="rId4" Type="http://schemas.openxmlformats.org/officeDocument/2006/relationships/image" Target="../media/image79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13" Type="http://schemas.openxmlformats.org/officeDocument/2006/relationships/oleObject" Target="../embeddings/oleObject96.bin"/><Relationship Id="rId18" Type="http://schemas.openxmlformats.org/officeDocument/2006/relationships/oleObject" Target="../embeddings/oleObject99.bin"/><Relationship Id="rId3" Type="http://schemas.openxmlformats.org/officeDocument/2006/relationships/oleObject" Target="../embeddings/oleObject91.bin"/><Relationship Id="rId7" Type="http://schemas.openxmlformats.org/officeDocument/2006/relationships/oleObject" Target="../embeddings/oleObject93.bin"/><Relationship Id="rId12" Type="http://schemas.openxmlformats.org/officeDocument/2006/relationships/image" Target="../media/image85.wmf"/><Relationship Id="rId17" Type="http://schemas.openxmlformats.org/officeDocument/2006/relationships/image" Target="../media/image87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98.bin"/><Relationship Id="rId1" Type="http://schemas.openxmlformats.org/officeDocument/2006/relationships/vmlDrawing" Target="../drawings/vmlDrawing15.vml"/><Relationship Id="rId6" Type="http://schemas.openxmlformats.org/officeDocument/2006/relationships/image" Target="../media/image82.wmf"/><Relationship Id="rId11" Type="http://schemas.openxmlformats.org/officeDocument/2006/relationships/oleObject" Target="../embeddings/oleObject95.bin"/><Relationship Id="rId5" Type="http://schemas.openxmlformats.org/officeDocument/2006/relationships/oleObject" Target="../embeddings/oleObject92.bin"/><Relationship Id="rId15" Type="http://schemas.openxmlformats.org/officeDocument/2006/relationships/image" Target="../media/image86.wmf"/><Relationship Id="rId10" Type="http://schemas.openxmlformats.org/officeDocument/2006/relationships/image" Target="../media/image84.wmf"/><Relationship Id="rId19" Type="http://schemas.openxmlformats.org/officeDocument/2006/relationships/image" Target="../media/image88.wmf"/><Relationship Id="rId4" Type="http://schemas.openxmlformats.org/officeDocument/2006/relationships/image" Target="../media/image81.wmf"/><Relationship Id="rId9" Type="http://schemas.openxmlformats.org/officeDocument/2006/relationships/oleObject" Target="../embeddings/oleObject94.bin"/><Relationship Id="rId14" Type="http://schemas.openxmlformats.org/officeDocument/2006/relationships/oleObject" Target="../embeddings/oleObject97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13" Type="http://schemas.openxmlformats.org/officeDocument/2006/relationships/oleObject" Target="../embeddings/oleObject105.bin"/><Relationship Id="rId18" Type="http://schemas.openxmlformats.org/officeDocument/2006/relationships/image" Target="../media/image96.wmf"/><Relationship Id="rId3" Type="http://schemas.openxmlformats.org/officeDocument/2006/relationships/oleObject" Target="../embeddings/oleObject100.bin"/><Relationship Id="rId21" Type="http://schemas.openxmlformats.org/officeDocument/2006/relationships/oleObject" Target="../embeddings/oleObject109.bin"/><Relationship Id="rId7" Type="http://schemas.openxmlformats.org/officeDocument/2006/relationships/oleObject" Target="../embeddings/oleObject102.bin"/><Relationship Id="rId12" Type="http://schemas.openxmlformats.org/officeDocument/2006/relationships/image" Target="../media/image93.wmf"/><Relationship Id="rId17" Type="http://schemas.openxmlformats.org/officeDocument/2006/relationships/oleObject" Target="../embeddings/oleObject10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5.wmf"/><Relationship Id="rId20" Type="http://schemas.openxmlformats.org/officeDocument/2006/relationships/image" Target="../media/image97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90.wmf"/><Relationship Id="rId11" Type="http://schemas.openxmlformats.org/officeDocument/2006/relationships/oleObject" Target="../embeddings/oleObject104.bin"/><Relationship Id="rId24" Type="http://schemas.openxmlformats.org/officeDocument/2006/relationships/image" Target="../media/image99.wmf"/><Relationship Id="rId5" Type="http://schemas.openxmlformats.org/officeDocument/2006/relationships/oleObject" Target="../embeddings/oleObject101.bin"/><Relationship Id="rId15" Type="http://schemas.openxmlformats.org/officeDocument/2006/relationships/oleObject" Target="../embeddings/oleObject106.bin"/><Relationship Id="rId23" Type="http://schemas.openxmlformats.org/officeDocument/2006/relationships/oleObject" Target="../embeddings/oleObject110.bin"/><Relationship Id="rId10" Type="http://schemas.openxmlformats.org/officeDocument/2006/relationships/image" Target="../media/image92.wmf"/><Relationship Id="rId19" Type="http://schemas.openxmlformats.org/officeDocument/2006/relationships/oleObject" Target="../embeddings/oleObject108.bin"/><Relationship Id="rId4" Type="http://schemas.openxmlformats.org/officeDocument/2006/relationships/image" Target="../media/image89.wmf"/><Relationship Id="rId9" Type="http://schemas.openxmlformats.org/officeDocument/2006/relationships/oleObject" Target="../embeddings/oleObject103.bin"/><Relationship Id="rId14" Type="http://schemas.openxmlformats.org/officeDocument/2006/relationships/image" Target="../media/image94.wmf"/><Relationship Id="rId22" Type="http://schemas.openxmlformats.org/officeDocument/2006/relationships/image" Target="../media/image98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13" Type="http://schemas.openxmlformats.org/officeDocument/2006/relationships/oleObject" Target="../embeddings/oleObject116.bin"/><Relationship Id="rId18" Type="http://schemas.openxmlformats.org/officeDocument/2006/relationships/image" Target="../media/image107.wmf"/><Relationship Id="rId26" Type="http://schemas.openxmlformats.org/officeDocument/2006/relationships/image" Target="../media/image111.wmf"/><Relationship Id="rId3" Type="http://schemas.openxmlformats.org/officeDocument/2006/relationships/oleObject" Target="../embeddings/oleObject111.bin"/><Relationship Id="rId21" Type="http://schemas.openxmlformats.org/officeDocument/2006/relationships/oleObject" Target="../embeddings/oleObject120.bin"/><Relationship Id="rId7" Type="http://schemas.openxmlformats.org/officeDocument/2006/relationships/oleObject" Target="../embeddings/oleObject113.bin"/><Relationship Id="rId12" Type="http://schemas.openxmlformats.org/officeDocument/2006/relationships/image" Target="../media/image104.wmf"/><Relationship Id="rId17" Type="http://schemas.openxmlformats.org/officeDocument/2006/relationships/oleObject" Target="../embeddings/oleObject118.bin"/><Relationship Id="rId25" Type="http://schemas.openxmlformats.org/officeDocument/2006/relationships/oleObject" Target="../embeddings/oleObject12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6.wmf"/><Relationship Id="rId20" Type="http://schemas.openxmlformats.org/officeDocument/2006/relationships/image" Target="../media/image108.wmf"/><Relationship Id="rId29" Type="http://schemas.openxmlformats.org/officeDocument/2006/relationships/oleObject" Target="../embeddings/oleObject124.bin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01.wmf"/><Relationship Id="rId11" Type="http://schemas.openxmlformats.org/officeDocument/2006/relationships/oleObject" Target="../embeddings/oleObject115.bin"/><Relationship Id="rId24" Type="http://schemas.openxmlformats.org/officeDocument/2006/relationships/image" Target="../media/image110.wmf"/><Relationship Id="rId5" Type="http://schemas.openxmlformats.org/officeDocument/2006/relationships/oleObject" Target="../embeddings/oleObject112.bin"/><Relationship Id="rId15" Type="http://schemas.openxmlformats.org/officeDocument/2006/relationships/oleObject" Target="../embeddings/oleObject117.bin"/><Relationship Id="rId23" Type="http://schemas.openxmlformats.org/officeDocument/2006/relationships/oleObject" Target="../embeddings/oleObject121.bin"/><Relationship Id="rId28" Type="http://schemas.openxmlformats.org/officeDocument/2006/relationships/image" Target="../media/image112.wmf"/><Relationship Id="rId10" Type="http://schemas.openxmlformats.org/officeDocument/2006/relationships/image" Target="../media/image103.wmf"/><Relationship Id="rId19" Type="http://schemas.openxmlformats.org/officeDocument/2006/relationships/oleObject" Target="../embeddings/oleObject119.bin"/><Relationship Id="rId4" Type="http://schemas.openxmlformats.org/officeDocument/2006/relationships/image" Target="../media/image100.wmf"/><Relationship Id="rId9" Type="http://schemas.openxmlformats.org/officeDocument/2006/relationships/oleObject" Target="../embeddings/oleObject114.bin"/><Relationship Id="rId14" Type="http://schemas.openxmlformats.org/officeDocument/2006/relationships/image" Target="../media/image105.wmf"/><Relationship Id="rId22" Type="http://schemas.openxmlformats.org/officeDocument/2006/relationships/image" Target="../media/image109.wmf"/><Relationship Id="rId27" Type="http://schemas.openxmlformats.org/officeDocument/2006/relationships/oleObject" Target="../embeddings/oleObject123.bin"/><Relationship Id="rId30" Type="http://schemas.openxmlformats.org/officeDocument/2006/relationships/image" Target="../media/image11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079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549681" y="439388"/>
            <a:ext cx="4914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初等变换与矩阵的秩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09766" y="2462236"/>
            <a:ext cx="2239494" cy="1567446"/>
            <a:chOff x="745588" y="1310185"/>
            <a:chExt cx="1209662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745588" y="1310185"/>
              <a:ext cx="1209662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759655" y="1427370"/>
              <a:ext cx="1195595" cy="3690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矩阵的三种</a:t>
              </a:r>
              <a:endParaRPr lang="en-US" altLang="zh-CN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初等变换</a:t>
              </a: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3115053" y="3832106"/>
            <a:ext cx="6765925" cy="859809"/>
            <a:chOff x="7797420" y="3330054"/>
            <a:chExt cx="4487768" cy="85980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2" name="圆角矩形 41"/>
            <p:cNvSpPr/>
            <p:nvPr/>
          </p:nvSpPr>
          <p:spPr>
            <a:xfrm>
              <a:off x="7797420" y="3330054"/>
              <a:ext cx="4394580" cy="859809"/>
            </a:xfrm>
            <a:prstGeom prst="roundRect">
              <a:avLst/>
            </a:prstGeom>
            <a:solidFill>
              <a:srgbClr val="4876C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44"/>
            <p:cNvSpPr/>
            <p:nvPr/>
          </p:nvSpPr>
          <p:spPr>
            <a:xfrm>
              <a:off x="7964346" y="3529125"/>
              <a:ext cx="432084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某一行（列）乘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加到另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一行（列）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倍加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3115054" y="2816803"/>
            <a:ext cx="6765924" cy="859809"/>
            <a:chOff x="7797420" y="3330054"/>
            <a:chExt cx="4460596" cy="85980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8" name="圆角矩形 47"/>
            <p:cNvSpPr/>
            <p:nvPr/>
          </p:nvSpPr>
          <p:spPr>
            <a:xfrm>
              <a:off x="7797420" y="3330054"/>
              <a:ext cx="4364622" cy="859809"/>
            </a:xfrm>
            <a:prstGeom prst="roundRect">
              <a:avLst/>
            </a:prstGeom>
            <a:solidFill>
              <a:srgbClr val="F17623"/>
            </a:solidFill>
            <a:ln>
              <a:solidFill>
                <a:srgbClr val="F1762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/>
            <p:cNvSpPr/>
            <p:nvPr/>
          </p:nvSpPr>
          <p:spPr>
            <a:xfrm>
              <a:off x="7964346" y="3529125"/>
              <a:ext cx="429367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用非零数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乘某一行（列）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 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倍法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3115052" y="1801500"/>
            <a:ext cx="6620349" cy="859809"/>
            <a:chOff x="7797419" y="3330054"/>
            <a:chExt cx="5427712" cy="85980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1" name="圆角矩形 50"/>
            <p:cNvSpPr/>
            <p:nvPr/>
          </p:nvSpPr>
          <p:spPr>
            <a:xfrm>
              <a:off x="7797419" y="3330054"/>
              <a:ext cx="5427712" cy="859809"/>
            </a:xfrm>
            <a:prstGeom prst="roundRect">
              <a:avLst/>
            </a:prstGeom>
            <a:solidFill>
              <a:srgbClr val="8A8A8A"/>
            </a:solidFill>
            <a:ln>
              <a:solidFill>
                <a:srgbClr val="8A8A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7964346" y="3529125"/>
              <a:ext cx="40174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交换某两行（列）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 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换法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2970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549681" y="439388"/>
            <a:ext cx="4914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初等变换与矩阵的秩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06043" y="1205568"/>
            <a:ext cx="2687323" cy="651368"/>
            <a:chOff x="745588" y="1310185"/>
            <a:chExt cx="1209662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圆角矩形 8"/>
            <p:cNvSpPr/>
            <p:nvPr/>
          </p:nvSpPr>
          <p:spPr>
            <a:xfrm>
              <a:off x="745588" y="1310185"/>
              <a:ext cx="1123749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759655" y="1427370"/>
              <a:ext cx="1195595" cy="493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矩阵的初等变换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37294" y="2326959"/>
            <a:ext cx="9951532" cy="651368"/>
            <a:chOff x="537294" y="2326959"/>
            <a:chExt cx="9951532" cy="651368"/>
          </a:xfrm>
        </p:grpSpPr>
        <p:grpSp>
          <p:nvGrpSpPr>
            <p:cNvPr id="11" name="组合 10"/>
            <p:cNvGrpSpPr/>
            <p:nvPr/>
          </p:nvGrpSpPr>
          <p:grpSpPr>
            <a:xfrm>
              <a:off x="537294" y="2326959"/>
              <a:ext cx="1209620" cy="651368"/>
              <a:chOff x="745588" y="1310185"/>
              <a:chExt cx="544494" cy="696036"/>
            </a:xfrm>
          </p:grpSpPr>
          <p:sp>
            <p:nvSpPr>
              <p:cNvPr id="12" name="圆角矩形 11"/>
              <p:cNvSpPr/>
              <p:nvPr/>
            </p:nvSpPr>
            <p:spPr>
              <a:xfrm>
                <a:off x="745588" y="1310185"/>
                <a:ext cx="544494" cy="696036"/>
              </a:xfrm>
              <a:prstGeom prst="roundRect">
                <a:avLst/>
              </a:prstGeom>
              <a:solidFill>
                <a:srgbClr val="004F8C"/>
              </a:solidFill>
              <a:ln>
                <a:solidFill>
                  <a:srgbClr val="004F8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759655" y="1427370"/>
                <a:ext cx="530427" cy="493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定义</a:t>
                </a:r>
                <a:r>
                  <a:rPr lang="en-US" altLang="zh-CN" sz="24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1865330" y="2491440"/>
              <a:ext cx="86234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若矩阵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经过初等变换化为矩阵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，则称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矩阵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与矩阵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等价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.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537294" y="3802386"/>
            <a:ext cx="9951532" cy="860590"/>
            <a:chOff x="537294" y="3802386"/>
            <a:chExt cx="9951532" cy="860590"/>
          </a:xfrm>
        </p:grpSpPr>
        <p:grpSp>
          <p:nvGrpSpPr>
            <p:cNvPr id="16" name="组合 15"/>
            <p:cNvGrpSpPr/>
            <p:nvPr/>
          </p:nvGrpSpPr>
          <p:grpSpPr>
            <a:xfrm>
              <a:off x="537294" y="3802386"/>
              <a:ext cx="9951532" cy="651368"/>
              <a:chOff x="537294" y="2326959"/>
              <a:chExt cx="9951532" cy="651368"/>
            </a:xfrm>
          </p:grpSpPr>
          <p:grpSp>
            <p:nvGrpSpPr>
              <p:cNvPr id="17" name="组合 16"/>
              <p:cNvGrpSpPr/>
              <p:nvPr/>
            </p:nvGrpSpPr>
            <p:grpSpPr>
              <a:xfrm>
                <a:off x="537294" y="2326959"/>
                <a:ext cx="1209620" cy="651368"/>
                <a:chOff x="745588" y="1310185"/>
                <a:chExt cx="544494" cy="696036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745588" y="1310185"/>
                  <a:ext cx="544494" cy="696036"/>
                </a:xfrm>
                <a:prstGeom prst="roundRect">
                  <a:avLst/>
                </a:prstGeom>
                <a:solidFill>
                  <a:srgbClr val="004F8C"/>
                </a:solidFill>
                <a:ln>
                  <a:solidFill>
                    <a:srgbClr val="004F8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文本框 19"/>
                <p:cNvSpPr txBox="1"/>
                <p:nvPr/>
              </p:nvSpPr>
              <p:spPr>
                <a:xfrm>
                  <a:off x="759655" y="1427370"/>
                  <a:ext cx="530427" cy="4933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400" b="1" dirty="0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定理</a:t>
                  </a:r>
                  <a:r>
                    <a:rPr lang="en-US" altLang="zh-CN" sz="2400" b="1" dirty="0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24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8" name="文本框 17"/>
              <p:cNvSpPr txBox="1"/>
              <p:nvPr/>
            </p:nvSpPr>
            <p:spPr>
              <a:xfrm>
                <a:off x="1865330" y="2491440"/>
                <a:ext cx="862349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任意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矩阵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可通过初等变换化为               形矩阵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  <a:endPara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aphicFrame>
          <p:nvGraphicFramePr>
            <p:cNvPr id="21" name="对象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2881267"/>
                </p:ext>
              </p:extLst>
            </p:nvPr>
          </p:nvGraphicFramePr>
          <p:xfrm>
            <a:off x="6276389" y="3813663"/>
            <a:ext cx="1135063" cy="849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08" name="Equation" r:id="rId4" imgW="609480" imgH="457200" progId="Equation.DSMT4">
                    <p:embed/>
                  </p:oleObj>
                </mc:Choice>
                <mc:Fallback>
                  <p:oleObj name="Equation" r:id="rId4" imgW="609480" imgH="457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6276389" y="3813663"/>
                          <a:ext cx="1135063" cy="8493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3560826"/>
              </p:ext>
            </p:extLst>
          </p:nvPr>
        </p:nvGraphicFramePr>
        <p:xfrm>
          <a:off x="1839913" y="5108575"/>
          <a:ext cx="284162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09" name="Equation" r:id="rId6" imgW="152280" imgH="164880" progId="Equation.DSMT4">
                  <p:embed/>
                </p:oleObj>
              </mc:Choice>
              <mc:Fallback>
                <p:oleObj name="Equation" r:id="rId6" imgW="15228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39913" y="5108575"/>
                        <a:ext cx="284162" cy="307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组合 23"/>
          <p:cNvGrpSpPr/>
          <p:nvPr/>
        </p:nvGrpSpPr>
        <p:grpSpPr>
          <a:xfrm>
            <a:off x="2124075" y="4864385"/>
            <a:ext cx="1463056" cy="1155818"/>
            <a:chOff x="3232701" y="2593040"/>
            <a:chExt cx="1463056" cy="1155818"/>
          </a:xfrm>
        </p:grpSpPr>
        <p:cxnSp>
          <p:nvCxnSpPr>
            <p:cNvPr id="25" name="直接箭头连接符 24"/>
            <p:cNvCxnSpPr/>
            <p:nvPr/>
          </p:nvCxnSpPr>
          <p:spPr>
            <a:xfrm>
              <a:off x="3232701" y="3041547"/>
              <a:ext cx="1332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/>
            <p:cNvSpPr txBox="1"/>
            <p:nvPr/>
          </p:nvSpPr>
          <p:spPr>
            <a:xfrm>
              <a:off x="3286220" y="2593040"/>
              <a:ext cx="14095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行变换</a:t>
              </a: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351760" y="3287193"/>
              <a:ext cx="11043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消元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5217681" y="4864385"/>
            <a:ext cx="1332000" cy="1155818"/>
            <a:chOff x="3232701" y="2593040"/>
            <a:chExt cx="1332000" cy="1155818"/>
          </a:xfrm>
        </p:grpSpPr>
        <p:cxnSp>
          <p:nvCxnSpPr>
            <p:cNvPr id="31" name="直接箭头连接符 30"/>
            <p:cNvCxnSpPr/>
            <p:nvPr/>
          </p:nvCxnSpPr>
          <p:spPr>
            <a:xfrm>
              <a:off x="3232701" y="3041547"/>
              <a:ext cx="1332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本框 31"/>
            <p:cNvSpPr txBox="1"/>
            <p:nvPr/>
          </p:nvSpPr>
          <p:spPr>
            <a:xfrm>
              <a:off x="3352813" y="2593040"/>
              <a:ext cx="11020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行变换</a:t>
              </a: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3351760" y="3287193"/>
              <a:ext cx="11043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回代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3347442" y="5082059"/>
            <a:ext cx="23803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（行阶梯形）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6439835" y="5072927"/>
            <a:ext cx="2947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（最简行阶梯形）</a:t>
            </a:r>
          </a:p>
        </p:txBody>
      </p:sp>
      <p:grpSp>
        <p:nvGrpSpPr>
          <p:cNvPr id="42" name="组合 41"/>
          <p:cNvGrpSpPr/>
          <p:nvPr/>
        </p:nvGrpSpPr>
        <p:grpSpPr>
          <a:xfrm>
            <a:off x="8973091" y="5250101"/>
            <a:ext cx="1332000" cy="461665"/>
            <a:chOff x="3232701" y="3016390"/>
            <a:chExt cx="1332000" cy="461665"/>
          </a:xfrm>
        </p:grpSpPr>
        <p:cxnSp>
          <p:nvCxnSpPr>
            <p:cNvPr id="43" name="直接箭头连接符 42"/>
            <p:cNvCxnSpPr/>
            <p:nvPr/>
          </p:nvCxnSpPr>
          <p:spPr>
            <a:xfrm>
              <a:off x="3232701" y="3041547"/>
              <a:ext cx="1332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本框 43"/>
            <p:cNvSpPr txBox="1"/>
            <p:nvPr/>
          </p:nvSpPr>
          <p:spPr>
            <a:xfrm>
              <a:off x="3342547" y="3016390"/>
              <a:ext cx="11020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列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变换</a:t>
              </a:r>
            </a:p>
          </p:txBody>
        </p:sp>
      </p:grpSp>
      <p:graphicFrame>
        <p:nvGraphicFramePr>
          <p:cNvPr id="46" name="对象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0614625"/>
              </p:ext>
            </p:extLst>
          </p:nvPr>
        </p:nvGraphicFramePr>
        <p:xfrm>
          <a:off x="10414937" y="4825444"/>
          <a:ext cx="1135063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0" name="Equation" r:id="rId8" imgW="609480" imgH="457200" progId="Equation.DSMT4">
                  <p:embed/>
                </p:oleObj>
              </mc:Choice>
              <mc:Fallback>
                <p:oleObj name="Equation" r:id="rId8" imgW="60948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414937" y="4825444"/>
                        <a:ext cx="1135063" cy="849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11374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549681" y="439388"/>
            <a:ext cx="4914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初等变换与矩阵的秩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06043" y="1205569"/>
            <a:ext cx="2575184" cy="940662"/>
            <a:chOff x="745588" y="1310185"/>
            <a:chExt cx="785392" cy="10051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745588" y="1310185"/>
              <a:ext cx="785392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59655" y="1427370"/>
              <a:ext cx="771325" cy="887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初等矩阵 定义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3230169" y="1327980"/>
            <a:ext cx="8623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单位矩阵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经过一次初等变换得到的矩阵，称为初等矩阵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506043" y="2169196"/>
            <a:ext cx="2575183" cy="574087"/>
            <a:chOff x="506043" y="2169196"/>
            <a:chExt cx="2575183" cy="57408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圆角矩形 17"/>
            <p:cNvSpPr/>
            <p:nvPr/>
          </p:nvSpPr>
          <p:spPr>
            <a:xfrm>
              <a:off x="506043" y="2169196"/>
              <a:ext cx="2078895" cy="574087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06043" y="2216574"/>
              <a:ext cx="25751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 换法阵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4660216" y="2174572"/>
            <a:ext cx="2575183" cy="574087"/>
            <a:chOff x="3943247" y="2174572"/>
            <a:chExt cx="2575183" cy="57408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9" name="圆角矩形 18"/>
            <p:cNvSpPr/>
            <p:nvPr/>
          </p:nvSpPr>
          <p:spPr>
            <a:xfrm>
              <a:off x="4002485" y="2174572"/>
              <a:ext cx="2078895" cy="574087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3943247" y="2216573"/>
              <a:ext cx="25751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 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倍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法阵</a:t>
              </a: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8686379" y="2169196"/>
            <a:ext cx="2575183" cy="574087"/>
            <a:chOff x="7688056" y="2169195"/>
            <a:chExt cx="2575183" cy="57408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0" name="圆角矩形 19"/>
            <p:cNvSpPr/>
            <p:nvPr/>
          </p:nvSpPr>
          <p:spPr>
            <a:xfrm>
              <a:off x="7688056" y="2169195"/>
              <a:ext cx="2078895" cy="574087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7688056" y="2216573"/>
              <a:ext cx="25751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）倍加阵</a:t>
              </a:r>
            </a:p>
          </p:txBody>
        </p:sp>
      </p:grp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8225272"/>
              </p:ext>
            </p:extLst>
          </p:nvPr>
        </p:nvGraphicFramePr>
        <p:xfrm>
          <a:off x="439623" y="2914528"/>
          <a:ext cx="3194100" cy="25015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22" name="Equation" r:id="rId4" imgW="2044440" imgH="1600200" progId="Equation.DSMT4">
                  <p:embed/>
                </p:oleObj>
              </mc:Choice>
              <mc:Fallback>
                <p:oleObj name="Equation" r:id="rId4" imgW="2044440" imgH="1600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9623" y="2914528"/>
                        <a:ext cx="3194100" cy="25015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5074772"/>
              </p:ext>
            </p:extLst>
          </p:nvPr>
        </p:nvGraphicFramePr>
        <p:xfrm>
          <a:off x="506043" y="2914528"/>
          <a:ext cx="3094037" cy="250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23" name="Equation" r:id="rId6" imgW="1981080" imgH="1600200" progId="Equation.DSMT4">
                  <p:embed/>
                </p:oleObj>
              </mc:Choice>
              <mc:Fallback>
                <p:oleObj name="Equation" r:id="rId6" imgW="1981080" imgH="1600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06043" y="2914528"/>
                        <a:ext cx="3094037" cy="2501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967484"/>
              </p:ext>
            </p:extLst>
          </p:nvPr>
        </p:nvGraphicFramePr>
        <p:xfrm>
          <a:off x="4221407" y="3002086"/>
          <a:ext cx="3074988" cy="250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24" name="Equation" r:id="rId8" imgW="1968480" imgH="1600200" progId="Equation.DSMT4">
                  <p:embed/>
                </p:oleObj>
              </mc:Choice>
              <mc:Fallback>
                <p:oleObj name="Equation" r:id="rId8" imgW="1968480" imgH="1600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221407" y="3002086"/>
                        <a:ext cx="3074988" cy="2501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6055997"/>
              </p:ext>
            </p:extLst>
          </p:nvPr>
        </p:nvGraphicFramePr>
        <p:xfrm>
          <a:off x="8202938" y="2964476"/>
          <a:ext cx="3074988" cy="250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25" name="Equation" r:id="rId10" imgW="1968480" imgH="1600200" progId="Equation.DSMT4">
                  <p:embed/>
                </p:oleObj>
              </mc:Choice>
              <mc:Fallback>
                <p:oleObj name="Equation" r:id="rId10" imgW="1968480" imgH="1600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202938" y="2964476"/>
                        <a:ext cx="3074988" cy="2501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0899500"/>
              </p:ext>
            </p:extLst>
          </p:nvPr>
        </p:nvGraphicFramePr>
        <p:xfrm>
          <a:off x="3964232" y="3002086"/>
          <a:ext cx="3332163" cy="250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26" name="Equation" r:id="rId11" imgW="2133360" imgH="1600200" progId="Equation.DSMT4">
                  <p:embed/>
                </p:oleObj>
              </mc:Choice>
              <mc:Fallback>
                <p:oleObj name="Equation" r:id="rId11" imgW="2133360" imgH="1600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964232" y="3002086"/>
                        <a:ext cx="3332163" cy="2501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336628"/>
              </p:ext>
            </p:extLst>
          </p:nvPr>
        </p:nvGraphicFramePr>
        <p:xfrm>
          <a:off x="7887026" y="2964476"/>
          <a:ext cx="3390900" cy="250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27" name="Equation" r:id="rId13" imgW="2171520" imgH="1600200" progId="Equation.DSMT4">
                  <p:embed/>
                </p:oleObj>
              </mc:Choice>
              <mc:Fallback>
                <p:oleObj name="Equation" r:id="rId13" imgW="2171520" imgH="1600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887026" y="2964476"/>
                        <a:ext cx="3390900" cy="2501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4299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549681" y="439388"/>
            <a:ext cx="4914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初等变换与矩阵的秩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54947" y="1205569"/>
            <a:ext cx="7121201" cy="694440"/>
            <a:chOff x="759655" y="1310185"/>
            <a:chExt cx="2048355" cy="74206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778363" y="1310185"/>
              <a:ext cx="1915441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59655" y="1427370"/>
              <a:ext cx="2048355" cy="6248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32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初等矩阵的作用</a:t>
              </a:r>
              <a:r>
                <a:rPr lang="en-US" altLang="zh-CN" sz="32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-----</a:t>
              </a:r>
              <a:r>
                <a:rPr lang="zh-CN" altLang="en-US" sz="32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行左列右定理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554949" y="2056162"/>
            <a:ext cx="11420484" cy="2618636"/>
            <a:chOff x="554949" y="1856936"/>
            <a:chExt cx="11420484" cy="2618636"/>
          </a:xfrm>
        </p:grpSpPr>
        <p:grpSp>
          <p:nvGrpSpPr>
            <p:cNvPr id="8" name="组合 7"/>
            <p:cNvGrpSpPr/>
            <p:nvPr/>
          </p:nvGrpSpPr>
          <p:grpSpPr>
            <a:xfrm>
              <a:off x="554949" y="1856936"/>
              <a:ext cx="11330733" cy="2618636"/>
              <a:chOff x="586200" y="3521963"/>
              <a:chExt cx="11330733" cy="2618636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586200" y="3612033"/>
                <a:ext cx="11330733" cy="2528566"/>
                <a:chOff x="586200" y="2136606"/>
                <a:chExt cx="11330733" cy="2528566"/>
              </a:xfrm>
            </p:grpSpPr>
            <p:grpSp>
              <p:nvGrpSpPr>
                <p:cNvPr id="11" name="组合 10"/>
                <p:cNvGrpSpPr/>
                <p:nvPr/>
              </p:nvGrpSpPr>
              <p:grpSpPr>
                <a:xfrm>
                  <a:off x="586200" y="2136606"/>
                  <a:ext cx="1472405" cy="600164"/>
                  <a:chOff x="767602" y="1106779"/>
                  <a:chExt cx="662783" cy="641321"/>
                </a:xfrm>
              </p:grpSpPr>
              <p:sp>
                <p:nvSpPr>
                  <p:cNvPr id="13" name="圆角矩形 12"/>
                  <p:cNvSpPr/>
                  <p:nvPr/>
                </p:nvSpPr>
                <p:spPr>
                  <a:xfrm>
                    <a:off x="796877" y="1106779"/>
                    <a:ext cx="566292" cy="641321"/>
                  </a:xfrm>
                  <a:prstGeom prst="roundRect">
                    <a:avLst/>
                  </a:prstGeom>
                  <a:solidFill>
                    <a:srgbClr val="004F8C"/>
                  </a:solidFill>
                  <a:ln>
                    <a:solidFill>
                      <a:srgbClr val="004F8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4" name="文本框 13"/>
                  <p:cNvSpPr txBox="1"/>
                  <p:nvPr/>
                </p:nvSpPr>
                <p:spPr>
                  <a:xfrm>
                    <a:off x="767602" y="1115001"/>
                    <a:ext cx="662783" cy="6248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2400" b="1" dirty="0" smtClean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 </a:t>
                    </a:r>
                    <a:r>
                      <a:rPr lang="zh-CN" altLang="en-US" sz="3200" b="1" dirty="0" smtClean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定理</a:t>
                    </a:r>
                    <a:r>
                      <a:rPr lang="en-US" altLang="zh-CN" sz="32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2</a:t>
                    </a:r>
                    <a:endParaRPr lang="zh-CN" altLang="en-US" sz="3200" b="1" dirty="0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2" name="文本框 11"/>
                <p:cNvSpPr txBox="1"/>
                <p:nvPr/>
              </p:nvSpPr>
              <p:spPr>
                <a:xfrm>
                  <a:off x="2286894" y="3464843"/>
                  <a:ext cx="9630039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3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对</a:t>
                  </a:r>
                  <a:r>
                    <a:rPr lang="en-US" altLang="zh-CN" sz="3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A</a:t>
                  </a:r>
                  <a:r>
                    <a:rPr lang="zh-CN" altLang="en-US" sz="3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施</a:t>
                  </a:r>
                  <a:r>
                    <a:rPr lang="zh-CN" altLang="en-US" sz="3600" dirty="0" smtClean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以</a:t>
                  </a:r>
                  <a:r>
                    <a:rPr lang="zh-CN" altLang="en-US" sz="3600" dirty="0" smtClean="0">
                      <a:solidFill>
                        <a:srgbClr val="F17623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初等列变换</a:t>
                  </a:r>
                  <a:r>
                    <a:rPr lang="zh-CN" altLang="en-US" sz="3600" dirty="0" smtClean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相当于用相应的</a:t>
                  </a:r>
                  <a:r>
                    <a:rPr lang="en-US" altLang="zh-CN" sz="3600" dirty="0" smtClean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n</a:t>
                  </a:r>
                  <a:r>
                    <a:rPr lang="zh-CN" altLang="en-US" sz="3600" dirty="0" smtClean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阶初等矩阵</a:t>
                  </a:r>
                  <a:r>
                    <a:rPr lang="zh-CN" altLang="en-US" sz="3600" dirty="0">
                      <a:solidFill>
                        <a:srgbClr val="F17623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右</a:t>
                  </a:r>
                  <a:r>
                    <a:rPr lang="zh-CN" altLang="en-US" sz="3600" dirty="0" smtClean="0">
                      <a:solidFill>
                        <a:srgbClr val="F17623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乘</a:t>
                  </a:r>
                  <a:r>
                    <a:rPr lang="en-US" altLang="zh-CN" sz="3600" dirty="0" smtClean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A</a:t>
                  </a:r>
                  <a:r>
                    <a:rPr lang="zh-CN" altLang="en-US" sz="3600" dirty="0" smtClean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。</a:t>
                  </a:r>
                  <a:r>
                    <a:rPr lang="en-US" altLang="zh-CN" sz="3600" dirty="0" smtClean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   </a:t>
                  </a:r>
                  <a:endParaRPr lang="zh-CN" altLang="en-US" sz="36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aphicFrame>
            <p:nvGraphicFramePr>
              <p:cNvPr id="10" name="对象 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559696"/>
                  </p:ext>
                </p:extLst>
              </p:nvPr>
            </p:nvGraphicFramePr>
            <p:xfrm>
              <a:off x="2661175" y="3521963"/>
              <a:ext cx="1797696" cy="8657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904" name="Equation" r:id="rId3" imgW="723600" imgH="291960" progId="Equation.DSMT4">
                      <p:embed/>
                    </p:oleObj>
                  </mc:Choice>
                  <mc:Fallback>
                    <p:oleObj name="Equation" r:id="rId3" imgW="723600" imgH="29196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661175" y="3521963"/>
                            <a:ext cx="1797696" cy="86574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5" name="文本框 14"/>
            <p:cNvSpPr txBox="1"/>
            <p:nvPr/>
          </p:nvSpPr>
          <p:spPr>
            <a:xfrm>
              <a:off x="2165893" y="1947005"/>
              <a:ext cx="980954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              </a:t>
              </a:r>
              <a:r>
                <a:rPr lang="zh-CN" altLang="en-US" sz="3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，对</a:t>
              </a:r>
              <a:r>
                <a:rPr lang="en-US" altLang="zh-CN" sz="3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zh-CN" altLang="en-US" sz="3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施</a:t>
              </a:r>
              <a:r>
                <a:rPr lang="zh-CN" altLang="en-US" sz="3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以</a:t>
              </a:r>
              <a:r>
                <a:rPr lang="zh-CN" altLang="en-US" sz="3600" dirty="0" smtClean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初等行变换</a:t>
              </a:r>
              <a:r>
                <a:rPr lang="zh-CN" altLang="en-US" sz="3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相当于用相应</a:t>
              </a:r>
              <a:endPara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3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en-US" altLang="zh-CN" sz="3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r>
                <a:rPr lang="zh-CN" altLang="en-US" sz="3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阶初等矩阵</a:t>
              </a:r>
              <a:r>
                <a:rPr lang="zh-CN" altLang="en-US" sz="3600" dirty="0" smtClean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左乘</a:t>
              </a:r>
              <a:r>
                <a:rPr lang="en-US" altLang="zh-CN" sz="3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zh-CN" altLang="en-US" sz="3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r>
                <a:rPr lang="en-US" altLang="zh-CN" sz="3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endParaRPr lang="zh-CN" altLang="en-US" sz="36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8155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549681" y="439388"/>
            <a:ext cx="4914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初等变换与矩阵的秩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506043" y="1218701"/>
            <a:ext cx="2575183" cy="574087"/>
            <a:chOff x="506043" y="2169196"/>
            <a:chExt cx="2575183" cy="57408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圆角矩形 17"/>
            <p:cNvSpPr/>
            <p:nvPr/>
          </p:nvSpPr>
          <p:spPr>
            <a:xfrm>
              <a:off x="506043" y="2169196"/>
              <a:ext cx="2078895" cy="574087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06043" y="2216574"/>
              <a:ext cx="25751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400" b="1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400" b="1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 换法阵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4660215" y="1170684"/>
            <a:ext cx="2575183" cy="574087"/>
            <a:chOff x="3943246" y="1170684"/>
            <a:chExt cx="2575183" cy="57408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9" name="圆角矩形 18"/>
            <p:cNvSpPr/>
            <p:nvPr/>
          </p:nvSpPr>
          <p:spPr>
            <a:xfrm>
              <a:off x="4034354" y="1170684"/>
              <a:ext cx="2078895" cy="574087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3943246" y="1218701"/>
              <a:ext cx="25751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4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400" b="1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 </a:t>
              </a:r>
              <a:r>
                <a:rPr lang="zh-CN" altLang="en-US" sz="24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倍</a:t>
              </a:r>
              <a:r>
                <a:rPr lang="zh-CN" altLang="en-US" sz="2400" b="1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法阵</a:t>
              </a: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8613769" y="1162489"/>
            <a:ext cx="2575183" cy="574087"/>
            <a:chOff x="7615446" y="1162488"/>
            <a:chExt cx="2575183" cy="57408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0" name="圆角矩形 19"/>
            <p:cNvSpPr/>
            <p:nvPr/>
          </p:nvSpPr>
          <p:spPr>
            <a:xfrm>
              <a:off x="7688056" y="1162488"/>
              <a:ext cx="2078895" cy="574087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7615446" y="1170683"/>
              <a:ext cx="25751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400" b="1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2400" b="1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）倍加阵</a:t>
              </a:r>
            </a:p>
          </p:txBody>
        </p:sp>
      </p:grp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3063037"/>
              </p:ext>
            </p:extLst>
          </p:nvPr>
        </p:nvGraphicFramePr>
        <p:xfrm>
          <a:off x="196584" y="2060286"/>
          <a:ext cx="3194100" cy="25015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13" name="Equation" r:id="rId3" imgW="2044440" imgH="1600200" progId="Equation.DSMT4">
                  <p:embed/>
                </p:oleObj>
              </mc:Choice>
              <mc:Fallback>
                <p:oleObj name="Equation" r:id="rId3" imgW="2044440" imgH="1600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584" y="2060286"/>
                        <a:ext cx="3194100" cy="25015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2704673"/>
              </p:ext>
            </p:extLst>
          </p:nvPr>
        </p:nvGraphicFramePr>
        <p:xfrm>
          <a:off x="3992966" y="1932845"/>
          <a:ext cx="3332163" cy="250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14" name="Equation" r:id="rId5" imgW="2133360" imgH="1600200" progId="Equation.DSMT4">
                  <p:embed/>
                </p:oleObj>
              </mc:Choice>
              <mc:Fallback>
                <p:oleObj name="Equation" r:id="rId5" imgW="2133360" imgH="1600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92966" y="1932845"/>
                        <a:ext cx="3332163" cy="2501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0514620"/>
              </p:ext>
            </p:extLst>
          </p:nvPr>
        </p:nvGraphicFramePr>
        <p:xfrm>
          <a:off x="7636301" y="1846767"/>
          <a:ext cx="3390900" cy="250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15" name="Equation" r:id="rId7" imgW="2171520" imgH="1600200" progId="Equation.DSMT4">
                  <p:embed/>
                </p:oleObj>
              </mc:Choice>
              <mc:Fallback>
                <p:oleObj name="Equation" r:id="rId7" imgW="2171520" imgH="1600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636301" y="1846767"/>
                        <a:ext cx="3390900" cy="2501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组合 27"/>
          <p:cNvGrpSpPr/>
          <p:nvPr/>
        </p:nvGrpSpPr>
        <p:grpSpPr>
          <a:xfrm>
            <a:off x="2584938" y="5979412"/>
            <a:ext cx="8904660" cy="574087"/>
            <a:chOff x="506043" y="2169196"/>
            <a:chExt cx="2637888" cy="57408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9" name="圆角矩形 28"/>
            <p:cNvSpPr/>
            <p:nvPr/>
          </p:nvSpPr>
          <p:spPr>
            <a:xfrm>
              <a:off x="506043" y="2169196"/>
              <a:ext cx="2338661" cy="574087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533654" y="2216574"/>
              <a:ext cx="26102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初等矩阵均为可逆，且其逆矩阵也是同类的初等矩阵</a:t>
              </a:r>
              <a:r>
                <a:rPr lang="en-US" altLang="zh-CN" sz="2400" b="1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.</a:t>
              </a:r>
              <a:endParaRPr lang="zh-CN" altLang="en-US" sz="24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9683451"/>
              </p:ext>
            </p:extLst>
          </p:nvPr>
        </p:nvGraphicFramePr>
        <p:xfrm>
          <a:off x="782053" y="4559969"/>
          <a:ext cx="2406315" cy="662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16" name="Equation" r:id="rId9" imgW="1117440" imgH="279360" progId="Equation.DSMT4">
                  <p:embed/>
                </p:oleObj>
              </mc:Choice>
              <mc:Fallback>
                <p:oleObj name="Equation" r:id="rId9" imgW="11174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82053" y="4559969"/>
                        <a:ext cx="2406315" cy="6628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4421240"/>
              </p:ext>
            </p:extLst>
          </p:nvPr>
        </p:nvGraphicFramePr>
        <p:xfrm>
          <a:off x="4528711" y="4483267"/>
          <a:ext cx="2706687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17" name="Equation" r:id="rId11" imgW="1257120" imgH="279360" progId="Equation.DSMT4">
                  <p:embed/>
                </p:oleObj>
              </mc:Choice>
              <mc:Fallback>
                <p:oleObj name="Equation" r:id="rId11" imgW="1257120" imgH="27936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8711" y="4483267"/>
                        <a:ext cx="2706687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7405443"/>
              </p:ext>
            </p:extLst>
          </p:nvPr>
        </p:nvGraphicFramePr>
        <p:xfrm>
          <a:off x="8613769" y="4466975"/>
          <a:ext cx="2732087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18" name="Equation" r:id="rId13" imgW="1269720" imgH="279360" progId="Equation.DSMT4">
                  <p:embed/>
                </p:oleObj>
              </mc:Choice>
              <mc:Fallback>
                <p:oleObj name="Equation" r:id="rId13" imgW="1269720" imgH="27936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3769" y="4466975"/>
                        <a:ext cx="2732087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0435985"/>
              </p:ext>
            </p:extLst>
          </p:nvPr>
        </p:nvGraphicFramePr>
        <p:xfrm>
          <a:off x="1265026" y="5209674"/>
          <a:ext cx="1319912" cy="6376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19" name="Equation" r:id="rId15" imgW="609480" imgH="253800" progId="Equation.DSMT4">
                  <p:embed/>
                </p:oleObj>
              </mc:Choice>
              <mc:Fallback>
                <p:oleObj name="Equation" r:id="rId15" imgW="6094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265026" y="5209674"/>
                        <a:ext cx="1319912" cy="6376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9755979"/>
              </p:ext>
            </p:extLst>
          </p:nvPr>
        </p:nvGraphicFramePr>
        <p:xfrm>
          <a:off x="5078399" y="5136203"/>
          <a:ext cx="1731962" cy="89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20" name="Equation" r:id="rId17" imgW="799920" imgH="355320" progId="Equation.DSMT4">
                  <p:embed/>
                </p:oleObj>
              </mc:Choice>
              <mc:Fallback>
                <p:oleObj name="Equation" r:id="rId17" imgW="799920" imgH="35532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8399" y="5136203"/>
                        <a:ext cx="1731962" cy="890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8973382"/>
              </p:ext>
            </p:extLst>
          </p:nvPr>
        </p:nvGraphicFramePr>
        <p:xfrm>
          <a:off x="9160583" y="5066799"/>
          <a:ext cx="1979613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21" name="Equation" r:id="rId19" imgW="914400" imgH="253800" progId="Equation.DSMT4">
                  <p:embed/>
                </p:oleObj>
              </mc:Choice>
              <mc:Fallback>
                <p:oleObj name="Equation" r:id="rId19" imgW="914400" imgH="2538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60583" y="5066799"/>
                        <a:ext cx="1979613" cy="63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7285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549681" y="439388"/>
            <a:ext cx="4914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初等变换与矩阵的秩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06043" y="1205568"/>
            <a:ext cx="1744786" cy="651368"/>
            <a:chOff x="745588" y="1310185"/>
            <a:chExt cx="785392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745588" y="1310185"/>
              <a:ext cx="785392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59655" y="1427370"/>
              <a:ext cx="771325" cy="493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初等矩阵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17899" y="2017245"/>
            <a:ext cx="12854518" cy="1834306"/>
            <a:chOff x="517899" y="1780852"/>
            <a:chExt cx="12854518" cy="1834306"/>
          </a:xfrm>
        </p:grpSpPr>
        <p:grpSp>
          <p:nvGrpSpPr>
            <p:cNvPr id="17" name="组合 16"/>
            <p:cNvGrpSpPr/>
            <p:nvPr/>
          </p:nvGrpSpPr>
          <p:grpSpPr>
            <a:xfrm>
              <a:off x="517899" y="1804474"/>
              <a:ext cx="12854518" cy="1810684"/>
              <a:chOff x="486648" y="455855"/>
              <a:chExt cx="12854518" cy="1810684"/>
            </a:xfrm>
          </p:grpSpPr>
          <p:grpSp>
            <p:nvGrpSpPr>
              <p:cNvPr id="18" name="组合 17"/>
              <p:cNvGrpSpPr/>
              <p:nvPr/>
            </p:nvGrpSpPr>
            <p:grpSpPr>
              <a:xfrm>
                <a:off x="486648" y="455855"/>
                <a:ext cx="5943059" cy="1681502"/>
                <a:chOff x="517899" y="2120882"/>
                <a:chExt cx="5943059" cy="1681502"/>
              </a:xfrm>
            </p:grpSpPr>
            <p:grpSp>
              <p:nvGrpSpPr>
                <p:cNvPr id="22" name="组合 21"/>
                <p:cNvGrpSpPr/>
                <p:nvPr/>
              </p:nvGrpSpPr>
              <p:grpSpPr>
                <a:xfrm>
                  <a:off x="517899" y="2952755"/>
                  <a:ext cx="1682283" cy="849629"/>
                  <a:chOff x="736858" y="402291"/>
                  <a:chExt cx="757257" cy="907893"/>
                </a:xfrm>
              </p:grpSpPr>
              <p:sp>
                <p:nvSpPr>
                  <p:cNvPr id="24" name="圆角矩形 23"/>
                  <p:cNvSpPr/>
                  <p:nvPr/>
                </p:nvSpPr>
                <p:spPr>
                  <a:xfrm>
                    <a:off x="738716" y="402291"/>
                    <a:ext cx="689671" cy="907893"/>
                  </a:xfrm>
                  <a:prstGeom prst="roundRect">
                    <a:avLst/>
                  </a:prstGeom>
                  <a:solidFill>
                    <a:srgbClr val="004F8C"/>
                  </a:solidFill>
                  <a:ln>
                    <a:solidFill>
                      <a:srgbClr val="004F8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prstClr val="white"/>
                      </a:solidFill>
                    </a:endParaRPr>
                  </a:p>
                </p:txBody>
              </p:sp>
              <p:sp>
                <p:nvSpPr>
                  <p:cNvPr id="25" name="文本框 24"/>
                  <p:cNvSpPr txBox="1"/>
                  <p:nvPr/>
                </p:nvSpPr>
                <p:spPr>
                  <a:xfrm>
                    <a:off x="736858" y="510910"/>
                    <a:ext cx="757257" cy="6906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2400" b="1" dirty="0" smtClean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 </a:t>
                    </a:r>
                    <a:r>
                      <a:rPr lang="zh-CN" altLang="en-US" sz="3600" b="1" dirty="0" smtClean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定理</a:t>
                    </a:r>
                    <a:r>
                      <a:rPr lang="en-US" altLang="zh-CN" sz="3600" b="1" dirty="0" smtClean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3</a:t>
                    </a:r>
                    <a:endParaRPr lang="zh-CN" altLang="en-US" sz="3600" b="1" dirty="0" smtClean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aphicFrame>
              <p:nvGraphicFramePr>
                <p:cNvPr id="21" name="对象 20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498005390"/>
                    </p:ext>
                  </p:extLst>
                </p:nvPr>
              </p:nvGraphicFramePr>
              <p:xfrm>
                <a:off x="3138154" y="2120882"/>
                <a:ext cx="3322804" cy="83187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3198" name="Equation" r:id="rId3" imgW="1434960" imgH="291960" progId="Equation.DSMT4">
                        <p:embed/>
                      </p:oleObj>
                    </mc:Choice>
                    <mc:Fallback>
                      <p:oleObj name="Equation" r:id="rId3" imgW="1434960" imgH="291960" progId="Equation.DSMT4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138154" y="2120882"/>
                              <a:ext cx="3322804" cy="83187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9" name="文本框 18"/>
              <p:cNvSpPr txBox="1"/>
              <p:nvPr/>
            </p:nvSpPr>
            <p:spPr>
              <a:xfrm>
                <a:off x="2168931" y="512213"/>
                <a:ext cx="1117223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6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                             存在可逆矩阵            </a:t>
                </a:r>
                <a:endParaRPr lang="en-US" altLang="zh-CN" sz="36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en-US" altLang="zh-CN" sz="36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sz="36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en-US" altLang="zh-CN" sz="36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6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使得                  </a:t>
                </a:r>
                <a:r>
                  <a:rPr lang="en-US" altLang="zh-CN" sz="36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  <a:endParaRPr lang="zh-CN" altLang="en-US" sz="36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aphicFrame>
          <p:nvGraphicFramePr>
            <p:cNvPr id="26" name="对象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42994573"/>
                </p:ext>
              </p:extLst>
            </p:nvPr>
          </p:nvGraphicFramePr>
          <p:xfrm>
            <a:off x="9572542" y="1780852"/>
            <a:ext cx="1664953" cy="8554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99" name="Equation" r:id="rId5" imgW="457200" imgH="228600" progId="Equation.DSMT4">
                    <p:embed/>
                  </p:oleObj>
                </mc:Choice>
                <mc:Fallback>
                  <p:oleObj name="Equation" r:id="rId5" imgW="45720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572542" y="1780852"/>
                          <a:ext cx="1664953" cy="85549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对象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93040181"/>
                </p:ext>
              </p:extLst>
            </p:nvPr>
          </p:nvGraphicFramePr>
          <p:xfrm>
            <a:off x="3427608" y="2979902"/>
            <a:ext cx="1517371" cy="635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200" name="Equation" r:id="rId7" imgW="609480" imgH="203040" progId="Equation.DSMT4">
                    <p:embed/>
                  </p:oleObj>
                </mc:Choice>
                <mc:Fallback>
                  <p:oleObj name="Equation" r:id="rId7" imgW="60948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427608" y="2979902"/>
                          <a:ext cx="1517371" cy="63525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" name="组合 32"/>
          <p:cNvGrpSpPr/>
          <p:nvPr/>
        </p:nvGrpSpPr>
        <p:grpSpPr>
          <a:xfrm>
            <a:off x="1500712" y="4046568"/>
            <a:ext cx="9628499" cy="1865419"/>
            <a:chOff x="3149601" y="4692794"/>
            <a:chExt cx="6043719" cy="1865419"/>
          </a:xfrm>
        </p:grpSpPr>
        <p:graphicFrame>
          <p:nvGraphicFramePr>
            <p:cNvPr id="29" name="对象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25938"/>
                </p:ext>
              </p:extLst>
            </p:nvPr>
          </p:nvGraphicFramePr>
          <p:xfrm>
            <a:off x="3149601" y="4692794"/>
            <a:ext cx="2081212" cy="12628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201" name="Equation" r:id="rId9" imgW="1117440" imgH="457200" progId="Equation.DSMT4">
                    <p:embed/>
                  </p:oleObj>
                </mc:Choice>
                <mc:Fallback>
                  <p:oleObj name="Equation" r:id="rId9" imgW="1117440" imgH="457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149601" y="4692794"/>
                          <a:ext cx="2081212" cy="12628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文本框 29"/>
            <p:cNvSpPr txBox="1"/>
            <p:nvPr/>
          </p:nvSpPr>
          <p:spPr>
            <a:xfrm>
              <a:off x="5230813" y="4836036"/>
              <a:ext cx="396250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存在可逆矩阵         使得        </a:t>
              </a:r>
            </a:p>
          </p:txBody>
        </p:sp>
        <p:graphicFrame>
          <p:nvGraphicFramePr>
            <p:cNvPr id="31" name="对象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7430950"/>
                </p:ext>
              </p:extLst>
            </p:nvPr>
          </p:nvGraphicFramePr>
          <p:xfrm>
            <a:off x="6881073" y="4836036"/>
            <a:ext cx="661987" cy="4820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202" name="Equation" r:id="rId11" imgW="355320" imgH="203040" progId="Equation.DSMT4">
                    <p:embed/>
                  </p:oleObj>
                </mc:Choice>
                <mc:Fallback>
                  <p:oleObj name="Equation" r:id="rId11" imgW="35532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881073" y="4836036"/>
                          <a:ext cx="661987" cy="48209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对象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5247996"/>
                </p:ext>
              </p:extLst>
            </p:nvPr>
          </p:nvGraphicFramePr>
          <p:xfrm>
            <a:off x="5605318" y="5420811"/>
            <a:ext cx="2255846" cy="11374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203" name="Equation" r:id="rId13" imgW="1066680" imgH="457200" progId="Equation.DSMT4">
                    <p:embed/>
                  </p:oleObj>
                </mc:Choice>
                <mc:Fallback>
                  <p:oleObj name="Equation" r:id="rId13" imgW="1066680" imgH="457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605318" y="5420811"/>
                          <a:ext cx="2255846" cy="113740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523243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549681" y="439388"/>
            <a:ext cx="4914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初等变换与矩阵的秩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37294" y="1308651"/>
            <a:ext cx="1209620" cy="651368"/>
            <a:chOff x="745588" y="1310185"/>
            <a:chExt cx="544494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6" name="圆角矩形 15"/>
            <p:cNvSpPr/>
            <p:nvPr/>
          </p:nvSpPr>
          <p:spPr>
            <a:xfrm>
              <a:off x="745588" y="1310185"/>
              <a:ext cx="544494" cy="696036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759655" y="1427370"/>
              <a:ext cx="530427" cy="493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定理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1959562" y="1403502"/>
            <a:ext cx="1406452" cy="461665"/>
            <a:chOff x="2606675" y="2284590"/>
            <a:chExt cx="1406452" cy="461665"/>
          </a:xfrm>
        </p:grpSpPr>
        <p:graphicFrame>
          <p:nvGraphicFramePr>
            <p:cNvPr id="15" name="对象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10980929"/>
                </p:ext>
              </p:extLst>
            </p:nvPr>
          </p:nvGraphicFramePr>
          <p:xfrm>
            <a:off x="2606675" y="2308225"/>
            <a:ext cx="355600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214" name="Equation" r:id="rId3" imgW="190440" imgH="228600" progId="Equation.DSMT4">
                    <p:embed/>
                  </p:oleObj>
                </mc:Choice>
                <mc:Fallback>
                  <p:oleObj name="Equation" r:id="rId3" imgW="1904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606675" y="2308225"/>
                          <a:ext cx="355600" cy="4254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文本框 12"/>
            <p:cNvSpPr txBox="1"/>
            <p:nvPr/>
          </p:nvSpPr>
          <p:spPr>
            <a:xfrm>
              <a:off x="2962275" y="2284590"/>
              <a:ext cx="10508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可逆 </a:t>
              </a:r>
            </a:p>
          </p:txBody>
        </p:sp>
      </p:grp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1766975"/>
              </p:ext>
            </p:extLst>
          </p:nvPr>
        </p:nvGraphicFramePr>
        <p:xfrm>
          <a:off x="3042576" y="1403502"/>
          <a:ext cx="977383" cy="461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15" name="Equation" r:id="rId5" imgW="215640" imgH="152280" progId="Equation.DSMT4">
                  <p:embed/>
                </p:oleObj>
              </mc:Choice>
              <mc:Fallback>
                <p:oleObj name="Equation" r:id="rId5" imgW="21564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42576" y="1403502"/>
                        <a:ext cx="977383" cy="4612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8397433"/>
              </p:ext>
            </p:extLst>
          </p:nvPr>
        </p:nvGraphicFramePr>
        <p:xfrm>
          <a:off x="3864599" y="1418316"/>
          <a:ext cx="873125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16" name="Equation" r:id="rId7" imgW="469800" imgH="177480" progId="Equation.DSMT4">
                  <p:embed/>
                </p:oleObj>
              </mc:Choice>
              <mc:Fallback>
                <p:oleObj name="Equation" r:id="rId7" imgW="4698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64599" y="1418316"/>
                        <a:ext cx="873125" cy="331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5904210"/>
              </p:ext>
            </p:extLst>
          </p:nvPr>
        </p:nvGraphicFramePr>
        <p:xfrm>
          <a:off x="3042576" y="1879981"/>
          <a:ext cx="977383" cy="461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17" name="Equation" r:id="rId9" imgW="215640" imgH="152280" progId="Equation.DSMT4">
                  <p:embed/>
                </p:oleObj>
              </mc:Choice>
              <mc:Fallback>
                <p:oleObj name="Equation" r:id="rId9" imgW="21564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42576" y="1879981"/>
                        <a:ext cx="977383" cy="4612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/>
          <p:cNvGrpSpPr/>
          <p:nvPr/>
        </p:nvGrpSpPr>
        <p:grpSpPr>
          <a:xfrm>
            <a:off x="3864599" y="1879981"/>
            <a:ext cx="5142300" cy="461665"/>
            <a:chOff x="6117974" y="2906049"/>
            <a:chExt cx="3421861" cy="461665"/>
          </a:xfrm>
        </p:grpSpPr>
        <p:graphicFrame>
          <p:nvGraphicFramePr>
            <p:cNvPr id="19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97398012"/>
                </p:ext>
              </p:extLst>
            </p:nvPr>
          </p:nvGraphicFramePr>
          <p:xfrm>
            <a:off x="6117974" y="2936256"/>
            <a:ext cx="2476500" cy="427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218" name="Equation" r:id="rId10" imgW="1333440" imgH="228600" progId="Equation.DSMT4">
                    <p:embed/>
                  </p:oleObj>
                </mc:Choice>
                <mc:Fallback>
                  <p:oleObj name="Equation" r:id="rId10" imgW="13334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6117974" y="2936256"/>
                          <a:ext cx="2476500" cy="4270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文本框 20"/>
            <p:cNvSpPr txBox="1"/>
            <p:nvPr/>
          </p:nvSpPr>
          <p:spPr>
            <a:xfrm>
              <a:off x="8488983" y="2906049"/>
              <a:ext cx="10508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可逆 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.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6089573"/>
              </p:ext>
            </p:extLst>
          </p:nvPr>
        </p:nvGraphicFramePr>
        <p:xfrm>
          <a:off x="3066638" y="2500798"/>
          <a:ext cx="977383" cy="461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19" name="Equation" r:id="rId12" imgW="215640" imgH="152280" progId="Equation.DSMT4">
                  <p:embed/>
                </p:oleObj>
              </mc:Choice>
              <mc:Fallback>
                <p:oleObj name="Equation" r:id="rId12" imgW="21564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66638" y="2500798"/>
                        <a:ext cx="977383" cy="4612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/>
          <p:cNvSpPr txBox="1"/>
          <p:nvPr/>
        </p:nvSpPr>
        <p:spPr>
          <a:xfrm>
            <a:off x="3864599" y="2523089"/>
            <a:ext cx="53275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可表示为有限个初等矩阵的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连乘积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2992100"/>
              </p:ext>
            </p:extLst>
          </p:nvPr>
        </p:nvGraphicFramePr>
        <p:xfrm>
          <a:off x="1470913" y="3125371"/>
          <a:ext cx="3564115" cy="580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20" name="Equation" r:id="rId13" imgW="939600" imgH="228600" progId="Equation.DSMT4">
                  <p:embed/>
                </p:oleObj>
              </mc:Choice>
              <mc:Fallback>
                <p:oleObj name="Equation" r:id="rId13" imgW="939600" imgH="228600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0913" y="3125371"/>
                        <a:ext cx="3564115" cy="5803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8978569"/>
              </p:ext>
            </p:extLst>
          </p:nvPr>
        </p:nvGraphicFramePr>
        <p:xfrm>
          <a:off x="1251785" y="4513848"/>
          <a:ext cx="2795588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21" name="Equation" r:id="rId15" imgW="990360" imgH="215640" progId="Equation.DSMT4">
                  <p:embed/>
                </p:oleObj>
              </mc:Choice>
              <mc:Fallback>
                <p:oleObj name="Equation" r:id="rId15" imgW="9903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251785" y="4513848"/>
                        <a:ext cx="2795588" cy="598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8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9230640"/>
              </p:ext>
            </p:extLst>
          </p:nvPr>
        </p:nvGraphicFramePr>
        <p:xfrm>
          <a:off x="5345114" y="4582612"/>
          <a:ext cx="4667578" cy="5909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22" name="Equation" r:id="rId17" imgW="1346040" imgH="279360" progId="Equation.DSMT4">
                  <p:embed/>
                </p:oleObj>
              </mc:Choice>
              <mc:Fallback>
                <p:oleObj name="Equation" r:id="rId17" imgW="13460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5114" y="4582612"/>
                        <a:ext cx="4667578" cy="5909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6092940"/>
              </p:ext>
            </p:extLst>
          </p:nvPr>
        </p:nvGraphicFramePr>
        <p:xfrm>
          <a:off x="5824515" y="3141328"/>
          <a:ext cx="3903662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23" name="Equation" r:id="rId19" imgW="1028520" imgH="241200" progId="Equation.DSMT4">
                  <p:embed/>
                </p:oleObj>
              </mc:Choice>
              <mc:Fallback>
                <p:oleObj name="Equation" r:id="rId19" imgW="1028520" imgH="2412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4515" y="3141328"/>
                        <a:ext cx="3903662" cy="614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6191386"/>
              </p:ext>
            </p:extLst>
          </p:nvPr>
        </p:nvGraphicFramePr>
        <p:xfrm>
          <a:off x="5824515" y="3775994"/>
          <a:ext cx="4289425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24" name="Equation" r:id="rId21" imgW="1130040" imgH="241200" progId="Equation.DSMT4">
                  <p:embed/>
                </p:oleObj>
              </mc:Choice>
              <mc:Fallback>
                <p:oleObj name="Equation" r:id="rId21" imgW="1130040" imgH="2412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4515" y="3775994"/>
                        <a:ext cx="4289425" cy="614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5196328"/>
              </p:ext>
            </p:extLst>
          </p:nvPr>
        </p:nvGraphicFramePr>
        <p:xfrm>
          <a:off x="1270514" y="3766331"/>
          <a:ext cx="419100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25" name="Equation" r:id="rId23" imgW="1104840" imgH="241200" progId="Equation.DSMT4">
                  <p:embed/>
                </p:oleObj>
              </mc:Choice>
              <mc:Fallback>
                <p:oleObj name="Equation" r:id="rId23" imgW="1104840" imgH="2412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514" y="3766331"/>
                        <a:ext cx="4191000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7882268"/>
              </p:ext>
            </p:extLst>
          </p:nvPr>
        </p:nvGraphicFramePr>
        <p:xfrm>
          <a:off x="5474452" y="5164055"/>
          <a:ext cx="4394200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26" name="Equation" r:id="rId25" imgW="1434960" imgH="279360" progId="Equation.DSMT4">
                  <p:embed/>
                </p:oleObj>
              </mc:Choice>
              <mc:Fallback>
                <p:oleObj name="Equation" r:id="rId25" imgW="1434960" imgH="279360" progId="Equation.DSMT4">
                  <p:embed/>
                  <p:pic>
                    <p:nvPicPr>
                      <p:cNvPr id="0" name="对象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4452" y="5164055"/>
                        <a:ext cx="4394200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3219319"/>
              </p:ext>
            </p:extLst>
          </p:nvPr>
        </p:nvGraphicFramePr>
        <p:xfrm>
          <a:off x="1157729" y="5220703"/>
          <a:ext cx="3871912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27" name="Equation" r:id="rId27" imgW="1371600" imgH="215640" progId="Equation.DSMT4">
                  <p:embed/>
                </p:oleObj>
              </mc:Choice>
              <mc:Fallback>
                <p:oleObj name="Equation" r:id="rId27" imgW="1371600" imgH="215640" progId="Equation.DSMT4">
                  <p:embed/>
                  <p:pic>
                    <p:nvPicPr>
                      <p:cNvPr id="0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7729" y="5220703"/>
                        <a:ext cx="3871912" cy="59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1746913" y="5991726"/>
            <a:ext cx="7589591" cy="461665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矩阵的初等变换不改变方阵的行列式是否为零的特性。</a:t>
            </a:r>
          </a:p>
        </p:txBody>
      </p:sp>
    </p:spTree>
    <p:extLst>
      <p:ext uri="{BB962C8B-B14F-4D97-AF65-F5344CB8AC3E}">
        <p14:creationId xmlns:p14="http://schemas.microsoft.com/office/powerpoint/2010/main" val="1926861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3" grpId="0"/>
      <p:bldP spid="3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组合 1"/>
          <p:cNvGrpSpPr>
            <a:grpSpLocks/>
          </p:cNvGrpSpPr>
          <p:nvPr/>
        </p:nvGrpSpPr>
        <p:grpSpPr bwMode="auto">
          <a:xfrm>
            <a:off x="776818" y="979765"/>
            <a:ext cx="10517716" cy="1416050"/>
            <a:chOff x="582613" y="979715"/>
            <a:chExt cx="7888287" cy="1416050"/>
          </a:xfrm>
        </p:grpSpPr>
        <p:sp>
          <p:nvSpPr>
            <p:cNvPr id="16402" name="Text Box 2"/>
            <p:cNvSpPr txBox="1">
              <a:spLocks noChangeArrowheads="1"/>
            </p:cNvSpPr>
            <p:nvPr/>
          </p:nvSpPr>
          <p:spPr bwMode="auto">
            <a:xfrm>
              <a:off x="582613" y="1364575"/>
              <a:ext cx="7888287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400" dirty="0" smtClean="0">
                  <a:solidFill>
                    <a:schemeClr val="accent2"/>
                  </a:solidFill>
                </a:rPr>
                <a:t>例</a:t>
              </a:r>
              <a:r>
                <a:rPr lang="en-US" altLang="zh-CN" sz="2400" dirty="0">
                  <a:solidFill>
                    <a:schemeClr val="accent2"/>
                  </a:solidFill>
                </a:rPr>
                <a:t>2</a:t>
              </a:r>
              <a:r>
                <a:rPr lang="en-US" altLang="zh-CN" sz="2400" dirty="0" smtClean="0">
                  <a:solidFill>
                    <a:schemeClr val="accent2"/>
                  </a:solidFill>
                </a:rPr>
                <a:t>   </a:t>
              </a:r>
              <a:r>
                <a:rPr lang="zh-CN" altLang="en-US" sz="2400" dirty="0" smtClean="0"/>
                <a:t>已知                                  </a:t>
              </a:r>
              <a:r>
                <a:rPr lang="zh-CN" altLang="en-US" sz="2400" dirty="0"/>
                <a:t>，求</a:t>
              </a:r>
            </a:p>
          </p:txBody>
        </p:sp>
        <p:graphicFrame>
          <p:nvGraphicFramePr>
            <p:cNvPr id="16403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23494538"/>
                </p:ext>
              </p:extLst>
            </p:nvPr>
          </p:nvGraphicFramePr>
          <p:xfrm>
            <a:off x="1925637" y="979715"/>
            <a:ext cx="2235200" cy="1416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90" name="Equation" r:id="rId3" imgW="1129810" imgH="710891" progId="Equation.DSMT4">
                    <p:embed/>
                  </p:oleObj>
                </mc:Choice>
                <mc:Fallback>
                  <p:oleObj name="Equation" r:id="rId3" imgW="1129810" imgH="71089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5637" y="979715"/>
                          <a:ext cx="2235200" cy="1416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4" name="Object 3"/>
            <p:cNvGraphicFramePr>
              <a:graphicFrameLocks noChangeAspect="1"/>
            </p:cNvGraphicFramePr>
            <p:nvPr/>
          </p:nvGraphicFramePr>
          <p:xfrm>
            <a:off x="4979338" y="1475840"/>
            <a:ext cx="477838" cy="379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91" name="Equation" r:id="rId5" imgW="241195" imgH="190417" progId="Equation.DSMT4">
                    <p:embed/>
                  </p:oleObj>
                </mc:Choice>
                <mc:Fallback>
                  <p:oleObj name="Equation" r:id="rId5" imgW="241195" imgH="19041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9338" y="1475840"/>
                          <a:ext cx="477838" cy="3794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387" name="Rectangle 13"/>
          <p:cNvSpPr>
            <a:spLocks noChangeArrowheads="1"/>
          </p:cNvSpPr>
          <p:nvPr/>
        </p:nvSpPr>
        <p:spPr bwMode="auto">
          <a:xfrm>
            <a:off x="5547784" y="260351"/>
            <a:ext cx="5746749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endParaRPr lang="zh-CN" altLang="en-US" sz="2000" dirty="0"/>
          </a:p>
        </p:txBody>
      </p:sp>
      <p:sp>
        <p:nvSpPr>
          <p:cNvPr id="16388" name="Rectangle 7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814918" y="2565400"/>
            <a:ext cx="6529916" cy="1416050"/>
            <a:chOff x="652037" y="2708920"/>
            <a:chExt cx="4896543" cy="1416050"/>
          </a:xfrm>
        </p:grpSpPr>
        <p:sp>
          <p:nvSpPr>
            <p:cNvPr id="16400" name="Text Box 4"/>
            <p:cNvSpPr txBox="1">
              <a:spLocks noChangeArrowheads="1"/>
            </p:cNvSpPr>
            <p:nvPr/>
          </p:nvSpPr>
          <p:spPr bwMode="auto">
            <a:xfrm>
              <a:off x="652037" y="2940710"/>
              <a:ext cx="4464496" cy="8309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 eaLnBrk="1" hangingPunct="1">
                <a:lnSpc>
                  <a:spcPct val="200000"/>
                </a:lnSpc>
              </a:pPr>
              <a:r>
                <a:rPr lang="zh-CN" altLang="en-US" sz="2400"/>
                <a:t>解：构造                                  </a:t>
              </a:r>
            </a:p>
          </p:txBody>
        </p:sp>
        <p:graphicFrame>
          <p:nvGraphicFramePr>
            <p:cNvPr id="16401" name="Object 3"/>
            <p:cNvGraphicFramePr>
              <a:graphicFrameLocks noChangeAspect="1"/>
            </p:cNvGraphicFramePr>
            <p:nvPr/>
          </p:nvGraphicFramePr>
          <p:xfrm>
            <a:off x="2016993" y="2708920"/>
            <a:ext cx="3531587" cy="1416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92" name="Equation" r:id="rId7" imgW="2057400" imgH="711200" progId="Equation.DSMT4">
                    <p:embed/>
                  </p:oleObj>
                </mc:Choice>
                <mc:Fallback>
                  <p:oleObj name="Equation" r:id="rId7" imgW="2057400" imgH="71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993" y="2708920"/>
                          <a:ext cx="3531587" cy="1416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7344833" y="2565400"/>
            <a:ext cx="3903133" cy="1416050"/>
            <a:chOff x="1905000" y="4365625"/>
            <a:chExt cx="3538538" cy="1416050"/>
          </a:xfrm>
        </p:grpSpPr>
        <p:graphicFrame>
          <p:nvGraphicFramePr>
            <p:cNvPr id="16398" name="Object 3"/>
            <p:cNvGraphicFramePr>
              <a:graphicFrameLocks noChangeAspect="1"/>
            </p:cNvGraphicFramePr>
            <p:nvPr/>
          </p:nvGraphicFramePr>
          <p:xfrm>
            <a:off x="1905000" y="4365625"/>
            <a:ext cx="3538538" cy="1416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93" name="Equation" r:id="rId9" imgW="1790700" imgH="711200" progId="Equation.DSMT4">
                    <p:embed/>
                  </p:oleObj>
                </mc:Choice>
                <mc:Fallback>
                  <p:oleObj name="Equation" r:id="rId9" imgW="1790700" imgH="71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5000" y="4365625"/>
                          <a:ext cx="3538538" cy="1416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9" name="Object 3"/>
            <p:cNvGraphicFramePr>
              <a:graphicFrameLocks noChangeAspect="1"/>
            </p:cNvGraphicFramePr>
            <p:nvPr/>
          </p:nvGraphicFramePr>
          <p:xfrm>
            <a:off x="1968723" y="4772442"/>
            <a:ext cx="227013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94" name="Equation" r:id="rId11" imgW="114102" imgH="126780" progId="Equation.DSMT4">
                    <p:embed/>
                  </p:oleObj>
                </mc:Choice>
                <mc:Fallback>
                  <p:oleObj name="Equation" r:id="rId11" imgW="114102" imgH="1267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8723" y="4772442"/>
                          <a:ext cx="227013" cy="25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组合 26"/>
          <p:cNvGrpSpPr>
            <a:grpSpLocks/>
          </p:cNvGrpSpPr>
          <p:nvPr/>
        </p:nvGrpSpPr>
        <p:grpSpPr bwMode="auto">
          <a:xfrm>
            <a:off x="1464734" y="4113214"/>
            <a:ext cx="4919133" cy="2124075"/>
            <a:chOff x="1829744" y="4106730"/>
            <a:chExt cx="3689350" cy="2124075"/>
          </a:xfrm>
        </p:grpSpPr>
        <p:graphicFrame>
          <p:nvGraphicFramePr>
            <p:cNvPr id="16396" name="Object 3"/>
            <p:cNvGraphicFramePr>
              <a:graphicFrameLocks noChangeAspect="1"/>
            </p:cNvGraphicFramePr>
            <p:nvPr/>
          </p:nvGraphicFramePr>
          <p:xfrm>
            <a:off x="1829744" y="4106730"/>
            <a:ext cx="3689350" cy="2124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95" name="Equation" r:id="rId13" imgW="1866900" imgH="1066800" progId="Equation.DSMT4">
                    <p:embed/>
                  </p:oleObj>
                </mc:Choice>
                <mc:Fallback>
                  <p:oleObj name="Equation" r:id="rId13" imgW="1866900" imgH="1066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9744" y="4106730"/>
                          <a:ext cx="3689350" cy="21240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7" name="Object 3"/>
            <p:cNvGraphicFramePr>
              <a:graphicFrameLocks noChangeAspect="1"/>
            </p:cNvGraphicFramePr>
            <p:nvPr/>
          </p:nvGraphicFramePr>
          <p:xfrm>
            <a:off x="1915146" y="4851272"/>
            <a:ext cx="227013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96" name="Equation" r:id="rId15" imgW="114102" imgH="126780" progId="Equation.DSMT4">
                    <p:embed/>
                  </p:oleObj>
                </mc:Choice>
                <mc:Fallback>
                  <p:oleObj name="Equation" r:id="rId15" imgW="114102" imgH="1267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5146" y="4851272"/>
                          <a:ext cx="227013" cy="25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8369300" y="1550989"/>
            <a:ext cx="2533651" cy="725487"/>
            <a:chOff x="6229460" y="4215184"/>
            <a:chExt cx="1901011" cy="725984"/>
          </a:xfrm>
        </p:grpSpPr>
        <p:sp>
          <p:nvSpPr>
            <p:cNvPr id="31" name="椭圆形标注 30"/>
            <p:cNvSpPr/>
            <p:nvPr/>
          </p:nvSpPr>
          <p:spPr>
            <a:xfrm>
              <a:off x="6229460" y="4215184"/>
              <a:ext cx="1901011" cy="725984"/>
            </a:xfrm>
            <a:prstGeom prst="wedgeEllipseCallout">
              <a:avLst>
                <a:gd name="adj1" fmla="val -34435"/>
                <a:gd name="adj2" fmla="val 86586"/>
              </a:avLst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defRPr/>
              </a:pPr>
              <a:r>
                <a:rPr lang="zh-CN" altLang="en-US" sz="2400" dirty="0"/>
                <a:t>可判断</a:t>
              </a:r>
              <a:endParaRPr lang="en-US" altLang="zh-CN" sz="2400" dirty="0"/>
            </a:p>
            <a:p>
              <a:pPr algn="l">
                <a:defRPr/>
              </a:pPr>
              <a:r>
                <a:rPr lang="zh-CN" altLang="en-US" sz="2400" dirty="0">
                  <a:solidFill>
                    <a:srgbClr val="0000FF"/>
                  </a:solidFill>
                </a:rPr>
                <a:t>    </a:t>
              </a:r>
              <a:r>
                <a:rPr lang="zh-CN" altLang="en-US" sz="2400" dirty="0" smtClean="0">
                  <a:solidFill>
                    <a:srgbClr val="0000FF"/>
                  </a:solidFill>
                </a:rPr>
                <a:t>     可 逆</a:t>
              </a:r>
              <a:endParaRPr lang="zh-CN" altLang="en-US" sz="2400" dirty="0">
                <a:solidFill>
                  <a:srgbClr val="0000FF"/>
                </a:solidFill>
              </a:endParaRPr>
            </a:p>
          </p:txBody>
        </p:sp>
        <p:graphicFrame>
          <p:nvGraphicFramePr>
            <p:cNvPr id="16395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9544329"/>
                </p:ext>
              </p:extLst>
            </p:nvPr>
          </p:nvGraphicFramePr>
          <p:xfrm>
            <a:off x="6610385" y="4578175"/>
            <a:ext cx="301625" cy="328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97" name="Equation" r:id="rId16" imgW="152268" imgH="164957" progId="Equation.DSMT4">
                    <p:embed/>
                  </p:oleObj>
                </mc:Choice>
                <mc:Fallback>
                  <p:oleObj name="Equation" r:id="rId16" imgW="152268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10385" y="4578175"/>
                          <a:ext cx="301625" cy="3286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4" name="Object 3"/>
          <p:cNvGraphicFramePr>
            <a:graphicFrameLocks noChangeAspect="1"/>
          </p:cNvGraphicFramePr>
          <p:nvPr/>
        </p:nvGraphicFramePr>
        <p:xfrm>
          <a:off x="6843185" y="4086226"/>
          <a:ext cx="4015316" cy="212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98" name="Equation" r:id="rId18" imgW="1524000" imgH="1066800" progId="Equation.DSMT4">
                  <p:embed/>
                </p:oleObj>
              </mc:Choice>
              <mc:Fallback>
                <p:oleObj name="Equation" r:id="rId18" imgW="1524000" imgH="1066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3185" y="4086226"/>
                        <a:ext cx="4015316" cy="212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9915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组合 1"/>
          <p:cNvGrpSpPr>
            <a:grpSpLocks/>
          </p:cNvGrpSpPr>
          <p:nvPr/>
        </p:nvGrpSpPr>
        <p:grpSpPr bwMode="auto">
          <a:xfrm>
            <a:off x="969434" y="1149350"/>
            <a:ext cx="9734551" cy="1416050"/>
            <a:chOff x="582613" y="1004615"/>
            <a:chExt cx="7301755" cy="1416050"/>
          </a:xfrm>
        </p:grpSpPr>
        <p:sp>
          <p:nvSpPr>
            <p:cNvPr id="20492" name="Text Box 2"/>
            <p:cNvSpPr txBox="1">
              <a:spLocks noChangeArrowheads="1"/>
            </p:cNvSpPr>
            <p:nvPr/>
          </p:nvSpPr>
          <p:spPr bwMode="auto">
            <a:xfrm>
              <a:off x="582613" y="1364575"/>
              <a:ext cx="7301755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400" dirty="0" smtClean="0">
                  <a:solidFill>
                    <a:schemeClr val="accent2"/>
                  </a:solidFill>
                </a:rPr>
                <a:t>例</a:t>
              </a:r>
              <a:r>
                <a:rPr lang="en-US" altLang="zh-CN" sz="2400" dirty="0" smtClean="0">
                  <a:solidFill>
                    <a:schemeClr val="accent2"/>
                  </a:solidFill>
                </a:rPr>
                <a:t>3     </a:t>
              </a:r>
              <a:r>
                <a:rPr lang="zh-CN" altLang="en-US" sz="2400" dirty="0"/>
                <a:t>求解非齐次线性方程组</a:t>
              </a:r>
            </a:p>
          </p:txBody>
        </p:sp>
        <p:graphicFrame>
          <p:nvGraphicFramePr>
            <p:cNvPr id="20493" name="Object 3"/>
            <p:cNvGraphicFramePr>
              <a:graphicFrameLocks noChangeAspect="1"/>
            </p:cNvGraphicFramePr>
            <p:nvPr/>
          </p:nvGraphicFramePr>
          <p:xfrm>
            <a:off x="4644008" y="1004615"/>
            <a:ext cx="2559050" cy="1416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52" name="Equation" r:id="rId3" imgW="1295400" imgH="711200" progId="Equation.DSMT4">
                    <p:embed/>
                  </p:oleObj>
                </mc:Choice>
                <mc:Fallback>
                  <p:oleObj name="Equation" r:id="rId3" imgW="1295400" imgH="71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4008" y="1004615"/>
                          <a:ext cx="2559050" cy="1416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484" name="Rectangle 7"/>
          <p:cNvSpPr>
            <a:spLocks noChangeArrowheads="1"/>
          </p:cNvSpPr>
          <p:nvPr/>
        </p:nvSpPr>
        <p:spPr bwMode="auto">
          <a:xfrm>
            <a:off x="0" y="-6164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1217084" y="2949575"/>
            <a:ext cx="10124016" cy="1416050"/>
            <a:chOff x="912636" y="2949054"/>
            <a:chExt cx="7593243" cy="1416050"/>
          </a:xfrm>
        </p:grpSpPr>
        <p:sp>
          <p:nvSpPr>
            <p:cNvPr id="20487" name="Text Box 4"/>
            <p:cNvSpPr txBox="1">
              <a:spLocks noChangeArrowheads="1"/>
            </p:cNvSpPr>
            <p:nvPr/>
          </p:nvSpPr>
          <p:spPr bwMode="auto">
            <a:xfrm>
              <a:off x="912636" y="3174067"/>
              <a:ext cx="698092" cy="8309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 eaLnBrk="1" hangingPunct="1">
                <a:lnSpc>
                  <a:spcPct val="200000"/>
                </a:lnSpc>
              </a:pPr>
              <a:r>
                <a:rPr lang="zh-CN" altLang="en-US" sz="2400"/>
                <a:t>解</a:t>
              </a:r>
            </a:p>
          </p:txBody>
        </p:sp>
        <p:grpSp>
          <p:nvGrpSpPr>
            <p:cNvPr id="20488" name="组合 26"/>
            <p:cNvGrpSpPr>
              <a:grpSpLocks/>
            </p:cNvGrpSpPr>
            <p:nvPr/>
          </p:nvGrpSpPr>
          <p:grpSpPr bwMode="auto">
            <a:xfrm>
              <a:off x="1449095" y="2949054"/>
              <a:ext cx="7056784" cy="1416050"/>
              <a:chOff x="-978583" y="6928522"/>
              <a:chExt cx="8079861" cy="1416050"/>
            </a:xfrm>
          </p:grpSpPr>
          <p:graphicFrame>
            <p:nvGraphicFramePr>
              <p:cNvPr id="20489" name="Object 3"/>
              <p:cNvGraphicFramePr>
                <a:graphicFrameLocks noChangeAspect="1"/>
              </p:cNvGraphicFramePr>
              <p:nvPr/>
            </p:nvGraphicFramePr>
            <p:xfrm>
              <a:off x="-978583" y="6928522"/>
              <a:ext cx="8079861" cy="1416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153" name="Equation" r:id="rId5" imgW="4089400" imgH="711200" progId="Equation.DSMT4">
                      <p:embed/>
                    </p:oleObj>
                  </mc:Choice>
                  <mc:Fallback>
                    <p:oleObj name="Equation" r:id="rId5" imgW="4089400" imgH="7112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-978583" y="6928522"/>
                            <a:ext cx="8079861" cy="14160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490" name="Object 3"/>
              <p:cNvGraphicFramePr>
                <a:graphicFrameLocks noChangeAspect="1"/>
              </p:cNvGraphicFramePr>
              <p:nvPr/>
            </p:nvGraphicFramePr>
            <p:xfrm>
              <a:off x="2030848" y="7351160"/>
              <a:ext cx="227012" cy="254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154" name="Equation" r:id="rId7" imgW="114102" imgH="126780" progId="Equation.DSMT4">
                      <p:embed/>
                    </p:oleObj>
                  </mc:Choice>
                  <mc:Fallback>
                    <p:oleObj name="Equation" r:id="rId7" imgW="114102" imgH="1267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30848" y="7351160"/>
                            <a:ext cx="227012" cy="254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491" name="Object 3"/>
              <p:cNvGraphicFramePr>
                <a:graphicFrameLocks noChangeAspect="1"/>
              </p:cNvGraphicFramePr>
              <p:nvPr/>
            </p:nvGraphicFramePr>
            <p:xfrm>
              <a:off x="4678593" y="7335394"/>
              <a:ext cx="227012" cy="254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155" name="Equation" r:id="rId9" imgW="114102" imgH="126780" progId="Equation.DSMT4">
                      <p:embed/>
                    </p:oleObj>
                  </mc:Choice>
                  <mc:Fallback>
                    <p:oleObj name="Equation" r:id="rId9" imgW="114102" imgH="1267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78593" y="7335394"/>
                            <a:ext cx="227012" cy="254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34" name="Object 3"/>
          <p:cNvGraphicFramePr>
            <a:graphicFrameLocks noChangeAspect="1"/>
          </p:cNvGraphicFramePr>
          <p:nvPr/>
        </p:nvGraphicFramePr>
        <p:xfrm>
          <a:off x="2544234" y="4533900"/>
          <a:ext cx="3647017" cy="141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6" name="Equation" r:id="rId10" imgW="1257300" imgH="711200" progId="Equation.DSMT4">
                  <p:embed/>
                </p:oleObj>
              </mc:Choice>
              <mc:Fallback>
                <p:oleObj name="Equation" r:id="rId10" imgW="1257300" imgH="71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4234" y="4533900"/>
                        <a:ext cx="3647017" cy="1416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91424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组合 1"/>
          <p:cNvGrpSpPr>
            <a:grpSpLocks/>
          </p:cNvGrpSpPr>
          <p:nvPr/>
        </p:nvGrpSpPr>
        <p:grpSpPr bwMode="auto">
          <a:xfrm>
            <a:off x="969434" y="1012300"/>
            <a:ext cx="9734551" cy="1416050"/>
            <a:chOff x="582613" y="1136125"/>
            <a:chExt cx="7301755" cy="1416050"/>
          </a:xfrm>
        </p:grpSpPr>
        <p:sp>
          <p:nvSpPr>
            <p:cNvPr id="19474" name="Text Box 2"/>
            <p:cNvSpPr txBox="1">
              <a:spLocks noChangeArrowheads="1"/>
            </p:cNvSpPr>
            <p:nvPr/>
          </p:nvSpPr>
          <p:spPr bwMode="auto">
            <a:xfrm>
              <a:off x="582613" y="1364575"/>
              <a:ext cx="7301755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400" dirty="0" smtClean="0">
                  <a:solidFill>
                    <a:schemeClr val="accent2"/>
                  </a:solidFill>
                </a:rPr>
                <a:t>例</a:t>
              </a:r>
              <a:r>
                <a:rPr lang="en-US" altLang="zh-CN" sz="2400" dirty="0" smtClean="0">
                  <a:solidFill>
                    <a:schemeClr val="accent2"/>
                  </a:solidFill>
                </a:rPr>
                <a:t>4   </a:t>
              </a:r>
              <a:r>
                <a:rPr lang="zh-CN" altLang="en-US" sz="2400" dirty="0" smtClean="0"/>
                <a:t>已知                              满足                        </a:t>
              </a:r>
              <a:r>
                <a:rPr lang="zh-CN" altLang="en-US" sz="2400" dirty="0"/>
                <a:t>，求</a:t>
              </a:r>
            </a:p>
          </p:txBody>
        </p:sp>
        <p:graphicFrame>
          <p:nvGraphicFramePr>
            <p:cNvPr id="19475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53716891"/>
                </p:ext>
              </p:extLst>
            </p:nvPr>
          </p:nvGraphicFramePr>
          <p:xfrm>
            <a:off x="1898110" y="1136125"/>
            <a:ext cx="2033587" cy="1416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58" name="Equation" r:id="rId3" imgW="1028254" imgH="710891" progId="Equation.DSMT4">
                    <p:embed/>
                  </p:oleObj>
                </mc:Choice>
                <mc:Fallback>
                  <p:oleObj name="Equation" r:id="rId3" imgW="1028254" imgH="71089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8110" y="1136125"/>
                          <a:ext cx="2033587" cy="1416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6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48025639"/>
                </p:ext>
              </p:extLst>
            </p:nvPr>
          </p:nvGraphicFramePr>
          <p:xfrm>
            <a:off x="4598315" y="1523433"/>
            <a:ext cx="1735137" cy="328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59" name="Equation" r:id="rId5" imgW="875920" imgH="165028" progId="Equation.DSMT4">
                    <p:embed/>
                  </p:oleObj>
                </mc:Choice>
                <mc:Fallback>
                  <p:oleObj name="Equation" r:id="rId5" imgW="875920" imgH="16502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8315" y="1523433"/>
                          <a:ext cx="1735137" cy="3286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7" name="Object 3"/>
            <p:cNvGraphicFramePr>
              <a:graphicFrameLocks noChangeAspect="1"/>
            </p:cNvGraphicFramePr>
            <p:nvPr/>
          </p:nvGraphicFramePr>
          <p:xfrm>
            <a:off x="7164288" y="1525156"/>
            <a:ext cx="350837" cy="3286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60" name="Equation" r:id="rId7" imgW="177492" imgH="164814" progId="Equation.DSMT4">
                    <p:embed/>
                  </p:oleObj>
                </mc:Choice>
                <mc:Fallback>
                  <p:oleObj name="Equation" r:id="rId7" imgW="177492" imgH="16481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64288" y="1525156"/>
                          <a:ext cx="350837" cy="3286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460" name="Rectangle 7"/>
          <p:cNvSpPr>
            <a:spLocks noChangeArrowheads="1"/>
          </p:cNvSpPr>
          <p:nvPr/>
        </p:nvSpPr>
        <p:spPr bwMode="auto">
          <a:xfrm>
            <a:off x="0" y="-6164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1295400" y="2205040"/>
            <a:ext cx="5952067" cy="830997"/>
            <a:chOff x="652037" y="2940710"/>
            <a:chExt cx="4464496" cy="831413"/>
          </a:xfrm>
        </p:grpSpPr>
        <p:sp>
          <p:nvSpPr>
            <p:cNvPr id="19472" name="Text Box 4"/>
            <p:cNvSpPr txBox="1">
              <a:spLocks noChangeArrowheads="1"/>
            </p:cNvSpPr>
            <p:nvPr/>
          </p:nvSpPr>
          <p:spPr bwMode="auto">
            <a:xfrm>
              <a:off x="652037" y="2940710"/>
              <a:ext cx="4464496" cy="8314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 eaLnBrk="1" hangingPunct="1">
                <a:lnSpc>
                  <a:spcPct val="200000"/>
                </a:lnSpc>
              </a:pPr>
              <a:r>
                <a:rPr lang="zh-CN" altLang="en-US" sz="2400"/>
                <a:t>解：由已知可得：</a:t>
              </a:r>
            </a:p>
          </p:txBody>
        </p:sp>
        <p:graphicFrame>
          <p:nvGraphicFramePr>
            <p:cNvPr id="19473" name="Object 3"/>
            <p:cNvGraphicFramePr>
              <a:graphicFrameLocks noChangeAspect="1"/>
            </p:cNvGraphicFramePr>
            <p:nvPr/>
          </p:nvGraphicFramePr>
          <p:xfrm>
            <a:off x="3086224" y="3179207"/>
            <a:ext cx="1701800" cy="506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61" name="Equation" r:id="rId9" imgW="990170" imgH="253890" progId="Equation.DSMT4">
                    <p:embed/>
                  </p:oleObj>
                </mc:Choice>
                <mc:Fallback>
                  <p:oleObj name="Equation" r:id="rId9" imgW="990170" imgH="2538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86224" y="3179207"/>
                          <a:ext cx="1701800" cy="5064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1346200" y="4749800"/>
            <a:ext cx="3886200" cy="1416050"/>
            <a:chOff x="5448386" y="6021809"/>
            <a:chExt cx="3538538" cy="1416050"/>
          </a:xfrm>
        </p:grpSpPr>
        <p:graphicFrame>
          <p:nvGraphicFramePr>
            <p:cNvPr id="19470" name="Object 3"/>
            <p:cNvGraphicFramePr>
              <a:graphicFrameLocks noChangeAspect="1"/>
            </p:cNvGraphicFramePr>
            <p:nvPr/>
          </p:nvGraphicFramePr>
          <p:xfrm>
            <a:off x="5448386" y="6021809"/>
            <a:ext cx="3538538" cy="1416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62" name="Equation" r:id="rId11" imgW="1790700" imgH="711200" progId="Equation.DSMT4">
                    <p:embed/>
                  </p:oleObj>
                </mc:Choice>
                <mc:Fallback>
                  <p:oleObj name="Equation" r:id="rId11" imgW="1790700" imgH="71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8386" y="6021809"/>
                          <a:ext cx="3538538" cy="1416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1" name="Object 3"/>
            <p:cNvGraphicFramePr>
              <a:graphicFrameLocks noChangeAspect="1"/>
            </p:cNvGraphicFramePr>
            <p:nvPr/>
          </p:nvGraphicFramePr>
          <p:xfrm>
            <a:off x="5557232" y="6428626"/>
            <a:ext cx="227013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63" name="Equation" r:id="rId13" imgW="114102" imgH="126780" progId="Equation.DSMT4">
                    <p:embed/>
                  </p:oleObj>
                </mc:Choice>
                <mc:Fallback>
                  <p:oleObj name="Equation" r:id="rId13" imgW="114102" imgH="1267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57232" y="6428626"/>
                          <a:ext cx="227013" cy="25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组合 26"/>
          <p:cNvGrpSpPr>
            <a:grpSpLocks/>
          </p:cNvGrpSpPr>
          <p:nvPr/>
        </p:nvGrpSpPr>
        <p:grpSpPr bwMode="auto">
          <a:xfrm>
            <a:off x="7344834" y="3133725"/>
            <a:ext cx="4220633" cy="1416050"/>
            <a:chOff x="-544858" y="6428410"/>
            <a:chExt cx="3814762" cy="1416050"/>
          </a:xfrm>
        </p:grpSpPr>
        <p:graphicFrame>
          <p:nvGraphicFramePr>
            <p:cNvPr id="19468" name="Object 3"/>
            <p:cNvGraphicFramePr>
              <a:graphicFrameLocks noChangeAspect="1"/>
            </p:cNvGraphicFramePr>
            <p:nvPr/>
          </p:nvGraphicFramePr>
          <p:xfrm>
            <a:off x="-544858" y="6428410"/>
            <a:ext cx="3814762" cy="1416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64" name="Equation" r:id="rId15" imgW="1930400" imgH="711200" progId="Equation.DSMT4">
                    <p:embed/>
                  </p:oleObj>
                </mc:Choice>
                <mc:Fallback>
                  <p:oleObj name="Equation" r:id="rId15" imgW="1930400" imgH="71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544858" y="6428410"/>
                          <a:ext cx="3814762" cy="1416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9" name="Object 3"/>
            <p:cNvGraphicFramePr>
              <a:graphicFrameLocks noChangeAspect="1"/>
            </p:cNvGraphicFramePr>
            <p:nvPr/>
          </p:nvGraphicFramePr>
          <p:xfrm>
            <a:off x="-442980" y="6815889"/>
            <a:ext cx="227013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65" name="Equation" r:id="rId17" imgW="114102" imgH="126780" progId="Equation.DSMT4">
                    <p:embed/>
                  </p:oleObj>
                </mc:Choice>
                <mc:Fallback>
                  <p:oleObj name="Equation" r:id="rId17" imgW="114102" imgH="1267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442980" y="6815889"/>
                          <a:ext cx="227013" cy="25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4" name="Object 3"/>
          <p:cNvGraphicFramePr>
            <a:graphicFrameLocks noChangeAspect="1"/>
          </p:cNvGraphicFramePr>
          <p:nvPr/>
        </p:nvGraphicFramePr>
        <p:xfrm>
          <a:off x="5615517" y="4748213"/>
          <a:ext cx="5255683" cy="141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66" name="Equation" r:id="rId18" imgW="2286000" imgH="711200" progId="Equation.DSMT4">
                  <p:embed/>
                </p:oleObj>
              </mc:Choice>
              <mc:Fallback>
                <p:oleObj name="Equation" r:id="rId18" imgW="2286000" imgH="71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5517" y="4748213"/>
                        <a:ext cx="5255683" cy="1416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组合 22"/>
          <p:cNvGrpSpPr>
            <a:grpSpLocks/>
          </p:cNvGrpSpPr>
          <p:nvPr/>
        </p:nvGrpSpPr>
        <p:grpSpPr bwMode="auto">
          <a:xfrm>
            <a:off x="1007534" y="3132139"/>
            <a:ext cx="6337300" cy="1419225"/>
            <a:chOff x="652037" y="2717195"/>
            <a:chExt cx="4752528" cy="1419225"/>
          </a:xfrm>
        </p:grpSpPr>
        <p:sp>
          <p:nvSpPr>
            <p:cNvPr id="19466" name="Text Box 4"/>
            <p:cNvSpPr txBox="1">
              <a:spLocks noChangeArrowheads="1"/>
            </p:cNvSpPr>
            <p:nvPr/>
          </p:nvSpPr>
          <p:spPr bwMode="auto">
            <a:xfrm>
              <a:off x="652037" y="2940710"/>
              <a:ext cx="4464496" cy="8309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 eaLnBrk="1" hangingPunct="1">
                <a:lnSpc>
                  <a:spcPct val="200000"/>
                </a:lnSpc>
              </a:pPr>
              <a:r>
                <a:rPr lang="zh-CN" altLang="en-US" sz="2400"/>
                <a:t>构造</a:t>
              </a:r>
            </a:p>
          </p:txBody>
        </p:sp>
        <p:graphicFrame>
          <p:nvGraphicFramePr>
            <p:cNvPr id="19467" name="Object 3"/>
            <p:cNvGraphicFramePr>
              <a:graphicFrameLocks noChangeAspect="1"/>
            </p:cNvGraphicFramePr>
            <p:nvPr/>
          </p:nvGraphicFramePr>
          <p:xfrm>
            <a:off x="1419415" y="2717195"/>
            <a:ext cx="3985150" cy="1419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67" name="Equation" r:id="rId20" imgW="2425700" imgH="711200" progId="Equation.DSMT4">
                    <p:embed/>
                  </p:oleObj>
                </mc:Choice>
                <mc:Fallback>
                  <p:oleObj name="Equation" r:id="rId20" imgW="2425700" imgH="71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9415" y="2717195"/>
                          <a:ext cx="3985150" cy="1419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569697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549681" y="439388"/>
            <a:ext cx="4914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初等变换与矩阵的秩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06043" y="1205568"/>
            <a:ext cx="1885465" cy="651368"/>
            <a:chOff x="745588" y="1310185"/>
            <a:chExt cx="785392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745588" y="1310185"/>
              <a:ext cx="785392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59655" y="1427370"/>
              <a:ext cx="696435" cy="493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矩阵的秩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565871" y="1205569"/>
            <a:ext cx="2632942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" name="圆角矩形 7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定义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  k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阶子式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506043" y="2046950"/>
            <a:ext cx="11353022" cy="830997"/>
            <a:chOff x="3138986" y="2247024"/>
            <a:chExt cx="7642746" cy="830997"/>
          </a:xfrm>
        </p:grpSpPr>
        <p:sp>
          <p:nvSpPr>
            <p:cNvPr id="13" name="文本框 12"/>
            <p:cNvSpPr txBox="1"/>
            <p:nvPr/>
          </p:nvSpPr>
          <p:spPr>
            <a:xfrm>
              <a:off x="3138986" y="2247024"/>
              <a:ext cx="764274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               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在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中取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行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列，位于交叉位置的元素按原来相对位置构成的</a:t>
              </a:r>
              <a:endPara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20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17793263"/>
                </p:ext>
              </p:extLst>
            </p:nvPr>
          </p:nvGraphicFramePr>
          <p:xfrm>
            <a:off x="3373278" y="2497187"/>
            <a:ext cx="1488685" cy="542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28" name="Equation" r:id="rId3" imgW="799920" imgH="291960" progId="Equation.DSMT4">
                    <p:embed/>
                  </p:oleObj>
                </mc:Choice>
                <mc:Fallback>
                  <p:oleObj name="Equation" r:id="rId3" imgW="799920" imgH="2919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373278" y="2497187"/>
                          <a:ext cx="1488685" cy="5429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文本框 21"/>
          <p:cNvSpPr txBox="1"/>
          <p:nvPr/>
        </p:nvSpPr>
        <p:spPr>
          <a:xfrm>
            <a:off x="508811" y="2883365"/>
            <a:ext cx="76427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阶行列式，称为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的一个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阶子式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2339817"/>
              </p:ext>
            </p:extLst>
          </p:nvPr>
        </p:nvGraphicFramePr>
        <p:xfrm>
          <a:off x="506043" y="3947971"/>
          <a:ext cx="2908300" cy="169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29" name="Equation" r:id="rId5" imgW="1562040" imgH="914400" progId="Equation.DSMT4">
                  <p:embed/>
                </p:oleObj>
              </mc:Choice>
              <mc:Fallback>
                <p:oleObj name="Equation" r:id="rId5" imgW="156204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6043" y="3947971"/>
                        <a:ext cx="2908300" cy="1697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/>
          <p:cNvCxnSpPr/>
          <p:nvPr/>
        </p:nvCxnSpPr>
        <p:spPr>
          <a:xfrm>
            <a:off x="1160060" y="4121624"/>
            <a:ext cx="197892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160059" y="4555378"/>
            <a:ext cx="197892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160058" y="4991477"/>
            <a:ext cx="197892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224000" y="3888000"/>
            <a:ext cx="0" cy="1800000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692000" y="3888000"/>
            <a:ext cx="0" cy="1800000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2600289" y="3888000"/>
            <a:ext cx="0" cy="1800000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2720517"/>
              </p:ext>
            </p:extLst>
          </p:nvPr>
        </p:nvGraphicFramePr>
        <p:xfrm>
          <a:off x="3882342" y="4119070"/>
          <a:ext cx="1276350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30" name="Equation" r:id="rId7" imgW="685800" imgH="711000" progId="Equation.DSMT4">
                  <p:embed/>
                </p:oleObj>
              </mc:Choice>
              <mc:Fallback>
                <p:oleObj name="Equation" r:id="rId7" imgW="68580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82342" y="4119070"/>
                        <a:ext cx="1276350" cy="1320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组合 26"/>
          <p:cNvGrpSpPr/>
          <p:nvPr/>
        </p:nvGrpSpPr>
        <p:grpSpPr>
          <a:xfrm>
            <a:off x="5795889" y="3888000"/>
            <a:ext cx="5163264" cy="501314"/>
            <a:chOff x="5795889" y="3947971"/>
            <a:chExt cx="5163264" cy="501314"/>
          </a:xfrm>
        </p:grpSpPr>
        <p:sp>
          <p:nvSpPr>
            <p:cNvPr id="17" name="文本框 16"/>
            <p:cNvSpPr txBox="1"/>
            <p:nvPr/>
          </p:nvSpPr>
          <p:spPr>
            <a:xfrm>
              <a:off x="5795889" y="3947971"/>
              <a:ext cx="51632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(1)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26" name="对象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54704813"/>
                </p:ext>
              </p:extLst>
            </p:nvPr>
          </p:nvGraphicFramePr>
          <p:xfrm>
            <a:off x="6265294" y="3977797"/>
            <a:ext cx="1773238" cy="471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31" name="Equation" r:id="rId9" imgW="952200" imgH="253800" progId="Equation.DSMT4">
                    <p:embed/>
                  </p:oleObj>
                </mc:Choice>
                <mc:Fallback>
                  <p:oleObj name="Equation" r:id="rId9" imgW="95220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265294" y="3977797"/>
                          <a:ext cx="1773238" cy="4714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" name="组合 27"/>
          <p:cNvGrpSpPr/>
          <p:nvPr/>
        </p:nvGrpSpPr>
        <p:grpSpPr>
          <a:xfrm>
            <a:off x="5795889" y="4562386"/>
            <a:ext cx="5163264" cy="461665"/>
            <a:chOff x="5795889" y="3947971"/>
            <a:chExt cx="5163264" cy="461665"/>
          </a:xfrm>
        </p:grpSpPr>
        <p:sp>
          <p:nvSpPr>
            <p:cNvPr id="29" name="文本框 28"/>
            <p:cNvSpPr txBox="1"/>
            <p:nvPr/>
          </p:nvSpPr>
          <p:spPr>
            <a:xfrm>
              <a:off x="5795889" y="3947971"/>
              <a:ext cx="51632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(2)    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只有一个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阶子式；</a:t>
              </a:r>
            </a:p>
          </p:txBody>
        </p:sp>
        <p:graphicFrame>
          <p:nvGraphicFramePr>
            <p:cNvPr id="30" name="对象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46996459"/>
                </p:ext>
              </p:extLst>
            </p:nvPr>
          </p:nvGraphicFramePr>
          <p:xfrm>
            <a:off x="6265294" y="3996713"/>
            <a:ext cx="355600" cy="397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32" name="Equation" r:id="rId11" imgW="190440" imgH="228600" progId="Equation.DSMT4">
                    <p:embed/>
                  </p:oleObj>
                </mc:Choice>
                <mc:Fallback>
                  <p:oleObj name="Equation" r:id="rId11" imgW="1904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265294" y="3996713"/>
                          <a:ext cx="355600" cy="3979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组合 34"/>
          <p:cNvGrpSpPr/>
          <p:nvPr/>
        </p:nvGrpSpPr>
        <p:grpSpPr>
          <a:xfrm>
            <a:off x="5795889" y="5262563"/>
            <a:ext cx="5163264" cy="462657"/>
            <a:chOff x="5795889" y="5262563"/>
            <a:chExt cx="5163264" cy="462657"/>
          </a:xfrm>
        </p:grpSpPr>
        <p:grpSp>
          <p:nvGrpSpPr>
            <p:cNvPr id="31" name="组合 30"/>
            <p:cNvGrpSpPr/>
            <p:nvPr/>
          </p:nvGrpSpPr>
          <p:grpSpPr>
            <a:xfrm>
              <a:off x="5795889" y="5263555"/>
              <a:ext cx="5163264" cy="461665"/>
              <a:chOff x="5795889" y="3947971"/>
              <a:chExt cx="5163264" cy="461665"/>
            </a:xfrm>
          </p:grpSpPr>
          <p:sp>
            <p:nvSpPr>
              <p:cNvPr id="32" name="文本框 31"/>
              <p:cNvSpPr txBox="1"/>
              <p:nvPr/>
            </p:nvSpPr>
            <p:spPr>
              <a:xfrm>
                <a:off x="5795889" y="3947971"/>
                <a:ext cx="51632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(3)    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阶子式共有         个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  <a:endPara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aphicFrame>
            <p:nvGraphicFramePr>
              <p:cNvPr id="33" name="对象 3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85169141"/>
                  </p:ext>
                </p:extLst>
              </p:nvPr>
            </p:nvGraphicFramePr>
            <p:xfrm>
              <a:off x="6327367" y="4028050"/>
              <a:ext cx="282575" cy="3063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133" name="Equation" r:id="rId13" imgW="152280" imgH="164880" progId="Equation.DSMT4">
                      <p:embed/>
                    </p:oleObj>
                  </mc:Choice>
                  <mc:Fallback>
                    <p:oleObj name="Equation" r:id="rId13" imgW="152280" imgH="1648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6327367" y="4028050"/>
                            <a:ext cx="282575" cy="30638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4" name="对象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79387688"/>
                </p:ext>
              </p:extLst>
            </p:nvPr>
          </p:nvGraphicFramePr>
          <p:xfrm>
            <a:off x="8650288" y="5262563"/>
            <a:ext cx="7112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34" name="Equation" r:id="rId15" imgW="380880" imgH="241200" progId="Equation.DSMT4">
                    <p:embed/>
                  </p:oleObj>
                </mc:Choice>
                <mc:Fallback>
                  <p:oleObj name="Equation" r:id="rId15" imgW="38088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8650288" y="5262563"/>
                          <a:ext cx="7112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567638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角矩形 10"/>
          <p:cNvSpPr/>
          <p:nvPr/>
        </p:nvSpPr>
        <p:spPr>
          <a:xfrm>
            <a:off x="6359856" y="2776865"/>
            <a:ext cx="4774731" cy="394505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6464828" y="2951904"/>
            <a:ext cx="56260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的秩为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r,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549681" y="439388"/>
            <a:ext cx="4914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初等变换与矩阵的秩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06043" y="1205568"/>
            <a:ext cx="1744786" cy="651368"/>
            <a:chOff x="745588" y="1310185"/>
            <a:chExt cx="785392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745588" y="1310185"/>
              <a:ext cx="785392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59655" y="1427370"/>
              <a:ext cx="771325" cy="493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矩阵的秩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472373" y="1205568"/>
            <a:ext cx="1744786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" name="圆角矩形 7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定义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秩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506043" y="1776898"/>
            <a:ext cx="11296751" cy="830997"/>
            <a:chOff x="3138986" y="2247024"/>
            <a:chExt cx="7642746" cy="830997"/>
          </a:xfrm>
        </p:grpSpPr>
        <p:sp>
          <p:nvSpPr>
            <p:cNvPr id="13" name="文本框 12"/>
            <p:cNvSpPr txBox="1"/>
            <p:nvPr/>
          </p:nvSpPr>
          <p:spPr>
            <a:xfrm>
              <a:off x="3138986" y="2247024"/>
              <a:ext cx="764274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                    若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有一个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阶子式不为零，所有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+1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阶子式（若存在）全为零，</a:t>
              </a:r>
              <a:endPara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20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062335"/>
                </p:ext>
              </p:extLst>
            </p:nvPr>
          </p:nvGraphicFramePr>
          <p:xfrm>
            <a:off x="3371899" y="2514624"/>
            <a:ext cx="1253378" cy="4564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13" name="Equation" r:id="rId4" imgW="799920" imgH="291960" progId="Equation.DSMT4">
                    <p:embed/>
                  </p:oleObj>
                </mc:Choice>
                <mc:Fallback>
                  <p:oleObj name="Equation" r:id="rId4" imgW="799920" imgH="2919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371899" y="2514624"/>
                          <a:ext cx="1253378" cy="45648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文本框 21"/>
          <p:cNvSpPr txBox="1"/>
          <p:nvPr/>
        </p:nvSpPr>
        <p:spPr>
          <a:xfrm>
            <a:off x="537294" y="2531171"/>
            <a:ext cx="76427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则称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的秩，记作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08685" y="3721845"/>
            <a:ext cx="2908300" cy="1800000"/>
            <a:chOff x="608685" y="3721845"/>
            <a:chExt cx="2908300" cy="1800000"/>
          </a:xfrm>
        </p:grpSpPr>
        <p:graphicFrame>
          <p:nvGraphicFramePr>
            <p:cNvPr id="14" name="对象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22857856"/>
                </p:ext>
              </p:extLst>
            </p:nvPr>
          </p:nvGraphicFramePr>
          <p:xfrm>
            <a:off x="608685" y="3781816"/>
            <a:ext cx="2908300" cy="16970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14" name="Equation" r:id="rId6" imgW="1562040" imgH="914400" progId="Equation.DSMT4">
                    <p:embed/>
                  </p:oleObj>
                </mc:Choice>
                <mc:Fallback>
                  <p:oleObj name="Equation" r:id="rId6" imgW="1562040" imgH="914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608685" y="3781816"/>
                          <a:ext cx="2908300" cy="16970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" name="直接连接符 2"/>
            <p:cNvCxnSpPr/>
            <p:nvPr/>
          </p:nvCxnSpPr>
          <p:spPr>
            <a:xfrm>
              <a:off x="1262702" y="3955469"/>
              <a:ext cx="1978925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1262701" y="4389223"/>
              <a:ext cx="1978925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1262700" y="4825322"/>
              <a:ext cx="1978925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1326642" y="3721845"/>
              <a:ext cx="0" cy="1800000"/>
            </a:xfrm>
            <a:prstGeom prst="line">
              <a:avLst/>
            </a:prstGeom>
            <a:ln w="254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1794642" y="3721845"/>
              <a:ext cx="0" cy="1800000"/>
            </a:xfrm>
            <a:prstGeom prst="line">
              <a:avLst/>
            </a:prstGeom>
            <a:ln w="254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2702931" y="3721845"/>
              <a:ext cx="0" cy="1800000"/>
            </a:xfrm>
            <a:prstGeom prst="line">
              <a:avLst/>
            </a:prstGeom>
            <a:ln w="254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2163547"/>
              </p:ext>
            </p:extLst>
          </p:nvPr>
        </p:nvGraphicFramePr>
        <p:xfrm>
          <a:off x="3984984" y="3952915"/>
          <a:ext cx="1276350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15" name="Equation" r:id="rId8" imgW="685800" imgH="711000" progId="Equation.DSMT4">
                  <p:embed/>
                </p:oleObj>
              </mc:Choice>
              <mc:Fallback>
                <p:oleObj name="Equation" r:id="rId8" imgW="68580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984984" y="3952915"/>
                        <a:ext cx="1276350" cy="1320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5405317"/>
              </p:ext>
            </p:extLst>
          </p:nvPr>
        </p:nvGraphicFramePr>
        <p:xfrm>
          <a:off x="2656233" y="5632291"/>
          <a:ext cx="113347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16" name="Equation" r:id="rId10" imgW="609480" imgH="253800" progId="Equation.DSMT4">
                  <p:embed/>
                </p:oleObj>
              </mc:Choice>
              <mc:Fallback>
                <p:oleObj name="Equation" r:id="rId10" imgW="6094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656233" y="5632291"/>
                        <a:ext cx="1133475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6471533" y="3450307"/>
            <a:ext cx="56260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A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至少有一个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阶子式不为零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6471533" y="4033158"/>
            <a:ext cx="56260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 A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阶子式均不为零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6464828" y="4620452"/>
            <a:ext cx="56260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 A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没有低于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阶的子式为零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6485341" y="5203303"/>
            <a:ext cx="56260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(4) A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的大于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阶的子式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为零</a:t>
            </a:r>
          </a:p>
        </p:txBody>
      </p:sp>
      <p:grpSp>
        <p:nvGrpSpPr>
          <p:cNvPr id="46" name="组合 45"/>
          <p:cNvGrpSpPr/>
          <p:nvPr/>
        </p:nvGrpSpPr>
        <p:grpSpPr>
          <a:xfrm>
            <a:off x="6464828" y="6285466"/>
            <a:ext cx="5626026" cy="473075"/>
            <a:chOff x="5838092" y="6285466"/>
            <a:chExt cx="5626026" cy="473075"/>
          </a:xfrm>
        </p:grpSpPr>
        <p:sp>
          <p:nvSpPr>
            <p:cNvPr id="40" name="文本框 39"/>
            <p:cNvSpPr txBox="1"/>
            <p:nvPr/>
          </p:nvSpPr>
          <p:spPr>
            <a:xfrm>
              <a:off x="5838092" y="6321813"/>
              <a:ext cx="562602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(6)     </a:t>
              </a:r>
              <a:r>
                <a: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可逆</a:t>
              </a:r>
            </a:p>
          </p:txBody>
        </p:sp>
        <p:graphicFrame>
          <p:nvGraphicFramePr>
            <p:cNvPr id="41" name="对象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49002740"/>
                </p:ext>
              </p:extLst>
            </p:nvPr>
          </p:nvGraphicFramePr>
          <p:xfrm>
            <a:off x="7200849" y="6285466"/>
            <a:ext cx="1511300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17" name="Equation" r:id="rId12" imgW="812520" imgH="253800" progId="Equation.DSMT4">
                    <p:embed/>
                  </p:oleObj>
                </mc:Choice>
                <mc:Fallback>
                  <p:oleObj name="Equation" r:id="rId12" imgW="81252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7200849" y="6285466"/>
                          <a:ext cx="1511300" cy="4730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" name="对象 4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65728708"/>
                </p:ext>
              </p:extLst>
            </p:nvPr>
          </p:nvGraphicFramePr>
          <p:xfrm>
            <a:off x="6248959" y="6302204"/>
            <a:ext cx="354013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18" name="Equation" r:id="rId14" imgW="190440" imgH="228600" progId="Equation.DSMT4">
                    <p:embed/>
                  </p:oleObj>
                </mc:Choice>
                <mc:Fallback>
                  <p:oleObj name="Equation" r:id="rId14" imgW="1904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6248959" y="6302204"/>
                          <a:ext cx="354013" cy="4254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/>
          <p:cNvGrpSpPr/>
          <p:nvPr/>
        </p:nvGrpSpPr>
        <p:grpSpPr>
          <a:xfrm>
            <a:off x="6464828" y="5781615"/>
            <a:ext cx="5626026" cy="520700"/>
            <a:chOff x="5838092" y="5905175"/>
            <a:chExt cx="5626026" cy="520700"/>
          </a:xfrm>
        </p:grpSpPr>
        <p:sp>
          <p:nvSpPr>
            <p:cNvPr id="43" name="文本框 42"/>
            <p:cNvSpPr txBox="1"/>
            <p:nvPr/>
          </p:nvSpPr>
          <p:spPr>
            <a:xfrm>
              <a:off x="5838092" y="5925961"/>
              <a:ext cx="562602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(5) </a:t>
              </a:r>
              <a:endPara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44" name="对象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2631575"/>
                </p:ext>
              </p:extLst>
            </p:nvPr>
          </p:nvGraphicFramePr>
          <p:xfrm>
            <a:off x="6361068" y="5905175"/>
            <a:ext cx="1770062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19" name="Equation" r:id="rId16" imgW="952200" imgH="279360" progId="Equation.DSMT4">
                    <p:embed/>
                  </p:oleObj>
                </mc:Choice>
                <mc:Fallback>
                  <p:oleObj name="Equation" r:id="rId16" imgW="95220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6361068" y="5905175"/>
                          <a:ext cx="1770062" cy="520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7" name="对象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1762624"/>
              </p:ext>
            </p:extLst>
          </p:nvPr>
        </p:nvGraphicFramePr>
        <p:xfrm>
          <a:off x="4394200" y="23622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20" name="Equation" r:id="rId18" imgW="914400" imgH="198720" progId="Equation.DSMT4">
                  <p:embed/>
                </p:oleObj>
              </mc:Choice>
              <mc:Fallback>
                <p:oleObj name="Equation" r:id="rId18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394200" y="23622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9" name="图片 48"/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0" b="89831" l="0" r="98333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270673" y="6282444"/>
            <a:ext cx="472850" cy="464969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0" b="89831" l="0" r="98333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280824" y="5740799"/>
            <a:ext cx="472850" cy="464969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0" b="89831" l="0" r="98333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280824" y="5142019"/>
            <a:ext cx="472850" cy="464969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0" b="89831" l="0" r="98333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287848" y="3362168"/>
            <a:ext cx="472850" cy="464969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0" b="93651" l="3226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235504" y="4620459"/>
            <a:ext cx="456184" cy="463542"/>
          </a:xfrm>
          <a:prstGeom prst="rect">
            <a:avLst/>
          </a:prstGeom>
        </p:spPr>
      </p:pic>
      <p:pic>
        <p:nvPicPr>
          <p:cNvPr id="54" name="图片 53"/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0" b="93651" l="3226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235504" y="3997762"/>
            <a:ext cx="456184" cy="46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99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4" grpId="0"/>
      <p:bldP spid="22" grpId="0"/>
      <p:bldP spid="12" grpId="0"/>
      <p:bldP spid="37" grpId="0"/>
      <p:bldP spid="38" grpId="0"/>
      <p:bldP spid="3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组合 1"/>
          <p:cNvGrpSpPr>
            <a:grpSpLocks/>
          </p:cNvGrpSpPr>
          <p:nvPr/>
        </p:nvGrpSpPr>
        <p:grpSpPr bwMode="auto">
          <a:xfrm>
            <a:off x="776818" y="1111250"/>
            <a:ext cx="10983383" cy="2001838"/>
            <a:chOff x="582613" y="750738"/>
            <a:chExt cx="8237859" cy="2001618"/>
          </a:xfrm>
        </p:grpSpPr>
        <p:sp>
          <p:nvSpPr>
            <p:cNvPr id="8213" name="Text Box 2"/>
            <p:cNvSpPr txBox="1">
              <a:spLocks noChangeArrowheads="1"/>
            </p:cNvSpPr>
            <p:nvPr/>
          </p:nvSpPr>
          <p:spPr bwMode="auto">
            <a:xfrm>
              <a:off x="582613" y="1364575"/>
              <a:ext cx="8237859" cy="646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400" dirty="0" smtClean="0">
                  <a:solidFill>
                    <a:schemeClr val="accent2"/>
                  </a:solidFill>
                </a:rPr>
                <a:t>例</a:t>
              </a:r>
              <a:r>
                <a:rPr lang="en-US" altLang="zh-CN" sz="2400" dirty="0" smtClean="0">
                  <a:solidFill>
                    <a:schemeClr val="accent2"/>
                  </a:solidFill>
                </a:rPr>
                <a:t>5   </a:t>
              </a:r>
              <a:r>
                <a:rPr lang="zh-CN" altLang="en-US" sz="2400" dirty="0"/>
                <a:t>求 </a:t>
              </a:r>
              <a:r>
                <a:rPr lang="zh-CN" altLang="en-US" sz="2400" dirty="0" smtClean="0"/>
                <a:t>                                                                               </a:t>
              </a:r>
              <a:r>
                <a:rPr lang="zh-CN" altLang="en-US" sz="2400" dirty="0"/>
                <a:t>的</a:t>
              </a:r>
              <a:r>
                <a:rPr lang="zh-CN" altLang="en-US" sz="2400" dirty="0" smtClean="0"/>
                <a:t>秩</a:t>
              </a:r>
              <a:r>
                <a:rPr lang="en-US" altLang="zh-CN" sz="2400" dirty="0" smtClean="0"/>
                <a:t>.</a:t>
              </a:r>
              <a:endParaRPr lang="zh-CN" altLang="en-US" sz="2400" dirty="0"/>
            </a:p>
          </p:txBody>
        </p:sp>
        <p:graphicFrame>
          <p:nvGraphicFramePr>
            <p:cNvPr id="8214" name="Object 3"/>
            <p:cNvGraphicFramePr>
              <a:graphicFrameLocks noChangeAspect="1"/>
            </p:cNvGraphicFramePr>
            <p:nvPr/>
          </p:nvGraphicFramePr>
          <p:xfrm>
            <a:off x="1866493" y="750738"/>
            <a:ext cx="5889625" cy="20016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00" name="Equation" r:id="rId3" imgW="2705100" imgH="914400" progId="Equation.DSMT4">
                    <p:embed/>
                  </p:oleObj>
                </mc:Choice>
                <mc:Fallback>
                  <p:oleObj name="Equation" r:id="rId3" imgW="2705100" imgH="914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6493" y="750738"/>
                          <a:ext cx="5889625" cy="20016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195" name="Rectangle 7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1200151" y="3003551"/>
            <a:ext cx="3551767" cy="785813"/>
            <a:chOff x="755576" y="3140968"/>
            <a:chExt cx="2664296" cy="785813"/>
          </a:xfrm>
        </p:grpSpPr>
        <p:sp>
          <p:nvSpPr>
            <p:cNvPr id="8211" name="Text Box 4"/>
            <p:cNvSpPr txBox="1">
              <a:spLocks noChangeArrowheads="1"/>
            </p:cNvSpPr>
            <p:nvPr/>
          </p:nvSpPr>
          <p:spPr bwMode="auto">
            <a:xfrm>
              <a:off x="755576" y="3140968"/>
              <a:ext cx="2664296" cy="7858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 eaLnBrk="1" hangingPunct="1">
                <a:lnSpc>
                  <a:spcPct val="200000"/>
                </a:lnSpc>
              </a:pPr>
              <a:r>
                <a:rPr lang="zh-CN" altLang="en-US" sz="2400" dirty="0"/>
                <a:t>解：对于</a:t>
              </a:r>
              <a:r>
                <a:rPr lang="en-US" altLang="zh-CN" sz="2400" dirty="0"/>
                <a:t>   </a:t>
              </a:r>
              <a:r>
                <a:rPr lang="zh-CN" altLang="en-US" sz="2400" dirty="0"/>
                <a:t>矩阵，                                       </a:t>
              </a:r>
            </a:p>
            <a:p>
              <a:pPr algn="just" eaLnBrk="1" hangingPunct="1">
                <a:lnSpc>
                  <a:spcPct val="200000"/>
                </a:lnSpc>
              </a:pPr>
              <a:endParaRPr lang="zh-CN" altLang="en-US" sz="2400" dirty="0"/>
            </a:p>
          </p:txBody>
        </p:sp>
        <p:graphicFrame>
          <p:nvGraphicFramePr>
            <p:cNvPr id="8212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15422851"/>
                </p:ext>
              </p:extLst>
            </p:nvPr>
          </p:nvGraphicFramePr>
          <p:xfrm>
            <a:off x="1690708" y="3441173"/>
            <a:ext cx="331788" cy="360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01" name="Equation" r:id="rId5" imgW="152268" imgH="164957" progId="Equation.DSMT4">
                    <p:embed/>
                  </p:oleObj>
                </mc:Choice>
                <mc:Fallback>
                  <p:oleObj name="Equation" r:id="rId5" imgW="152268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0708" y="3441173"/>
                          <a:ext cx="331788" cy="360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/>
          <p:cNvGrpSpPr>
            <a:grpSpLocks/>
          </p:cNvGrpSpPr>
          <p:nvPr/>
        </p:nvGrpSpPr>
        <p:grpSpPr bwMode="auto">
          <a:xfrm>
            <a:off x="1488018" y="3789363"/>
            <a:ext cx="3771900" cy="785812"/>
            <a:chOff x="755576" y="3140968"/>
            <a:chExt cx="2828776" cy="785813"/>
          </a:xfrm>
        </p:grpSpPr>
        <p:sp>
          <p:nvSpPr>
            <p:cNvPr id="8209" name="Text Box 4"/>
            <p:cNvSpPr txBox="1">
              <a:spLocks noChangeArrowheads="1"/>
            </p:cNvSpPr>
            <p:nvPr/>
          </p:nvSpPr>
          <p:spPr bwMode="auto">
            <a:xfrm>
              <a:off x="755576" y="3140968"/>
              <a:ext cx="2664296" cy="7858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 eaLnBrk="1" hangingPunct="1">
                <a:lnSpc>
                  <a:spcPct val="200000"/>
                </a:lnSpc>
              </a:pPr>
              <a:r>
                <a:rPr lang="zh-CN" altLang="en-US" sz="2400"/>
                <a:t>一阶子式：</a:t>
              </a:r>
            </a:p>
            <a:p>
              <a:pPr algn="just" eaLnBrk="1" hangingPunct="1">
                <a:lnSpc>
                  <a:spcPct val="200000"/>
                </a:lnSpc>
              </a:pPr>
              <a:endParaRPr lang="zh-CN" altLang="en-US" sz="2400"/>
            </a:p>
          </p:txBody>
        </p:sp>
        <p:graphicFrame>
          <p:nvGraphicFramePr>
            <p:cNvPr id="8210" name="Object 3"/>
            <p:cNvGraphicFramePr>
              <a:graphicFrameLocks noChangeAspect="1"/>
            </p:cNvGraphicFramePr>
            <p:nvPr/>
          </p:nvGraphicFramePr>
          <p:xfrm>
            <a:off x="2339752" y="3372743"/>
            <a:ext cx="1244600" cy="554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02" name="Equation" r:id="rId7" imgW="571252" imgH="253890" progId="Equation.DSMT4">
                    <p:embed/>
                  </p:oleObj>
                </mc:Choice>
                <mc:Fallback>
                  <p:oleObj name="Equation" r:id="rId7" imgW="571252" imgH="2538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9752" y="3372743"/>
                          <a:ext cx="1244600" cy="5540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21"/>
          <p:cNvGrpSpPr>
            <a:grpSpLocks/>
          </p:cNvGrpSpPr>
          <p:nvPr/>
        </p:nvGrpSpPr>
        <p:grpSpPr bwMode="auto">
          <a:xfrm>
            <a:off x="5547785" y="3773488"/>
            <a:ext cx="3845983" cy="1008062"/>
            <a:chOff x="755576" y="3140968"/>
            <a:chExt cx="2884487" cy="1008385"/>
          </a:xfrm>
        </p:grpSpPr>
        <p:sp>
          <p:nvSpPr>
            <p:cNvPr id="8207" name="Text Box 4"/>
            <p:cNvSpPr txBox="1">
              <a:spLocks noChangeArrowheads="1"/>
            </p:cNvSpPr>
            <p:nvPr/>
          </p:nvSpPr>
          <p:spPr bwMode="auto">
            <a:xfrm>
              <a:off x="755576" y="3140968"/>
              <a:ext cx="2664296" cy="7858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 eaLnBrk="1" hangingPunct="1">
                <a:lnSpc>
                  <a:spcPct val="200000"/>
                </a:lnSpc>
              </a:pPr>
              <a:r>
                <a:rPr lang="zh-CN" altLang="en-US" sz="2400"/>
                <a:t>二阶子式：</a:t>
              </a:r>
            </a:p>
            <a:p>
              <a:pPr algn="just" eaLnBrk="1" hangingPunct="1">
                <a:lnSpc>
                  <a:spcPct val="200000"/>
                </a:lnSpc>
              </a:pPr>
              <a:endParaRPr lang="zh-CN" altLang="en-US" sz="2400"/>
            </a:p>
          </p:txBody>
        </p:sp>
        <p:graphicFrame>
          <p:nvGraphicFramePr>
            <p:cNvPr id="8208" name="Object 3"/>
            <p:cNvGraphicFramePr>
              <a:graphicFrameLocks noChangeAspect="1"/>
            </p:cNvGraphicFramePr>
            <p:nvPr/>
          </p:nvGraphicFramePr>
          <p:xfrm>
            <a:off x="2285926" y="3150816"/>
            <a:ext cx="1354137" cy="998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03" name="Equation" r:id="rId9" imgW="622300" imgH="457200" progId="Equation.DSMT4">
                    <p:embed/>
                  </p:oleObj>
                </mc:Choice>
                <mc:Fallback>
                  <p:oleObj name="Equation" r:id="rId9" imgW="62230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5926" y="3150816"/>
                          <a:ext cx="1354137" cy="9985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组合 24"/>
          <p:cNvGrpSpPr>
            <a:grpSpLocks/>
          </p:cNvGrpSpPr>
          <p:nvPr/>
        </p:nvGrpSpPr>
        <p:grpSpPr bwMode="auto">
          <a:xfrm>
            <a:off x="1570567" y="4803776"/>
            <a:ext cx="3553884" cy="785813"/>
            <a:chOff x="755576" y="3140968"/>
            <a:chExt cx="2664296" cy="785813"/>
          </a:xfrm>
        </p:grpSpPr>
        <p:sp>
          <p:nvSpPr>
            <p:cNvPr id="8205" name="Text Box 4"/>
            <p:cNvSpPr txBox="1">
              <a:spLocks noChangeArrowheads="1"/>
            </p:cNvSpPr>
            <p:nvPr/>
          </p:nvSpPr>
          <p:spPr bwMode="auto">
            <a:xfrm>
              <a:off x="755576" y="3140968"/>
              <a:ext cx="2664296" cy="7858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 eaLnBrk="1" hangingPunct="1">
                <a:lnSpc>
                  <a:spcPct val="200000"/>
                </a:lnSpc>
              </a:pPr>
              <a:r>
                <a:rPr lang="zh-CN" altLang="en-US" sz="2400"/>
                <a:t>三阶子式：</a:t>
              </a:r>
            </a:p>
            <a:p>
              <a:pPr algn="just" eaLnBrk="1" hangingPunct="1">
                <a:lnSpc>
                  <a:spcPct val="200000"/>
                </a:lnSpc>
              </a:pPr>
              <a:endParaRPr lang="zh-CN" altLang="en-US" sz="2400"/>
            </a:p>
          </p:txBody>
        </p:sp>
        <p:graphicFrame>
          <p:nvGraphicFramePr>
            <p:cNvPr id="8206" name="Object 3"/>
            <p:cNvGraphicFramePr>
              <a:graphicFrameLocks noChangeAspect="1"/>
            </p:cNvGraphicFramePr>
            <p:nvPr/>
          </p:nvGraphicFramePr>
          <p:xfrm>
            <a:off x="2411240" y="3341360"/>
            <a:ext cx="911225" cy="554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04" name="Equation" r:id="rId11" imgW="418918" imgH="253890" progId="Equation.DSMT4">
                    <p:embed/>
                  </p:oleObj>
                </mc:Choice>
                <mc:Fallback>
                  <p:oleObj name="Equation" r:id="rId11" imgW="418918" imgH="2538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1240" y="3341360"/>
                          <a:ext cx="911225" cy="5540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5232401" y="4772026"/>
            <a:ext cx="6390217" cy="785813"/>
            <a:chOff x="3980170" y="4709378"/>
            <a:chExt cx="4793004" cy="785813"/>
          </a:xfrm>
        </p:grpSpPr>
        <p:sp>
          <p:nvSpPr>
            <p:cNvPr id="5" name="右箭头 4"/>
            <p:cNvSpPr/>
            <p:nvPr/>
          </p:nvSpPr>
          <p:spPr>
            <a:xfrm flipH="1">
              <a:off x="3980170" y="5069741"/>
              <a:ext cx="771580" cy="24923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8204" name="Text Box 4"/>
            <p:cNvSpPr txBox="1">
              <a:spLocks noChangeArrowheads="1"/>
            </p:cNvSpPr>
            <p:nvPr/>
          </p:nvSpPr>
          <p:spPr bwMode="auto">
            <a:xfrm>
              <a:off x="4704074" y="4709378"/>
              <a:ext cx="4069100" cy="7858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 eaLnBrk="1" hangingPunct="1">
                <a:lnSpc>
                  <a:spcPct val="200000"/>
                </a:lnSpc>
              </a:pPr>
              <a:r>
                <a:rPr lang="zh-CN" altLang="en-US" sz="2400"/>
                <a:t>说明所有的三阶子式均为零</a:t>
              </a:r>
            </a:p>
            <a:p>
              <a:pPr algn="just" eaLnBrk="1" hangingPunct="1">
                <a:lnSpc>
                  <a:spcPct val="200000"/>
                </a:lnSpc>
              </a:pPr>
              <a:endParaRPr lang="zh-CN" altLang="en-US" sz="2400"/>
            </a:p>
          </p:txBody>
        </p:sp>
      </p:grpSp>
      <p:graphicFrame>
        <p:nvGraphicFramePr>
          <p:cNvPr id="33" name="Object 3"/>
          <p:cNvGraphicFramePr>
            <a:graphicFrameLocks noChangeAspect="1"/>
          </p:cNvGraphicFramePr>
          <p:nvPr/>
        </p:nvGraphicFramePr>
        <p:xfrm>
          <a:off x="2063751" y="5805489"/>
          <a:ext cx="2135716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05" name="Equation" r:id="rId13" imgW="736280" imgH="253890" progId="Equation.DSMT4">
                  <p:embed/>
                </p:oleObj>
              </mc:Choice>
              <mc:Fallback>
                <p:oleObj name="Equation" r:id="rId13" imgW="736280" imgH="2538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1" y="5805489"/>
                        <a:ext cx="2135716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2" name="Rectangle 13"/>
          <p:cNvSpPr>
            <a:spLocks noChangeArrowheads="1"/>
          </p:cNvSpPr>
          <p:nvPr/>
        </p:nvSpPr>
        <p:spPr bwMode="auto">
          <a:xfrm>
            <a:off x="5547784" y="260351"/>
            <a:ext cx="5746749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679587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组合 1"/>
          <p:cNvGrpSpPr>
            <a:grpSpLocks/>
          </p:cNvGrpSpPr>
          <p:nvPr/>
        </p:nvGrpSpPr>
        <p:grpSpPr bwMode="auto">
          <a:xfrm>
            <a:off x="776818" y="1111250"/>
            <a:ext cx="10983383" cy="2001838"/>
            <a:chOff x="582613" y="750738"/>
            <a:chExt cx="8237859" cy="2001618"/>
          </a:xfrm>
        </p:grpSpPr>
        <p:sp>
          <p:nvSpPr>
            <p:cNvPr id="9230" name="Text Box 2"/>
            <p:cNvSpPr txBox="1">
              <a:spLocks noChangeArrowheads="1"/>
            </p:cNvSpPr>
            <p:nvPr/>
          </p:nvSpPr>
          <p:spPr bwMode="auto">
            <a:xfrm>
              <a:off x="582613" y="1364575"/>
              <a:ext cx="8237859" cy="646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400" dirty="0" smtClean="0">
                  <a:solidFill>
                    <a:schemeClr val="accent2"/>
                  </a:solidFill>
                </a:rPr>
                <a:t>例</a:t>
              </a:r>
              <a:r>
                <a:rPr lang="en-US" altLang="zh-CN" sz="2400" dirty="0" smtClean="0">
                  <a:solidFill>
                    <a:schemeClr val="accent2"/>
                  </a:solidFill>
                </a:rPr>
                <a:t>5   </a:t>
              </a:r>
              <a:r>
                <a:rPr lang="zh-CN" altLang="en-US" sz="2400" dirty="0" smtClean="0"/>
                <a:t>求                                                                                </a:t>
              </a:r>
              <a:r>
                <a:rPr lang="zh-CN" altLang="en-US" sz="2400" dirty="0"/>
                <a:t>的</a:t>
              </a:r>
              <a:r>
                <a:rPr lang="zh-CN" altLang="en-US" sz="2400" dirty="0" smtClean="0"/>
                <a:t>秩</a:t>
              </a:r>
              <a:r>
                <a:rPr lang="en-US" altLang="zh-CN" sz="2400" dirty="0" smtClean="0"/>
                <a:t>.</a:t>
              </a:r>
              <a:endParaRPr lang="zh-CN" altLang="en-US" sz="2400" dirty="0"/>
            </a:p>
          </p:txBody>
        </p:sp>
        <p:graphicFrame>
          <p:nvGraphicFramePr>
            <p:cNvPr id="9231" name="Object 3"/>
            <p:cNvGraphicFramePr>
              <a:graphicFrameLocks noChangeAspect="1"/>
            </p:cNvGraphicFramePr>
            <p:nvPr/>
          </p:nvGraphicFramePr>
          <p:xfrm>
            <a:off x="1866493" y="750738"/>
            <a:ext cx="5889625" cy="20016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38" name="Equation" r:id="rId3" imgW="2705100" imgH="914400" progId="Equation.DSMT4">
                    <p:embed/>
                  </p:oleObj>
                </mc:Choice>
                <mc:Fallback>
                  <p:oleObj name="Equation" r:id="rId3" imgW="2705100" imgH="914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6493" y="750738"/>
                          <a:ext cx="5889625" cy="20016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19" name="Rectangle 7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1200151" y="3003551"/>
            <a:ext cx="3551767" cy="785813"/>
            <a:chOff x="755576" y="3140968"/>
            <a:chExt cx="2664296" cy="785813"/>
          </a:xfrm>
        </p:grpSpPr>
        <p:sp>
          <p:nvSpPr>
            <p:cNvPr id="9228" name="Text Box 4"/>
            <p:cNvSpPr txBox="1">
              <a:spLocks noChangeArrowheads="1"/>
            </p:cNvSpPr>
            <p:nvPr/>
          </p:nvSpPr>
          <p:spPr bwMode="auto">
            <a:xfrm>
              <a:off x="755576" y="3140968"/>
              <a:ext cx="2664296" cy="7858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 eaLnBrk="1" hangingPunct="1">
                <a:lnSpc>
                  <a:spcPct val="200000"/>
                </a:lnSpc>
              </a:pPr>
              <a:r>
                <a:rPr lang="zh-CN" altLang="en-US" sz="2400"/>
                <a:t>解：对于</a:t>
              </a:r>
              <a:r>
                <a:rPr lang="en-US" altLang="zh-CN" sz="2400"/>
                <a:t>   </a:t>
              </a:r>
              <a:r>
                <a:rPr lang="zh-CN" altLang="en-US" sz="2400"/>
                <a:t>矩阵，                                       </a:t>
              </a:r>
            </a:p>
            <a:p>
              <a:pPr algn="just" eaLnBrk="1" hangingPunct="1">
                <a:lnSpc>
                  <a:spcPct val="200000"/>
                </a:lnSpc>
              </a:pPr>
              <a:endParaRPr lang="zh-CN" altLang="en-US" sz="2400"/>
            </a:p>
          </p:txBody>
        </p:sp>
        <p:graphicFrame>
          <p:nvGraphicFramePr>
            <p:cNvPr id="9229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27077475"/>
                </p:ext>
              </p:extLst>
            </p:nvPr>
          </p:nvGraphicFramePr>
          <p:xfrm>
            <a:off x="1755936" y="3422749"/>
            <a:ext cx="331788" cy="360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39" name="Equation" r:id="rId5" imgW="152268" imgH="164957" progId="Equation.DSMT4">
                    <p:embed/>
                  </p:oleObj>
                </mc:Choice>
                <mc:Fallback>
                  <p:oleObj name="Equation" r:id="rId5" imgW="152268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5936" y="3422749"/>
                          <a:ext cx="331788" cy="360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/>
          <p:cNvGrpSpPr>
            <a:grpSpLocks/>
          </p:cNvGrpSpPr>
          <p:nvPr/>
        </p:nvGrpSpPr>
        <p:grpSpPr bwMode="auto">
          <a:xfrm>
            <a:off x="1968500" y="3892551"/>
            <a:ext cx="6527800" cy="1552575"/>
            <a:chOff x="755576" y="2874591"/>
            <a:chExt cx="4896544" cy="1552575"/>
          </a:xfrm>
        </p:grpSpPr>
        <p:sp>
          <p:nvSpPr>
            <p:cNvPr id="9226" name="Text Box 4"/>
            <p:cNvSpPr txBox="1">
              <a:spLocks noChangeArrowheads="1"/>
            </p:cNvSpPr>
            <p:nvPr/>
          </p:nvSpPr>
          <p:spPr bwMode="auto">
            <a:xfrm>
              <a:off x="755576" y="3140968"/>
              <a:ext cx="2664296" cy="7858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 eaLnBrk="1" hangingPunct="1">
                <a:lnSpc>
                  <a:spcPct val="200000"/>
                </a:lnSpc>
              </a:pPr>
              <a:r>
                <a:rPr lang="zh-CN" altLang="en-US" sz="2400"/>
                <a:t>最高阶非零子式为：</a:t>
              </a:r>
            </a:p>
            <a:p>
              <a:pPr algn="just" eaLnBrk="1" hangingPunct="1">
                <a:lnSpc>
                  <a:spcPct val="200000"/>
                </a:lnSpc>
              </a:pPr>
              <a:endParaRPr lang="zh-CN" altLang="en-US" sz="2400"/>
            </a:p>
          </p:txBody>
        </p:sp>
        <p:graphicFrame>
          <p:nvGraphicFramePr>
            <p:cNvPr id="9227" name="Object 3"/>
            <p:cNvGraphicFramePr>
              <a:graphicFrameLocks noChangeAspect="1"/>
            </p:cNvGraphicFramePr>
            <p:nvPr/>
          </p:nvGraphicFramePr>
          <p:xfrm>
            <a:off x="3496295" y="2874591"/>
            <a:ext cx="2155825" cy="1552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40" name="Equation" r:id="rId7" imgW="990170" imgH="710891" progId="Equation.DSMT4">
                    <p:embed/>
                  </p:oleObj>
                </mc:Choice>
                <mc:Fallback>
                  <p:oleObj name="Equation" r:id="rId7" imgW="990170" imgH="71089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6295" y="2874591"/>
                          <a:ext cx="2155825" cy="15525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" name="Object 3"/>
          <p:cNvGraphicFramePr>
            <a:graphicFrameLocks noChangeAspect="1"/>
          </p:cNvGraphicFramePr>
          <p:nvPr/>
        </p:nvGraphicFramePr>
        <p:xfrm>
          <a:off x="2080684" y="5805489"/>
          <a:ext cx="2099733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41" name="Equation" r:id="rId9" imgW="723586" imgH="253890" progId="Equation.DSMT4">
                  <p:embed/>
                </p:oleObj>
              </mc:Choice>
              <mc:Fallback>
                <p:oleObj name="Equation" r:id="rId9" imgW="723586" imgH="2538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0684" y="5805489"/>
                        <a:ext cx="2099733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右箭头 1"/>
          <p:cNvSpPr/>
          <p:nvPr/>
        </p:nvSpPr>
        <p:spPr>
          <a:xfrm flipH="1">
            <a:off x="4559301" y="2986088"/>
            <a:ext cx="2688167" cy="958850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400" dirty="0"/>
              <a:t>行</a:t>
            </a:r>
            <a:r>
              <a:rPr lang="zh-CN" altLang="en-US" sz="2400" dirty="0" smtClean="0"/>
              <a:t>阶梯形矩阵</a:t>
            </a:r>
            <a:endParaRPr lang="zh-CN" altLang="en-US" sz="2400" dirty="0"/>
          </a:p>
        </p:txBody>
      </p:sp>
      <p:sp>
        <p:nvSpPr>
          <p:cNvPr id="28" name="右箭头 27"/>
          <p:cNvSpPr/>
          <p:nvPr/>
        </p:nvSpPr>
        <p:spPr>
          <a:xfrm flipH="1">
            <a:off x="4527549" y="5530850"/>
            <a:ext cx="6685882" cy="1054100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400" dirty="0"/>
              <a:t>可“数”出</a:t>
            </a:r>
            <a:r>
              <a:rPr lang="zh-CN" altLang="en-US" sz="2400" dirty="0" smtClean="0"/>
              <a:t>秩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非零行的个数即为行阶梯形的秩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39629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" name="云形标注 2"/>
          <p:cNvSpPr/>
          <p:nvPr/>
        </p:nvSpPr>
        <p:spPr>
          <a:xfrm>
            <a:off x="912284" y="1052514"/>
            <a:ext cx="3071283" cy="1309687"/>
          </a:xfrm>
          <a:prstGeom prst="cloudCallout">
            <a:avLst>
              <a:gd name="adj1" fmla="val 27744"/>
              <a:gd name="adj2" fmla="val 5877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3200" dirty="0" smtClean="0"/>
              <a:t>思考：</a:t>
            </a:r>
            <a:endParaRPr lang="zh-CN" altLang="en-US" sz="3200" dirty="0"/>
          </a:p>
        </p:txBody>
      </p:sp>
      <p:sp>
        <p:nvSpPr>
          <p:cNvPr id="5" name="圆角矩形 4"/>
          <p:cNvSpPr/>
          <p:nvPr/>
        </p:nvSpPr>
        <p:spPr>
          <a:xfrm>
            <a:off x="1754717" y="2684463"/>
            <a:ext cx="3937000" cy="122396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3600" dirty="0">
                <a:solidFill>
                  <a:srgbClr val="0000FF"/>
                </a:solidFill>
              </a:rPr>
              <a:t>一般矩阵</a:t>
            </a:r>
            <a:r>
              <a:rPr lang="zh-CN" altLang="en-US" sz="3600" dirty="0"/>
              <a:t>求秩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6769101" y="2678113"/>
            <a:ext cx="3934884" cy="122396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3600" dirty="0">
                <a:solidFill>
                  <a:srgbClr val="0000FF"/>
                </a:solidFill>
              </a:rPr>
              <a:t>行阶梯形</a:t>
            </a:r>
            <a:r>
              <a:rPr lang="zh-CN" altLang="en-US" sz="3600" dirty="0"/>
              <a:t>求秩</a:t>
            </a:r>
          </a:p>
        </p:txBody>
      </p:sp>
      <p:sp>
        <p:nvSpPr>
          <p:cNvPr id="7" name="禁止符 6"/>
          <p:cNvSpPr/>
          <p:nvPr/>
        </p:nvSpPr>
        <p:spPr>
          <a:xfrm>
            <a:off x="4889501" y="2205039"/>
            <a:ext cx="1316567" cy="987425"/>
          </a:xfrm>
          <a:prstGeom prst="noSmoking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dirty="0">
                <a:solidFill>
                  <a:schemeClr val="tx1"/>
                </a:solidFill>
              </a:rPr>
              <a:t>繁</a:t>
            </a:r>
          </a:p>
        </p:txBody>
      </p:sp>
      <p:sp>
        <p:nvSpPr>
          <p:cNvPr id="9" name="同心圆 8"/>
          <p:cNvSpPr/>
          <p:nvPr/>
        </p:nvSpPr>
        <p:spPr>
          <a:xfrm>
            <a:off x="9937751" y="2238376"/>
            <a:ext cx="1341967" cy="1006475"/>
          </a:xfrm>
          <a:prstGeom prst="donu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dirty="0">
                <a:solidFill>
                  <a:schemeClr val="tx1"/>
                </a:solidFill>
              </a:rPr>
              <a:t>易</a:t>
            </a:r>
          </a:p>
        </p:txBody>
      </p:sp>
      <p:sp>
        <p:nvSpPr>
          <p:cNvPr id="10" name="下弧形箭头 9"/>
          <p:cNvSpPr/>
          <p:nvPr/>
        </p:nvSpPr>
        <p:spPr>
          <a:xfrm>
            <a:off x="4981076" y="3963988"/>
            <a:ext cx="2791884" cy="557212"/>
          </a:xfrm>
          <a:prstGeom prst="curvedUp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400" dirty="0" smtClean="0">
                <a:solidFill>
                  <a:schemeClr val="tx1"/>
                </a:solidFill>
              </a:rPr>
              <a:t>       </a:t>
            </a:r>
            <a:r>
              <a:rPr lang="zh-CN" altLang="en-US" sz="2400" b="1" dirty="0" smtClean="0">
                <a:solidFill>
                  <a:schemeClr val="tx1"/>
                </a:solidFill>
              </a:rPr>
              <a:t>化繁为易</a:t>
            </a:r>
            <a:r>
              <a:rPr lang="zh-CN" altLang="en-US" sz="2400" b="1" dirty="0">
                <a:solidFill>
                  <a:schemeClr val="tx1"/>
                </a:solidFill>
              </a:rPr>
              <a:t>？</a:t>
            </a:r>
          </a:p>
        </p:txBody>
      </p:sp>
      <p:sp>
        <p:nvSpPr>
          <p:cNvPr id="11" name="横卷形 10"/>
          <p:cNvSpPr/>
          <p:nvPr/>
        </p:nvSpPr>
        <p:spPr>
          <a:xfrm>
            <a:off x="1483785" y="4797426"/>
            <a:ext cx="2307167" cy="1044575"/>
          </a:xfrm>
          <a:prstGeom prst="horizontalScroll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400" dirty="0"/>
              <a:t>两个条件</a:t>
            </a:r>
          </a:p>
        </p:txBody>
      </p:sp>
      <p:grpSp>
        <p:nvGrpSpPr>
          <p:cNvPr id="25" name="组合 24"/>
          <p:cNvGrpSpPr>
            <a:grpSpLocks/>
          </p:cNvGrpSpPr>
          <p:nvPr/>
        </p:nvGrpSpPr>
        <p:grpSpPr bwMode="auto">
          <a:xfrm>
            <a:off x="4176185" y="4868863"/>
            <a:ext cx="5617633" cy="785812"/>
            <a:chOff x="755576" y="3140968"/>
            <a:chExt cx="4213840" cy="785813"/>
          </a:xfrm>
        </p:grpSpPr>
        <p:sp>
          <p:nvSpPr>
            <p:cNvPr id="10253" name="Text Box 4"/>
            <p:cNvSpPr txBox="1">
              <a:spLocks noChangeArrowheads="1"/>
            </p:cNvSpPr>
            <p:nvPr/>
          </p:nvSpPr>
          <p:spPr bwMode="auto">
            <a:xfrm>
              <a:off x="755576" y="3140968"/>
              <a:ext cx="4213840" cy="7858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 eaLnBrk="1" hangingPunct="1">
                <a:lnSpc>
                  <a:spcPct val="200000"/>
                </a:lnSpc>
              </a:pPr>
              <a:r>
                <a:rPr lang="zh-CN" altLang="en-US" sz="2400" dirty="0"/>
                <a:t>一般矩阵     行阶梯形矩阵</a:t>
              </a:r>
            </a:p>
          </p:txBody>
        </p:sp>
        <p:graphicFrame>
          <p:nvGraphicFramePr>
            <p:cNvPr id="10254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80041274"/>
                </p:ext>
              </p:extLst>
            </p:nvPr>
          </p:nvGraphicFramePr>
          <p:xfrm>
            <a:off x="1784425" y="3475471"/>
            <a:ext cx="414338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76" name="Equation" r:id="rId3" imgW="190417" imgH="139639" progId="Equation.DSMT4">
                    <p:embed/>
                  </p:oleObj>
                </mc:Choice>
                <mc:Fallback>
                  <p:oleObj name="Equation" r:id="rId3" imgW="190417" imgH="13963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4425" y="3475471"/>
                          <a:ext cx="414338" cy="304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5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68010024"/>
                </p:ext>
              </p:extLst>
            </p:nvPr>
          </p:nvGraphicFramePr>
          <p:xfrm>
            <a:off x="1845595" y="3315593"/>
            <a:ext cx="249238" cy="276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77" name="Equation" r:id="rId5" imgW="114102" imgH="126780" progId="Equation.DSMT4">
                    <p:embed/>
                  </p:oleObj>
                </mc:Choice>
                <mc:Fallback>
                  <p:oleObj name="Equation" r:id="rId5" imgW="114102" imgH="1267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5595" y="3315593"/>
                          <a:ext cx="249238" cy="276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" name="Text Box 4"/>
          <p:cNvSpPr txBox="1">
            <a:spLocks noChangeArrowheads="1"/>
          </p:cNvSpPr>
          <p:nvPr/>
        </p:nvSpPr>
        <p:spPr bwMode="auto">
          <a:xfrm>
            <a:off x="4176185" y="5654675"/>
            <a:ext cx="7008283" cy="785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200000"/>
              </a:lnSpc>
            </a:pPr>
            <a:r>
              <a:rPr lang="zh-CN" altLang="en-US" sz="2400" dirty="0" smtClean="0"/>
              <a:t> </a:t>
            </a:r>
            <a:r>
              <a:rPr lang="zh-CN" altLang="en-US" sz="2400" dirty="0"/>
              <a:t>初等变换不改变</a:t>
            </a:r>
            <a:r>
              <a:rPr lang="zh-CN" altLang="en-US" sz="2400" dirty="0" smtClean="0"/>
              <a:t>矩阵的秩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717172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3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组合 1"/>
          <p:cNvGrpSpPr>
            <a:grpSpLocks/>
          </p:cNvGrpSpPr>
          <p:nvPr/>
        </p:nvGrpSpPr>
        <p:grpSpPr bwMode="auto">
          <a:xfrm>
            <a:off x="912284" y="1035520"/>
            <a:ext cx="9998352" cy="1557338"/>
            <a:chOff x="582613" y="1089576"/>
            <a:chExt cx="7499729" cy="1557166"/>
          </a:xfrm>
        </p:grpSpPr>
        <p:sp>
          <p:nvSpPr>
            <p:cNvPr id="13325" name="Text Box 2"/>
            <p:cNvSpPr txBox="1">
              <a:spLocks noChangeArrowheads="1"/>
            </p:cNvSpPr>
            <p:nvPr/>
          </p:nvSpPr>
          <p:spPr bwMode="auto">
            <a:xfrm>
              <a:off x="582613" y="1508938"/>
              <a:ext cx="7085731" cy="646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400" dirty="0" smtClean="0">
                  <a:solidFill>
                    <a:schemeClr val="accent2"/>
                  </a:solidFill>
                </a:rPr>
                <a:t>例</a:t>
              </a:r>
              <a:r>
                <a:rPr lang="en-US" altLang="zh-CN" sz="2400" dirty="0" smtClean="0">
                  <a:solidFill>
                    <a:schemeClr val="accent2"/>
                  </a:solidFill>
                </a:rPr>
                <a:t>6   </a:t>
              </a:r>
              <a:r>
                <a:rPr lang="zh-CN" altLang="en-US" sz="2400" dirty="0" smtClean="0"/>
                <a:t>设                                         </a:t>
              </a:r>
              <a:r>
                <a:rPr lang="zh-CN" altLang="en-US" sz="2400" dirty="0"/>
                <a:t>，</a:t>
              </a:r>
              <a:r>
                <a:rPr lang="zh-CN" altLang="en-US" sz="2400" dirty="0" smtClean="0"/>
                <a:t>已知                    </a:t>
              </a:r>
              <a:r>
                <a:rPr lang="zh-CN" altLang="en-US" sz="2400" dirty="0"/>
                <a:t>，求     </a:t>
              </a:r>
            </a:p>
          </p:txBody>
        </p:sp>
        <p:graphicFrame>
          <p:nvGraphicFramePr>
            <p:cNvPr id="13326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1859677"/>
                </p:ext>
              </p:extLst>
            </p:nvPr>
          </p:nvGraphicFramePr>
          <p:xfrm>
            <a:off x="1576296" y="1089576"/>
            <a:ext cx="2874963" cy="15571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301" name="Equation" r:id="rId3" imgW="1320227" imgH="710891" progId="Equation.DSMT4">
                    <p:embed/>
                  </p:oleObj>
                </mc:Choice>
                <mc:Fallback>
                  <p:oleObj name="Equation" r:id="rId3" imgW="1320227" imgH="71089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6296" y="1089576"/>
                          <a:ext cx="2874963" cy="15571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7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0065939"/>
                </p:ext>
              </p:extLst>
            </p:nvPr>
          </p:nvGraphicFramePr>
          <p:xfrm>
            <a:off x="5580112" y="1648697"/>
            <a:ext cx="1231034" cy="506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302" name="Equation" r:id="rId5" imgW="622030" imgH="253890" progId="Equation.DSMT4">
                    <p:embed/>
                  </p:oleObj>
                </mc:Choice>
                <mc:Fallback>
                  <p:oleObj name="Equation" r:id="rId5" imgW="622030" imgH="2538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80112" y="1648697"/>
                          <a:ext cx="1231034" cy="506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8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49410641"/>
                </p:ext>
              </p:extLst>
            </p:nvPr>
          </p:nvGraphicFramePr>
          <p:xfrm>
            <a:off x="7504492" y="1629682"/>
            <a:ext cx="577850" cy="4047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303" name="Equation" r:id="rId7" imgW="291973" imgH="203112" progId="Equation.DSMT4">
                    <p:embed/>
                  </p:oleObj>
                </mc:Choice>
                <mc:Fallback>
                  <p:oleObj name="Equation" r:id="rId7" imgW="291973" imgH="20311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04492" y="1629682"/>
                          <a:ext cx="577850" cy="4047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315" name="Rectangle 7"/>
          <p:cNvSpPr>
            <a:spLocks noChangeArrowheads="1"/>
          </p:cNvSpPr>
          <p:nvPr/>
        </p:nvSpPr>
        <p:spPr bwMode="auto">
          <a:xfrm>
            <a:off x="0" y="-42755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719667" y="2754314"/>
            <a:ext cx="10847917" cy="1552575"/>
            <a:chOff x="755576" y="2878262"/>
            <a:chExt cx="8136904" cy="1552575"/>
          </a:xfrm>
        </p:grpSpPr>
        <p:sp>
          <p:nvSpPr>
            <p:cNvPr id="13321" name="Text Box 4"/>
            <p:cNvSpPr txBox="1">
              <a:spLocks noChangeArrowheads="1"/>
            </p:cNvSpPr>
            <p:nvPr/>
          </p:nvSpPr>
          <p:spPr bwMode="auto">
            <a:xfrm>
              <a:off x="755576" y="3140968"/>
              <a:ext cx="2664296" cy="7858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 eaLnBrk="1" hangingPunct="1">
                <a:lnSpc>
                  <a:spcPct val="200000"/>
                </a:lnSpc>
              </a:pPr>
              <a:r>
                <a:rPr lang="zh-CN" altLang="en-US" sz="2400"/>
                <a:t>解：</a:t>
              </a:r>
            </a:p>
            <a:p>
              <a:pPr algn="just" eaLnBrk="1" hangingPunct="1">
                <a:lnSpc>
                  <a:spcPct val="200000"/>
                </a:lnSpc>
              </a:pPr>
              <a:endParaRPr lang="zh-CN" altLang="en-US" sz="2400"/>
            </a:p>
          </p:txBody>
        </p:sp>
        <p:graphicFrame>
          <p:nvGraphicFramePr>
            <p:cNvPr id="13322" name="Object 3"/>
            <p:cNvGraphicFramePr>
              <a:graphicFrameLocks noChangeAspect="1"/>
            </p:cNvGraphicFramePr>
            <p:nvPr/>
          </p:nvGraphicFramePr>
          <p:xfrm>
            <a:off x="1275132" y="2878262"/>
            <a:ext cx="7617348" cy="1552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304" name="Equation" r:id="rId9" imgW="4546600" imgH="711200" progId="Equation.DSMT4">
                    <p:embed/>
                  </p:oleObj>
                </mc:Choice>
                <mc:Fallback>
                  <p:oleObj name="Equation" r:id="rId9" imgW="4546600" imgH="71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5132" y="2878262"/>
                          <a:ext cx="7617348" cy="15525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3" name="Object 3"/>
            <p:cNvGraphicFramePr>
              <a:graphicFrameLocks noChangeAspect="1"/>
            </p:cNvGraphicFramePr>
            <p:nvPr/>
          </p:nvGraphicFramePr>
          <p:xfrm>
            <a:off x="3530674" y="3345758"/>
            <a:ext cx="249238" cy="277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305" name="Equation" r:id="rId11" imgW="114102" imgH="126780" progId="Equation.DSMT4">
                    <p:embed/>
                  </p:oleObj>
                </mc:Choice>
                <mc:Fallback>
                  <p:oleObj name="Equation" r:id="rId11" imgW="114102" imgH="1267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0674" y="3345758"/>
                          <a:ext cx="249238" cy="2778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4" name="Object 3"/>
            <p:cNvGraphicFramePr>
              <a:graphicFrameLocks noChangeAspect="1"/>
            </p:cNvGraphicFramePr>
            <p:nvPr/>
          </p:nvGraphicFramePr>
          <p:xfrm>
            <a:off x="6266978" y="3361524"/>
            <a:ext cx="249238" cy="277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306" name="Equation" r:id="rId13" imgW="114102" imgH="126780" progId="Equation.DSMT4">
                    <p:embed/>
                  </p:oleObj>
                </mc:Choice>
                <mc:Fallback>
                  <p:oleObj name="Equation" r:id="rId13" imgW="114102" imgH="1267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66978" y="3361524"/>
                          <a:ext cx="249238" cy="2778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" name="Object 3"/>
          <p:cNvGraphicFramePr>
            <a:graphicFrameLocks noChangeAspect="1"/>
          </p:cNvGraphicFramePr>
          <p:nvPr/>
        </p:nvGraphicFramePr>
        <p:xfrm>
          <a:off x="1619251" y="4481514"/>
          <a:ext cx="2135716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07" name="Equation" r:id="rId14" imgW="736280" imgH="253890" progId="Equation.DSMT4">
                  <p:embed/>
                </p:oleObj>
              </mc:Choice>
              <mc:Fallback>
                <p:oleObj name="Equation" r:id="rId14" imgW="736280" imgH="2538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1" y="4481514"/>
                        <a:ext cx="2135716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3"/>
          <p:cNvGraphicFramePr>
            <a:graphicFrameLocks noChangeAspect="1"/>
          </p:cNvGraphicFramePr>
          <p:nvPr/>
        </p:nvGraphicFramePr>
        <p:xfrm>
          <a:off x="1583267" y="5311775"/>
          <a:ext cx="2245784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08" name="Equation" r:id="rId16" imgW="774364" imgH="457002" progId="Equation.DSMT4">
                  <p:embed/>
                </p:oleObj>
              </mc:Choice>
              <mc:Fallback>
                <p:oleObj name="Equation" r:id="rId16" imgW="774364" imgH="457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3267" y="5311775"/>
                        <a:ext cx="2245784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"/>
          <p:cNvGraphicFramePr>
            <a:graphicFrameLocks noChangeAspect="1"/>
          </p:cNvGraphicFramePr>
          <p:nvPr/>
        </p:nvGraphicFramePr>
        <p:xfrm>
          <a:off x="4464051" y="5311775"/>
          <a:ext cx="1805516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09" name="Equation" r:id="rId18" imgW="622300" imgH="457200" progId="Equation.DSMT4">
                  <p:embed/>
                </p:oleObj>
              </mc:Choice>
              <mc:Fallback>
                <p:oleObj name="Equation" r:id="rId18" imgW="6223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4051" y="5311775"/>
                        <a:ext cx="1805516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03942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549681" y="439388"/>
            <a:ext cx="4914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初等变换与矩阵的秩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953682" y="258687"/>
            <a:ext cx="1885465" cy="651368"/>
            <a:chOff x="2181705" y="298372"/>
            <a:chExt cx="785392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2181705" y="298372"/>
              <a:ext cx="785392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228524" y="399727"/>
              <a:ext cx="696435" cy="493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矩阵的秩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52491" y="1103876"/>
            <a:ext cx="1272758" cy="556516"/>
            <a:chOff x="421458" y="1294485"/>
            <a:chExt cx="1267583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" name="圆角矩形 7"/>
            <p:cNvSpPr/>
            <p:nvPr/>
          </p:nvSpPr>
          <p:spPr>
            <a:xfrm>
              <a:off x="421458" y="1294485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510672" y="1389336"/>
              <a:ext cx="1178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定理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783359" y="913463"/>
            <a:ext cx="3707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初等变换不改变矩阵的秩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471465" y="1808675"/>
            <a:ext cx="1230249" cy="556516"/>
            <a:chOff x="565522" y="1991537"/>
            <a:chExt cx="1225246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7" name="圆角矩形 36"/>
            <p:cNvSpPr/>
            <p:nvPr/>
          </p:nvSpPr>
          <p:spPr>
            <a:xfrm>
              <a:off x="581148" y="1991537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565522" y="2030879"/>
              <a:ext cx="1178369" cy="461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推 论</a:t>
              </a:r>
            </a:p>
          </p:txBody>
        </p:sp>
      </p:grpSp>
      <p:graphicFrame>
        <p:nvGraphicFramePr>
          <p:cNvPr id="39" name="对象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0167751"/>
              </p:ext>
            </p:extLst>
          </p:nvPr>
        </p:nvGraphicFramePr>
        <p:xfrm>
          <a:off x="1725249" y="1842288"/>
          <a:ext cx="25273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54" name="Equation" r:id="rId3" imgW="1358640" imgH="253800" progId="Equation.DSMT4">
                  <p:embed/>
                </p:oleObj>
              </mc:Choice>
              <mc:Fallback>
                <p:oleObj name="Equation" r:id="rId3" imgW="135864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249" y="1842288"/>
                        <a:ext cx="2527300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0723071"/>
              </p:ext>
            </p:extLst>
          </p:nvPr>
        </p:nvGraphicFramePr>
        <p:xfrm>
          <a:off x="4202876" y="1848457"/>
          <a:ext cx="1535112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55" name="Equation" r:id="rId5" imgW="825480" imgH="253800" progId="Equation.DSMT4">
                  <p:embed/>
                </p:oleObj>
              </mc:Choice>
              <mc:Fallback>
                <p:oleObj name="Equation" r:id="rId5" imgW="8254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02876" y="1848457"/>
                        <a:ext cx="1535112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4701705"/>
              </p:ext>
            </p:extLst>
          </p:nvPr>
        </p:nvGraphicFramePr>
        <p:xfrm>
          <a:off x="5737988" y="1842288"/>
          <a:ext cx="191135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56" name="Equation" r:id="rId7" imgW="1028520" imgH="253800" progId="Equation.DSMT4">
                  <p:embed/>
                </p:oleObj>
              </mc:Choice>
              <mc:Fallback>
                <p:oleObj name="Equation" r:id="rId7" imgW="102852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37988" y="1842288"/>
                        <a:ext cx="1911350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7560334" y="1812613"/>
            <a:ext cx="3698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其中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可逆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471465" y="2478505"/>
            <a:ext cx="3079992" cy="538054"/>
          </a:xfrm>
          <a:prstGeom prst="roundRect">
            <a:avLst/>
          </a:prstGeom>
          <a:solidFill>
            <a:srgbClr val="004F8C"/>
          </a:solidFill>
          <a:ln>
            <a:solidFill>
              <a:srgbClr val="004F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/>
              <a:t>矩阵秩的几个性质</a:t>
            </a:r>
            <a:endParaRPr lang="zh-CN" altLang="en-US" sz="2400" b="1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0508172"/>
              </p:ext>
            </p:extLst>
          </p:nvPr>
        </p:nvGraphicFramePr>
        <p:xfrm>
          <a:off x="727838" y="3206581"/>
          <a:ext cx="501015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57" name="Equation" r:id="rId9" imgW="2692080" imgH="253800" progId="Equation.DSMT4">
                  <p:embed/>
                </p:oleObj>
              </mc:Choice>
              <mc:Fallback>
                <p:oleObj name="Equation" r:id="rId9" imgW="2692080" imgH="253800" progId="Equation.DSMT4">
                  <p:embed/>
                  <p:pic>
                    <p:nvPicPr>
                      <p:cNvPr id="0" name="对象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838" y="3206581"/>
                        <a:ext cx="5010150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9123553"/>
              </p:ext>
            </p:extLst>
          </p:nvPr>
        </p:nvGraphicFramePr>
        <p:xfrm>
          <a:off x="644692" y="3875338"/>
          <a:ext cx="446722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58" name="Equation" r:id="rId11" imgW="2400120" imgH="253800" progId="Equation.DSMT4">
                  <p:embed/>
                </p:oleObj>
              </mc:Choice>
              <mc:Fallback>
                <p:oleObj name="Equation" r:id="rId11" imgW="2400120" imgH="2538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692" y="3875338"/>
                        <a:ext cx="446722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8553914"/>
              </p:ext>
            </p:extLst>
          </p:nvPr>
        </p:nvGraphicFramePr>
        <p:xfrm>
          <a:off x="5491063" y="3848185"/>
          <a:ext cx="522287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59" name="Equation" r:id="rId13" imgW="2806560" imgH="253800" progId="Equation.DSMT4">
                  <p:embed/>
                </p:oleObj>
              </mc:Choice>
              <mc:Fallback>
                <p:oleObj name="Equation" r:id="rId13" imgW="2806560" imgH="253800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1063" y="3848185"/>
                        <a:ext cx="522287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1286230"/>
              </p:ext>
            </p:extLst>
          </p:nvPr>
        </p:nvGraphicFramePr>
        <p:xfrm>
          <a:off x="5491063" y="4415590"/>
          <a:ext cx="6475413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0" name="Equation" r:id="rId15" imgW="3479760" imgH="457200" progId="Equation.DSMT4">
                  <p:embed/>
                </p:oleObj>
              </mc:Choice>
              <mc:Fallback>
                <p:oleObj name="Equation" r:id="rId15" imgW="3479760" imgH="457200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1063" y="4415590"/>
                        <a:ext cx="6475413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0677509"/>
              </p:ext>
            </p:extLst>
          </p:nvPr>
        </p:nvGraphicFramePr>
        <p:xfrm>
          <a:off x="717450" y="4578435"/>
          <a:ext cx="477361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1" name="Equation" r:id="rId17" imgW="2565360" imgH="253800" progId="Equation.DSMT4">
                  <p:embed/>
                </p:oleObj>
              </mc:Choice>
              <mc:Fallback>
                <p:oleObj name="Equation" r:id="rId17" imgW="2565360" imgH="253800" progId="Equation.DSMT4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450" y="4578435"/>
                        <a:ext cx="4773613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5486243"/>
              </p:ext>
            </p:extLst>
          </p:nvPr>
        </p:nvGraphicFramePr>
        <p:xfrm>
          <a:off x="6163103" y="3190708"/>
          <a:ext cx="340201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2" name="Equation" r:id="rId19" imgW="1828800" imgH="253800" progId="Equation.DSMT4">
                  <p:embed/>
                </p:oleObj>
              </mc:Choice>
              <mc:Fallback>
                <p:oleObj name="Equation" r:id="rId19" imgW="1828800" imgH="2538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3103" y="3190708"/>
                        <a:ext cx="3402013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2674027"/>
              </p:ext>
            </p:extLst>
          </p:nvPr>
        </p:nvGraphicFramePr>
        <p:xfrm>
          <a:off x="679878" y="5295984"/>
          <a:ext cx="548322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3" name="Equation" r:id="rId21" imgW="2946240" imgH="253800" progId="Equation.DSMT4">
                  <p:embed/>
                </p:oleObj>
              </mc:Choice>
              <mc:Fallback>
                <p:oleObj name="Equation" r:id="rId21" imgW="2946240" imgH="2538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878" y="5295984"/>
                        <a:ext cx="548322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2230047"/>
              </p:ext>
            </p:extLst>
          </p:nvPr>
        </p:nvGraphicFramePr>
        <p:xfrm>
          <a:off x="6346040" y="5328069"/>
          <a:ext cx="427672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4" name="Equation" r:id="rId23" imgW="2298600" imgH="253800" progId="Equation.DSMT4">
                  <p:embed/>
                </p:oleObj>
              </mc:Choice>
              <mc:Fallback>
                <p:oleObj name="Equation" r:id="rId23" imgW="2298600" imgH="253800" progId="Equation.DSMT4">
                  <p:embed/>
                  <p:pic>
                    <p:nvPicPr>
                      <p:cNvPr id="0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6040" y="5328069"/>
                        <a:ext cx="427672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22435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2" grpId="0"/>
      <p:bldP spid="2" grpId="0"/>
      <p:bldP spid="1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7"/>
          <p:cNvSpPr>
            <a:spLocks noChangeArrowheads="1"/>
          </p:cNvSpPr>
          <p:nvPr/>
        </p:nvSpPr>
        <p:spPr bwMode="auto">
          <a:xfrm>
            <a:off x="0" y="-42755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693600" y="1079498"/>
            <a:ext cx="9446426" cy="646331"/>
            <a:chOff x="693600" y="1079498"/>
            <a:chExt cx="9446426" cy="646331"/>
          </a:xfrm>
        </p:grpSpPr>
        <p:grpSp>
          <p:nvGrpSpPr>
            <p:cNvPr id="6" name="组合 5"/>
            <p:cNvGrpSpPr/>
            <p:nvPr/>
          </p:nvGrpSpPr>
          <p:grpSpPr>
            <a:xfrm>
              <a:off x="693600" y="1079498"/>
              <a:ext cx="9446426" cy="646331"/>
              <a:chOff x="693600" y="1155048"/>
              <a:chExt cx="9446426" cy="646331"/>
            </a:xfrm>
          </p:grpSpPr>
          <p:grpSp>
            <p:nvGrpSpPr>
              <p:cNvPr id="13314" name="组合 1"/>
              <p:cNvGrpSpPr>
                <a:grpSpLocks/>
              </p:cNvGrpSpPr>
              <p:nvPr/>
            </p:nvGrpSpPr>
            <p:grpSpPr bwMode="auto">
              <a:xfrm>
                <a:off x="693600" y="1155048"/>
                <a:ext cx="9446426" cy="646331"/>
                <a:chOff x="582613" y="1020876"/>
                <a:chExt cx="7085731" cy="646260"/>
              </a:xfrm>
            </p:grpSpPr>
            <p:sp>
              <p:nvSpPr>
                <p:cNvPr id="13325" name="Text Box 2"/>
                <p:cNvSpPr txBox="1">
                  <a:spLocks noChangeArrowheads="1"/>
                </p:cNvSpPr>
                <p:nvPr/>
              </p:nvSpPr>
              <p:spPr bwMode="auto">
                <a:xfrm>
                  <a:off x="582613" y="1020876"/>
                  <a:ext cx="7085731" cy="6462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Verdana" pitchFamily="34" charset="0"/>
                      <a:ea typeface="宋体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Verdan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Verdan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Verdan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Verdana" pitchFamily="34" charset="0"/>
                      <a:ea typeface="宋体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Verdana" pitchFamily="34" charset="0"/>
                      <a:ea typeface="宋体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Verdana" pitchFamily="34" charset="0"/>
                      <a:ea typeface="宋体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Verdana" pitchFamily="34" charset="0"/>
                      <a:ea typeface="宋体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Verdana" pitchFamily="34" charset="0"/>
                      <a:ea typeface="宋体" charset="-122"/>
                    </a:defRPr>
                  </a:lvl9pPr>
                </a:lstStyle>
                <a:p>
                  <a:pPr algn="just" eaLnBrk="1" hangingPunct="1">
                    <a:lnSpc>
                      <a:spcPct val="150000"/>
                    </a:lnSpc>
                  </a:pPr>
                  <a:r>
                    <a:rPr lang="zh-CN" altLang="en-US" sz="2400" dirty="0" smtClean="0">
                      <a:solidFill>
                        <a:schemeClr val="accent2"/>
                      </a:solidFill>
                    </a:rPr>
                    <a:t>例</a:t>
                  </a:r>
                  <a:r>
                    <a:rPr lang="en-US" altLang="zh-CN" sz="2400" dirty="0" smtClean="0">
                      <a:solidFill>
                        <a:schemeClr val="accent2"/>
                      </a:solidFill>
                    </a:rPr>
                    <a:t>7 </a:t>
                  </a:r>
                  <a:r>
                    <a:rPr lang="zh-CN" altLang="en-US" sz="2400" dirty="0" smtClean="0"/>
                    <a:t>设   阶矩阵   满足             ，证明：</a:t>
                  </a:r>
                  <a:endParaRPr lang="zh-CN" altLang="en-US" sz="2400" dirty="0"/>
                </a:p>
              </p:txBody>
            </p:sp>
            <p:graphicFrame>
              <p:nvGraphicFramePr>
                <p:cNvPr id="13326" name="Object 3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248081891"/>
                    </p:ext>
                  </p:extLst>
                </p:nvPr>
              </p:nvGraphicFramePr>
              <p:xfrm>
                <a:off x="3000845" y="1155840"/>
                <a:ext cx="1022878" cy="41746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4282" name="Equation" r:id="rId3" imgW="469800" imgH="190440" progId="Equation.DSMT4">
                        <p:embed/>
                      </p:oleObj>
                    </mc:Choice>
                    <mc:Fallback>
                      <p:oleObj name="Equation" r:id="rId3" imgW="469800" imgH="19044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000845" y="1155840"/>
                              <a:ext cx="1022878" cy="41746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3328" name="Object 3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974337679"/>
                    </p:ext>
                  </p:extLst>
                </p:nvPr>
              </p:nvGraphicFramePr>
              <p:xfrm>
                <a:off x="4849004" y="1202867"/>
                <a:ext cx="2586370" cy="41111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4283" name="Equation" r:id="rId5" imgW="1307880" imgH="203040" progId="Equation.DSMT4">
                        <p:embed/>
                      </p:oleObj>
                    </mc:Choice>
                    <mc:Fallback>
                      <p:oleObj name="Equation" r:id="rId5" imgW="1307880" imgH="20304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849004" y="1202867"/>
                              <a:ext cx="2586370" cy="41111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16" name="Object 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88961976"/>
                  </p:ext>
                </p:extLst>
              </p:nvPr>
            </p:nvGraphicFramePr>
            <p:xfrm>
              <a:off x="1737560" y="1359877"/>
              <a:ext cx="334963" cy="2778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284" name="Equation" r:id="rId7" imgW="126720" imgH="139680" progId="Equation.DSMT4">
                      <p:embed/>
                    </p:oleObj>
                  </mc:Choice>
                  <mc:Fallback>
                    <p:oleObj name="Equation" r:id="rId7" imgW="1267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37560" y="1359877"/>
                            <a:ext cx="334963" cy="2778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39483972"/>
                </p:ext>
              </p:extLst>
            </p:nvPr>
          </p:nvGraphicFramePr>
          <p:xfrm>
            <a:off x="2951412" y="1223750"/>
            <a:ext cx="477588" cy="3087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85" name="Equation" r:id="rId9" imgW="152280" imgH="164880" progId="Equation.DSMT4">
                    <p:embed/>
                  </p:oleObj>
                </mc:Choice>
                <mc:Fallback>
                  <p:oleObj name="Equation" r:id="rId9" imgW="152280" imgH="16488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1412" y="1223750"/>
                          <a:ext cx="477588" cy="3087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圆角矩形 18"/>
          <p:cNvSpPr/>
          <p:nvPr/>
        </p:nvSpPr>
        <p:spPr>
          <a:xfrm>
            <a:off x="825947" y="2377135"/>
            <a:ext cx="2915874" cy="414192"/>
          </a:xfrm>
          <a:prstGeom prst="roundRect">
            <a:avLst/>
          </a:prstGeom>
          <a:solidFill>
            <a:srgbClr val="004F8C"/>
          </a:solidFill>
          <a:ln>
            <a:solidFill>
              <a:srgbClr val="004F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/>
              <a:t>秩</a:t>
            </a:r>
            <a:r>
              <a:rPr lang="en-US" altLang="zh-CN" sz="2400" b="1" dirty="0" smtClean="0"/>
              <a:t>1</a:t>
            </a:r>
            <a:r>
              <a:rPr lang="zh-CN" altLang="en-US" sz="2400" b="1" dirty="0" smtClean="0"/>
              <a:t>方阵的重要命题</a:t>
            </a:r>
            <a:endParaRPr lang="zh-CN" altLang="en-US" sz="2400" b="1" dirty="0"/>
          </a:p>
        </p:txBody>
      </p:sp>
      <p:graphicFrame>
        <p:nvGraphicFramePr>
          <p:cNvPr id="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5446394"/>
              </p:ext>
            </p:extLst>
          </p:nvPr>
        </p:nvGraphicFramePr>
        <p:xfrm>
          <a:off x="886105" y="3306540"/>
          <a:ext cx="3278188" cy="169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86" name="Equation" r:id="rId11" imgW="1333440" imgH="914400" progId="Equation.DSMT4">
                  <p:embed/>
                </p:oleObj>
              </mc:Choice>
              <mc:Fallback>
                <p:oleObj name="Equation" r:id="rId11" imgW="133344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6105" y="3306540"/>
                        <a:ext cx="3278188" cy="169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5374163"/>
              </p:ext>
            </p:extLst>
          </p:nvPr>
        </p:nvGraphicFramePr>
        <p:xfrm>
          <a:off x="4253113" y="3186225"/>
          <a:ext cx="2809875" cy="169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87" name="Equation" r:id="rId13" imgW="1143000" imgH="914400" progId="Equation.DSMT4">
                  <p:embed/>
                </p:oleObj>
              </mc:Choice>
              <mc:Fallback>
                <p:oleObj name="Equation" r:id="rId13" imgW="1143000" imgH="914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3113" y="3186225"/>
                        <a:ext cx="2809875" cy="169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5506807"/>
              </p:ext>
            </p:extLst>
          </p:nvPr>
        </p:nvGraphicFramePr>
        <p:xfrm>
          <a:off x="954589" y="4977565"/>
          <a:ext cx="3403600" cy="131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88" name="Equation" r:id="rId15" imgW="1384200" imgH="711000" progId="Equation.DSMT4">
                  <p:embed/>
                </p:oleObj>
              </mc:Choice>
              <mc:Fallback>
                <p:oleObj name="Equation" r:id="rId15" imgW="1384200" imgH="711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4589" y="4977565"/>
                        <a:ext cx="3403600" cy="1317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7415958"/>
              </p:ext>
            </p:extLst>
          </p:nvPr>
        </p:nvGraphicFramePr>
        <p:xfrm>
          <a:off x="4334285" y="4949741"/>
          <a:ext cx="2840038" cy="131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89" name="Equation" r:id="rId17" imgW="1155600" imgH="711000" progId="Equation.DSMT4">
                  <p:embed/>
                </p:oleObj>
              </mc:Choice>
              <mc:Fallback>
                <p:oleObj name="Equation" r:id="rId17" imgW="1155600" imgH="711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4285" y="4949741"/>
                        <a:ext cx="2840038" cy="1317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/>
          <p:cNvGrpSpPr/>
          <p:nvPr/>
        </p:nvGrpSpPr>
        <p:grpSpPr>
          <a:xfrm>
            <a:off x="693599" y="2668751"/>
            <a:ext cx="10038570" cy="646332"/>
            <a:chOff x="693599" y="2668751"/>
            <a:chExt cx="10038570" cy="646332"/>
          </a:xfrm>
        </p:grpSpPr>
        <p:grpSp>
          <p:nvGrpSpPr>
            <p:cNvPr id="7" name="组合 6"/>
            <p:cNvGrpSpPr/>
            <p:nvPr/>
          </p:nvGrpSpPr>
          <p:grpSpPr>
            <a:xfrm>
              <a:off x="693599" y="2668751"/>
              <a:ext cx="10038570" cy="646332"/>
              <a:chOff x="693599" y="2476633"/>
              <a:chExt cx="10038570" cy="646332"/>
            </a:xfrm>
          </p:grpSpPr>
          <p:grpSp>
            <p:nvGrpSpPr>
              <p:cNvPr id="20" name="组合 1"/>
              <p:cNvGrpSpPr>
                <a:grpSpLocks/>
              </p:cNvGrpSpPr>
              <p:nvPr/>
            </p:nvGrpSpPr>
            <p:grpSpPr bwMode="auto">
              <a:xfrm>
                <a:off x="693599" y="2476633"/>
                <a:ext cx="10038570" cy="646332"/>
                <a:chOff x="474672" y="528071"/>
                <a:chExt cx="7305638" cy="646261"/>
              </a:xfrm>
            </p:grpSpPr>
            <p:sp>
              <p:nvSpPr>
                <p:cNvPr id="21" name="Text Box 2"/>
                <p:cNvSpPr txBox="1">
                  <a:spLocks noChangeArrowheads="1"/>
                </p:cNvSpPr>
                <p:nvPr/>
              </p:nvSpPr>
              <p:spPr bwMode="auto">
                <a:xfrm>
                  <a:off x="474672" y="528071"/>
                  <a:ext cx="7085731" cy="6462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Verdana" pitchFamily="34" charset="0"/>
                      <a:ea typeface="宋体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Verdana" pitchFamily="34" charset="0"/>
                      <a:ea typeface="宋体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Verdana" pitchFamily="34" charset="0"/>
                      <a:ea typeface="宋体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Verdana" pitchFamily="34" charset="0"/>
                      <a:ea typeface="宋体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Verdana" pitchFamily="34" charset="0"/>
                      <a:ea typeface="宋体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Verdana" pitchFamily="34" charset="0"/>
                      <a:ea typeface="宋体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Verdana" pitchFamily="34" charset="0"/>
                      <a:ea typeface="宋体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Verdana" pitchFamily="34" charset="0"/>
                      <a:ea typeface="宋体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Verdana" pitchFamily="34" charset="0"/>
                      <a:ea typeface="宋体" charset="-122"/>
                    </a:defRPr>
                  </a:lvl9pPr>
                </a:lstStyle>
                <a:p>
                  <a:pPr algn="just" eaLnBrk="1" hangingPunct="1">
                    <a:lnSpc>
                      <a:spcPct val="150000"/>
                    </a:lnSpc>
                  </a:pPr>
                  <a:r>
                    <a:rPr lang="zh-CN" altLang="en-US" sz="2400" dirty="0" smtClean="0"/>
                    <a:t>设  为   阶矩阵，则                                   ，其中：</a:t>
                  </a:r>
                  <a:endParaRPr lang="zh-CN" altLang="en-US" sz="2400" dirty="0"/>
                </a:p>
              </p:txBody>
            </p:sp>
            <p:graphicFrame>
              <p:nvGraphicFramePr>
                <p:cNvPr id="22" name="Object 3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986644009"/>
                    </p:ext>
                  </p:extLst>
                </p:nvPr>
              </p:nvGraphicFramePr>
              <p:xfrm>
                <a:off x="2599705" y="618498"/>
                <a:ext cx="2624637" cy="46540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4290" name="Equation" r:id="rId19" imgW="1295280" imgH="228600" progId="Equation.DSMT4">
                        <p:embed/>
                      </p:oleObj>
                    </mc:Choice>
                    <mc:Fallback>
                      <p:oleObj name="Equation" r:id="rId19" imgW="1295280" imgH="22860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0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599705" y="618498"/>
                              <a:ext cx="2624637" cy="46540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3" name="Object 3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596212508"/>
                    </p:ext>
                  </p:extLst>
                </p:nvPr>
              </p:nvGraphicFramePr>
              <p:xfrm>
                <a:off x="5971518" y="620245"/>
                <a:ext cx="1808792" cy="46191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4291" name="Equation" r:id="rId21" imgW="914400" imgH="228600" progId="Equation.DSMT4">
                        <p:embed/>
                      </p:oleObj>
                    </mc:Choice>
                    <mc:Fallback>
                      <p:oleObj name="Equation" r:id="rId21" imgW="914400" imgH="22860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2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971518" y="620245"/>
                              <a:ext cx="1808792" cy="46191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5" name="对象 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9466017"/>
                  </p:ext>
                </p:extLst>
              </p:nvPr>
            </p:nvGraphicFramePr>
            <p:xfrm>
              <a:off x="984417" y="2635492"/>
              <a:ext cx="401638" cy="3286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292" name="Equation" r:id="rId23" imgW="152280" imgH="164880" progId="Equation.DSMT4">
                      <p:embed/>
                    </p:oleObj>
                  </mc:Choice>
                  <mc:Fallback>
                    <p:oleObj name="Equation" r:id="rId23" imgW="152280" imgH="164880" progId="Equation.DSMT4">
                      <p:embed/>
                      <p:pic>
                        <p:nvPicPr>
                          <p:cNvPr id="0" name="Object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84417" y="2635492"/>
                            <a:ext cx="401638" cy="3286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4" name="对象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28260365"/>
                </p:ext>
              </p:extLst>
            </p:nvPr>
          </p:nvGraphicFramePr>
          <p:xfrm>
            <a:off x="1549959" y="2853010"/>
            <a:ext cx="334963" cy="2778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93" name="Equation" r:id="rId25" imgW="126720" imgH="139680" progId="Equation.DSMT4">
                    <p:embed/>
                  </p:oleObj>
                </mc:Choice>
                <mc:Fallback>
                  <p:oleObj name="Equation" r:id="rId25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9959" y="2853010"/>
                          <a:ext cx="334963" cy="2778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" name="Text Box 2"/>
          <p:cNvSpPr txBox="1">
            <a:spLocks noChangeArrowheads="1"/>
          </p:cNvSpPr>
          <p:nvPr/>
        </p:nvSpPr>
        <p:spPr bwMode="auto">
          <a:xfrm>
            <a:off x="693599" y="1730804"/>
            <a:ext cx="944642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accent2"/>
                </a:solidFill>
              </a:rPr>
              <a:t>例</a:t>
            </a:r>
            <a:r>
              <a:rPr lang="en-US" altLang="zh-CN" sz="2400" dirty="0" smtClean="0">
                <a:solidFill>
                  <a:schemeClr val="accent2"/>
                </a:solidFill>
              </a:rPr>
              <a:t>8 </a:t>
            </a:r>
            <a:r>
              <a:rPr lang="zh-CN" altLang="en-US" sz="2400" dirty="0" smtClean="0"/>
              <a:t>设          ，证明：</a:t>
            </a:r>
            <a:endParaRPr lang="zh-CN" altLang="en-US" sz="24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764771" y="1787915"/>
            <a:ext cx="4178830" cy="532108"/>
            <a:chOff x="1764771" y="1787915"/>
            <a:chExt cx="4178830" cy="532108"/>
          </a:xfrm>
        </p:grpSpPr>
        <p:graphicFrame>
          <p:nvGraphicFramePr>
            <p:cNvPr id="26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14786681"/>
                </p:ext>
              </p:extLst>
            </p:nvPr>
          </p:nvGraphicFramePr>
          <p:xfrm>
            <a:off x="1764771" y="1884231"/>
            <a:ext cx="1038225" cy="3394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94" name="Equation" r:id="rId27" imgW="393480" imgH="139680" progId="Equation.DSMT4">
                    <p:embed/>
                  </p:oleObj>
                </mc:Choice>
                <mc:Fallback>
                  <p:oleObj name="Equation" r:id="rId27" imgW="3934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4771" y="1884231"/>
                          <a:ext cx="1038225" cy="3394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91714875"/>
                </p:ext>
              </p:extLst>
            </p:nvPr>
          </p:nvGraphicFramePr>
          <p:xfrm>
            <a:off x="4010778" y="1787915"/>
            <a:ext cx="1932823" cy="5321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95" name="Equation" r:id="rId29" imgW="850680" imgH="253800" progId="Equation.DSMT4">
                    <p:embed/>
                  </p:oleObj>
                </mc:Choice>
                <mc:Fallback>
                  <p:oleObj name="Equation" r:id="rId29" imgW="850680" imgH="2538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0778" y="1787915"/>
                          <a:ext cx="1932823" cy="5321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89477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5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4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1072</TotalTime>
  <Words>690</Words>
  <Application>Microsoft Office PowerPoint</Application>
  <PresentationFormat>自定义</PresentationFormat>
  <Paragraphs>114</Paragraphs>
  <Slides>19</Slides>
  <Notes>3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1" baseType="lpstr">
      <vt:lpstr>Office 主题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Sky123.Org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2.3 可逆矩阵</dc:title>
  <dc:creator>Sky123.Org</dc:creator>
  <cp:lastModifiedBy>LSG</cp:lastModifiedBy>
  <cp:revision>198</cp:revision>
  <dcterms:created xsi:type="dcterms:W3CDTF">2016-07-04T12:59:51Z</dcterms:created>
  <dcterms:modified xsi:type="dcterms:W3CDTF">2018-10-12T11:57:01Z</dcterms:modified>
</cp:coreProperties>
</file>
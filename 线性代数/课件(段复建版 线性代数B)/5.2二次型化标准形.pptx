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0" r:id="rId2"/>
    <p:sldId id="292" r:id="rId3"/>
    <p:sldId id="271" r:id="rId4"/>
    <p:sldId id="293" r:id="rId5"/>
    <p:sldId id="294" r:id="rId6"/>
    <p:sldId id="295" r:id="rId7"/>
    <p:sldId id="289" r:id="rId8"/>
    <p:sldId id="297" r:id="rId9"/>
    <p:sldId id="291" r:id="rId10"/>
    <p:sldId id="298" r:id="rId11"/>
    <p:sldId id="299" r:id="rId12"/>
    <p:sldId id="296" r:id="rId13"/>
    <p:sldId id="29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C48170"/>
    <a:srgbClr val="0070C0"/>
    <a:srgbClr val="9DC3E6"/>
    <a:srgbClr val="2E75B6"/>
    <a:srgbClr val="1F4E79"/>
    <a:srgbClr val="FFFFFF"/>
    <a:srgbClr val="548235"/>
    <a:srgbClr val="385723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>
        <p:scale>
          <a:sx n="86" d="100"/>
          <a:sy n="86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6314C-6C6C-4780-ABC0-A804F1D74EE2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FA9C9C13-B11B-40F9-8EFC-D9CC92CE6C6D}">
      <dgm:prSet/>
      <dgm:spPr>
        <a:solidFill>
          <a:srgbClr val="FF6600"/>
        </a:solidFill>
      </dgm:spPr>
      <dgm:t>
        <a:bodyPr/>
        <a:lstStyle/>
        <a:p>
          <a:pPr rtl="0"/>
          <a:r>
            <a:rPr lang="zh-CN" b="1" dirty="0" smtClean="0"/>
            <a:t>对于给定二次型写出其矩阵</a:t>
          </a:r>
          <a:endParaRPr lang="zh-CN" dirty="0"/>
        </a:p>
      </dgm:t>
    </dgm:pt>
    <dgm:pt modelId="{0C4F7380-BFCC-4BB3-9430-31517D036EC5}" type="parTrans" cxnId="{A11BA049-8137-4D42-853B-407356451DDB}">
      <dgm:prSet/>
      <dgm:spPr/>
      <dgm:t>
        <a:bodyPr/>
        <a:lstStyle/>
        <a:p>
          <a:endParaRPr lang="zh-CN" altLang="en-US"/>
        </a:p>
      </dgm:t>
    </dgm:pt>
    <dgm:pt modelId="{61E6ABA0-FB74-452B-882A-45C3EF6D5C79}" type="sibTrans" cxnId="{A11BA049-8137-4D42-853B-407356451DDB}">
      <dgm:prSet/>
      <dgm:spPr/>
      <dgm:t>
        <a:bodyPr/>
        <a:lstStyle/>
        <a:p>
          <a:endParaRPr lang="zh-CN" altLang="en-US"/>
        </a:p>
      </dgm:t>
    </dgm:pt>
    <dgm:pt modelId="{A873E46B-5FFF-4AEE-A35A-5DDFF7FD1484}">
      <dgm:prSet/>
      <dgm:spPr/>
      <dgm:t>
        <a:bodyPr/>
        <a:lstStyle/>
        <a:p>
          <a:pPr rtl="0"/>
          <a:r>
            <a:rPr lang="zh-CN" b="1" dirty="0" smtClean="0"/>
            <a:t>将其正交相似对角化</a:t>
          </a:r>
          <a:endParaRPr lang="zh-CN" dirty="0"/>
        </a:p>
      </dgm:t>
    </dgm:pt>
    <dgm:pt modelId="{33D907E4-4D0C-4BD0-B484-A796254420D1}" type="parTrans" cxnId="{85EEDCB6-EFB8-46A1-BAAF-0A4E25D37CB4}">
      <dgm:prSet/>
      <dgm:spPr/>
      <dgm:t>
        <a:bodyPr/>
        <a:lstStyle/>
        <a:p>
          <a:endParaRPr lang="zh-CN" altLang="en-US"/>
        </a:p>
      </dgm:t>
    </dgm:pt>
    <dgm:pt modelId="{9BF2FBFE-7B12-448C-99CB-770626520130}" type="sibTrans" cxnId="{85EEDCB6-EFB8-46A1-BAAF-0A4E25D37CB4}">
      <dgm:prSet/>
      <dgm:spPr/>
      <dgm:t>
        <a:bodyPr/>
        <a:lstStyle/>
        <a:p>
          <a:endParaRPr lang="zh-CN" altLang="en-US"/>
        </a:p>
      </dgm:t>
    </dgm:pt>
    <dgm:pt modelId="{AC9528EB-98CA-4B68-9B03-056D9C74A83E}">
      <dgm:prSet/>
      <dgm:spPr/>
      <dgm:t>
        <a:bodyPr/>
        <a:lstStyle/>
        <a:p>
          <a:pPr rtl="0"/>
          <a:r>
            <a:rPr lang="zh-CN" b="1" smtClean="0"/>
            <a:t>写结论</a:t>
          </a:r>
          <a:endParaRPr lang="zh-CN"/>
        </a:p>
      </dgm:t>
    </dgm:pt>
    <dgm:pt modelId="{B6685F5D-F1F3-4B76-89CA-85BB47816EBB}" type="parTrans" cxnId="{6ED64FEB-673F-408A-91DE-C1BC7F605261}">
      <dgm:prSet/>
      <dgm:spPr/>
      <dgm:t>
        <a:bodyPr/>
        <a:lstStyle/>
        <a:p>
          <a:endParaRPr lang="zh-CN" altLang="en-US"/>
        </a:p>
      </dgm:t>
    </dgm:pt>
    <dgm:pt modelId="{9FF14C71-0E6A-4865-A412-00024A3B2C88}" type="sibTrans" cxnId="{6ED64FEB-673F-408A-91DE-C1BC7F605261}">
      <dgm:prSet/>
      <dgm:spPr/>
      <dgm:t>
        <a:bodyPr/>
        <a:lstStyle/>
        <a:p>
          <a:endParaRPr lang="zh-CN" altLang="en-US"/>
        </a:p>
      </dgm:t>
    </dgm:pt>
    <dgm:pt modelId="{BCD92E2A-EF6B-40AB-9B42-200C67F3093A}" type="pres">
      <dgm:prSet presAssocID="{2EC6314C-6C6C-4780-ABC0-A804F1D74EE2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B71EC65-2482-4236-BCFD-DD0CE338D3D2}" type="pres">
      <dgm:prSet presAssocID="{FA9C9C13-B11B-40F9-8EFC-D9CC92CE6C6D}" presName="composite" presStyleCnt="0"/>
      <dgm:spPr/>
    </dgm:pt>
    <dgm:pt modelId="{9552BCE3-B9EE-4461-9457-DC9896B2A64D}" type="pres">
      <dgm:prSet presAssocID="{FA9C9C13-B11B-40F9-8EFC-D9CC92CE6C6D}" presName="bentUpArrow1" presStyleLbl="alignImgPlace1" presStyleIdx="0" presStyleCnt="2" custAng="5400000" custFlipHor="0" custLinFactX="8857" custLinFactNeighborX="100000" custLinFactNeighborY="-87323"/>
      <dgm:spPr>
        <a:solidFill>
          <a:schemeClr val="bg2">
            <a:lumMod val="90000"/>
          </a:schemeClr>
        </a:solidFill>
      </dgm:spPr>
    </dgm:pt>
    <dgm:pt modelId="{1C9FF050-1972-4DEF-BD5C-46C1D17185A3}" type="pres">
      <dgm:prSet presAssocID="{FA9C9C13-B11B-40F9-8EFC-D9CC92CE6C6D}" presName="ParentText" presStyleLbl="node1" presStyleIdx="0" presStyleCnt="3" custScaleX="116018" custLinFactX="49492" custLinFactNeighborX="100000" custLinFactNeighborY="129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493981-B6F7-4669-B1E8-9E2740C79146}" type="pres">
      <dgm:prSet presAssocID="{FA9C9C13-B11B-40F9-8EFC-D9CC92CE6C6D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16E36CEC-154E-4198-81C3-3FBD38F5D71F}" type="pres">
      <dgm:prSet presAssocID="{61E6ABA0-FB74-452B-882A-45C3EF6D5C79}" presName="sibTrans" presStyleCnt="0"/>
      <dgm:spPr/>
    </dgm:pt>
    <dgm:pt modelId="{93FE290E-1506-4A17-9BB2-97BC5CE16241}" type="pres">
      <dgm:prSet presAssocID="{A873E46B-5FFF-4AEE-A35A-5DDFF7FD1484}" presName="composite" presStyleCnt="0"/>
      <dgm:spPr/>
    </dgm:pt>
    <dgm:pt modelId="{84B02DCC-6CA2-412F-8904-5FCE136163B8}" type="pres">
      <dgm:prSet presAssocID="{A873E46B-5FFF-4AEE-A35A-5DDFF7FD1484}" presName="bentUpArrow1" presStyleLbl="alignImgPlace1" presStyleIdx="1" presStyleCnt="2" custAng="5400000" custFlipHor="0" custLinFactX="-41979" custLinFactNeighborX="-100000" custLinFactNeighborY="-84437"/>
      <dgm:spPr>
        <a:solidFill>
          <a:schemeClr val="bg2">
            <a:lumMod val="90000"/>
          </a:schemeClr>
        </a:solidFill>
      </dgm:spPr>
    </dgm:pt>
    <dgm:pt modelId="{D056E5E2-72F3-421A-9CF2-EAFC66ED3A17}" type="pres">
      <dgm:prSet presAssocID="{A873E46B-5FFF-4AEE-A35A-5DDFF7FD1484}" presName="ParentText" presStyleLbl="node1" presStyleIdx="1" presStyleCnt="3" custLinFactNeighborX="-2087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67B8C1-41D3-4FC0-9B44-08AAFD1D26AC}" type="pres">
      <dgm:prSet presAssocID="{A873E46B-5FFF-4AEE-A35A-5DDFF7FD1484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BE8374CF-000B-4881-B4FA-43026749629B}" type="pres">
      <dgm:prSet presAssocID="{9BF2FBFE-7B12-448C-99CB-770626520130}" presName="sibTrans" presStyleCnt="0"/>
      <dgm:spPr/>
    </dgm:pt>
    <dgm:pt modelId="{F777A68E-4D9F-45CA-99FF-78123CE3F7C6}" type="pres">
      <dgm:prSet presAssocID="{AC9528EB-98CA-4B68-9B03-056D9C74A83E}" presName="composite" presStyleCnt="0"/>
      <dgm:spPr/>
    </dgm:pt>
    <dgm:pt modelId="{5D0B37CE-6C84-4320-80AB-9915B18EF4DB}" type="pres">
      <dgm:prSet presAssocID="{AC9528EB-98CA-4B68-9B03-056D9C74A83E}" presName="ParentText" presStyleLbl="node1" presStyleIdx="2" presStyleCnt="3" custLinFactX="-86808" custLinFactNeighborX="-100000" custLinFactNeighborY="369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ED64FEB-673F-408A-91DE-C1BC7F605261}" srcId="{2EC6314C-6C6C-4780-ABC0-A804F1D74EE2}" destId="{AC9528EB-98CA-4B68-9B03-056D9C74A83E}" srcOrd="2" destOrd="0" parTransId="{B6685F5D-F1F3-4B76-89CA-85BB47816EBB}" sibTransId="{9FF14C71-0E6A-4865-A412-00024A3B2C88}"/>
    <dgm:cxn modelId="{157A64F0-9A71-4115-B675-6D97461897BB}" type="presOf" srcId="{FA9C9C13-B11B-40F9-8EFC-D9CC92CE6C6D}" destId="{1C9FF050-1972-4DEF-BD5C-46C1D17185A3}" srcOrd="0" destOrd="0" presId="urn:microsoft.com/office/officeart/2005/8/layout/StepDownProcess"/>
    <dgm:cxn modelId="{85EEDCB6-EFB8-46A1-BAAF-0A4E25D37CB4}" srcId="{2EC6314C-6C6C-4780-ABC0-A804F1D74EE2}" destId="{A873E46B-5FFF-4AEE-A35A-5DDFF7FD1484}" srcOrd="1" destOrd="0" parTransId="{33D907E4-4D0C-4BD0-B484-A796254420D1}" sibTransId="{9BF2FBFE-7B12-448C-99CB-770626520130}"/>
    <dgm:cxn modelId="{F055E85A-7F9F-44BD-B875-F546BFA272FF}" type="presOf" srcId="{A873E46B-5FFF-4AEE-A35A-5DDFF7FD1484}" destId="{D056E5E2-72F3-421A-9CF2-EAFC66ED3A17}" srcOrd="0" destOrd="0" presId="urn:microsoft.com/office/officeart/2005/8/layout/StepDownProcess"/>
    <dgm:cxn modelId="{960D9D1A-EEC3-41A5-97B1-3694BC150125}" type="presOf" srcId="{2EC6314C-6C6C-4780-ABC0-A804F1D74EE2}" destId="{BCD92E2A-EF6B-40AB-9B42-200C67F3093A}" srcOrd="0" destOrd="0" presId="urn:microsoft.com/office/officeart/2005/8/layout/StepDownProcess"/>
    <dgm:cxn modelId="{A11BA049-8137-4D42-853B-407356451DDB}" srcId="{2EC6314C-6C6C-4780-ABC0-A804F1D74EE2}" destId="{FA9C9C13-B11B-40F9-8EFC-D9CC92CE6C6D}" srcOrd="0" destOrd="0" parTransId="{0C4F7380-BFCC-4BB3-9430-31517D036EC5}" sibTransId="{61E6ABA0-FB74-452B-882A-45C3EF6D5C79}"/>
    <dgm:cxn modelId="{F1B16D66-9C22-4D63-A50B-4A09829ADBB8}" type="presOf" srcId="{AC9528EB-98CA-4B68-9B03-056D9C74A83E}" destId="{5D0B37CE-6C84-4320-80AB-9915B18EF4DB}" srcOrd="0" destOrd="0" presId="urn:microsoft.com/office/officeart/2005/8/layout/StepDownProcess"/>
    <dgm:cxn modelId="{D75306D3-8E22-492F-B495-425B75FACFF8}" type="presParOf" srcId="{BCD92E2A-EF6B-40AB-9B42-200C67F3093A}" destId="{6B71EC65-2482-4236-BCFD-DD0CE338D3D2}" srcOrd="0" destOrd="0" presId="urn:microsoft.com/office/officeart/2005/8/layout/StepDownProcess"/>
    <dgm:cxn modelId="{B80EEF1D-D820-4D0E-A4AC-8D1EB11E2081}" type="presParOf" srcId="{6B71EC65-2482-4236-BCFD-DD0CE338D3D2}" destId="{9552BCE3-B9EE-4461-9457-DC9896B2A64D}" srcOrd="0" destOrd="0" presId="urn:microsoft.com/office/officeart/2005/8/layout/StepDownProcess"/>
    <dgm:cxn modelId="{3DC3EB2C-6CFC-4E73-BF1E-E225FA20EEBC}" type="presParOf" srcId="{6B71EC65-2482-4236-BCFD-DD0CE338D3D2}" destId="{1C9FF050-1972-4DEF-BD5C-46C1D17185A3}" srcOrd="1" destOrd="0" presId="urn:microsoft.com/office/officeart/2005/8/layout/StepDownProcess"/>
    <dgm:cxn modelId="{4AEE3397-6A75-44F2-9C99-BDF0CCF0F9C2}" type="presParOf" srcId="{6B71EC65-2482-4236-BCFD-DD0CE338D3D2}" destId="{60493981-B6F7-4669-B1E8-9E2740C79146}" srcOrd="2" destOrd="0" presId="urn:microsoft.com/office/officeart/2005/8/layout/StepDownProcess"/>
    <dgm:cxn modelId="{07FAF07C-C4B0-4202-A0F2-E6D7796110E3}" type="presParOf" srcId="{BCD92E2A-EF6B-40AB-9B42-200C67F3093A}" destId="{16E36CEC-154E-4198-81C3-3FBD38F5D71F}" srcOrd="1" destOrd="0" presId="urn:microsoft.com/office/officeart/2005/8/layout/StepDownProcess"/>
    <dgm:cxn modelId="{ADB353C9-086A-4E8A-8129-2335BD85ACCD}" type="presParOf" srcId="{BCD92E2A-EF6B-40AB-9B42-200C67F3093A}" destId="{93FE290E-1506-4A17-9BB2-97BC5CE16241}" srcOrd="2" destOrd="0" presId="urn:microsoft.com/office/officeart/2005/8/layout/StepDownProcess"/>
    <dgm:cxn modelId="{EF7D44E4-E5F4-4D34-8111-5DF5EDD2335C}" type="presParOf" srcId="{93FE290E-1506-4A17-9BB2-97BC5CE16241}" destId="{84B02DCC-6CA2-412F-8904-5FCE136163B8}" srcOrd="0" destOrd="0" presId="urn:microsoft.com/office/officeart/2005/8/layout/StepDownProcess"/>
    <dgm:cxn modelId="{7C3DAABE-B9BA-46BB-862B-4ADDA78875C2}" type="presParOf" srcId="{93FE290E-1506-4A17-9BB2-97BC5CE16241}" destId="{D056E5E2-72F3-421A-9CF2-EAFC66ED3A17}" srcOrd="1" destOrd="0" presId="urn:microsoft.com/office/officeart/2005/8/layout/StepDownProcess"/>
    <dgm:cxn modelId="{5A1CEE51-83BC-4259-87E2-FC0EA3D7B93C}" type="presParOf" srcId="{93FE290E-1506-4A17-9BB2-97BC5CE16241}" destId="{8B67B8C1-41D3-4FC0-9B44-08AAFD1D26AC}" srcOrd="2" destOrd="0" presId="urn:microsoft.com/office/officeart/2005/8/layout/StepDownProcess"/>
    <dgm:cxn modelId="{E9EEF1DF-3E22-445A-B225-A2F96EAADBCB}" type="presParOf" srcId="{BCD92E2A-EF6B-40AB-9B42-200C67F3093A}" destId="{BE8374CF-000B-4881-B4FA-43026749629B}" srcOrd="3" destOrd="0" presId="urn:microsoft.com/office/officeart/2005/8/layout/StepDownProcess"/>
    <dgm:cxn modelId="{375FD0CF-D08E-4261-A163-6FCEB97CD351}" type="presParOf" srcId="{BCD92E2A-EF6B-40AB-9B42-200C67F3093A}" destId="{F777A68E-4D9F-45CA-99FF-78123CE3F7C6}" srcOrd="4" destOrd="0" presId="urn:microsoft.com/office/officeart/2005/8/layout/StepDownProcess"/>
    <dgm:cxn modelId="{D5F4575E-8879-4DDF-9C81-D6680E53747C}" type="presParOf" srcId="{F777A68E-4D9F-45CA-99FF-78123CE3F7C6}" destId="{5D0B37CE-6C84-4320-80AB-9915B18EF4D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2BCE3-B9EE-4461-9457-DC9896B2A64D}">
      <dsp:nvSpPr>
        <dsp:cNvPr id="0" name=""/>
        <dsp:cNvSpPr/>
      </dsp:nvSpPr>
      <dsp:spPr>
        <a:xfrm rot="10800000">
          <a:off x="3216531" y="299545"/>
          <a:ext cx="1163452" cy="13245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FF050-1972-4DEF-BD5C-46C1D17185A3}">
      <dsp:nvSpPr>
        <dsp:cNvPr id="0" name=""/>
        <dsp:cNvSpPr/>
      </dsp:nvSpPr>
      <dsp:spPr>
        <a:xfrm>
          <a:off x="4237464" y="43577"/>
          <a:ext cx="2272293" cy="1370935"/>
        </a:xfrm>
        <a:prstGeom prst="roundRect">
          <a:avLst>
            <a:gd name="adj" fmla="val 16670"/>
          </a:avLst>
        </a:prstGeom>
        <a:solidFill>
          <a:srgbClr val="FF66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dirty="0" smtClean="0"/>
            <a:t>对于给定二次型写出其矩阵</a:t>
          </a:r>
          <a:endParaRPr lang="zh-CN" sz="2500" kern="1200" dirty="0"/>
        </a:p>
      </dsp:txBody>
      <dsp:txXfrm>
        <a:off x="4304400" y="110513"/>
        <a:ext cx="2138421" cy="1237063"/>
      </dsp:txXfrm>
    </dsp:sp>
    <dsp:sp modelId="{60493981-B6F7-4669-B1E8-9E2740C79146}">
      <dsp:nvSpPr>
        <dsp:cNvPr id="0" name=""/>
        <dsp:cNvSpPr/>
      </dsp:nvSpPr>
      <dsp:spPr>
        <a:xfrm>
          <a:off x="3424991" y="156546"/>
          <a:ext cx="1424477" cy="110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02DCC-6CA2-412F-8904-5FCE136163B8}">
      <dsp:nvSpPr>
        <dsp:cNvPr id="0" name=""/>
        <dsp:cNvSpPr/>
      </dsp:nvSpPr>
      <dsp:spPr>
        <a:xfrm rot="10800000">
          <a:off x="1436377" y="1873135"/>
          <a:ext cx="1163452" cy="13245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6E5E2-72F3-421A-9CF2-EAFC66ED3A17}">
      <dsp:nvSpPr>
        <dsp:cNvPr id="0" name=""/>
        <dsp:cNvSpPr/>
      </dsp:nvSpPr>
      <dsp:spPr>
        <a:xfrm>
          <a:off x="2599824" y="1565809"/>
          <a:ext cx="1958569" cy="1370935"/>
        </a:xfrm>
        <a:prstGeom prst="roundRect">
          <a:avLst>
            <a:gd name="adj" fmla="val 16670"/>
          </a:avLst>
        </a:prstGeom>
        <a:solidFill>
          <a:schemeClr val="accent5">
            <a:hueOff val="-3676673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dirty="0" smtClean="0"/>
            <a:t>将其正交相似对角化</a:t>
          </a:r>
          <a:endParaRPr lang="zh-CN" sz="2500" kern="1200" dirty="0"/>
        </a:p>
      </dsp:txBody>
      <dsp:txXfrm>
        <a:off x="2666760" y="1632745"/>
        <a:ext cx="1824697" cy="1237063"/>
      </dsp:txXfrm>
    </dsp:sp>
    <dsp:sp modelId="{8B67B8C1-41D3-4FC0-9B44-08AAFD1D26AC}">
      <dsp:nvSpPr>
        <dsp:cNvPr id="0" name=""/>
        <dsp:cNvSpPr/>
      </dsp:nvSpPr>
      <dsp:spPr>
        <a:xfrm>
          <a:off x="4967285" y="1696559"/>
          <a:ext cx="1424477" cy="110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B37CE-6C84-4320-80AB-9915B18EF4DB}">
      <dsp:nvSpPr>
        <dsp:cNvPr id="0" name=""/>
        <dsp:cNvSpPr/>
      </dsp:nvSpPr>
      <dsp:spPr>
        <a:xfrm>
          <a:off x="1049106" y="3131618"/>
          <a:ext cx="1958569" cy="1370935"/>
        </a:xfrm>
        <a:prstGeom prst="roundRect">
          <a:avLst>
            <a:gd name="adj" fmla="val 16670"/>
          </a:avLst>
        </a:prstGeom>
        <a:solidFill>
          <a:schemeClr val="accent5">
            <a:hueOff val="-7353345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smtClean="0"/>
            <a:t>写结论</a:t>
          </a:r>
          <a:endParaRPr lang="zh-CN" sz="2500" kern="1200"/>
        </a:p>
      </dsp:txBody>
      <dsp:txXfrm>
        <a:off x="1116042" y="3198554"/>
        <a:ext cx="1824697" cy="1237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5" Type="http://schemas.openxmlformats.org/officeDocument/2006/relationships/image" Target="../media/image72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77.wmf"/><Relationship Id="rId2" Type="http://schemas.openxmlformats.org/officeDocument/2006/relationships/image" Target="../media/image73.wmf"/><Relationship Id="rId1" Type="http://schemas.openxmlformats.org/officeDocument/2006/relationships/image" Target="../media/image36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2" Type="http://schemas.openxmlformats.org/officeDocument/2006/relationships/image" Target="../media/image78.wmf"/><Relationship Id="rId1" Type="http://schemas.openxmlformats.org/officeDocument/2006/relationships/image" Target="../media/image51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FA301-845D-425A-BD8B-92C2912188AE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DF3D-F602-47D2-81AF-FFA7EB3996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6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第五章 二次型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5.2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二次型化标准形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9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8.wmf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5.bin"/><Relationship Id="rId4" Type="http://schemas.openxmlformats.org/officeDocument/2006/relationships/diagramLayout" Target="../diagrams/layout1.xml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6.wmf"/><Relationship Id="rId32" Type="http://schemas.openxmlformats.org/officeDocument/2006/relationships/image" Target="../media/image50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8.w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1.bin"/><Relationship Id="rId31" Type="http://schemas.openxmlformats.org/officeDocument/2006/relationships/oleObject" Target="../embeddings/oleObject47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6.wmf"/><Relationship Id="rId26" Type="http://schemas.openxmlformats.org/officeDocument/2006/relationships/image" Target="../media/image70.w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69.wmf"/><Relationship Id="rId32" Type="http://schemas.openxmlformats.org/officeDocument/2006/relationships/image" Target="../media/image72.wmf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71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4.bin"/><Relationship Id="rId31" Type="http://schemas.openxmlformats.org/officeDocument/2006/relationships/oleObject" Target="../embeddings/oleObject70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74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848784" y="836614"/>
            <a:ext cx="8703733" cy="84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</a:pPr>
            <a:r>
              <a:rPr lang="zh-CN" altLang="en-US" sz="3200" dirty="0" smtClean="0">
                <a:solidFill>
                  <a:srgbClr val="0000FF"/>
                </a:solidFill>
                <a:latin typeface="华文行楷" pitchFamily="2" charset="-122"/>
                <a:ea typeface="华文行楷" pitchFamily="2" charset="-122"/>
              </a:rPr>
              <a:t>  </a:t>
            </a:r>
            <a:r>
              <a:rPr lang="zh-CN" altLang="en-US" sz="3200" dirty="0" smtClean="0">
                <a:latin typeface="华文行楷" pitchFamily="2" charset="-122"/>
                <a:ea typeface="华文行楷" pitchFamily="2" charset="-122"/>
              </a:rPr>
              <a:t>化二次型为标准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形</a:t>
            </a:r>
            <a:endParaRPr lang="zh-CN" altLang="en-US" sz="32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291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24" name="TextBox 7"/>
          <p:cNvSpPr txBox="1">
            <a:spLocks noChangeArrowheads="1"/>
          </p:cNvSpPr>
          <p:nvPr/>
        </p:nvSpPr>
        <p:spPr bwMode="auto">
          <a:xfrm>
            <a:off x="2865746" y="2303463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 smtClean="0"/>
              <a:t>二次型 </a:t>
            </a:r>
            <a:endParaRPr lang="zh-CN" altLang="en-US" sz="2400" dirty="0"/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740833" y="2493964"/>
            <a:ext cx="14414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6600"/>
                </a:solidFill>
                <a:latin typeface="华文行楷" pitchFamily="2" charset="-122"/>
                <a:ea typeface="华文行楷" pitchFamily="2" charset="-122"/>
              </a:rPr>
              <a:t>问题</a:t>
            </a: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8555567" y="2257425"/>
            <a:ext cx="2821517" cy="908050"/>
            <a:chOff x="6387092" y="1998255"/>
            <a:chExt cx="2115354" cy="908808"/>
          </a:xfrm>
        </p:grpSpPr>
        <p:grpSp>
          <p:nvGrpSpPr>
            <p:cNvPr id="12319" name="组合 15"/>
            <p:cNvGrpSpPr>
              <a:grpSpLocks/>
            </p:cNvGrpSpPr>
            <p:nvPr/>
          </p:nvGrpSpPr>
          <p:grpSpPr bwMode="auto">
            <a:xfrm>
              <a:off x="6387092" y="1998255"/>
              <a:ext cx="1641292" cy="908808"/>
              <a:chOff x="6315084" y="1872120"/>
              <a:chExt cx="1641292" cy="908808"/>
            </a:xfrm>
          </p:grpSpPr>
          <p:graphicFrame>
            <p:nvGraphicFramePr>
              <p:cNvPr id="12321" name="Object 3"/>
              <p:cNvGraphicFramePr>
                <a:graphicFrameLocks noChangeAspect="1"/>
              </p:cNvGraphicFramePr>
              <p:nvPr/>
            </p:nvGraphicFramePr>
            <p:xfrm>
              <a:off x="6315084" y="2323045"/>
              <a:ext cx="1641292" cy="4578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62" name="Equation" r:id="rId3" imgW="914400" imgH="254000" progId="Equation.DSMT4">
                      <p:embed/>
                    </p:oleObj>
                  </mc:Choice>
                  <mc:Fallback>
                    <p:oleObj name="Equation" r:id="rId3" imgW="914400" imgH="2540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15084" y="2323045"/>
                            <a:ext cx="1641292" cy="4578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22" name="TextBox 56"/>
              <p:cNvSpPr txBox="1">
                <a:spLocks noChangeArrowheads="1"/>
              </p:cNvSpPr>
              <p:nvPr/>
            </p:nvSpPr>
            <p:spPr bwMode="auto">
              <a:xfrm>
                <a:off x="6545294" y="1872120"/>
                <a:ext cx="11881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rgbClr val="0000FF"/>
                    </a:solidFill>
                  </a:rPr>
                  <a:t>标准形</a:t>
                </a:r>
              </a:p>
            </p:txBody>
          </p:sp>
        </p:grpSp>
        <p:graphicFrame>
          <p:nvGraphicFramePr>
            <p:cNvPr id="12320" name="Object 3"/>
            <p:cNvGraphicFramePr>
              <a:graphicFrameLocks noChangeAspect="1"/>
            </p:cNvGraphicFramePr>
            <p:nvPr/>
          </p:nvGraphicFramePr>
          <p:xfrm>
            <a:off x="8172400" y="2185555"/>
            <a:ext cx="330046" cy="515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3" name="Equation" r:id="rId5" imgW="114102" imgH="177492" progId="Equation.DSMT4">
                    <p:embed/>
                  </p:oleObj>
                </mc:Choice>
                <mc:Fallback>
                  <p:oleObj name="Equation" r:id="rId5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2400" y="2185555"/>
                          <a:ext cx="330046" cy="515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76818" y="4289425"/>
            <a:ext cx="144144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6600"/>
                </a:solidFill>
                <a:latin typeface="华文行楷" pitchFamily="2" charset="-122"/>
                <a:ea typeface="华文行楷" pitchFamily="2" charset="-122"/>
              </a:rPr>
              <a:t>解决</a:t>
            </a:r>
          </a:p>
        </p:txBody>
      </p:sp>
      <p:grpSp>
        <p:nvGrpSpPr>
          <p:cNvPr id="71" name="组合 70"/>
          <p:cNvGrpSpPr>
            <a:grpSpLocks/>
          </p:cNvGrpSpPr>
          <p:nvPr/>
        </p:nvGrpSpPr>
        <p:grpSpPr bwMode="auto">
          <a:xfrm>
            <a:off x="5232400" y="2049463"/>
            <a:ext cx="3168651" cy="1206500"/>
            <a:chOff x="3894108" y="1791069"/>
            <a:chExt cx="2376264" cy="1205883"/>
          </a:xfrm>
        </p:grpSpPr>
        <p:graphicFrame>
          <p:nvGraphicFramePr>
            <p:cNvPr id="12315" name="Object 3"/>
            <p:cNvGraphicFramePr>
              <a:graphicFrameLocks noChangeAspect="1"/>
            </p:cNvGraphicFramePr>
            <p:nvPr/>
          </p:nvGraphicFramePr>
          <p:xfrm>
            <a:off x="4716016" y="1791069"/>
            <a:ext cx="363051" cy="56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4" name="Equation" r:id="rId7" imgW="114102" imgH="177492" progId="Equation.DSMT4">
                    <p:embed/>
                  </p:oleObj>
                </mc:Choice>
                <mc:Fallback>
                  <p:oleObj name="Equation" r:id="rId7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016" y="1791069"/>
                          <a:ext cx="363051" cy="56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16" name="组合 21"/>
            <p:cNvGrpSpPr>
              <a:grpSpLocks/>
            </p:cNvGrpSpPr>
            <p:nvPr/>
          </p:nvGrpSpPr>
          <p:grpSpPr bwMode="auto">
            <a:xfrm>
              <a:off x="3894108" y="2114753"/>
              <a:ext cx="2376264" cy="882199"/>
              <a:chOff x="3894108" y="2114753"/>
              <a:chExt cx="2376264" cy="882199"/>
            </a:xfrm>
          </p:grpSpPr>
          <p:sp>
            <p:nvSpPr>
              <p:cNvPr id="15" name="右箭头 14"/>
              <p:cNvSpPr/>
              <p:nvPr/>
            </p:nvSpPr>
            <p:spPr>
              <a:xfrm>
                <a:off x="3894108" y="2114753"/>
                <a:ext cx="2376264" cy="882199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zh-CN" altLang="en-US" sz="2400" dirty="0"/>
              </a:p>
            </p:txBody>
          </p:sp>
          <p:graphicFrame>
            <p:nvGraphicFramePr>
              <p:cNvPr id="12318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9652762"/>
                  </p:ext>
                </p:extLst>
              </p:nvPr>
            </p:nvGraphicFramePr>
            <p:xfrm>
              <a:off x="4434601" y="2408290"/>
              <a:ext cx="1053604" cy="325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65" name="Equation" r:id="rId9" imgW="533160" imgH="164880" progId="Equation.DSMT4">
                      <p:embed/>
                    </p:oleObj>
                  </mc:Choice>
                  <mc:Fallback>
                    <p:oleObj name="Equation" r:id="rId9" imgW="53316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4601" y="2408290"/>
                            <a:ext cx="1053604" cy="325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3177118" y="3241675"/>
            <a:ext cx="876300" cy="1455738"/>
            <a:chOff x="2353400" y="2983304"/>
            <a:chExt cx="655921" cy="1455603"/>
          </a:xfrm>
        </p:grpSpPr>
        <p:graphicFrame>
          <p:nvGraphicFramePr>
            <p:cNvPr id="12311" name="Object 3"/>
            <p:cNvGraphicFramePr>
              <a:graphicFrameLocks noChangeAspect="1"/>
            </p:cNvGraphicFramePr>
            <p:nvPr/>
          </p:nvGraphicFramePr>
          <p:xfrm>
            <a:off x="2453774" y="4078545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6" name="Equation" r:id="rId11" imgW="152268" imgH="164957" progId="Equation.DSMT4">
                    <p:embed/>
                  </p:oleObj>
                </mc:Choice>
                <mc:Fallback>
                  <p:oleObj name="Equation" r:id="rId11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3774" y="4078545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下箭头 19"/>
            <p:cNvSpPr/>
            <p:nvPr/>
          </p:nvSpPr>
          <p:spPr>
            <a:xfrm>
              <a:off x="2353400" y="2983304"/>
              <a:ext cx="655921" cy="958427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写出</a:t>
              </a:r>
            </a:p>
          </p:txBody>
        </p:sp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4114802" y="4087817"/>
            <a:ext cx="5298018" cy="882651"/>
            <a:chOff x="3042467" y="3829519"/>
            <a:chExt cx="3973186" cy="881977"/>
          </a:xfrm>
        </p:grpSpPr>
        <p:sp>
          <p:nvSpPr>
            <p:cNvPr id="65" name="右箭头 64"/>
            <p:cNvSpPr/>
            <p:nvPr/>
          </p:nvSpPr>
          <p:spPr>
            <a:xfrm>
              <a:off x="3042467" y="3829519"/>
              <a:ext cx="3973186" cy="881977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l">
                <a:defRPr/>
              </a:pPr>
              <a:r>
                <a:rPr lang="zh-CN" altLang="en-US" sz="2400" dirty="0" smtClean="0"/>
                <a:t>          </a:t>
              </a:r>
              <a:endParaRPr lang="zh-CN" altLang="en-US" sz="2400" dirty="0"/>
            </a:p>
          </p:txBody>
        </p:sp>
        <p:graphicFrame>
          <p:nvGraphicFramePr>
            <p:cNvPr id="1231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1652673"/>
                </p:ext>
              </p:extLst>
            </p:nvPr>
          </p:nvGraphicFramePr>
          <p:xfrm>
            <a:off x="4237236" y="4104736"/>
            <a:ext cx="1252435" cy="374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7" name="Equation" r:id="rId13" imgW="685800" imgH="190440" progId="Equation.DSMT4">
                    <p:embed/>
                  </p:oleObj>
                </mc:Choice>
                <mc:Fallback>
                  <p:oleObj name="Equation" r:id="rId13" imgW="68580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236" y="4104736"/>
                          <a:ext cx="1252435" cy="374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组合 66"/>
          <p:cNvGrpSpPr>
            <a:grpSpLocks/>
          </p:cNvGrpSpPr>
          <p:nvPr/>
        </p:nvGrpSpPr>
        <p:grpSpPr bwMode="auto">
          <a:xfrm>
            <a:off x="9389533" y="3284539"/>
            <a:ext cx="874184" cy="1411287"/>
            <a:chOff x="2353400" y="2983304"/>
            <a:chExt cx="655921" cy="1411236"/>
          </a:xfrm>
        </p:grpSpPr>
        <p:graphicFrame>
          <p:nvGraphicFramePr>
            <p:cNvPr id="12305" name="Object 3"/>
            <p:cNvGraphicFramePr>
              <a:graphicFrameLocks noChangeAspect="1"/>
            </p:cNvGraphicFramePr>
            <p:nvPr/>
          </p:nvGraphicFramePr>
          <p:xfrm>
            <a:off x="2529115" y="4034178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8" name="Equation" r:id="rId15" imgW="152268" imgH="164957" progId="Equation.DSMT4">
                    <p:embed/>
                  </p:oleObj>
                </mc:Choice>
                <mc:Fallback>
                  <p:oleObj name="Equation" r:id="rId1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9115" y="4034178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下箭头 68"/>
            <p:cNvSpPr/>
            <p:nvPr/>
          </p:nvSpPr>
          <p:spPr>
            <a:xfrm>
              <a:off x="2353400" y="2983304"/>
              <a:ext cx="655921" cy="958427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记为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3448051" y="4883150"/>
            <a:ext cx="6527800" cy="1354138"/>
            <a:chOff x="2712798" y="4625294"/>
            <a:chExt cx="4667514" cy="1353603"/>
          </a:xfrm>
        </p:grpSpPr>
        <p:sp>
          <p:nvSpPr>
            <p:cNvPr id="23" name="下弧形箭头 22"/>
            <p:cNvSpPr/>
            <p:nvPr/>
          </p:nvSpPr>
          <p:spPr>
            <a:xfrm>
              <a:off x="2712798" y="4625294"/>
              <a:ext cx="4667514" cy="1021946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04" name="TextBox 55"/>
            <p:cNvSpPr txBox="1">
              <a:spLocks noChangeArrowheads="1"/>
            </p:cNvSpPr>
            <p:nvPr/>
          </p:nvSpPr>
          <p:spPr bwMode="auto">
            <a:xfrm>
              <a:off x="4328680" y="5517232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rgbClr val="FF0000"/>
                  </a:solidFill>
                </a:rPr>
                <a:t>合同关系</a:t>
              </a:r>
            </a:p>
          </p:txBody>
        </p:sp>
      </p:grpSp>
      <p:sp>
        <p:nvSpPr>
          <p:cNvPr id="28" name="燕尾形 27"/>
          <p:cNvSpPr/>
          <p:nvPr/>
        </p:nvSpPr>
        <p:spPr>
          <a:xfrm rot="16200000">
            <a:off x="6277241" y="5072858"/>
            <a:ext cx="871537" cy="47624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/>
          <a:p>
            <a:pPr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转化</a:t>
            </a:r>
          </a:p>
        </p:txBody>
      </p:sp>
      <p:sp>
        <p:nvSpPr>
          <p:cNvPr id="33" name="文本框 3"/>
          <p:cNvSpPr txBox="1"/>
          <p:nvPr/>
        </p:nvSpPr>
        <p:spPr>
          <a:xfrm>
            <a:off x="7580441" y="484594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537647"/>
              </p:ext>
            </p:extLst>
          </p:nvPr>
        </p:nvGraphicFramePr>
        <p:xfrm>
          <a:off x="2386246" y="2718705"/>
          <a:ext cx="25431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9" name="Equation" r:id="rId17" imgW="965160" imgH="228600" progId="Equation.DSMT4">
                  <p:embed/>
                </p:oleObj>
              </mc:Choice>
              <mc:Fallback>
                <p:oleObj name="Equation" r:id="rId17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246" y="2718705"/>
                        <a:ext cx="25431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37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4" grpId="0"/>
      <p:bldP spid="58" grpId="0"/>
      <p:bldP spid="60" grpId="0"/>
      <p:bldP spid="28" grpId="0" animBg="1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339321"/>
            <a:ext cx="3924496" cy="696036"/>
            <a:chOff x="745588" y="1310185"/>
            <a:chExt cx="9305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9305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922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正交变换化二次型为标准形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2431312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914613"/>
              </p:ext>
            </p:extLst>
          </p:nvPr>
        </p:nvGraphicFramePr>
        <p:xfrm>
          <a:off x="2128303" y="3420221"/>
          <a:ext cx="3722688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Equation" r:id="rId3" imgW="1993680" imgH="939600" progId="Equation.DSMT4">
                  <p:embed/>
                </p:oleObj>
              </mc:Choice>
              <mc:Fallback>
                <p:oleObj name="Equation" r:id="rId3" imgW="1993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8303" y="3420221"/>
                        <a:ext cx="3722688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907064" y="2509233"/>
            <a:ext cx="3521634" cy="468462"/>
            <a:chOff x="1910175" y="2222631"/>
            <a:chExt cx="3521634" cy="468462"/>
          </a:xfrm>
        </p:grpSpPr>
        <p:sp>
          <p:nvSpPr>
            <p:cNvPr id="8" name="文本框 7"/>
            <p:cNvSpPr txBox="1"/>
            <p:nvPr/>
          </p:nvSpPr>
          <p:spPr>
            <a:xfrm>
              <a:off x="1910175" y="2222631"/>
              <a:ext cx="3521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设二次型                    ，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2110"/>
                </p:ext>
              </p:extLst>
            </p:nvPr>
          </p:nvGraphicFramePr>
          <p:xfrm>
            <a:off x="3220777" y="2222780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7" name="Equation" r:id="rId5" imgW="990360" imgH="253800" progId="Equation.DSMT4">
                    <p:embed/>
                  </p:oleObj>
                </mc:Choice>
                <mc:Fallback>
                  <p:oleObj name="Equation" r:id="rId5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20777" y="2222780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5319008" y="2484680"/>
            <a:ext cx="4135780" cy="461665"/>
            <a:chOff x="1910175" y="2222631"/>
            <a:chExt cx="4135780" cy="461665"/>
          </a:xfrm>
        </p:grpSpPr>
        <p:sp>
          <p:nvSpPr>
            <p:cNvPr id="35" name="文本框 34"/>
            <p:cNvSpPr txBox="1"/>
            <p:nvPr/>
          </p:nvSpPr>
          <p:spPr>
            <a:xfrm>
              <a:off x="1910175" y="2222631"/>
              <a:ext cx="4135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总有正交变换           ，使得</a:t>
              </a: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3118784"/>
                </p:ext>
              </p:extLst>
            </p:nvPr>
          </p:nvGraphicFramePr>
          <p:xfrm>
            <a:off x="3978065" y="2290691"/>
            <a:ext cx="1023938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8" name="Equation" r:id="rId7" imgW="545760" imgH="203040" progId="Equation.DSMT4">
                    <p:embed/>
                  </p:oleObj>
                </mc:Choice>
                <mc:Fallback>
                  <p:oleObj name="Equation" r:id="rId7" imgW="5457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78065" y="2290691"/>
                          <a:ext cx="1023938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59053"/>
              </p:ext>
            </p:extLst>
          </p:nvPr>
        </p:nvGraphicFramePr>
        <p:xfrm>
          <a:off x="5850991" y="3995530"/>
          <a:ext cx="3071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9"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0991" y="3995530"/>
                        <a:ext cx="3071813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551482" y="5139019"/>
            <a:ext cx="5168834" cy="461665"/>
            <a:chOff x="1910175" y="2222631"/>
            <a:chExt cx="5168834" cy="461665"/>
          </a:xfrm>
        </p:grpSpPr>
        <p:sp>
          <p:nvSpPr>
            <p:cNvPr id="19" name="文本框 7"/>
            <p:cNvSpPr txBox="1"/>
            <p:nvPr/>
          </p:nvSpPr>
          <p:spPr>
            <a:xfrm>
              <a:off x="1910175" y="2222631"/>
              <a:ext cx="51688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</a:t>
              </a: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1438140"/>
                </p:ext>
              </p:extLst>
            </p:nvPr>
          </p:nvGraphicFramePr>
          <p:xfrm>
            <a:off x="2697509" y="2239796"/>
            <a:ext cx="43815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00" name="Equation" r:id="rId11" imgW="2336760" imgH="241200" progId="Equation.DSMT4">
                    <p:embed/>
                  </p:oleObj>
                </mc:Choice>
                <mc:Fallback>
                  <p:oleObj name="Equation" r:id="rId11" imgW="23367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97509" y="2239796"/>
                          <a:ext cx="43815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1136932" y="1216025"/>
            <a:ext cx="406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dirty="0"/>
              <a:t>  </a:t>
            </a:r>
            <a:r>
              <a:rPr lang="zh-CN" altLang="en-US" dirty="0" smtClean="0"/>
              <a:t>正交变换</a:t>
            </a:r>
            <a:r>
              <a:rPr lang="zh-CN" altLang="en-US" dirty="0"/>
              <a:t>法</a:t>
            </a:r>
          </a:p>
        </p:txBody>
      </p:sp>
      <p:sp>
        <p:nvSpPr>
          <p:cNvPr id="13317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133786138"/>
              </p:ext>
            </p:extLst>
          </p:nvPr>
        </p:nvGraphicFramePr>
        <p:xfrm>
          <a:off x="1487488" y="1806766"/>
          <a:ext cx="7976001" cy="4502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319" name="对象 3"/>
          <p:cNvGraphicFramePr>
            <a:graphicFrameLocks noChangeAspect="1"/>
          </p:cNvGraphicFramePr>
          <p:nvPr/>
        </p:nvGraphicFramePr>
        <p:xfrm>
          <a:off x="5858933" y="2362200"/>
          <a:ext cx="12192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4" name="Equation" r:id="rId8" imgW="435285" imgH="677109" progId="Equation.DSMT4">
                  <p:embed/>
                </p:oleObj>
              </mc:Choice>
              <mc:Fallback>
                <p:oleObj name="Equation" r:id="rId8" imgW="435285" imgH="6771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33" y="2362200"/>
                        <a:ext cx="12192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1"/>
          <p:cNvGrpSpPr>
            <a:grpSpLocks/>
          </p:cNvGrpSpPr>
          <p:nvPr/>
        </p:nvGrpSpPr>
        <p:grpSpPr bwMode="auto">
          <a:xfrm>
            <a:off x="6096000" y="3990976"/>
            <a:ext cx="2880784" cy="646113"/>
            <a:chOff x="644610" y="1363628"/>
            <a:chExt cx="2160316" cy="645590"/>
          </a:xfrm>
        </p:grpSpPr>
        <p:sp>
          <p:nvSpPr>
            <p:cNvPr id="13325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2160316" cy="645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rgbClr val="0000FF"/>
                  </a:solidFill>
                </a:rPr>
                <a:t>可求出</a:t>
              </a:r>
            </a:p>
          </p:txBody>
        </p:sp>
        <p:graphicFrame>
          <p:nvGraphicFramePr>
            <p:cNvPr id="13326" name="Object 3"/>
            <p:cNvGraphicFramePr>
              <a:graphicFrameLocks noChangeAspect="1"/>
            </p:cNvGraphicFramePr>
            <p:nvPr/>
          </p:nvGraphicFramePr>
          <p:xfrm>
            <a:off x="1737386" y="1519940"/>
            <a:ext cx="627085" cy="40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5" name="Equation" r:id="rId10" imgW="317225" imgH="203024" progId="Equation.DSMT4">
                    <p:embed/>
                  </p:oleObj>
                </mc:Choice>
                <mc:Fallback>
                  <p:oleObj name="Equation" r:id="rId10" imgW="317225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7386" y="1519940"/>
                          <a:ext cx="627085" cy="40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组合 1"/>
          <p:cNvGrpSpPr>
            <a:grpSpLocks/>
          </p:cNvGrpSpPr>
          <p:nvPr/>
        </p:nvGrpSpPr>
        <p:grpSpPr bwMode="auto">
          <a:xfrm>
            <a:off x="4629150" y="5181717"/>
            <a:ext cx="7584016" cy="1100289"/>
            <a:chOff x="984408" y="1387532"/>
            <a:chExt cx="5689243" cy="1099191"/>
          </a:xfrm>
        </p:grpSpPr>
        <p:sp>
          <p:nvSpPr>
            <p:cNvPr id="13322" name="Text Box 2"/>
            <p:cNvSpPr txBox="1">
              <a:spLocks noChangeArrowheads="1"/>
            </p:cNvSpPr>
            <p:nvPr/>
          </p:nvSpPr>
          <p:spPr bwMode="auto">
            <a:xfrm>
              <a:off x="984408" y="1387532"/>
              <a:ext cx="5689243" cy="645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存在正交</a:t>
              </a:r>
              <a:r>
                <a:rPr lang="zh-CN" altLang="en-US" sz="2400" dirty="0" smtClean="0"/>
                <a:t>替换             </a:t>
              </a:r>
              <a:r>
                <a:rPr lang="zh-CN" altLang="en-US" sz="2400" dirty="0"/>
                <a:t>可将二次型化为标准形</a:t>
              </a:r>
            </a:p>
          </p:txBody>
        </p:sp>
        <p:graphicFrame>
          <p:nvGraphicFramePr>
            <p:cNvPr id="1332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936767"/>
                </p:ext>
              </p:extLst>
            </p:nvPr>
          </p:nvGraphicFramePr>
          <p:xfrm>
            <a:off x="2467524" y="1508993"/>
            <a:ext cx="1077951" cy="40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6" name="Equation" r:id="rId12" imgW="545626" imgH="203024" progId="Equation.DSMT4">
                    <p:embed/>
                  </p:oleObj>
                </mc:Choice>
                <mc:Fallback>
                  <p:oleObj name="Equation" r:id="rId12" imgW="545626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524" y="1508993"/>
                          <a:ext cx="1077951" cy="40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7936762"/>
                </p:ext>
              </p:extLst>
            </p:nvPr>
          </p:nvGraphicFramePr>
          <p:xfrm>
            <a:off x="2306301" y="2033218"/>
            <a:ext cx="1328786" cy="453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7" name="Equation" r:id="rId14" imgW="672808" imgH="228501" progId="Equation.DSMT4">
                    <p:embed/>
                  </p:oleObj>
                </mc:Choice>
                <mc:Fallback>
                  <p:oleObj name="Equation" r:id="rId14" imgW="67280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6301" y="2033218"/>
                          <a:ext cx="1328786" cy="453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98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"/>
          <p:cNvGrpSpPr>
            <a:grpSpLocks/>
          </p:cNvGrpSpPr>
          <p:nvPr/>
        </p:nvGrpSpPr>
        <p:grpSpPr bwMode="auto">
          <a:xfrm>
            <a:off x="749300" y="1036886"/>
            <a:ext cx="10157883" cy="1754326"/>
            <a:chOff x="582613" y="1359823"/>
            <a:chExt cx="7619105" cy="1752819"/>
          </a:xfrm>
        </p:grpSpPr>
        <p:sp>
          <p:nvSpPr>
            <p:cNvPr id="14358" name="Text Box 2"/>
            <p:cNvSpPr txBox="1">
              <a:spLocks noChangeArrowheads="1"/>
            </p:cNvSpPr>
            <p:nvPr/>
          </p:nvSpPr>
          <p:spPr bwMode="auto">
            <a:xfrm>
              <a:off x="582613" y="1359823"/>
              <a:ext cx="7107532" cy="1752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1  </a:t>
              </a:r>
              <a:r>
                <a:rPr lang="zh-CN" altLang="en-US" sz="2400" dirty="0"/>
                <a:t>用正交</a:t>
              </a:r>
              <a:r>
                <a:rPr lang="zh-CN" altLang="en-US" sz="2400" dirty="0" smtClean="0"/>
                <a:t>替换              </a:t>
              </a:r>
              <a:r>
                <a:rPr lang="zh-CN" altLang="en-US" sz="2400" dirty="0"/>
                <a:t>将二次型</a:t>
              </a: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       化为标准形</a:t>
              </a:r>
            </a:p>
          </p:txBody>
        </p:sp>
        <p:graphicFrame>
          <p:nvGraphicFramePr>
            <p:cNvPr id="1435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3552707"/>
                </p:ext>
              </p:extLst>
            </p:nvPr>
          </p:nvGraphicFramePr>
          <p:xfrm>
            <a:off x="2369876" y="1515165"/>
            <a:ext cx="1082678" cy="40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2" name="Equation" r:id="rId3" imgW="545760" imgH="203040" progId="Equation.DSMT4">
                    <p:embed/>
                  </p:oleObj>
                </mc:Choice>
                <mc:Fallback>
                  <p:oleObj name="Equation" r:id="rId3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76" y="1515165"/>
                          <a:ext cx="1082678" cy="401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0" name="Object 3"/>
            <p:cNvGraphicFramePr>
              <a:graphicFrameLocks noChangeAspect="1"/>
            </p:cNvGraphicFramePr>
            <p:nvPr/>
          </p:nvGraphicFramePr>
          <p:xfrm>
            <a:off x="2239050" y="2005548"/>
            <a:ext cx="5962668" cy="502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3" name="Equation" r:id="rId5" imgW="2997000" imgH="253800" progId="Equation.DSMT4">
                    <p:embed/>
                  </p:oleObj>
                </mc:Choice>
                <mc:Fallback>
                  <p:oleObj name="Equation" r:id="rId5" imgW="29970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050" y="2005548"/>
                          <a:ext cx="5962668" cy="5027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3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49300" y="2761179"/>
            <a:ext cx="9120717" cy="1285875"/>
            <a:chOff x="1259632" y="1722212"/>
            <a:chExt cx="6840462" cy="1285047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410"/>
              <a:ext cx="6840462" cy="9328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  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                                 由                                得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4355" name="对象 30"/>
            <p:cNvGraphicFramePr>
              <a:graphicFrameLocks noChangeAspect="1"/>
            </p:cNvGraphicFramePr>
            <p:nvPr/>
          </p:nvGraphicFramePr>
          <p:xfrm>
            <a:off x="3901476" y="2114535"/>
            <a:ext cx="1179500" cy="449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4" name="Equation" r:id="rId7" imgW="761760" imgH="253800" progId="Equation.DSMT4">
                    <p:embed/>
                  </p:oleObj>
                </mc:Choice>
                <mc:Fallback>
                  <p:oleObj name="Equation" r:id="rId7" imgW="761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476" y="2114535"/>
                          <a:ext cx="1179500" cy="449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对象 30"/>
            <p:cNvGraphicFramePr>
              <a:graphicFrameLocks noChangeAspect="1"/>
            </p:cNvGraphicFramePr>
            <p:nvPr/>
          </p:nvGraphicFramePr>
          <p:xfrm>
            <a:off x="5788819" y="2131064"/>
            <a:ext cx="1987398" cy="443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5" name="Equation" r:id="rId9" imgW="1168400" imgH="228600" progId="Equation.DSMT4">
                    <p:embed/>
                  </p:oleObj>
                </mc:Choice>
                <mc:Fallback>
                  <p:oleObj name="Equation" r:id="rId9" imgW="1168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8819" y="2131064"/>
                          <a:ext cx="1987398" cy="443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对象 30"/>
            <p:cNvGraphicFramePr>
              <a:graphicFrameLocks noChangeAspect="1"/>
            </p:cNvGraphicFramePr>
            <p:nvPr/>
          </p:nvGraphicFramePr>
          <p:xfrm>
            <a:off x="1949239" y="1722212"/>
            <a:ext cx="1493820" cy="1255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6" name="Equation" r:id="rId11" imgW="965160" imgH="711000" progId="Equation.DSMT4">
                    <p:embed/>
                  </p:oleObj>
                </mc:Choice>
                <mc:Fallback>
                  <p:oleObj name="Equation" r:id="rId11" imgW="9651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239" y="1722212"/>
                          <a:ext cx="1493820" cy="1255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1352551" y="4066382"/>
            <a:ext cx="9160933" cy="1719264"/>
            <a:chOff x="1259632" y="1682815"/>
            <a:chExt cx="6870972" cy="1718455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744"/>
              <a:ext cx="6840809" cy="132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当 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4352" name="对象 30"/>
            <p:cNvGraphicFramePr>
              <a:graphicFrameLocks noChangeAspect="1"/>
            </p:cNvGraphicFramePr>
            <p:nvPr/>
          </p:nvGraphicFramePr>
          <p:xfrm>
            <a:off x="1706382" y="2165409"/>
            <a:ext cx="654076" cy="31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7" name="Equation" r:id="rId13" imgW="355138" imgH="177569" progId="Equation.DSMT4">
                    <p:embed/>
                  </p:oleObj>
                </mc:Choice>
                <mc:Fallback>
                  <p:oleObj name="Equation" r:id="rId13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382" y="2165409"/>
                          <a:ext cx="654076" cy="31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6205190"/>
                </p:ext>
              </p:extLst>
            </p:nvPr>
          </p:nvGraphicFramePr>
          <p:xfrm>
            <a:off x="2748766" y="1682815"/>
            <a:ext cx="5381838" cy="1270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8" name="Equation" r:id="rId15" imgW="3466800" imgH="711000" progId="Equation.DSMT4">
                    <p:embed/>
                  </p:oleObj>
                </mc:Choice>
                <mc:Fallback>
                  <p:oleObj name="Equation" r:id="rId15" imgW="34668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766" y="1682815"/>
                          <a:ext cx="5381838" cy="12709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2080685" y="5300663"/>
            <a:ext cx="3727449" cy="1257300"/>
            <a:chOff x="1300587" y="2134487"/>
            <a:chExt cx="2794600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481"/>
              <a:ext cx="1715481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单位化为：</a:t>
              </a:r>
            </a:p>
          </p:txBody>
        </p:sp>
        <p:graphicFrame>
          <p:nvGraphicFramePr>
            <p:cNvPr id="14350" name="对象 30"/>
            <p:cNvGraphicFramePr>
              <a:graphicFrameLocks noChangeAspect="1"/>
            </p:cNvGraphicFramePr>
            <p:nvPr/>
          </p:nvGraphicFramePr>
          <p:xfrm>
            <a:off x="2871176" y="2134487"/>
            <a:ext cx="1224011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9" name="Equation" r:id="rId17" imgW="736600" imgH="711200" progId="Equation.DSMT4">
                    <p:embed/>
                  </p:oleObj>
                </mc:Choice>
                <mc:Fallback>
                  <p:oleObj name="Equation" r:id="rId17" imgW="736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1176" y="2134487"/>
                          <a:ext cx="1224011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3"/>
          <p:cNvSpPr txBox="1"/>
          <p:nvPr/>
        </p:nvSpPr>
        <p:spPr>
          <a:xfrm>
            <a:off x="7795032" y="386891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537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24418" y="1052513"/>
            <a:ext cx="10605557" cy="1719262"/>
            <a:chOff x="1259632" y="1682593"/>
            <a:chExt cx="7954916" cy="1718677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572"/>
              <a:ext cx="6841180" cy="13266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5379" name="对象 30"/>
            <p:cNvGraphicFramePr>
              <a:graphicFrameLocks noChangeAspect="1"/>
            </p:cNvGraphicFramePr>
            <p:nvPr/>
          </p:nvGraphicFramePr>
          <p:xfrm>
            <a:off x="1625541" y="2164966"/>
            <a:ext cx="817595" cy="314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5" name="Equation" r:id="rId3" imgW="444114" imgH="177646" progId="Equation.DSMT4">
                    <p:embed/>
                  </p:oleObj>
                </mc:Choice>
                <mc:Fallback>
                  <p:oleObj name="Equation" r:id="rId3" imgW="444114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541" y="2164966"/>
                          <a:ext cx="817595" cy="314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2828199"/>
                </p:ext>
              </p:extLst>
            </p:nvPr>
          </p:nvGraphicFramePr>
          <p:xfrm>
            <a:off x="2747656" y="1682593"/>
            <a:ext cx="6466892" cy="127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6" name="Equation" r:id="rId5" imgW="4165560" imgH="711000" progId="Equation.DSMT4">
                    <p:embed/>
                  </p:oleObj>
                </mc:Choice>
                <mc:Fallback>
                  <p:oleObj name="Equation" r:id="rId5" imgW="41655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656" y="1682593"/>
                          <a:ext cx="6466892" cy="1272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276350" y="3789363"/>
            <a:ext cx="5875867" cy="1257300"/>
            <a:chOff x="1300587" y="2134811"/>
            <a:chExt cx="4405506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805"/>
              <a:ext cx="1715544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单位化为：</a:t>
              </a:r>
            </a:p>
          </p:txBody>
        </p:sp>
        <p:graphicFrame>
          <p:nvGraphicFramePr>
            <p:cNvPr id="15377" name="对象 30"/>
            <p:cNvGraphicFramePr>
              <a:graphicFrameLocks noChangeAspect="1"/>
            </p:cNvGraphicFramePr>
            <p:nvPr/>
          </p:nvGraphicFramePr>
          <p:xfrm>
            <a:off x="2794058" y="2134811"/>
            <a:ext cx="2912035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7" name="Equation" r:id="rId7" imgW="1752600" imgH="711200" progId="Equation.DSMT4">
                    <p:embed/>
                  </p:oleObj>
                </mc:Choice>
                <mc:Fallback>
                  <p:oleObj name="Equation" r:id="rId7" imgW="1752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058" y="2134811"/>
                          <a:ext cx="2912035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1295400" y="2420938"/>
            <a:ext cx="8167687" cy="1257300"/>
            <a:chOff x="1300587" y="2164211"/>
            <a:chExt cx="6123330" cy="1257281"/>
          </a:xfrm>
        </p:grpSpPr>
        <p:sp>
          <p:nvSpPr>
            <p:cNvPr id="30" name="TextBox 29"/>
            <p:cNvSpPr txBox="1"/>
            <p:nvPr/>
          </p:nvSpPr>
          <p:spPr>
            <a:xfrm>
              <a:off x="1300587" y="2515043"/>
              <a:ext cx="1715406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正交化为：</a:t>
              </a:r>
            </a:p>
          </p:txBody>
        </p:sp>
        <p:graphicFrame>
          <p:nvGraphicFramePr>
            <p:cNvPr id="1537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0631277"/>
                </p:ext>
              </p:extLst>
            </p:nvPr>
          </p:nvGraphicFramePr>
          <p:xfrm>
            <a:off x="2713297" y="2164211"/>
            <a:ext cx="4710620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8" name="Equation" r:id="rId9" imgW="2831760" imgH="711000" progId="Equation.DSMT4">
                    <p:embed/>
                  </p:oleObj>
                </mc:Choice>
                <mc:Fallback>
                  <p:oleObj name="Equation" r:id="rId9" imgW="2831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297" y="2164211"/>
                          <a:ext cx="4710620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814917" y="5157788"/>
            <a:ext cx="10479616" cy="1147762"/>
            <a:chOff x="1300587" y="2366904"/>
            <a:chExt cx="7860277" cy="1148154"/>
          </a:xfrm>
        </p:grpSpPr>
        <p:sp>
          <p:nvSpPr>
            <p:cNvPr id="38" name="TextBox 37"/>
            <p:cNvSpPr txBox="1"/>
            <p:nvPr/>
          </p:nvSpPr>
          <p:spPr>
            <a:xfrm>
              <a:off x="1300587" y="2366904"/>
              <a:ext cx="7860277" cy="1148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所以，存在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正交变换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，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其中          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可将二次型化为标准形</a:t>
              </a:r>
            </a:p>
          </p:txBody>
        </p:sp>
        <p:graphicFrame>
          <p:nvGraphicFramePr>
            <p:cNvPr id="15371" name="对象 30"/>
            <p:cNvGraphicFramePr>
              <a:graphicFrameLocks noChangeAspect="1"/>
            </p:cNvGraphicFramePr>
            <p:nvPr/>
          </p:nvGraphicFramePr>
          <p:xfrm>
            <a:off x="3361769" y="3066357"/>
            <a:ext cx="1813141" cy="425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9" name="Equation" r:id="rId11" imgW="1091880" imgH="241200" progId="Equation.DSMT4">
                    <p:embed/>
                  </p:oleObj>
                </mc:Choice>
                <mc:Fallback>
                  <p:oleObj name="Equation" r:id="rId11" imgW="1091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1769" y="3066357"/>
                          <a:ext cx="1813141" cy="425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590796"/>
                </p:ext>
              </p:extLst>
            </p:nvPr>
          </p:nvGraphicFramePr>
          <p:xfrm>
            <a:off x="3423639" y="2583755"/>
            <a:ext cx="870625" cy="357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10" name="Equation" r:id="rId13" imgW="545760" imgH="203040" progId="Equation.DSMT4">
                    <p:embed/>
                  </p:oleObj>
                </mc:Choice>
                <mc:Fallback>
                  <p:oleObj name="Equation" r:id="rId13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639" y="2583755"/>
                          <a:ext cx="870625" cy="357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9956566"/>
                </p:ext>
              </p:extLst>
            </p:nvPr>
          </p:nvGraphicFramePr>
          <p:xfrm>
            <a:off x="5000320" y="2493259"/>
            <a:ext cx="1355886" cy="447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11" name="Equation" r:id="rId15" imgW="926698" imgH="253890" progId="Equation.DSMT4">
                    <p:embed/>
                  </p:oleObj>
                </mc:Choice>
                <mc:Fallback>
                  <p:oleObj name="Equation" r:id="rId15" imgW="92669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20" y="2493259"/>
                          <a:ext cx="1355886" cy="447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945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162597"/>
            <a:ext cx="3652253" cy="696036"/>
            <a:chOff x="745588" y="1310185"/>
            <a:chExt cx="865977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86597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857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配方法化二次型为标准形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197581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805599"/>
              </p:ext>
            </p:extLst>
          </p:nvPr>
        </p:nvGraphicFramePr>
        <p:xfrm>
          <a:off x="1978284" y="2066552"/>
          <a:ext cx="54086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37" name="Equation" r:id="rId3" imgW="2895480" imgH="253800" progId="Equation.DSMT4">
                  <p:embed/>
                </p:oleObj>
              </mc:Choice>
              <mc:Fallback>
                <p:oleObj name="Equation" r:id="rId3" imgW="289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8284" y="2066552"/>
                        <a:ext cx="54086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2890269" y="2506685"/>
            <a:ext cx="476518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033701" y="2525808"/>
            <a:ext cx="612000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868000" y="2526401"/>
            <a:ext cx="612000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713080"/>
              </p:ext>
            </p:extLst>
          </p:nvPr>
        </p:nvGraphicFramePr>
        <p:xfrm>
          <a:off x="2662268" y="2653272"/>
          <a:ext cx="253841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38" name="Equation" r:id="rId5" imgW="1358640" imgH="279360" progId="Equation.DSMT4">
                  <p:embed/>
                </p:oleObj>
              </mc:Choice>
              <mc:Fallback>
                <p:oleObj name="Equation" r:id="rId5" imgW="1358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2268" y="2653272"/>
                        <a:ext cx="2538413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652923"/>
              </p:ext>
            </p:extLst>
          </p:nvPr>
        </p:nvGraphicFramePr>
        <p:xfrm>
          <a:off x="5200681" y="2688197"/>
          <a:ext cx="23241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39" name="Equation" r:id="rId7" imgW="1244520" imgH="241200" progId="Equation.DSMT4">
                  <p:embed/>
                </p:oleObj>
              </mc:Choice>
              <mc:Fallback>
                <p:oleObj name="Equation" r:id="rId7" imgW="1244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0681" y="2688197"/>
                        <a:ext cx="2324100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497276"/>
              </p:ext>
            </p:extLst>
          </p:nvPr>
        </p:nvGraphicFramePr>
        <p:xfrm>
          <a:off x="2631580" y="3320438"/>
          <a:ext cx="19923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0" name="Equation" r:id="rId9" imgW="1066680" imgH="279360" progId="Equation.DSMT4">
                  <p:embed/>
                </p:oleObj>
              </mc:Choice>
              <mc:Fallback>
                <p:oleObj name="Equation" r:id="rId9" imgW="1066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31580" y="3320438"/>
                        <a:ext cx="1992312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766181"/>
              </p:ext>
            </p:extLst>
          </p:nvPr>
        </p:nvGraphicFramePr>
        <p:xfrm>
          <a:off x="4570517" y="3355574"/>
          <a:ext cx="21590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1" name="Equation" r:id="rId11" imgW="1155600" imgH="241200" progId="Equation.DSMT4">
                  <p:embed/>
                </p:oleObj>
              </mc:Choice>
              <mc:Fallback>
                <p:oleObj name="Equation" r:id="rId11" imgW="1155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0517" y="3355574"/>
                        <a:ext cx="2159000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471345"/>
              </p:ext>
            </p:extLst>
          </p:nvPr>
        </p:nvGraphicFramePr>
        <p:xfrm>
          <a:off x="6729517" y="3355574"/>
          <a:ext cx="23241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2" name="Equation" r:id="rId13" imgW="1244520" imgH="241200" progId="Equation.DSMT4">
                  <p:embed/>
                </p:oleObj>
              </mc:Choice>
              <mc:Fallback>
                <p:oleObj name="Equation" r:id="rId13" imgW="1244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29517" y="3355574"/>
                        <a:ext cx="2324100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330247"/>
              </p:ext>
            </p:extLst>
          </p:nvPr>
        </p:nvGraphicFramePr>
        <p:xfrm>
          <a:off x="2631580" y="3998574"/>
          <a:ext cx="40576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3" name="Equation" r:id="rId15" imgW="2171520" imgH="279360" progId="Equation.DSMT4">
                  <p:embed/>
                </p:oleObj>
              </mc:Choice>
              <mc:Fallback>
                <p:oleObj name="Equation" r:id="rId15" imgW="2171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31580" y="3998574"/>
                        <a:ext cx="4057650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791738"/>
              </p:ext>
            </p:extLst>
          </p:nvPr>
        </p:nvGraphicFramePr>
        <p:xfrm>
          <a:off x="2631580" y="3998573"/>
          <a:ext cx="3321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4" name="Equation" r:id="rId17" imgW="1777680" imgH="279360" progId="Equation.DSMT4">
                  <p:embed/>
                </p:oleObj>
              </mc:Choice>
              <mc:Fallback>
                <p:oleObj name="Equation" r:id="rId17" imgW="1777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31580" y="3998573"/>
                        <a:ext cx="3321050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20502" y="5030652"/>
            <a:ext cx="296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令                         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1135548" y="4695060"/>
            <a:ext cx="103317" cy="126887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506803"/>
              </p:ext>
            </p:extLst>
          </p:nvPr>
        </p:nvGraphicFramePr>
        <p:xfrm>
          <a:off x="1282205" y="4511833"/>
          <a:ext cx="19431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5" name="Equation" r:id="rId19" imgW="1041120" imgH="228600" progId="Equation.DSMT4">
                  <p:embed/>
                </p:oleObj>
              </mc:Choice>
              <mc:Fallback>
                <p:oleObj name="Equation" r:id="rId19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82205" y="4511833"/>
                        <a:ext cx="19431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379576"/>
              </p:ext>
            </p:extLst>
          </p:nvPr>
        </p:nvGraphicFramePr>
        <p:xfrm>
          <a:off x="1282205" y="5068455"/>
          <a:ext cx="13493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6" name="Equation" r:id="rId21" imgW="723600" imgH="228600" progId="Equation.DSMT4">
                  <p:embed/>
                </p:oleObj>
              </mc:Choice>
              <mc:Fallback>
                <p:oleObj name="Equation" r:id="rId21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82205" y="5068455"/>
                        <a:ext cx="1349375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495829"/>
              </p:ext>
            </p:extLst>
          </p:nvPr>
        </p:nvGraphicFramePr>
        <p:xfrm>
          <a:off x="1282205" y="5629317"/>
          <a:ext cx="8524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7" name="Equation" r:id="rId23" imgW="457200" imgH="228600" progId="Equation.DSMT4">
                  <p:embed/>
                </p:oleObj>
              </mc:Choice>
              <mc:Fallback>
                <p:oleObj name="Equation" r:id="rId23" imgW="45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82205" y="5629317"/>
                        <a:ext cx="852488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397234" y="4674952"/>
            <a:ext cx="3468371" cy="1316038"/>
            <a:chOff x="3397234" y="4674952"/>
            <a:chExt cx="3468371" cy="1316038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717594"/>
                </p:ext>
              </p:extLst>
            </p:nvPr>
          </p:nvGraphicFramePr>
          <p:xfrm>
            <a:off x="3901742" y="4674952"/>
            <a:ext cx="2963863" cy="1316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48" name="Equation" r:id="rId25" imgW="1587240" imgH="711000" progId="Equation.DSMT4">
                    <p:embed/>
                  </p:oleObj>
                </mc:Choice>
                <mc:Fallback>
                  <p:oleObj name="Equation" r:id="rId25" imgW="15872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901742" y="4674952"/>
                          <a:ext cx="2963863" cy="1316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3397234" y="5053707"/>
              <a:ext cx="534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即</a:t>
              </a:r>
            </a:p>
          </p:txBody>
        </p:sp>
      </p:grp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390352"/>
              </p:ext>
            </p:extLst>
          </p:nvPr>
        </p:nvGraphicFramePr>
        <p:xfrm>
          <a:off x="6947500" y="4627328"/>
          <a:ext cx="2395537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9" name="Equation" r:id="rId27" imgW="1282680" imgH="736560" progId="Equation.DSMT4">
                  <p:embed/>
                </p:oleObj>
              </mc:Choice>
              <mc:Fallback>
                <p:oleObj name="Equation" r:id="rId27" imgW="1282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47500" y="4627328"/>
                        <a:ext cx="2395537" cy="1363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9446160" y="4955800"/>
            <a:ext cx="2283277" cy="693622"/>
            <a:chOff x="9446160" y="4955800"/>
            <a:chExt cx="2283277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9996430"/>
                </p:ext>
              </p:extLst>
            </p:nvPr>
          </p:nvGraphicFramePr>
          <p:xfrm>
            <a:off x="9551956" y="5068455"/>
            <a:ext cx="2071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50" name="Equation" r:id="rId29" imgW="1104840" imgH="253800" progId="Equation.DSMT4">
                    <p:embed/>
                  </p:oleObj>
                </mc:Choice>
                <mc:Fallback>
                  <p:oleObj name="Equation" r:id="rId29" imgW="11048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551956" y="5068455"/>
                          <a:ext cx="2071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9446160" y="4955800"/>
              <a:ext cx="2283277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47435"/>
              </p:ext>
            </p:extLst>
          </p:nvPr>
        </p:nvGraphicFramePr>
        <p:xfrm>
          <a:off x="6968641" y="4700583"/>
          <a:ext cx="2371725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1" name="Equation" r:id="rId31" imgW="1269720" imgH="711000" progId="Equation.DSMT4">
                  <p:embed/>
                </p:oleObj>
              </mc:Choice>
              <mc:Fallback>
                <p:oleObj name="Equation" r:id="rId31" imgW="12697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968641" y="4700583"/>
                        <a:ext cx="2371725" cy="131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215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39308" y="132445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092229"/>
              </p:ext>
            </p:extLst>
          </p:nvPr>
        </p:nvGraphicFramePr>
        <p:xfrm>
          <a:off x="2302426" y="1324450"/>
          <a:ext cx="3343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4" name="Equation" r:id="rId3" imgW="1790640" imgH="253800" progId="Equation.DSMT4">
                  <p:embed/>
                </p:oleObj>
              </mc:Choice>
              <mc:Fallback>
                <p:oleObj name="Equation" r:id="rId3" imgW="1790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2426" y="1324450"/>
                        <a:ext cx="334327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8339769" y="3720667"/>
            <a:ext cx="3170544" cy="693622"/>
            <a:chOff x="8941964" y="4955800"/>
            <a:chExt cx="3170544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302030"/>
                </p:ext>
              </p:extLst>
            </p:nvPr>
          </p:nvGraphicFramePr>
          <p:xfrm>
            <a:off x="9064508" y="5068122"/>
            <a:ext cx="3048000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5" name="Equation" r:id="rId5" imgW="1625400" imgH="253800" progId="Equation.DSMT4">
                    <p:embed/>
                  </p:oleObj>
                </mc:Choice>
                <mc:Fallback>
                  <p:oleObj name="Equation" r:id="rId5" imgW="1625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64508" y="5068122"/>
                          <a:ext cx="3048000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8941964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965709"/>
              </p:ext>
            </p:extLst>
          </p:nvPr>
        </p:nvGraphicFramePr>
        <p:xfrm>
          <a:off x="1838421" y="1895780"/>
          <a:ext cx="5212374" cy="129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6" name="Equation" r:id="rId7" imgW="3111480" imgH="711000" progId="Equation.DSMT4">
                  <p:embed/>
                </p:oleObj>
              </mc:Choice>
              <mc:Fallback>
                <p:oleObj name="Equation" r:id="rId7" imgW="3111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8421" y="1895780"/>
                        <a:ext cx="5212374" cy="129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261844"/>
              </p:ext>
            </p:extLst>
          </p:nvPr>
        </p:nvGraphicFramePr>
        <p:xfrm>
          <a:off x="1187206" y="3316727"/>
          <a:ext cx="5502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7" name="Equation" r:id="rId9" imgW="2946240" imgH="253800" progId="Equation.DSMT4">
                  <p:embed/>
                </p:oleObj>
              </mc:Choice>
              <mc:Fallback>
                <p:oleObj name="Equation" r:id="rId9" imgW="2946240" imgH="2538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206" y="3316727"/>
                        <a:ext cx="55022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661013"/>
              </p:ext>
            </p:extLst>
          </p:nvPr>
        </p:nvGraphicFramePr>
        <p:xfrm>
          <a:off x="1832000" y="3898461"/>
          <a:ext cx="32972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8" name="Equation" r:id="rId11" imgW="1765080" imgH="241200" progId="Equation.DSMT4">
                  <p:embed/>
                </p:oleObj>
              </mc:Choice>
              <mc:Fallback>
                <p:oleObj name="Equation" r:id="rId11" imgW="1765080" imgH="2412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000" y="3898461"/>
                        <a:ext cx="32972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2556"/>
              </p:ext>
            </p:extLst>
          </p:nvPr>
        </p:nvGraphicFramePr>
        <p:xfrm>
          <a:off x="1838421" y="4403151"/>
          <a:ext cx="38909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9" name="Equation" r:id="rId13" imgW="2082600" imgH="241200" progId="Equation.DSMT4">
                  <p:embed/>
                </p:oleObj>
              </mc:Choice>
              <mc:Fallback>
                <p:oleObj name="Equation" r:id="rId13" imgW="2082600" imgH="2412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421" y="4403151"/>
                        <a:ext cx="38909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983097"/>
              </p:ext>
            </p:extLst>
          </p:nvPr>
        </p:nvGraphicFramePr>
        <p:xfrm>
          <a:off x="884238" y="5053013"/>
          <a:ext cx="79851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0" name="Equation" r:id="rId15" imgW="4825800" imgH="711000" progId="Equation.DSMT4">
                  <p:embed/>
                </p:oleObj>
              </mc:Choice>
              <mc:Fallback>
                <p:oleObj name="Equation" r:id="rId15" imgW="4825800" imgH="7110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5053013"/>
                        <a:ext cx="7985125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539273"/>
              </p:ext>
            </p:extLst>
          </p:nvPr>
        </p:nvGraphicFramePr>
        <p:xfrm>
          <a:off x="7340016" y="1975818"/>
          <a:ext cx="4564062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1" name="Equation" r:id="rId17" imgW="2895480" imgH="711000" progId="Equation.DSMT4">
                  <p:embed/>
                </p:oleObj>
              </mc:Choice>
              <mc:Fallback>
                <p:oleObj name="Equation" r:id="rId17" imgW="2895480" imgH="7110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016" y="1975818"/>
                        <a:ext cx="4564062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26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6260" y="1146137"/>
            <a:ext cx="3924496" cy="696036"/>
            <a:chOff x="745588" y="1310185"/>
            <a:chExt cx="9305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9305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3671" y="1427370"/>
              <a:ext cx="922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变换化二次型为标准形</a:t>
              </a:r>
            </a:p>
          </p:txBody>
        </p: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843525"/>
              </p:ext>
            </p:extLst>
          </p:nvPr>
        </p:nvGraphicFramePr>
        <p:xfrm>
          <a:off x="2416244" y="2120923"/>
          <a:ext cx="7826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2" name="Equation" r:id="rId3" imgW="419040" imgH="241200" progId="Equation.DSMT4">
                  <p:embed/>
                </p:oleObj>
              </mc:Choice>
              <mc:Fallback>
                <p:oleObj name="Equation" r:id="rId3" imgW="419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6244" y="2120923"/>
                        <a:ext cx="782638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48130" y="2097832"/>
            <a:ext cx="1442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       ）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252863"/>
              </p:ext>
            </p:extLst>
          </p:nvPr>
        </p:nvGraphicFramePr>
        <p:xfrm>
          <a:off x="1858654" y="2120924"/>
          <a:ext cx="4270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3" name="Equation" r:id="rId5" imgW="228600" imgH="241200" progId="Equation.DSMT4">
                  <p:embed/>
                </p:oleObj>
              </mc:Choice>
              <mc:Fallback>
                <p:oleObj name="Equation" r:id="rId5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8654" y="2120924"/>
                        <a:ext cx="427038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49457" y="2120923"/>
            <a:ext cx="2439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                  ）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333853"/>
              </p:ext>
            </p:extLst>
          </p:nvPr>
        </p:nvGraphicFramePr>
        <p:xfrm>
          <a:off x="3420151" y="2161398"/>
          <a:ext cx="307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4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0151" y="2161398"/>
                        <a:ext cx="3079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828740" y="2081381"/>
            <a:ext cx="52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8608" y="2085972"/>
            <a:ext cx="53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064447"/>
              </p:ext>
            </p:extLst>
          </p:nvPr>
        </p:nvGraphicFramePr>
        <p:xfrm>
          <a:off x="4277891" y="2161398"/>
          <a:ext cx="307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5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7891" y="2161398"/>
                        <a:ext cx="3079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754783"/>
              </p:ext>
            </p:extLst>
          </p:nvPr>
        </p:nvGraphicFramePr>
        <p:xfrm>
          <a:off x="967821" y="2120924"/>
          <a:ext cx="4270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6" name="Equation" r:id="rId11" imgW="228600" imgH="241200" progId="Equation.DSMT4">
                  <p:embed/>
                </p:oleObj>
              </mc:Choice>
              <mc:Fallback>
                <p:oleObj name="Equation" r:id="rId11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7821" y="2120924"/>
                        <a:ext cx="427037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234169"/>
              </p:ext>
            </p:extLst>
          </p:nvPr>
        </p:nvGraphicFramePr>
        <p:xfrm>
          <a:off x="4613344" y="2199355"/>
          <a:ext cx="5222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7" name="Equation" r:id="rId13" imgW="279360" imgH="164880" progId="Equation.DSMT4">
                  <p:embed/>
                </p:oleObj>
              </mc:Choice>
              <mc:Fallback>
                <p:oleObj name="Equation" r:id="rId13" imgW="2793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13344" y="2199355"/>
                        <a:ext cx="522287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/>
          <p:nvPr/>
        </p:nvCxnSpPr>
        <p:spPr>
          <a:xfrm flipV="1">
            <a:off x="5135631" y="2367340"/>
            <a:ext cx="8866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6197845" y="1881157"/>
            <a:ext cx="3367314" cy="477249"/>
            <a:chOff x="6022261" y="2289103"/>
            <a:chExt cx="3367314" cy="477249"/>
          </a:xfrm>
        </p:grpSpPr>
        <p:sp>
          <p:nvSpPr>
            <p:cNvPr id="25" name="圆角矩形 24"/>
            <p:cNvSpPr/>
            <p:nvPr/>
          </p:nvSpPr>
          <p:spPr>
            <a:xfrm>
              <a:off x="6022261" y="2289103"/>
              <a:ext cx="3210229" cy="47724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22261" y="2296894"/>
              <a:ext cx="3367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每一层保持对称与合同</a:t>
              </a:r>
            </a:p>
          </p:txBody>
        </p:sp>
      </p:grp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737724"/>
              </p:ext>
            </p:extLst>
          </p:nvPr>
        </p:nvGraphicFramePr>
        <p:xfrm>
          <a:off x="3279686" y="3093409"/>
          <a:ext cx="2841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8" name="Equation" r:id="rId15" imgW="152280" imgH="164880" progId="Equation.DSMT4">
                  <p:embed/>
                </p:oleObj>
              </mc:Choice>
              <mc:Fallback>
                <p:oleObj name="Equation" r:id="rId15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79686" y="3093409"/>
                        <a:ext cx="28416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215269"/>
              </p:ext>
            </p:extLst>
          </p:nvPr>
        </p:nvGraphicFramePr>
        <p:xfrm>
          <a:off x="3534259" y="3074353"/>
          <a:ext cx="9477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9" name="Equation" r:id="rId17" imgW="507960" imgH="228600" progId="Equation.DSMT4">
                  <p:embed/>
                </p:oleObj>
              </mc:Choice>
              <mc:Fallback>
                <p:oleObj name="Equation" r:id="rId17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34259" y="3074353"/>
                        <a:ext cx="947737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854693"/>
              </p:ext>
            </p:extLst>
          </p:nvPr>
        </p:nvGraphicFramePr>
        <p:xfrm>
          <a:off x="4604758" y="3133090"/>
          <a:ext cx="4984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0" name="Equation" r:id="rId19" imgW="266400" imgH="164880" progId="Equation.DSMT4">
                  <p:embed/>
                </p:oleObj>
              </mc:Choice>
              <mc:Fallback>
                <p:oleObj name="Equation" r:id="rId19" imgW="2664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04758" y="3133090"/>
                        <a:ext cx="498475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左大括号 23"/>
          <p:cNvSpPr/>
          <p:nvPr/>
        </p:nvSpPr>
        <p:spPr>
          <a:xfrm>
            <a:off x="800427" y="2255896"/>
            <a:ext cx="150005" cy="973435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197845" y="2494520"/>
            <a:ext cx="3635434" cy="489761"/>
            <a:chOff x="6022261" y="2276591"/>
            <a:chExt cx="3635434" cy="489761"/>
          </a:xfrm>
        </p:grpSpPr>
        <p:sp>
          <p:nvSpPr>
            <p:cNvPr id="28" name="圆角矩形 27"/>
            <p:cNvSpPr/>
            <p:nvPr/>
          </p:nvSpPr>
          <p:spPr>
            <a:xfrm>
              <a:off x="6022261" y="2289103"/>
              <a:ext cx="3210229" cy="47724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290381" y="2276591"/>
              <a:ext cx="3367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本质与配方法一致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826861" y="4407918"/>
            <a:ext cx="1028234" cy="651368"/>
            <a:chOff x="446399" y="2137359"/>
            <a:chExt cx="1037243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506043" y="2137359"/>
              <a:ext cx="977599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46399" y="2232210"/>
              <a:ext cx="10119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方 法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372777" y="4407918"/>
            <a:ext cx="1023993" cy="1668494"/>
            <a:chOff x="2067140" y="4036847"/>
            <a:chExt cx="1023993" cy="1668494"/>
          </a:xfrm>
        </p:grpSpPr>
        <p:sp>
          <p:nvSpPr>
            <p:cNvPr id="33" name="左中括号 32"/>
            <p:cNvSpPr/>
            <p:nvPr/>
          </p:nvSpPr>
          <p:spPr>
            <a:xfrm>
              <a:off x="2067140" y="4036847"/>
              <a:ext cx="222816" cy="1668494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右中括号 34"/>
            <p:cNvSpPr/>
            <p:nvPr/>
          </p:nvSpPr>
          <p:spPr>
            <a:xfrm>
              <a:off x="2807563" y="4036847"/>
              <a:ext cx="283570" cy="1668494"/>
            </a:xfrm>
            <a:prstGeom prst="righ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2122783" y="4871094"/>
              <a:ext cx="88220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6270604"/>
                </p:ext>
              </p:extLst>
            </p:nvPr>
          </p:nvGraphicFramePr>
          <p:xfrm>
            <a:off x="2323051" y="413169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1" name="Equation" r:id="rId21" imgW="152280" imgH="164880" progId="Equation.DSMT4">
                    <p:embed/>
                  </p:oleObj>
                </mc:Choice>
                <mc:Fallback>
                  <p:oleObj name="Equation" r:id="rId21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323051" y="413169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01919"/>
                </p:ext>
              </p:extLst>
            </p:nvPr>
          </p:nvGraphicFramePr>
          <p:xfrm>
            <a:off x="2282341" y="504950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2" name="Equation" r:id="rId23" imgW="152280" imgH="164880" progId="Equation.DSMT4">
                    <p:embed/>
                  </p:oleObj>
                </mc:Choice>
                <mc:Fallback>
                  <p:oleObj name="Equation" r:id="rId23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82341" y="504950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接箭头连接符 40"/>
          <p:cNvCxnSpPr/>
          <p:nvPr/>
        </p:nvCxnSpPr>
        <p:spPr>
          <a:xfrm>
            <a:off x="4504519" y="5242165"/>
            <a:ext cx="2177217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4725788" y="4595185"/>
            <a:ext cx="1528557" cy="491303"/>
            <a:chOff x="446399" y="2216183"/>
            <a:chExt cx="813404" cy="4913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/>
          </p:nvSpPr>
          <p:spPr>
            <a:xfrm>
              <a:off x="506044" y="2216183"/>
              <a:ext cx="753759" cy="491303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6399" y="2232210"/>
              <a:ext cx="8134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合同变换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156630" y="5411454"/>
            <a:ext cx="746702" cy="491303"/>
            <a:chOff x="506044" y="2216183"/>
            <a:chExt cx="397349" cy="4913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圆角矩形 45"/>
            <p:cNvSpPr/>
            <p:nvPr/>
          </p:nvSpPr>
          <p:spPr>
            <a:xfrm>
              <a:off x="506044" y="2216183"/>
              <a:ext cx="397349" cy="491303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17438" y="2231001"/>
              <a:ext cx="3514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列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900023" y="4407918"/>
            <a:ext cx="1023993" cy="1668494"/>
            <a:chOff x="5594386" y="4036847"/>
            <a:chExt cx="1023993" cy="1668494"/>
          </a:xfrm>
        </p:grpSpPr>
        <p:sp>
          <p:nvSpPr>
            <p:cNvPr id="48" name="左中括号 47"/>
            <p:cNvSpPr/>
            <p:nvPr/>
          </p:nvSpPr>
          <p:spPr>
            <a:xfrm>
              <a:off x="5594386" y="4036847"/>
              <a:ext cx="222816" cy="1668494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右中括号 48"/>
            <p:cNvSpPr/>
            <p:nvPr/>
          </p:nvSpPr>
          <p:spPr>
            <a:xfrm>
              <a:off x="6334809" y="4036847"/>
              <a:ext cx="283570" cy="1668494"/>
            </a:xfrm>
            <a:prstGeom prst="righ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>
              <a:off x="5650029" y="4871094"/>
              <a:ext cx="88220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908198"/>
                </p:ext>
              </p:extLst>
            </p:nvPr>
          </p:nvGraphicFramePr>
          <p:xfrm>
            <a:off x="5850297" y="413169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3" name="Equation" r:id="rId25" imgW="152280" imgH="164880" progId="Equation.DSMT4">
                    <p:embed/>
                  </p:oleObj>
                </mc:Choice>
                <mc:Fallback>
                  <p:oleObj name="Equation" r:id="rId25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850297" y="413169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297667"/>
                </p:ext>
              </p:extLst>
            </p:nvPr>
          </p:nvGraphicFramePr>
          <p:xfrm>
            <a:off x="5809587" y="504950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4" name="Equation" r:id="rId27" imgW="152280" imgH="164880" progId="Equation.DSMT4">
                    <p:embed/>
                  </p:oleObj>
                </mc:Choice>
                <mc:Fallback>
                  <p:oleObj name="Equation" r:id="rId27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809587" y="504950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/>
          <p:nvPr/>
        </p:nvGrpSpPr>
        <p:grpSpPr>
          <a:xfrm>
            <a:off x="547709" y="3643228"/>
            <a:ext cx="2847902" cy="468520"/>
            <a:chOff x="1910175" y="2222631"/>
            <a:chExt cx="2847902" cy="468520"/>
          </a:xfrm>
        </p:grpSpPr>
        <p:sp>
          <p:nvSpPr>
            <p:cNvPr id="56" name="文本框 55"/>
            <p:cNvSpPr txBox="1"/>
            <p:nvPr/>
          </p:nvSpPr>
          <p:spPr>
            <a:xfrm>
              <a:off x="1910175" y="2222631"/>
              <a:ext cx="2847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于是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，</a:t>
              </a:r>
            </a:p>
          </p:txBody>
        </p:sp>
        <p:graphicFrame>
          <p:nvGraphicFramePr>
            <p:cNvPr id="57" name="对象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5316189"/>
                </p:ext>
              </p:extLst>
            </p:nvPr>
          </p:nvGraphicFramePr>
          <p:xfrm>
            <a:off x="2649444" y="2222838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5" name="Equation" r:id="rId29" imgW="990360" imgH="253800" progId="Equation.DSMT4">
                    <p:embed/>
                  </p:oleObj>
                </mc:Choice>
                <mc:Fallback>
                  <p:oleObj name="Equation" r:id="rId29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649444" y="2222838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3372777" y="3642655"/>
            <a:ext cx="3312484" cy="507204"/>
            <a:chOff x="1910175" y="2222631"/>
            <a:chExt cx="3312484" cy="507204"/>
          </a:xfrm>
        </p:grpSpPr>
        <p:sp>
          <p:nvSpPr>
            <p:cNvPr id="59" name="文本框 58"/>
            <p:cNvSpPr txBox="1"/>
            <p:nvPr/>
          </p:nvSpPr>
          <p:spPr>
            <a:xfrm>
              <a:off x="1910175" y="2222631"/>
              <a:ext cx="2847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</a:t>
              </a:r>
            </a:p>
          </p:txBody>
        </p:sp>
        <p:graphicFrame>
          <p:nvGraphicFramePr>
            <p:cNvPr id="60" name="对象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9671191"/>
                </p:ext>
              </p:extLst>
            </p:nvPr>
          </p:nvGraphicFramePr>
          <p:xfrm>
            <a:off x="2388972" y="2261522"/>
            <a:ext cx="2833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6" name="Equation" r:id="rId31" imgW="1511280" imgH="253800" progId="Equation.DSMT4">
                    <p:embed/>
                  </p:oleObj>
                </mc:Choice>
                <mc:Fallback>
                  <p:oleObj name="Equation" r:id="rId31" imgW="1511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388972" y="2261522"/>
                          <a:ext cx="2833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876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2" grpId="0"/>
      <p:bldP spid="3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162597"/>
            <a:ext cx="4249802" cy="948182"/>
            <a:chOff x="745588" y="1310185"/>
            <a:chExt cx="865977" cy="948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86597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8578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合同变换化二次型为标准形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197581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771980"/>
              </p:ext>
            </p:extLst>
          </p:nvPr>
        </p:nvGraphicFramePr>
        <p:xfrm>
          <a:off x="1978284" y="2066552"/>
          <a:ext cx="54086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7" name="Equation" r:id="rId3" imgW="2895480" imgH="253800" progId="Equation.DSMT4">
                  <p:embed/>
                </p:oleObj>
              </mc:Choice>
              <mc:Fallback>
                <p:oleObj name="Equation" r:id="rId3" imgW="289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8284" y="2066552"/>
                        <a:ext cx="54086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449633"/>
              </p:ext>
            </p:extLst>
          </p:nvPr>
        </p:nvGraphicFramePr>
        <p:xfrm>
          <a:off x="1269312" y="5412780"/>
          <a:ext cx="308133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8" name="Equation" r:id="rId5" imgW="1650960" imgH="711000" progId="Equation.DSMT4">
                  <p:embed/>
                </p:oleObj>
              </mc:Choice>
              <mc:Fallback>
                <p:oleObj name="Equation" r:id="rId5" imgW="1650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9312" y="5412780"/>
                        <a:ext cx="3081338" cy="131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186667" y="5759591"/>
            <a:ext cx="2283277" cy="693622"/>
            <a:chOff x="9446160" y="4955800"/>
            <a:chExt cx="2283277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2854971"/>
                </p:ext>
              </p:extLst>
            </p:nvPr>
          </p:nvGraphicFramePr>
          <p:xfrm>
            <a:off x="9551956" y="5068455"/>
            <a:ext cx="2071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59" name="Equation" r:id="rId7" imgW="1104840" imgH="253800" progId="Equation.DSMT4">
                    <p:embed/>
                  </p:oleObj>
                </mc:Choice>
                <mc:Fallback>
                  <p:oleObj name="Equation" r:id="rId7" imgW="11048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551956" y="5068455"/>
                          <a:ext cx="2071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9446160" y="4955800"/>
              <a:ext cx="2283277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783244"/>
              </p:ext>
            </p:extLst>
          </p:nvPr>
        </p:nvGraphicFramePr>
        <p:xfrm>
          <a:off x="969485" y="2631249"/>
          <a:ext cx="3481330" cy="245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0" name="Equation" r:id="rId9" imgW="1168200" imgH="1346040" progId="Equation.DSMT4">
                  <p:embed/>
                </p:oleObj>
              </mc:Choice>
              <mc:Fallback>
                <p:oleObj name="Equation" r:id="rId9" imgW="116820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9485" y="2631249"/>
                        <a:ext cx="3481330" cy="2458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50988"/>
              </p:ext>
            </p:extLst>
          </p:nvPr>
        </p:nvGraphicFramePr>
        <p:xfrm>
          <a:off x="4439085" y="2627186"/>
          <a:ext cx="1917647" cy="244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1" name="Equation" r:id="rId11" imgW="1054080" imgH="1346040" progId="Equation.DSMT4">
                  <p:embed/>
                </p:oleObj>
              </mc:Choice>
              <mc:Fallback>
                <p:oleObj name="Equation" r:id="rId11" imgW="10540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9085" y="2627186"/>
                        <a:ext cx="1917647" cy="2440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856036"/>
              </p:ext>
            </p:extLst>
          </p:nvPr>
        </p:nvGraphicFramePr>
        <p:xfrm>
          <a:off x="6422069" y="2627186"/>
          <a:ext cx="1941513" cy="244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2" name="Equation" r:id="rId13" imgW="1066680" imgH="1346040" progId="Equation.DSMT4">
                  <p:embed/>
                </p:oleObj>
              </mc:Choice>
              <mc:Fallback>
                <p:oleObj name="Equation" r:id="rId13" imgW="1066680" imgH="134604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2069" y="2627186"/>
                        <a:ext cx="1941513" cy="2440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334115"/>
              </p:ext>
            </p:extLst>
          </p:nvPr>
        </p:nvGraphicFramePr>
        <p:xfrm>
          <a:off x="8464550" y="2627313"/>
          <a:ext cx="1963738" cy="2473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3" name="Equation" r:id="rId15" imgW="1079280" imgH="1346040" progId="Equation.DSMT4">
                  <p:embed/>
                </p:oleObj>
              </mc:Choice>
              <mc:Fallback>
                <p:oleObj name="Equation" r:id="rId15" imgW="1079280" imgH="134604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550" y="2627313"/>
                        <a:ext cx="1963738" cy="2473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199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37567" y="110843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80967"/>
              </p:ext>
            </p:extLst>
          </p:nvPr>
        </p:nvGraphicFramePr>
        <p:xfrm>
          <a:off x="2027004" y="1108431"/>
          <a:ext cx="3343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6" name="Equation" r:id="rId3" imgW="1790640" imgH="253800" progId="Equation.DSMT4">
                  <p:embed/>
                </p:oleObj>
              </mc:Choice>
              <mc:Fallback>
                <p:oleObj name="Equation" r:id="rId3" imgW="1790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7004" y="1108431"/>
                        <a:ext cx="334327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106756" y="5965294"/>
            <a:ext cx="3217844" cy="693622"/>
            <a:chOff x="3400480" y="4955800"/>
            <a:chExt cx="3217844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3701435"/>
                </p:ext>
              </p:extLst>
            </p:nvPr>
          </p:nvGraphicFramePr>
          <p:xfrm>
            <a:off x="3498887" y="5069044"/>
            <a:ext cx="3119437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57" name="Equation" r:id="rId5" imgW="1663560" imgH="253800" progId="Equation.DSMT4">
                    <p:embed/>
                  </p:oleObj>
                </mc:Choice>
                <mc:Fallback>
                  <p:oleObj name="Equation" r:id="rId5" imgW="1663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98887" y="5069044"/>
                          <a:ext cx="3119437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3400480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060026"/>
              </p:ext>
            </p:extLst>
          </p:nvPr>
        </p:nvGraphicFramePr>
        <p:xfrm>
          <a:off x="3483358" y="4623965"/>
          <a:ext cx="1969992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8" name="Equation" r:id="rId7" imgW="1473120" imgH="711000" progId="Equation.DSMT4">
                  <p:embed/>
                </p:oleObj>
              </mc:Choice>
              <mc:Fallback>
                <p:oleObj name="Equation" r:id="rId7" imgW="14731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358" y="4623965"/>
                        <a:ext cx="1969992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27510"/>
              </p:ext>
            </p:extLst>
          </p:nvPr>
        </p:nvGraphicFramePr>
        <p:xfrm>
          <a:off x="637568" y="1591627"/>
          <a:ext cx="2502240" cy="2528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9" name="Equation" r:id="rId9" imgW="1307880" imgH="1346040" progId="Equation.DSMT4">
                  <p:embed/>
                </p:oleObj>
              </mc:Choice>
              <mc:Fallback>
                <p:oleObj name="Equation" r:id="rId9" imgW="1307880" imgH="134604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68" y="1591627"/>
                        <a:ext cx="2502240" cy="2528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768311"/>
              </p:ext>
            </p:extLst>
          </p:nvPr>
        </p:nvGraphicFramePr>
        <p:xfrm>
          <a:off x="3182527" y="1679761"/>
          <a:ext cx="1918283" cy="2429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0" name="Equation" r:id="rId11" imgW="1054080" imgH="1346040" progId="Equation.DSMT4">
                  <p:embed/>
                </p:oleObj>
              </mc:Choice>
              <mc:Fallback>
                <p:oleObj name="Equation" r:id="rId11" imgW="1054080" imgH="1346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527" y="1679761"/>
                        <a:ext cx="1918283" cy="2429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450801"/>
              </p:ext>
            </p:extLst>
          </p:nvPr>
        </p:nvGraphicFramePr>
        <p:xfrm>
          <a:off x="5093457" y="1564394"/>
          <a:ext cx="2376487" cy="282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1" name="Equation" r:id="rId13" imgW="1130040" imgH="2031840" progId="Equation.DSMT4">
                  <p:embed/>
                </p:oleObj>
              </mc:Choice>
              <mc:Fallback>
                <p:oleObj name="Equation" r:id="rId13" imgW="1130040" imgH="20318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457" y="1564394"/>
                        <a:ext cx="2376487" cy="2820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85036"/>
              </p:ext>
            </p:extLst>
          </p:nvPr>
        </p:nvGraphicFramePr>
        <p:xfrm>
          <a:off x="7469944" y="1448928"/>
          <a:ext cx="2376487" cy="28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2" name="Equation" r:id="rId15" imgW="1130040" imgH="2031840" progId="Equation.DSMT4">
                  <p:embed/>
                </p:oleObj>
              </mc:Choice>
              <mc:Fallback>
                <p:oleObj name="Equation" r:id="rId15" imgW="1130040" imgH="20318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944" y="1448928"/>
                        <a:ext cx="2376487" cy="282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7109"/>
              </p:ext>
            </p:extLst>
          </p:nvPr>
        </p:nvGraphicFramePr>
        <p:xfrm>
          <a:off x="9732331" y="1448928"/>
          <a:ext cx="2349500" cy="28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3" name="Equation" r:id="rId17" imgW="1117440" imgH="2031840" progId="Equation.DSMT4">
                  <p:embed/>
                </p:oleObj>
              </mc:Choice>
              <mc:Fallback>
                <p:oleObj name="Equation" r:id="rId17" imgW="1117440" imgH="203184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2331" y="1448928"/>
                        <a:ext cx="2349500" cy="282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204796"/>
              </p:ext>
            </p:extLst>
          </p:nvPr>
        </p:nvGraphicFramePr>
        <p:xfrm>
          <a:off x="946150" y="4153359"/>
          <a:ext cx="1962303" cy="2390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4" name="Equation" r:id="rId19" imgW="1066680" imgH="1346040" progId="Equation.DSMT4">
                  <p:embed/>
                </p:oleObj>
              </mc:Choice>
              <mc:Fallback>
                <p:oleObj name="Equation" r:id="rId19" imgW="1066680" imgH="134604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4153359"/>
                        <a:ext cx="1962303" cy="2390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927196"/>
              </p:ext>
            </p:extLst>
          </p:nvPr>
        </p:nvGraphicFramePr>
        <p:xfrm>
          <a:off x="6443358" y="3732064"/>
          <a:ext cx="2072682" cy="301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5" name="Equation" r:id="rId21" imgW="1536480" imgH="2539800" progId="Equation.DSMT4">
                  <p:embed/>
                </p:oleObj>
              </mc:Choice>
              <mc:Fallback>
                <p:oleObj name="Equation" r:id="rId21" imgW="1536480" imgH="2539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358" y="3732064"/>
                        <a:ext cx="2072682" cy="301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006289"/>
              </p:ext>
            </p:extLst>
          </p:nvPr>
        </p:nvGraphicFramePr>
        <p:xfrm>
          <a:off x="9231313" y="4155926"/>
          <a:ext cx="2388601" cy="1897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6" name="Equation" r:id="rId23" imgW="1942920" imgH="1320480" progId="Equation.DSMT4">
                  <p:embed/>
                </p:oleObj>
              </mc:Choice>
              <mc:Fallback>
                <p:oleObj name="Equation" r:id="rId23" imgW="1942920" imgH="132048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1313" y="4155926"/>
                        <a:ext cx="2388601" cy="1897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8735696" y="6092429"/>
            <a:ext cx="3095740" cy="693622"/>
            <a:chOff x="3400480" y="4955800"/>
            <a:chExt cx="3095740" cy="693622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802473"/>
                </p:ext>
              </p:extLst>
            </p:nvPr>
          </p:nvGraphicFramePr>
          <p:xfrm>
            <a:off x="3724647" y="5069044"/>
            <a:ext cx="2667000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7" name="Equation" r:id="rId25" imgW="1422360" imgH="253800" progId="Equation.DSMT4">
                    <p:embed/>
                  </p:oleObj>
                </mc:Choice>
                <mc:Fallback>
                  <p:oleObj name="Equation" r:id="rId25" imgW="1422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724647" y="5069044"/>
                          <a:ext cx="2667000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圆角矩形 29"/>
            <p:cNvSpPr/>
            <p:nvPr/>
          </p:nvSpPr>
          <p:spPr>
            <a:xfrm>
              <a:off x="3400480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408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6"/>
          <p:cNvSpPr txBox="1">
            <a:spLocks noChangeArrowheads="1"/>
          </p:cNvSpPr>
          <p:nvPr/>
        </p:nvSpPr>
        <p:spPr bwMode="auto">
          <a:xfrm>
            <a:off x="814917" y="914401"/>
            <a:ext cx="8703733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p"/>
            </a:pPr>
            <a:r>
              <a:rPr lang="zh-CN" altLang="en-US" sz="3200"/>
              <a:t>  化二次型为标准型</a:t>
            </a:r>
          </a:p>
        </p:txBody>
      </p:sp>
      <p:sp>
        <p:nvSpPr>
          <p:cNvPr id="16387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1367367" y="2205038"/>
            <a:ext cx="406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/>
              <a:t>  </a:t>
            </a:r>
            <a:r>
              <a:rPr lang="zh-CN" altLang="en-US">
                <a:solidFill>
                  <a:srgbClr val="FF0000"/>
                </a:solidFill>
              </a:rPr>
              <a:t>正交替换法</a:t>
            </a:r>
          </a:p>
        </p:txBody>
      </p:sp>
      <p:sp>
        <p:nvSpPr>
          <p:cNvPr id="16389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350433" y="3317876"/>
            <a:ext cx="4064000" cy="82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dirty="0"/>
              <a:t>  配方法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350433" y="4365625"/>
            <a:ext cx="841586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/>
              <a:t>  合同变换法（初等变换法）</a:t>
            </a:r>
          </a:p>
        </p:txBody>
      </p:sp>
      <p:sp>
        <p:nvSpPr>
          <p:cNvPr id="5" name="棱台 4"/>
          <p:cNvSpPr/>
          <p:nvPr/>
        </p:nvSpPr>
        <p:spPr>
          <a:xfrm>
            <a:off x="5611285" y="2344739"/>
            <a:ext cx="1348316" cy="644525"/>
          </a:xfrm>
          <a:prstGeom prst="bevel">
            <a:avLst>
              <a:gd name="adj" fmla="val 218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保形</a:t>
            </a:r>
          </a:p>
        </p:txBody>
      </p:sp>
      <p:sp>
        <p:nvSpPr>
          <p:cNvPr id="20" name="棱台 19"/>
          <p:cNvSpPr/>
          <p:nvPr/>
        </p:nvSpPr>
        <p:spPr>
          <a:xfrm>
            <a:off x="7609418" y="2347914"/>
            <a:ext cx="1348316" cy="644525"/>
          </a:xfrm>
          <a:prstGeom prst="bevel">
            <a:avLst>
              <a:gd name="adj" fmla="val 21807"/>
            </a:avLst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复杂</a:t>
            </a:r>
          </a:p>
        </p:txBody>
      </p:sp>
      <p:sp>
        <p:nvSpPr>
          <p:cNvPr id="21" name="棱台 20"/>
          <p:cNvSpPr/>
          <p:nvPr/>
        </p:nvSpPr>
        <p:spPr>
          <a:xfrm>
            <a:off x="9156701" y="3492501"/>
            <a:ext cx="1350433" cy="646113"/>
          </a:xfrm>
          <a:prstGeom prst="bevel">
            <a:avLst>
              <a:gd name="adj" fmla="val 218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易算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916333" y="3549650"/>
          <a:ext cx="7874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Equation" r:id="rId3" imgW="177480" imgH="253800" progId="Equation.DSMT4">
                  <p:embed/>
                </p:oleObj>
              </mc:Choice>
              <mc:Fallback>
                <p:oleObj name="Equation" r:id="rId3" imgW="1774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333" y="3549650"/>
                        <a:ext cx="7874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棱台 22"/>
          <p:cNvSpPr/>
          <p:nvPr/>
        </p:nvSpPr>
        <p:spPr>
          <a:xfrm>
            <a:off x="9163052" y="4295776"/>
            <a:ext cx="1350433" cy="646113"/>
          </a:xfrm>
          <a:prstGeom prst="bevel">
            <a:avLst>
              <a:gd name="adj" fmla="val 21807"/>
            </a:avLst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变形</a:t>
            </a:r>
          </a:p>
        </p:txBody>
      </p:sp>
      <p:sp>
        <p:nvSpPr>
          <p:cNvPr id="13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3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5" grpId="0"/>
      <p:bldP spid="16" grpId="0"/>
      <p:bldP spid="5" grpId="0" animBg="1"/>
      <p:bldP spid="20" grpId="0" animBg="1"/>
      <p:bldP spid="21" grpId="0" animBg="1"/>
      <p:bldP spid="23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4735" y="1158691"/>
            <a:ext cx="1199113" cy="696036"/>
            <a:chOff x="745588" y="1310185"/>
            <a:chExt cx="28431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284319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71331" y="1427370"/>
              <a:ext cx="240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  结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5737" y="2060403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531853" y="2181605"/>
            <a:ext cx="5074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标准形与变换密切相关（不唯一），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63193" y="2181605"/>
            <a:ext cx="436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可化为系数为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的规范形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15737" y="2944562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09442" y="3054227"/>
            <a:ext cx="611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秩唯一，平方项的非零项个数唯一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6718" y="4366721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531853" y="4527934"/>
            <a:ext cx="161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实二次型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2984474" y="4066269"/>
            <a:ext cx="203200" cy="1335314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87674" y="3880932"/>
            <a:ext cx="190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正项个数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87674" y="4556424"/>
            <a:ext cx="190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项个数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87673" y="5210235"/>
            <a:ext cx="177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符号差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874434" y="3967223"/>
            <a:ext cx="693583" cy="27632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4883505" y="4713271"/>
            <a:ext cx="693583" cy="27632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5660790" y="3771977"/>
            <a:ext cx="2138525" cy="651368"/>
            <a:chOff x="501174" y="2137359"/>
            <a:chExt cx="88511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圆角矩形 39"/>
            <p:cNvSpPr/>
            <p:nvPr/>
          </p:nvSpPr>
          <p:spPr>
            <a:xfrm>
              <a:off x="506043" y="2137359"/>
              <a:ext cx="88024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01174" y="2232210"/>
              <a:ext cx="885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正惯性指标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660789" y="4539184"/>
            <a:ext cx="2138525" cy="651368"/>
            <a:chOff x="501174" y="2137359"/>
            <a:chExt cx="88511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/>
          </p:nvSpPr>
          <p:spPr>
            <a:xfrm>
              <a:off x="506043" y="2137359"/>
              <a:ext cx="88024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1174" y="2232210"/>
              <a:ext cx="885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惯性指标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右大括号 11"/>
          <p:cNvSpPr/>
          <p:nvPr/>
        </p:nvSpPr>
        <p:spPr>
          <a:xfrm>
            <a:off x="7926161" y="4032527"/>
            <a:ext cx="271611" cy="1349381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643342" y="5306390"/>
            <a:ext cx="2167736" cy="651368"/>
            <a:chOff x="5753514" y="5660368"/>
            <a:chExt cx="2167736" cy="651368"/>
          </a:xfrm>
        </p:grpSpPr>
        <p:grpSp>
          <p:nvGrpSpPr>
            <p:cNvPr id="45" name="组合 44"/>
            <p:cNvGrpSpPr/>
            <p:nvPr/>
          </p:nvGrpSpPr>
          <p:grpSpPr>
            <a:xfrm>
              <a:off x="5782725" y="5660368"/>
              <a:ext cx="2138525" cy="651368"/>
              <a:chOff x="501174" y="2137359"/>
              <a:chExt cx="885110" cy="65136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圆角矩形 45"/>
              <p:cNvSpPr/>
              <p:nvPr/>
            </p:nvSpPr>
            <p:spPr>
              <a:xfrm>
                <a:off x="506043" y="2137359"/>
                <a:ext cx="880241" cy="651368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01174" y="2232210"/>
                <a:ext cx="8851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sz="2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47"/>
            <p:cNvSpPr txBox="1"/>
            <p:nvPr/>
          </p:nvSpPr>
          <p:spPr>
            <a:xfrm>
              <a:off x="5753514" y="5693664"/>
              <a:ext cx="21385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8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  -  q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8371057" y="4476386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唯一性</a:t>
            </a:r>
          </a:p>
        </p:txBody>
      </p:sp>
    </p:spTree>
    <p:extLst>
      <p:ext uri="{BB962C8B-B14F-4D97-AF65-F5344CB8AC3E}">
        <p14:creationId xmlns:p14="http://schemas.microsoft.com/office/powerpoint/2010/main" val="40244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3" grpId="0"/>
      <p:bldP spid="25" grpId="0"/>
      <p:bldP spid="9" grpId="0" animBg="1"/>
      <p:bldP spid="10" grpId="0"/>
      <p:bldP spid="32" grpId="0"/>
      <p:bldP spid="33" grpId="0"/>
      <p:bldP spid="11" grpId="0" animBg="1"/>
      <p:bldP spid="38" grpId="0" animBg="1"/>
      <p:bldP spid="12" grpId="0" animBg="1"/>
      <p:bldP spid="15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306</Words>
  <Application>Microsoft Office PowerPoint</Application>
  <PresentationFormat>自定义</PresentationFormat>
  <Paragraphs>90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286</cp:revision>
  <dcterms:created xsi:type="dcterms:W3CDTF">2016-07-04T12:59:51Z</dcterms:created>
  <dcterms:modified xsi:type="dcterms:W3CDTF">2018-05-09T09:46:46Z</dcterms:modified>
</cp:coreProperties>
</file>
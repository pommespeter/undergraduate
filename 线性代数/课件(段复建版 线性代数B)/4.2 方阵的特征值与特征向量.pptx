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284" r:id="rId3"/>
    <p:sldId id="271" r:id="rId4"/>
    <p:sldId id="281" r:id="rId5"/>
    <p:sldId id="286" r:id="rId6"/>
    <p:sldId id="287" r:id="rId7"/>
    <p:sldId id="285" r:id="rId8"/>
    <p:sldId id="288" r:id="rId9"/>
    <p:sldId id="289" r:id="rId10"/>
    <p:sldId id="290" r:id="rId11"/>
    <p:sldId id="291" r:id="rId12"/>
    <p:sldId id="272" r:id="rId13"/>
    <p:sldId id="282" r:id="rId14"/>
    <p:sldId id="292" r:id="rId1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华文行楷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华文行楷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华文行楷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华文行楷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华文行楷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华文行楷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华文行楷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华文行楷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华文行楷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8C"/>
    <a:srgbClr val="C48170"/>
    <a:srgbClr val="0070C0"/>
    <a:srgbClr val="9DC3E6"/>
    <a:srgbClr val="2E75B6"/>
    <a:srgbClr val="1F4E79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-114" y="-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20.wmf"/><Relationship Id="rId7" Type="http://schemas.openxmlformats.org/officeDocument/2006/relationships/image" Target="../media/image35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0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5" Type="http://schemas.openxmlformats.org/officeDocument/2006/relationships/image" Target="../media/image57.wmf"/><Relationship Id="rId4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60.wmf"/><Relationship Id="rId7" Type="http://schemas.openxmlformats.org/officeDocument/2006/relationships/image" Target="../media/image5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10" Type="http://schemas.openxmlformats.org/officeDocument/2006/relationships/image" Target="../media/image63.wmf"/><Relationship Id="rId4" Type="http://schemas.openxmlformats.org/officeDocument/2006/relationships/image" Target="../media/image61.wmf"/><Relationship Id="rId9" Type="http://schemas.openxmlformats.org/officeDocument/2006/relationships/image" Target="../media/image6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5" Type="http://schemas.openxmlformats.org/officeDocument/2006/relationships/image" Target="../media/image67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0.wmf"/><Relationship Id="rId7" Type="http://schemas.openxmlformats.org/officeDocument/2006/relationships/image" Target="../media/image5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49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43.wmf"/><Relationship Id="rId7" Type="http://schemas.openxmlformats.org/officeDocument/2006/relationships/image" Target="../media/image78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3.wmf"/><Relationship Id="rId18" Type="http://schemas.openxmlformats.org/officeDocument/2006/relationships/image" Target="../media/image98.wmf"/><Relationship Id="rId3" Type="http://schemas.openxmlformats.org/officeDocument/2006/relationships/image" Target="../media/image85.wmf"/><Relationship Id="rId21" Type="http://schemas.openxmlformats.org/officeDocument/2006/relationships/image" Target="../media/image101.wmf"/><Relationship Id="rId7" Type="http://schemas.openxmlformats.org/officeDocument/2006/relationships/image" Target="../media/image21.wmf"/><Relationship Id="rId12" Type="http://schemas.openxmlformats.org/officeDocument/2006/relationships/image" Target="../media/image92.wmf"/><Relationship Id="rId17" Type="http://schemas.openxmlformats.org/officeDocument/2006/relationships/image" Target="../media/image97.wmf"/><Relationship Id="rId2" Type="http://schemas.openxmlformats.org/officeDocument/2006/relationships/image" Target="../media/image84.wmf"/><Relationship Id="rId16" Type="http://schemas.openxmlformats.org/officeDocument/2006/relationships/image" Target="../media/image96.wmf"/><Relationship Id="rId20" Type="http://schemas.openxmlformats.org/officeDocument/2006/relationships/image" Target="../media/image100.wmf"/><Relationship Id="rId1" Type="http://schemas.openxmlformats.org/officeDocument/2006/relationships/image" Target="../media/image83.wmf"/><Relationship Id="rId6" Type="http://schemas.openxmlformats.org/officeDocument/2006/relationships/image" Target="../media/image20.wmf"/><Relationship Id="rId11" Type="http://schemas.openxmlformats.org/officeDocument/2006/relationships/image" Target="../media/image91.wmf"/><Relationship Id="rId5" Type="http://schemas.openxmlformats.org/officeDocument/2006/relationships/image" Target="../media/image87.wmf"/><Relationship Id="rId15" Type="http://schemas.openxmlformats.org/officeDocument/2006/relationships/image" Target="../media/image95.wmf"/><Relationship Id="rId10" Type="http://schemas.openxmlformats.org/officeDocument/2006/relationships/image" Target="../media/image90.wmf"/><Relationship Id="rId19" Type="http://schemas.openxmlformats.org/officeDocument/2006/relationships/image" Target="../media/image99.wmf"/><Relationship Id="rId4" Type="http://schemas.openxmlformats.org/officeDocument/2006/relationships/image" Target="../media/image86.wmf"/><Relationship Id="rId9" Type="http://schemas.openxmlformats.org/officeDocument/2006/relationships/image" Target="../media/image89.wmf"/><Relationship Id="rId14" Type="http://schemas.openxmlformats.org/officeDocument/2006/relationships/image" Target="../media/image94.wmf"/><Relationship Id="rId22" Type="http://schemas.openxmlformats.org/officeDocument/2006/relationships/image" Target="../media/image10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14330FDB-587D-48B0-BD40-9869ABBE0530}" type="datetimeFigureOut">
              <a:rPr lang="zh-CN" altLang="en-US"/>
              <a:pPr/>
              <a:t>2018/4/12</a:t>
            </a:fld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7BE49E9A-FFC7-4846-B90A-F3EFB00CC54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85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1988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 eaLnBrk="0" hangingPunct="0"/>
            <a:fld id="{2ACAD961-A61D-4F1B-9577-F71068B5EC4B}" type="slidenum">
              <a:rPr lang="zh-CN" altLang="en-US" sz="1200" b="1">
                <a:latin typeface="Verdana" pitchFamily="34" charset="0"/>
              </a:rPr>
              <a:pPr algn="r" eaLnBrk="0" hangingPunct="0"/>
              <a:t>2</a:t>
            </a:fld>
            <a:endParaRPr lang="en-US" altLang="zh-CN" sz="1200" b="1">
              <a:latin typeface="Verdana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E49E9A-FFC7-4846-B90A-F3EFB00CC545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92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5621F-00DA-487F-B9C6-D4AEF0EA60F4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28565-5C0D-48D5-AE52-2602CF05B18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3"/>
          <p:cNvGrpSpPr>
            <a:grpSpLocks/>
          </p:cNvGrpSpPr>
          <p:nvPr userDrawn="1"/>
        </p:nvGrpSpPr>
        <p:grpSpPr bwMode="auto">
          <a:xfrm>
            <a:off x="525463" y="915988"/>
            <a:ext cx="11133137" cy="139700"/>
            <a:chOff x="478302" y="1098594"/>
            <a:chExt cx="11133406" cy="140677"/>
          </a:xfrm>
        </p:grpSpPr>
        <p:cxnSp>
          <p:nvCxnSpPr>
            <p:cNvPr id="5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12"/>
            <p:cNvSpPr/>
            <p:nvPr userDrawn="1"/>
          </p:nvSpPr>
          <p:spPr>
            <a:xfrm>
              <a:off x="478302" y="1098594"/>
              <a:ext cx="6386666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7" name="Picture 2" descr="top_img[1]"/>
          <p:cNvPicPr>
            <a:picLocks noChangeAspect="1" noChangeArrowheads="1"/>
          </p:cNvPicPr>
          <p:nvPr userDrawn="1"/>
        </p:nvPicPr>
        <p:blipFill>
          <a:blip r:embed="rId2"/>
          <a:srcRect r="24306"/>
          <a:stretch>
            <a:fillRect/>
          </a:stretch>
        </p:blipFill>
        <p:spPr bwMode="auto">
          <a:xfrm>
            <a:off x="525463" y="0"/>
            <a:ext cx="3649662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49412D-8FF0-4424-8DD1-60047ABE1D3F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63CE8-1162-44CC-9694-C620F6E59C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A8756-8780-41F8-A78F-FF97B8BBBF73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C4F96-764F-4BD2-A4D6-FA2FB50AD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FB2E8-04C8-44E6-B01C-B13710481C89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23E65-430B-448D-B5CE-8972CC0894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72917-0BFF-4B01-AAFB-CEAAC7A75F8D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C817E-D6D5-4287-A968-49AF62514C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74370-3FD7-4A1B-8FC7-B1F11F66840C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348F8-7745-47A3-91E3-BBCFB0F55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316C5-B7B8-4DC2-B8EE-31EDD2CF5C00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25DA0-BA77-4DDE-979A-1D2CC97DCE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0E0E0-0CC7-496C-984E-35A93A1BBB24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55D2E-9E0A-4C46-87E7-6D238082A2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54CFE-5D0C-46DB-A452-65A68B0E59EC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A5C217-B79C-4EB3-BD65-2AA61471F30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D3559-8A40-4314-8AC5-73112EE30DE0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7E7FC-5003-47C2-86DA-65D672B04D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A1DD6-2828-4DF4-8DA3-4A9C11E46720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4AF82-92A2-493E-BC0F-CEB35CA075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/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/>
        </p:spPr>
      </p:pic>
      <p:grpSp>
        <p:nvGrpSpPr>
          <p:cNvPr id="3" name="组合 6"/>
          <p:cNvGrpSpPr>
            <a:grpSpLocks/>
          </p:cNvGrpSpPr>
          <p:nvPr userDrawn="1"/>
        </p:nvGrpSpPr>
        <p:grpSpPr bwMode="auto">
          <a:xfrm>
            <a:off x="11113" y="2181225"/>
            <a:ext cx="12192000" cy="2690813"/>
            <a:chOff x="0" y="1966958"/>
            <a:chExt cx="12192000" cy="2690766"/>
          </a:xfrm>
        </p:grpSpPr>
        <p:sp>
          <p:nvSpPr>
            <p:cNvPr id="4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5" name="图片 17" descr="4校标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直接连接符 9"/>
            <p:cNvCxnSpPr/>
            <p:nvPr userDrawn="1"/>
          </p:nvCxnSpPr>
          <p:spPr>
            <a:xfrm>
              <a:off x="3016250" y="3182962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779713" y="2547938"/>
            <a:ext cx="9652000" cy="7207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第四章 矩阵的相似对角化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8" name="文本框 32"/>
          <p:cNvSpPr txBox="1">
            <a:spLocks noChangeArrowheads="1"/>
          </p:cNvSpPr>
          <p:nvPr userDrawn="1"/>
        </p:nvSpPr>
        <p:spPr bwMode="auto">
          <a:xfrm>
            <a:off x="2333625" y="3527425"/>
            <a:ext cx="9652000" cy="60166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4.2 </a:t>
            </a:r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方阵的特征值与特征向量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A188E-4143-4B5D-AE1C-4C66885F891D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C052A-0822-4009-B144-AC2817E2B8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3DAFEF-C1F2-48B5-AD7F-DD7BE4A5BA67}" type="datetimeFigureOut">
              <a:rPr lang="zh-CN" altLang="en-US"/>
              <a:pPr>
                <a:defRPr/>
              </a:pPr>
              <a:t>2018/4/12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F7DC7E7-3F7D-464C-A6A1-99CAF6B3F8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62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3.emf"/><Relationship Id="rId18" Type="http://schemas.openxmlformats.org/officeDocument/2006/relationships/image" Target="../media/image16.e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7.emf"/><Relationship Id="rId7" Type="http://schemas.openxmlformats.org/officeDocument/2006/relationships/image" Target="../media/image5.wmf"/><Relationship Id="rId12" Type="http://schemas.openxmlformats.org/officeDocument/2006/relationships/image" Target="../media/image12.emf"/><Relationship Id="rId17" Type="http://schemas.openxmlformats.org/officeDocument/2006/relationships/image" Target="../media/image8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.bin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8.bin"/><Relationship Id="rId5" Type="http://schemas.openxmlformats.org/officeDocument/2006/relationships/image" Target="../media/image4.wmf"/><Relationship Id="rId15" Type="http://schemas.openxmlformats.org/officeDocument/2006/relationships/image" Target="../media/image15.e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image" Target="../media/image14.emf"/><Relationship Id="rId22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6.bin"/><Relationship Id="rId18" Type="http://schemas.openxmlformats.org/officeDocument/2006/relationships/oleObject" Target="../embeddings/oleObject29.bin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37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28.bin"/><Relationship Id="rId25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wmf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5.bin"/><Relationship Id="rId24" Type="http://schemas.openxmlformats.org/officeDocument/2006/relationships/oleObject" Target="../embeddings/oleObject32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image" Target="../media/image38.wmf"/><Relationship Id="rId10" Type="http://schemas.openxmlformats.org/officeDocument/2006/relationships/image" Target="../media/image32.wmf"/><Relationship Id="rId19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4.wmf"/><Relationship Id="rId22" Type="http://schemas.openxmlformats.org/officeDocument/2006/relationships/oleObject" Target="../embeddings/oleObject3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9.wmf"/><Relationship Id="rId22" Type="http://schemas.openxmlformats.org/officeDocument/2006/relationships/image" Target="../media/image5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43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20" Type="http://schemas.openxmlformats.org/officeDocument/2006/relationships/image" Target="../media/image62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49.wmf"/><Relationship Id="rId22" Type="http://schemas.openxmlformats.org/officeDocument/2006/relationships/image" Target="../media/image6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43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7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3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0.wmf"/><Relationship Id="rId5" Type="http://schemas.openxmlformats.org/officeDocument/2006/relationships/image" Target="../media/image68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2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7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80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75.bin"/><Relationship Id="rId21" Type="http://schemas.openxmlformats.org/officeDocument/2006/relationships/oleObject" Target="../embeddings/oleObject84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9.bin"/><Relationship Id="rId24" Type="http://schemas.openxmlformats.org/officeDocument/2006/relationships/image" Target="../media/image82.wmf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23" Type="http://schemas.openxmlformats.org/officeDocument/2006/relationships/oleObject" Target="../embeddings/oleObject85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3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88.wmf"/><Relationship Id="rId26" Type="http://schemas.openxmlformats.org/officeDocument/2006/relationships/image" Target="../media/image92.wmf"/><Relationship Id="rId39" Type="http://schemas.openxmlformats.org/officeDocument/2006/relationships/oleObject" Target="../embeddings/oleObject104.bin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34" Type="http://schemas.openxmlformats.org/officeDocument/2006/relationships/image" Target="../media/image96.wmf"/><Relationship Id="rId42" Type="http://schemas.openxmlformats.org/officeDocument/2006/relationships/image" Target="../media/image100.wmf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3.bin"/><Relationship Id="rId25" Type="http://schemas.openxmlformats.org/officeDocument/2006/relationships/oleObject" Target="../embeddings/oleObject97.bin"/><Relationship Id="rId33" Type="http://schemas.openxmlformats.org/officeDocument/2006/relationships/oleObject" Target="../embeddings/oleObject101.bin"/><Relationship Id="rId38" Type="http://schemas.openxmlformats.org/officeDocument/2006/relationships/image" Target="../media/image98.wmf"/><Relationship Id="rId46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wmf"/><Relationship Id="rId20" Type="http://schemas.openxmlformats.org/officeDocument/2006/relationships/image" Target="../media/image89.wmf"/><Relationship Id="rId29" Type="http://schemas.openxmlformats.org/officeDocument/2006/relationships/oleObject" Target="../embeddings/oleObject99.bin"/><Relationship Id="rId41" Type="http://schemas.openxmlformats.org/officeDocument/2006/relationships/oleObject" Target="../embeddings/oleObject105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1.wmf"/><Relationship Id="rId32" Type="http://schemas.openxmlformats.org/officeDocument/2006/relationships/image" Target="../media/image95.wmf"/><Relationship Id="rId37" Type="http://schemas.openxmlformats.org/officeDocument/2006/relationships/oleObject" Target="../embeddings/oleObject103.bin"/><Relationship Id="rId40" Type="http://schemas.openxmlformats.org/officeDocument/2006/relationships/image" Target="../media/image99.wmf"/><Relationship Id="rId45" Type="http://schemas.openxmlformats.org/officeDocument/2006/relationships/oleObject" Target="../embeddings/oleObject107.bin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28" Type="http://schemas.openxmlformats.org/officeDocument/2006/relationships/image" Target="../media/image93.wmf"/><Relationship Id="rId36" Type="http://schemas.openxmlformats.org/officeDocument/2006/relationships/image" Target="../media/image97.wmf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94.bin"/><Relationship Id="rId31" Type="http://schemas.openxmlformats.org/officeDocument/2006/relationships/oleObject" Target="../embeddings/oleObject100.bin"/><Relationship Id="rId44" Type="http://schemas.openxmlformats.org/officeDocument/2006/relationships/image" Target="../media/image101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20.wmf"/><Relationship Id="rId22" Type="http://schemas.openxmlformats.org/officeDocument/2006/relationships/image" Target="../media/image90.wmf"/><Relationship Id="rId27" Type="http://schemas.openxmlformats.org/officeDocument/2006/relationships/oleObject" Target="../embeddings/oleObject98.bin"/><Relationship Id="rId30" Type="http://schemas.openxmlformats.org/officeDocument/2006/relationships/image" Target="../media/image94.wmf"/><Relationship Id="rId35" Type="http://schemas.openxmlformats.org/officeDocument/2006/relationships/oleObject" Target="../embeddings/oleObject102.bin"/><Relationship Id="rId43" Type="http://schemas.openxmlformats.org/officeDocument/2006/relationships/oleObject" Target="../embeddings/oleObject10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0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09.wmf"/><Relationship Id="rId18" Type="http://schemas.openxmlformats.org/officeDocument/2006/relationships/oleObject" Target="../embeddings/oleObject118.bin"/><Relationship Id="rId3" Type="http://schemas.openxmlformats.org/officeDocument/2006/relationships/oleObject" Target="../embeddings/oleObject110.bin"/><Relationship Id="rId21" Type="http://schemas.openxmlformats.org/officeDocument/2006/relationships/image" Target="../media/image113.wmf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1.wmf"/><Relationship Id="rId25" Type="http://schemas.openxmlformats.org/officeDocument/2006/relationships/image" Target="../media/image11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08.wmf"/><Relationship Id="rId24" Type="http://schemas.openxmlformats.org/officeDocument/2006/relationships/oleObject" Target="../embeddings/oleObject121.bin"/><Relationship Id="rId5" Type="http://schemas.openxmlformats.org/officeDocument/2006/relationships/oleObject" Target="../embeddings/oleObject111.bin"/><Relationship Id="rId15" Type="http://schemas.openxmlformats.org/officeDocument/2006/relationships/image" Target="../media/image110.wmf"/><Relationship Id="rId23" Type="http://schemas.openxmlformats.org/officeDocument/2006/relationships/image" Target="../media/image114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112.wmf"/><Relationship Id="rId4" Type="http://schemas.openxmlformats.org/officeDocument/2006/relationships/image" Target="../media/image105.wmf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116.bin"/><Relationship Id="rId22" Type="http://schemas.openxmlformats.org/officeDocument/2006/relationships/oleObject" Target="../embeddings/oleObject1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17"/>
          <p:cNvSpPr>
            <a:spLocks noChangeArrowheads="1"/>
          </p:cNvSpPr>
          <p:nvPr/>
        </p:nvSpPr>
        <p:spPr bwMode="auto">
          <a:xfrm>
            <a:off x="-144463" y="0"/>
            <a:ext cx="12192001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40964" name="Rectangle 7"/>
          <p:cNvSpPr>
            <a:spLocks noChangeArrowheads="1"/>
          </p:cNvSpPr>
          <p:nvPr/>
        </p:nvSpPr>
        <p:spPr bwMode="auto">
          <a:xfrm>
            <a:off x="-144463" y="0"/>
            <a:ext cx="12192001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40965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014413" y="2006600"/>
            <a:ext cx="9601200" cy="871538"/>
            <a:chOff x="1043608" y="1569492"/>
            <a:chExt cx="7200800" cy="871538"/>
          </a:xfrm>
        </p:grpSpPr>
        <p:sp>
          <p:nvSpPr>
            <p:cNvPr id="11" name="TextBox 10"/>
            <p:cNvSpPr txBox="1"/>
            <p:nvPr/>
          </p:nvSpPr>
          <p:spPr>
            <a:xfrm>
              <a:off x="1043608" y="1742530"/>
              <a:ext cx="7200800" cy="45720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457200" indent="-457200">
                <a:buClr>
                  <a:srgbClr val="FF3C3C"/>
                </a:buClr>
                <a:buFont typeface="Wingdings" pitchFamily="2" charset="2"/>
                <a:buChar char="Ø"/>
              </a:pPr>
              <a:r>
                <a:rPr lang="zh-CN" altLang="en-US" sz="2400" b="1">
                  <a:latin typeface="Verdana" pitchFamily="34" charset="0"/>
                </a:rPr>
                <a:t>引例：                                                    ，求</a:t>
              </a:r>
            </a:p>
          </p:txBody>
        </p:sp>
        <p:graphicFrame>
          <p:nvGraphicFramePr>
            <p:cNvPr id="40968" name="对象 2"/>
            <p:cNvGraphicFramePr>
              <a:graphicFrameLocks noChangeAspect="1"/>
            </p:cNvGraphicFramePr>
            <p:nvPr/>
          </p:nvGraphicFramePr>
          <p:xfrm>
            <a:off x="2457301" y="1569492"/>
            <a:ext cx="3724275" cy="871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0" name="Equation" r:id="rId4" imgW="1943100" imgH="457200" progId="Equation.DSMT4">
                    <p:embed/>
                  </p:oleObj>
                </mc:Choice>
                <mc:Fallback>
                  <p:oleObj name="Equation" r:id="rId4" imgW="1943100" imgH="457200" progId="Equation.DSMT4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7301" y="1569492"/>
                          <a:ext cx="3724275" cy="871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9" name="对象 18"/>
            <p:cNvGraphicFramePr>
              <a:graphicFrameLocks noChangeAspect="1"/>
            </p:cNvGraphicFramePr>
            <p:nvPr/>
          </p:nvGraphicFramePr>
          <p:xfrm>
            <a:off x="6835775" y="1817514"/>
            <a:ext cx="900112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1" name="Equation" r:id="rId6" imgW="469696" imgH="203112" progId="Equation.DSMT4">
                    <p:embed/>
                  </p:oleObj>
                </mc:Choice>
                <mc:Fallback>
                  <p:oleObj name="Equation" r:id="rId6" imgW="469696" imgH="203112" progId="Equation.DSMT4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775" y="1817514"/>
                          <a:ext cx="900112" cy="387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488488" y="2851150"/>
          <a:ext cx="1503362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2" name="Equation" r:id="rId8" imgW="698500" imgH="939800" progId="Equation.DSMT4">
                  <p:embed/>
                </p:oleObj>
              </mc:Choice>
              <mc:Fallback>
                <p:oleObj name="Equation" r:id="rId8" imgW="698500" imgH="939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8488" y="2851150"/>
                        <a:ext cx="1503362" cy="151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078288" y="3756025"/>
          <a:ext cx="27305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3" name="Equation" r:id="rId10" imgW="126835" imgH="139518" progId="Equation.DSMT4">
                  <p:embed/>
                </p:oleObj>
              </mc:Choice>
              <mc:Fallback>
                <p:oleObj name="Equation" r:id="rId10" imgW="126835" imgH="139518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3756025"/>
                        <a:ext cx="273050" cy="22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9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255838" y="4332288"/>
            <a:ext cx="5803900" cy="165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7" name="Picture 20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837113" y="3240088"/>
            <a:ext cx="219075" cy="1689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8" name="Picture 2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432300" y="4073525"/>
            <a:ext cx="5286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2476500" y="4440238"/>
            <a:ext cx="2451100" cy="4302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966913" y="4835525"/>
          <a:ext cx="5143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4" name="Equation" r:id="rId16" imgW="241091" imgH="177646" progId="Equation.DSMT4">
                  <p:embed/>
                </p:oleObj>
              </mc:Choice>
              <mc:Fallback>
                <p:oleObj name="Equation" r:id="rId16" imgW="241091" imgH="177646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4835525"/>
                        <a:ext cx="5143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446338" y="5164138"/>
            <a:ext cx="2208212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7030A0"/>
                </a:solidFill>
                <a:latin typeface="Verdana" pitchFamily="34" charset="0"/>
                <a:ea typeface="宋体" pitchFamily="2" charset="-122"/>
              </a:rPr>
              <a:t>旋转</a:t>
            </a:r>
            <a:r>
              <a:rPr lang="zh-CN" altLang="en-US" sz="2000" b="1" dirty="0">
                <a:latin typeface="Verdana" pitchFamily="34" charset="0"/>
                <a:ea typeface="宋体" pitchFamily="2" charset="-122"/>
              </a:rPr>
              <a:t>、</a:t>
            </a:r>
            <a:r>
              <a:rPr lang="zh-CN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Verdana" pitchFamily="34" charset="0"/>
                <a:ea typeface="宋体" pitchFamily="2" charset="-122"/>
              </a:rPr>
              <a:t>拉伸</a:t>
            </a:r>
            <a:endParaRPr lang="en-US" altLang="zh-CN" sz="2000" b="1" dirty="0">
              <a:solidFill>
                <a:schemeClr val="accent6">
                  <a:lumMod val="60000"/>
                  <a:lumOff val="40000"/>
                </a:schemeClr>
              </a:solidFill>
              <a:latin typeface="Verdana" pitchFamily="34" charset="0"/>
              <a:ea typeface="宋体" pitchFamily="2" charset="-122"/>
            </a:endParaRPr>
          </a:p>
        </p:txBody>
      </p:sp>
      <p:pic>
        <p:nvPicPr>
          <p:cNvPr id="22" name="Picture 23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891088" y="4049713"/>
            <a:ext cx="1009650" cy="415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562600" y="3819525"/>
          <a:ext cx="246063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5" name="Equation" r:id="rId19" imgW="114201" imgH="139579" progId="Equation.DSMT4">
                  <p:embed/>
                </p:oleObj>
              </mc:Choice>
              <mc:Fallback>
                <p:oleObj name="Equation" r:id="rId19" imgW="114201" imgH="139579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819525"/>
                        <a:ext cx="246063" cy="22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4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4870450" y="3700463"/>
            <a:ext cx="1970088" cy="776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373813" y="3411538"/>
          <a:ext cx="48577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6" name="Equation" r:id="rId22" imgW="228402" imgH="177646" progId="Equation.DSMT4">
                  <p:embed/>
                </p:oleObj>
              </mc:Choice>
              <mc:Fallback>
                <p:oleObj name="Equation" r:id="rId22" imgW="228402" imgH="177646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813" y="3411538"/>
                        <a:ext cx="48577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205663" y="3827463"/>
            <a:ext cx="1193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Verdana" pitchFamily="34" charset="0"/>
                <a:ea typeface="宋体" pitchFamily="2" charset="-122"/>
              </a:rPr>
              <a:t>拉伸</a:t>
            </a:r>
            <a:endParaRPr lang="en-US" altLang="zh-CN" sz="2000" b="1" dirty="0">
              <a:solidFill>
                <a:schemeClr val="accent6">
                  <a:lumMod val="60000"/>
                  <a:lumOff val="40000"/>
                </a:schemeClr>
              </a:solidFill>
              <a:latin typeface="Verdana" pitchFamily="34" charset="0"/>
              <a:ea typeface="宋体" pitchFamily="2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256338" y="4783138"/>
          <a:ext cx="27352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7" name="Equation" r:id="rId24" imgW="1167893" imgH="215806" progId="Equation.DSMT4">
                  <p:embed/>
                </p:oleObj>
              </mc:Choice>
              <mc:Fallback>
                <p:oleObj name="Equation" r:id="rId24" imgW="1167893" imgH="215806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4783138"/>
                        <a:ext cx="27352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ea typeface="华文行楷"/>
                <a:cs typeface="华文行楷"/>
              </a:rPr>
              <a:t>4.2 </a:t>
            </a:r>
            <a:r>
              <a:rPr lang="zh-CN" altLang="en-US" sz="2400" dirty="0">
                <a:solidFill>
                  <a:srgbClr val="C00000"/>
                </a:solidFill>
                <a:ea typeface="华文行楷"/>
                <a:cs typeface="华文行楷"/>
              </a:rPr>
              <a:t>方阵的特征值与特征向量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ea typeface="华文行楷"/>
                <a:cs typeface="华文行楷"/>
              </a:rPr>
              <a:t>4.2 </a:t>
            </a:r>
            <a:r>
              <a:rPr lang="zh-CN" altLang="en-US" sz="2400" dirty="0">
                <a:solidFill>
                  <a:srgbClr val="C00000"/>
                </a:solidFill>
                <a:ea typeface="华文行楷"/>
                <a:cs typeface="华文行楷"/>
              </a:rPr>
              <a:t>方阵的特征值与特征向量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12409" y="1022180"/>
            <a:ext cx="2569060" cy="948182"/>
            <a:chOff x="745588" y="1310185"/>
            <a:chExt cx="1800664" cy="948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786597" cy="8309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定义及计算方法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4" y="1799375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1979613" y="1841500"/>
            <a:ext cx="6503987" cy="460375"/>
            <a:chOff x="1978925" y="2071139"/>
            <a:chExt cx="6504747" cy="461665"/>
          </a:xfrm>
        </p:grpSpPr>
        <p:sp>
          <p:nvSpPr>
            <p:cNvPr id="22065" name="文本框 7"/>
            <p:cNvSpPr txBox="1">
              <a:spLocks noChangeArrowheads="1"/>
            </p:cNvSpPr>
            <p:nvPr/>
          </p:nvSpPr>
          <p:spPr bwMode="auto">
            <a:xfrm>
              <a:off x="1978925" y="2071139"/>
              <a:ext cx="65047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设  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是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</a:rPr>
                <a:t>n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阶方阵，若对于数    及非零向量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</a:rPr>
                <a:t>x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，</a:t>
              </a:r>
            </a:p>
          </p:txBody>
        </p:sp>
        <p:graphicFrame>
          <p:nvGraphicFramePr>
            <p:cNvPr id="22038" name="Object 534"/>
            <p:cNvGraphicFramePr>
              <a:graphicFrameLocks noChangeAspect="1"/>
            </p:cNvGraphicFramePr>
            <p:nvPr/>
          </p:nvGraphicFramePr>
          <p:xfrm>
            <a:off x="2462213" y="2132013"/>
            <a:ext cx="282575" cy="306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2" name="Equation" r:id="rId3" imgW="152280" imgH="164880" progId="Equation.DSMT4">
                    <p:embed/>
                  </p:oleObj>
                </mc:Choice>
                <mc:Fallback>
                  <p:oleObj name="Equation" r:id="rId3" imgW="152280" imgH="164880" progId="Equation.DSMT4">
                    <p:embed/>
                    <p:pic>
                      <p:nvPicPr>
                        <p:cNvPr id="0" name="Picture 5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2213" y="2132013"/>
                          <a:ext cx="282575" cy="306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039" name="Object 535"/>
            <p:cNvGraphicFramePr>
              <a:graphicFrameLocks noChangeAspect="1"/>
            </p:cNvGraphicFramePr>
            <p:nvPr/>
          </p:nvGraphicFramePr>
          <p:xfrm>
            <a:off x="5875409" y="2132013"/>
            <a:ext cx="2603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3" name="Equation" r:id="rId5" imgW="139680" imgH="177480" progId="Equation.DSMT4">
                    <p:embed/>
                  </p:oleObj>
                </mc:Choice>
                <mc:Fallback>
                  <p:oleObj name="Equation" r:id="rId5" imgW="139680" imgH="177480" progId="Equation.DSMT4">
                    <p:embed/>
                    <p:pic>
                      <p:nvPicPr>
                        <p:cNvPr id="0" name="Picture 5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5409" y="2132013"/>
                          <a:ext cx="2603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438650" y="3042208"/>
            <a:ext cx="6861175" cy="477838"/>
            <a:chOff x="7658669" y="1515611"/>
            <a:chExt cx="6861995" cy="477672"/>
          </a:xfrm>
        </p:grpSpPr>
        <p:sp>
          <p:nvSpPr>
            <p:cNvPr id="22064" name="文本框 14"/>
            <p:cNvSpPr txBox="1">
              <a:spLocks noChangeArrowheads="1"/>
            </p:cNvSpPr>
            <p:nvPr/>
          </p:nvSpPr>
          <p:spPr bwMode="auto">
            <a:xfrm>
              <a:off x="7658669" y="1515611"/>
              <a:ext cx="6861995" cy="47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称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为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</a:rPr>
                <a:t>A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的属于特征值    的特征向量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.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     </a:t>
              </a:r>
            </a:p>
          </p:txBody>
        </p:sp>
        <p:graphicFrame>
          <p:nvGraphicFramePr>
            <p:cNvPr id="22040" name="Object 5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6221749"/>
                </p:ext>
              </p:extLst>
            </p:nvPr>
          </p:nvGraphicFramePr>
          <p:xfrm>
            <a:off x="10959490" y="1589346"/>
            <a:ext cx="2603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4" name="Equation" r:id="rId7" imgW="139680" imgH="177480" progId="Equation.DSMT4">
                    <p:embed/>
                  </p:oleObj>
                </mc:Choice>
                <mc:Fallback>
                  <p:oleObj name="Equation" r:id="rId7" imgW="139680" imgH="177480" progId="Equation.DSMT4">
                    <p:embed/>
                    <p:pic>
                      <p:nvPicPr>
                        <p:cNvPr id="0" name="Picture 5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9490" y="1589346"/>
                          <a:ext cx="2603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309563" y="3021806"/>
            <a:ext cx="4186237" cy="457200"/>
            <a:chOff x="605440" y="2866333"/>
            <a:chExt cx="3952277" cy="456906"/>
          </a:xfrm>
        </p:grpSpPr>
        <p:sp>
          <p:nvSpPr>
            <p:cNvPr id="22063" name="文本框 1"/>
            <p:cNvSpPr txBox="1">
              <a:spLocks noChangeArrowheads="1"/>
            </p:cNvSpPr>
            <p:nvPr/>
          </p:nvSpPr>
          <p:spPr bwMode="auto">
            <a:xfrm>
              <a:off x="605440" y="2866333"/>
              <a:ext cx="3952277" cy="456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则称    为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的一个特征值，</a:t>
              </a:r>
            </a:p>
          </p:txBody>
        </p:sp>
        <p:graphicFrame>
          <p:nvGraphicFramePr>
            <p:cNvPr id="22041" name="Object 5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8181295"/>
                </p:ext>
              </p:extLst>
            </p:nvPr>
          </p:nvGraphicFramePr>
          <p:xfrm>
            <a:off x="1284734" y="2946273"/>
            <a:ext cx="260350" cy="33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5" name="Equation" r:id="rId9" imgW="139680" imgH="177480" progId="Equation.DSMT4">
                    <p:embed/>
                  </p:oleObj>
                </mc:Choice>
                <mc:Fallback>
                  <p:oleObj name="Equation" r:id="rId9" imgW="139680" imgH="177480" progId="Equation.DSMT4">
                    <p:embed/>
                    <p:pic>
                      <p:nvPicPr>
                        <p:cNvPr id="0" name="Picture 5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734" y="2946273"/>
                          <a:ext cx="260350" cy="331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12409" y="3511461"/>
            <a:ext cx="3751263" cy="887909"/>
            <a:chOff x="2792519" y="3357349"/>
            <a:chExt cx="3751263" cy="887909"/>
          </a:xfrm>
        </p:grpSpPr>
        <p:sp>
          <p:nvSpPr>
            <p:cNvPr id="22062" name="文本框 2"/>
            <p:cNvSpPr txBox="1">
              <a:spLocks noChangeArrowheads="1"/>
            </p:cNvSpPr>
            <p:nvPr/>
          </p:nvSpPr>
          <p:spPr bwMode="auto">
            <a:xfrm>
              <a:off x="2792519" y="3357349"/>
              <a:ext cx="18340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2042" name="Object 5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5908004"/>
                </p:ext>
              </p:extLst>
            </p:nvPr>
          </p:nvGraphicFramePr>
          <p:xfrm>
            <a:off x="2792519" y="3392770"/>
            <a:ext cx="3751263" cy="852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6" name="Equation" r:id="rId11" imgW="2019240" imgH="457200" progId="Equation.DSMT4">
                    <p:embed/>
                  </p:oleObj>
                </mc:Choice>
                <mc:Fallback>
                  <p:oleObj name="Equation" r:id="rId11" imgW="2019240" imgH="457200" progId="Equation.DSMT4">
                    <p:embed/>
                    <p:pic>
                      <p:nvPicPr>
                        <p:cNvPr id="0" name="Picture 5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519" y="3392770"/>
                          <a:ext cx="3751263" cy="852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12"/>
          <p:cNvGrpSpPr/>
          <p:nvPr/>
        </p:nvGrpSpPr>
        <p:grpSpPr>
          <a:xfrm>
            <a:off x="4684713" y="2280443"/>
            <a:ext cx="1638300" cy="741363"/>
            <a:chOff x="1719618" y="4512686"/>
            <a:chExt cx="1637731" cy="7417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圆角矩形 40"/>
            <p:cNvSpPr/>
            <p:nvPr/>
          </p:nvSpPr>
          <p:spPr>
            <a:xfrm>
              <a:off x="1719618" y="4512686"/>
              <a:ext cx="1637731" cy="74170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aphicFrame>
          <p:nvGraphicFramePr>
            <p:cNvPr id="22043" name="Object 539"/>
            <p:cNvGraphicFramePr>
              <a:graphicFrameLocks noChangeAspect="1"/>
            </p:cNvGraphicFramePr>
            <p:nvPr/>
          </p:nvGraphicFramePr>
          <p:xfrm>
            <a:off x="1912952" y="4683640"/>
            <a:ext cx="1251062" cy="409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7" name="Equation" r:id="rId13" imgW="545760" imgH="177480" progId="Equation.DSMT4">
                    <p:embed/>
                  </p:oleObj>
                </mc:Choice>
                <mc:Fallback>
                  <p:oleObj name="Equation" r:id="rId13" imgW="545760" imgH="177480" progId="Equation.DSMT4">
                    <p:embed/>
                    <p:pic>
                      <p:nvPicPr>
                        <p:cNvPr id="0" name="Picture 5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2952" y="4683640"/>
                          <a:ext cx="1251062" cy="409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8367712" y="1797564"/>
            <a:ext cx="25796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满足关系式</a:t>
            </a:r>
          </a:p>
        </p:txBody>
      </p:sp>
      <p:graphicFrame>
        <p:nvGraphicFramePr>
          <p:cNvPr id="35" name="Object 5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392257"/>
              </p:ext>
            </p:extLst>
          </p:nvPr>
        </p:nvGraphicFramePr>
        <p:xfrm>
          <a:off x="4558506" y="3520046"/>
          <a:ext cx="13462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" name="Equation" r:id="rId15" imgW="723600" imgH="457200" progId="Equation.DSMT4">
                  <p:embed/>
                </p:oleObj>
              </mc:Choice>
              <mc:Fallback>
                <p:oleObj name="Equation" r:id="rId15" imgW="723600" imgH="457200" progId="Equation.DSMT4">
                  <p:embed/>
                  <p:pic>
                    <p:nvPicPr>
                      <p:cNvPr id="0" name="Picture 5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506" y="3520046"/>
                        <a:ext cx="1346200" cy="852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512848"/>
              </p:ext>
            </p:extLst>
          </p:nvPr>
        </p:nvGraphicFramePr>
        <p:xfrm>
          <a:off x="5922169" y="3742293"/>
          <a:ext cx="8016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9" name="Equation" r:id="rId17" imgW="431640" imgH="228600" progId="Equation.DSMT4">
                  <p:embed/>
                </p:oleObj>
              </mc:Choice>
              <mc:Fallback>
                <p:oleObj name="Equation" r:id="rId17" imgW="431640" imgH="228600" progId="Equation.DSMT4">
                  <p:embed/>
                  <p:pic>
                    <p:nvPicPr>
                      <p:cNvPr id="0" name="Picture 5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169" y="3742293"/>
                        <a:ext cx="801688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220084"/>
              </p:ext>
            </p:extLst>
          </p:nvPr>
        </p:nvGraphicFramePr>
        <p:xfrm>
          <a:off x="7099792" y="3546882"/>
          <a:ext cx="12287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0" name="Equation" r:id="rId19" imgW="660240" imgH="457200" progId="Equation.DSMT4">
                  <p:embed/>
                </p:oleObj>
              </mc:Choice>
              <mc:Fallback>
                <p:oleObj name="Equation" r:id="rId19" imgW="660240" imgH="457200" progId="Equation.DSMT4">
                  <p:embed/>
                  <p:pic>
                    <p:nvPicPr>
                      <p:cNvPr id="0" name="Picture 5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792" y="3546882"/>
                        <a:ext cx="1228725" cy="852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17136"/>
              </p:ext>
            </p:extLst>
          </p:nvPr>
        </p:nvGraphicFramePr>
        <p:xfrm>
          <a:off x="8367712" y="3742293"/>
          <a:ext cx="68421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1" name="Equation" r:id="rId21" imgW="368280" imgH="228600" progId="Equation.DSMT4">
                  <p:embed/>
                </p:oleObj>
              </mc:Choice>
              <mc:Fallback>
                <p:oleObj name="Equation" r:id="rId21" imgW="368280" imgH="228600" progId="Equation.DSMT4">
                  <p:embed/>
                  <p:pic>
                    <p:nvPicPr>
                      <p:cNvPr id="0" name="Picture 5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7712" y="3742293"/>
                        <a:ext cx="684213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326270" y="5734051"/>
            <a:ext cx="10227122" cy="651989"/>
            <a:chOff x="520504" y="5387046"/>
            <a:chExt cx="9481625" cy="651368"/>
          </a:xfrm>
        </p:grpSpPr>
        <p:grpSp>
          <p:nvGrpSpPr>
            <p:cNvPr id="32" name="组合 31"/>
            <p:cNvGrpSpPr/>
            <p:nvPr/>
          </p:nvGrpSpPr>
          <p:grpSpPr>
            <a:xfrm>
              <a:off x="520504" y="5387046"/>
              <a:ext cx="1199113" cy="651368"/>
              <a:chOff x="506043" y="2137359"/>
              <a:chExt cx="1209620" cy="65136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" name="圆角矩形 32"/>
              <p:cNvSpPr/>
              <p:nvPr/>
            </p:nvSpPr>
            <p:spPr>
              <a:xfrm>
                <a:off x="506043" y="2137359"/>
                <a:ext cx="1209620" cy="65136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21668" y="2232210"/>
                <a:ext cx="1178369" cy="46166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问  </a:t>
                </a:r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题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060" name="文本框 15"/>
            <p:cNvSpPr txBox="1">
              <a:spLocks noChangeArrowheads="1"/>
            </p:cNvSpPr>
            <p:nvPr/>
          </p:nvSpPr>
          <p:spPr bwMode="auto">
            <a:xfrm>
              <a:off x="1979102" y="5482136"/>
              <a:ext cx="8023027" cy="461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已知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方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阵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，如何求出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</a:rPr>
                <a:t>A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的所有特征值及相应的特征向量？</a:t>
              </a:r>
            </a:p>
          </p:txBody>
        </p:sp>
      </p:grpSp>
      <p:sp>
        <p:nvSpPr>
          <p:cNvPr id="18" name="矩形 17"/>
          <p:cNvSpPr/>
          <p:nvPr/>
        </p:nvSpPr>
        <p:spPr>
          <a:xfrm>
            <a:off x="6575425" y="2301875"/>
            <a:ext cx="1533525" cy="4445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42977" y="4551963"/>
            <a:ext cx="10056734" cy="905243"/>
            <a:chOff x="342977" y="4551963"/>
            <a:chExt cx="10056734" cy="905243"/>
          </a:xfrm>
        </p:grpSpPr>
        <p:grpSp>
          <p:nvGrpSpPr>
            <p:cNvPr id="40" name="组合 39"/>
            <p:cNvGrpSpPr>
              <a:grpSpLocks/>
            </p:cNvGrpSpPr>
            <p:nvPr/>
          </p:nvGrpSpPr>
          <p:grpSpPr bwMode="auto">
            <a:xfrm>
              <a:off x="342977" y="4626209"/>
              <a:ext cx="9913821" cy="830997"/>
              <a:chOff x="520504" y="5387046"/>
              <a:chExt cx="9191161" cy="851212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520504" y="5387046"/>
                <a:ext cx="1199113" cy="651368"/>
                <a:chOff x="506043" y="2137359"/>
                <a:chExt cx="1209620" cy="65136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4" name="圆角矩形 43"/>
                <p:cNvSpPr/>
                <p:nvPr/>
              </p:nvSpPr>
              <p:spPr>
                <a:xfrm>
                  <a:off x="506043" y="2137359"/>
                  <a:ext cx="1209620" cy="65136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5" name="文本框 33"/>
                <p:cNvSpPr txBox="1"/>
                <p:nvPr/>
              </p:nvSpPr>
              <p:spPr>
                <a:xfrm>
                  <a:off x="521668" y="2232210"/>
                  <a:ext cx="1178369" cy="461665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24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问  </a:t>
                  </a:r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题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</a:t>
                  </a:r>
                  <a:endPara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" name="文本框 15"/>
              <p:cNvSpPr txBox="1">
                <a:spLocks noChangeArrowheads="1"/>
              </p:cNvSpPr>
              <p:nvPr/>
            </p:nvSpPr>
            <p:spPr bwMode="auto">
              <a:xfrm>
                <a:off x="1688638" y="5387046"/>
                <a:ext cx="8023027" cy="851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   已知           </a:t>
                </a:r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是</a:t>
                </a:r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en-US" altLang="zh-CN" sz="2400" i="1" dirty="0">
                    <a:latin typeface="Times New Roman" pitchFamily="18" charset="0"/>
                    <a:ea typeface="微软雅黑" pitchFamily="34" charset="-122"/>
                  </a:rPr>
                  <a:t>A</a:t>
                </a:r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的属于某个特征值的特征向量，问                 是否一定还是</a:t>
                </a:r>
                <a:r>
                  <a:rPr lang="en-US" altLang="zh-CN" sz="2400" i="1" dirty="0">
                    <a:latin typeface="Times New Roman" pitchFamily="18" charset="0"/>
                    <a:ea typeface="微软雅黑" pitchFamily="34" charset="-122"/>
                  </a:rPr>
                  <a:t>A</a:t>
                </a:r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zh-CN" altLang="en-US" sz="2400" dirty="0" smtClean="0">
                    <a:latin typeface="微软雅黑" pitchFamily="34" charset="-122"/>
                    <a:ea typeface="微软雅黑" pitchFamily="34" charset="-122"/>
                  </a:rPr>
                  <a:t>的特征向量？</a:t>
                </a:r>
                <a:endParaRPr lang="zh-CN" altLang="en-US" sz="2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aphicFrame>
          <p:nvGraphicFramePr>
            <p:cNvPr id="46" name="Object 5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1912513"/>
                </p:ext>
              </p:extLst>
            </p:nvPr>
          </p:nvGraphicFramePr>
          <p:xfrm>
            <a:off x="2688562" y="4559361"/>
            <a:ext cx="785813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2" name="Equation" r:id="rId23" imgW="342720" imgH="228600" progId="Equation.DSMT4">
                    <p:embed/>
                  </p:oleObj>
                </mc:Choice>
                <mc:Fallback>
                  <p:oleObj name="Equation" r:id="rId23" imgW="342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562" y="4559361"/>
                          <a:ext cx="785813" cy="527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2888483"/>
                </p:ext>
              </p:extLst>
            </p:nvPr>
          </p:nvGraphicFramePr>
          <p:xfrm>
            <a:off x="8915399" y="4551963"/>
            <a:ext cx="1484312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3" name="Equation" r:id="rId25" imgW="647640" imgH="228600" progId="Equation.DSMT4">
                    <p:embed/>
                  </p:oleObj>
                </mc:Choice>
                <mc:Fallback>
                  <p:oleObj name="Equation" r:id="rId25" imgW="647640" imgH="228600" progId="Equation.DSMT4">
                    <p:embed/>
                    <p:pic>
                      <p:nvPicPr>
                        <p:cNvPr id="0" name="Object 5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15399" y="4551963"/>
                          <a:ext cx="1484312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ea typeface="华文行楷"/>
                <a:cs typeface="华文行楷"/>
              </a:rPr>
              <a:t>4.2 </a:t>
            </a:r>
            <a:r>
              <a:rPr lang="zh-CN" altLang="en-US" sz="2400" dirty="0">
                <a:solidFill>
                  <a:srgbClr val="C00000"/>
                </a:solidFill>
                <a:ea typeface="华文行楷"/>
                <a:cs typeface="华文行楷"/>
              </a:rPr>
              <a:t>方阵的特征值与特征向量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20504" y="1148253"/>
            <a:ext cx="2430514" cy="696036"/>
            <a:chOff x="745588" y="1310185"/>
            <a:chExt cx="180066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786597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定义及计算方法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4" y="196147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求法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0" name="Object 230"/>
          <p:cNvGraphicFramePr>
            <a:graphicFrameLocks noChangeAspect="1"/>
          </p:cNvGraphicFramePr>
          <p:nvPr/>
        </p:nvGraphicFramePr>
        <p:xfrm>
          <a:off x="2214563" y="2097088"/>
          <a:ext cx="12509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6" name="Equation" r:id="rId3" imgW="545760" imgH="177480" progId="Equation.DSMT4">
                  <p:embed/>
                </p:oleObj>
              </mc:Choice>
              <mc:Fallback>
                <p:oleObj name="Equation" r:id="rId3" imgW="545760" imgH="177480" progId="Equation.DSMT4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2097088"/>
                        <a:ext cx="125095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左右箭头 17"/>
          <p:cNvSpPr/>
          <p:nvPr/>
        </p:nvSpPr>
        <p:spPr>
          <a:xfrm>
            <a:off x="3644900" y="2165350"/>
            <a:ext cx="622300" cy="325438"/>
          </a:xfrm>
          <a:prstGeom prst="leftRightArrow">
            <a:avLst/>
          </a:prstGeom>
          <a:noFill/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42" name="Object 231"/>
          <p:cNvGraphicFramePr>
            <a:graphicFrameLocks noChangeAspect="1"/>
          </p:cNvGraphicFramePr>
          <p:nvPr/>
        </p:nvGraphicFramePr>
        <p:xfrm>
          <a:off x="4446588" y="2081213"/>
          <a:ext cx="17160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7" name="Equation" r:id="rId5" imgW="749160" imgH="177480" progId="Equation.DSMT4">
                  <p:embed/>
                </p:oleObj>
              </mc:Choice>
              <mc:Fallback>
                <p:oleObj name="Equation" r:id="rId5" imgW="749160" imgH="177480" progId="Equation.DSMT4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2081213"/>
                        <a:ext cx="171608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425450" y="2805113"/>
            <a:ext cx="5065713" cy="477837"/>
            <a:chOff x="7658669" y="1984790"/>
            <a:chExt cx="5065867" cy="477672"/>
          </a:xfrm>
        </p:grpSpPr>
        <p:sp>
          <p:nvSpPr>
            <p:cNvPr id="33036" name="文本框 43"/>
            <p:cNvSpPr txBox="1">
              <a:spLocks noChangeArrowheads="1"/>
            </p:cNvSpPr>
            <p:nvPr/>
          </p:nvSpPr>
          <p:spPr bwMode="auto">
            <a:xfrm>
              <a:off x="7658669" y="1984790"/>
              <a:ext cx="5065867" cy="47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为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</a:rPr>
                <a:t>A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的属于特征值    的特征向量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     </a:t>
              </a:r>
            </a:p>
          </p:txBody>
        </p:sp>
        <p:graphicFrame>
          <p:nvGraphicFramePr>
            <p:cNvPr id="33000" name="Object 232"/>
            <p:cNvGraphicFramePr>
              <a:graphicFrameLocks noChangeAspect="1"/>
            </p:cNvGraphicFramePr>
            <p:nvPr/>
          </p:nvGraphicFramePr>
          <p:xfrm>
            <a:off x="10560087" y="2058526"/>
            <a:ext cx="2603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28" name="Equation" r:id="rId7" imgW="139680" imgH="177480" progId="Equation.DSMT4">
                    <p:embed/>
                  </p:oleObj>
                </mc:Choice>
                <mc:Fallback>
                  <p:oleObj name="Equation" r:id="rId7" imgW="139680" imgH="177480" progId="Equation.DSMT4">
                    <p:embed/>
                    <p:pic>
                      <p:nvPicPr>
                        <p:cNvPr id="0" name="Picture 2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0087" y="2058526"/>
                          <a:ext cx="2603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6211888" y="2041525"/>
            <a:ext cx="3906837" cy="461963"/>
            <a:chOff x="6211791" y="2041960"/>
            <a:chExt cx="3906982" cy="461665"/>
          </a:xfrm>
        </p:grpSpPr>
        <p:grpSp>
          <p:nvGrpSpPr>
            <p:cNvPr id="33034" name="组合 45"/>
            <p:cNvGrpSpPr>
              <a:grpSpLocks/>
            </p:cNvGrpSpPr>
            <p:nvPr/>
          </p:nvGrpSpPr>
          <p:grpSpPr bwMode="auto">
            <a:xfrm>
              <a:off x="6211791" y="2041960"/>
              <a:ext cx="3906982" cy="461665"/>
              <a:chOff x="1497124" y="2071139"/>
              <a:chExt cx="3906982" cy="461665"/>
            </a:xfrm>
          </p:grpSpPr>
          <p:sp>
            <p:nvSpPr>
              <p:cNvPr id="33035" name="文本框 46"/>
              <p:cNvSpPr txBox="1">
                <a:spLocks noChangeArrowheads="1"/>
              </p:cNvSpPr>
              <p:nvPr/>
            </p:nvSpPr>
            <p:spPr bwMode="auto">
              <a:xfrm>
                <a:off x="1497124" y="2071139"/>
                <a:ext cx="390698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其中    为数，   为</a:t>
                </a:r>
                <a:r>
                  <a:rPr lang="zh-CN" altLang="en-US" sz="240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非零向量</a:t>
                </a:r>
                <a:r>
                  <a:rPr lang="en-US" altLang="zh-CN" sz="2400"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.</a:t>
                </a:r>
                <a:endParaRPr lang="zh-CN" altLang="en-US" sz="2400"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  <p:graphicFrame>
            <p:nvGraphicFramePr>
              <p:cNvPr id="33001" name="Object 233"/>
              <p:cNvGraphicFramePr>
                <a:graphicFrameLocks noChangeAspect="1"/>
              </p:cNvGraphicFramePr>
              <p:nvPr/>
            </p:nvGraphicFramePr>
            <p:xfrm>
              <a:off x="2202737" y="2158110"/>
              <a:ext cx="260350" cy="3317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29" name="Equation" r:id="rId9" imgW="139680" imgH="177480" progId="Equation.DSMT4">
                      <p:embed/>
                    </p:oleObj>
                  </mc:Choice>
                  <mc:Fallback>
                    <p:oleObj name="Equation" r:id="rId9" imgW="139680" imgH="177480" progId="Equation.DSMT4">
                      <p:embed/>
                      <p:pic>
                        <p:nvPicPr>
                          <p:cNvPr id="0" name="Picture 2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2737" y="2158110"/>
                            <a:ext cx="260350" cy="3317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002" name="Object 234"/>
            <p:cNvGraphicFramePr>
              <a:graphicFrameLocks noChangeAspect="1"/>
            </p:cNvGraphicFramePr>
            <p:nvPr/>
          </p:nvGraphicFramePr>
          <p:xfrm>
            <a:off x="8099182" y="2171796"/>
            <a:ext cx="236537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0" name="Equation" r:id="rId11" imgW="126720" imgH="139680" progId="Equation.DSMT4">
                    <p:embed/>
                  </p:oleObj>
                </mc:Choice>
                <mc:Fallback>
                  <p:oleObj name="Equation" r:id="rId11" imgW="126720" imgH="139680" progId="Equation.DSMT4">
                    <p:embed/>
                    <p:pic>
                      <p:nvPicPr>
                        <p:cNvPr id="0" name="Picture 2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99182" y="2171796"/>
                          <a:ext cx="236537" cy="260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左右箭头 51"/>
          <p:cNvSpPr/>
          <p:nvPr/>
        </p:nvSpPr>
        <p:spPr>
          <a:xfrm>
            <a:off x="5478463" y="2874963"/>
            <a:ext cx="623887" cy="327025"/>
          </a:xfrm>
          <a:prstGeom prst="leftRightArrow">
            <a:avLst/>
          </a:prstGeom>
          <a:noFill/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3" name="组合 52"/>
          <p:cNvGrpSpPr>
            <a:grpSpLocks/>
          </p:cNvGrpSpPr>
          <p:nvPr/>
        </p:nvGrpSpPr>
        <p:grpSpPr bwMode="auto">
          <a:xfrm>
            <a:off x="6145213" y="2800350"/>
            <a:ext cx="4516437" cy="479425"/>
            <a:chOff x="7658669" y="1984790"/>
            <a:chExt cx="4516467" cy="479355"/>
          </a:xfrm>
        </p:grpSpPr>
        <p:sp>
          <p:nvSpPr>
            <p:cNvPr id="33033" name="文本框 53"/>
            <p:cNvSpPr txBox="1">
              <a:spLocks noChangeArrowheads="1"/>
            </p:cNvSpPr>
            <p:nvPr/>
          </p:nvSpPr>
          <p:spPr bwMode="auto">
            <a:xfrm>
              <a:off x="7658669" y="1984790"/>
              <a:ext cx="4516467" cy="47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方程组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                    有非零解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     </a:t>
              </a:r>
            </a:p>
          </p:txBody>
        </p:sp>
        <p:graphicFrame>
          <p:nvGraphicFramePr>
            <p:cNvPr id="33003" name="Object 235"/>
            <p:cNvGraphicFramePr>
              <a:graphicFrameLocks noChangeAspect="1"/>
            </p:cNvGraphicFramePr>
            <p:nvPr/>
          </p:nvGraphicFramePr>
          <p:xfrm>
            <a:off x="8821879" y="1992657"/>
            <a:ext cx="1728788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1" name="Equation" r:id="rId13" imgW="927000" imgH="253800" progId="Equation.DSMT4">
                    <p:embed/>
                  </p:oleObj>
                </mc:Choice>
                <mc:Fallback>
                  <p:oleObj name="Equation" r:id="rId13" imgW="927000" imgH="253800" progId="Equation.DSMT4">
                    <p:embed/>
                    <p:pic>
                      <p:nvPicPr>
                        <p:cNvPr id="0" name="Picture 2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21879" y="1992657"/>
                          <a:ext cx="1728788" cy="471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左右箭头 55"/>
          <p:cNvSpPr/>
          <p:nvPr/>
        </p:nvSpPr>
        <p:spPr>
          <a:xfrm>
            <a:off x="5518150" y="3595688"/>
            <a:ext cx="623888" cy="325437"/>
          </a:xfrm>
          <a:prstGeom prst="leftRightArrow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57" name="Object 236"/>
          <p:cNvGraphicFramePr>
            <a:graphicFrameLocks noChangeAspect="1"/>
          </p:cNvGraphicFramePr>
          <p:nvPr/>
        </p:nvGraphicFramePr>
        <p:xfrm>
          <a:off x="6337300" y="3486150"/>
          <a:ext cx="14208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2" name="Equation" r:id="rId15" imgW="761760" imgH="253800" progId="Equation.DSMT4">
                  <p:embed/>
                </p:oleObj>
              </mc:Choice>
              <mc:Fallback>
                <p:oleObj name="Equation" r:id="rId15" imgW="761760" imgH="253800" progId="Equation.DSMT4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3486150"/>
                        <a:ext cx="1420813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左大括号 18"/>
          <p:cNvSpPr/>
          <p:nvPr/>
        </p:nvSpPr>
        <p:spPr>
          <a:xfrm>
            <a:off x="520700" y="4484688"/>
            <a:ext cx="479425" cy="13096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987643" y="4254382"/>
            <a:ext cx="1678145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圆角矩形 5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求特征值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2773363" y="4349750"/>
            <a:ext cx="3302000" cy="481013"/>
            <a:chOff x="2832268" y="4368780"/>
            <a:chExt cx="3302219" cy="481389"/>
          </a:xfrm>
        </p:grpSpPr>
        <p:sp>
          <p:nvSpPr>
            <p:cNvPr id="33032" name="文本框 19"/>
            <p:cNvSpPr txBox="1">
              <a:spLocks noChangeArrowheads="1"/>
            </p:cNvSpPr>
            <p:nvPr/>
          </p:nvSpPr>
          <p:spPr bwMode="auto">
            <a:xfrm>
              <a:off x="2832268" y="4368780"/>
              <a:ext cx="314314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求满足                  的</a:t>
              </a:r>
            </a:p>
          </p:txBody>
        </p:sp>
        <p:graphicFrame>
          <p:nvGraphicFramePr>
            <p:cNvPr id="33005" name="Object 237"/>
            <p:cNvGraphicFramePr>
              <a:graphicFrameLocks noChangeAspect="1"/>
            </p:cNvGraphicFramePr>
            <p:nvPr/>
          </p:nvGraphicFramePr>
          <p:xfrm>
            <a:off x="3956082" y="4378682"/>
            <a:ext cx="1420812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3" name="Equation" r:id="rId17" imgW="761760" imgH="253800" progId="Equation.DSMT4">
                    <p:embed/>
                  </p:oleObj>
                </mc:Choice>
                <mc:Fallback>
                  <p:oleObj name="Equation" r:id="rId17" imgW="761760" imgH="253800" progId="Equation.DSMT4">
                    <p:embed/>
                    <p:pic>
                      <p:nvPicPr>
                        <p:cNvPr id="0" name="Picture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082" y="4378682"/>
                          <a:ext cx="1420812" cy="4714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006" name="Object 238"/>
            <p:cNvGraphicFramePr>
              <a:graphicFrameLocks noChangeAspect="1"/>
            </p:cNvGraphicFramePr>
            <p:nvPr/>
          </p:nvGraphicFramePr>
          <p:xfrm>
            <a:off x="5874137" y="4434385"/>
            <a:ext cx="260350" cy="33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4" name="Equation" r:id="rId18" imgW="139680" imgH="177480" progId="Equation.DSMT4">
                    <p:embed/>
                  </p:oleObj>
                </mc:Choice>
                <mc:Fallback>
                  <p:oleObj name="Equation" r:id="rId18" imgW="139680" imgH="177480" progId="Equation.DSMT4">
                    <p:embed/>
                    <p:pic>
                      <p:nvPicPr>
                        <p:cNvPr id="0" name="Picture 2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4137" y="4434385"/>
                          <a:ext cx="260350" cy="331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/>
          <p:cNvGrpSpPr/>
          <p:nvPr/>
        </p:nvGrpSpPr>
        <p:grpSpPr>
          <a:xfrm>
            <a:off x="864370" y="5277057"/>
            <a:ext cx="1917418" cy="651368"/>
            <a:chOff x="419808" y="2137359"/>
            <a:chExt cx="138209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4" name="圆角矩形 63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19808" y="2232210"/>
              <a:ext cx="1382090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求特征向量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>
            <a:grpSpLocks/>
          </p:cNvGrpSpPr>
          <p:nvPr/>
        </p:nvGrpSpPr>
        <p:grpSpPr bwMode="auto">
          <a:xfrm>
            <a:off x="2781300" y="5424488"/>
            <a:ext cx="7243763" cy="476250"/>
            <a:chOff x="2832267" y="4368780"/>
            <a:chExt cx="7243080" cy="477306"/>
          </a:xfrm>
        </p:grpSpPr>
        <p:sp>
          <p:nvSpPr>
            <p:cNvPr id="33031" name="文本框 66"/>
            <p:cNvSpPr txBox="1">
              <a:spLocks noChangeArrowheads="1"/>
            </p:cNvSpPr>
            <p:nvPr/>
          </p:nvSpPr>
          <p:spPr bwMode="auto">
            <a:xfrm>
              <a:off x="2832267" y="4368780"/>
              <a:ext cx="724308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对特征值   ，                    的非零解即为</a:t>
              </a:r>
              <a:r>
                <a:rPr lang="zh-CN" altLang="en-US" sz="2400" dirty="0" smtClean="0">
                  <a:latin typeface="微软雅黑" pitchFamily="34" charset="-122"/>
                  <a:ea typeface="微软雅黑" pitchFamily="34" charset="-122"/>
                </a:rPr>
                <a:t>特征向量。</a:t>
              </a:r>
              <a:endParaRPr lang="zh-CN" altLang="en-US" sz="2400" dirty="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33007" name="Object 239"/>
            <p:cNvGraphicFramePr>
              <a:graphicFrameLocks noChangeAspect="1"/>
            </p:cNvGraphicFramePr>
            <p:nvPr/>
          </p:nvGraphicFramePr>
          <p:xfrm>
            <a:off x="4788400" y="4374598"/>
            <a:ext cx="1752600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5" name="Equation" r:id="rId20" imgW="939600" imgH="253800" progId="Equation.DSMT4">
                    <p:embed/>
                  </p:oleObj>
                </mc:Choice>
                <mc:Fallback>
                  <p:oleObj name="Equation" r:id="rId20" imgW="939600" imgH="253800" progId="Equation.DSMT4">
                    <p:embed/>
                    <p:pic>
                      <p:nvPicPr>
                        <p:cNvPr id="0" name="Picture 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400" y="4374598"/>
                          <a:ext cx="1752600" cy="471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008" name="Object 240"/>
            <p:cNvGraphicFramePr>
              <a:graphicFrameLocks noChangeAspect="1"/>
            </p:cNvGraphicFramePr>
            <p:nvPr/>
          </p:nvGraphicFramePr>
          <p:xfrm>
            <a:off x="4206533" y="4420636"/>
            <a:ext cx="28416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" name="Equation" r:id="rId22" imgW="152280" imgH="228600" progId="Equation.DSMT4">
                    <p:embed/>
                  </p:oleObj>
                </mc:Choice>
                <mc:Fallback>
                  <p:oleObj name="Equation" r:id="rId22" imgW="152280" imgH="228600" progId="Equation.DSMT4">
                    <p:embed/>
                    <p:pic>
                      <p:nvPicPr>
                        <p:cNvPr id="0" name="Picture 2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6533" y="4420636"/>
                          <a:ext cx="28416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6317455" y="4207795"/>
            <a:ext cx="5710514" cy="697956"/>
            <a:chOff x="9094091" y="3650094"/>
            <a:chExt cx="4014404" cy="1070501"/>
          </a:xfrm>
        </p:grpSpPr>
        <p:sp>
          <p:nvSpPr>
            <p:cNvPr id="71" name="圆角矩形 70"/>
            <p:cNvSpPr/>
            <p:nvPr/>
          </p:nvSpPr>
          <p:spPr>
            <a:xfrm>
              <a:off x="9108037" y="3650094"/>
              <a:ext cx="4000458" cy="1070501"/>
            </a:xfrm>
            <a:prstGeom prst="roundRect">
              <a:avLst/>
            </a:prstGeom>
            <a:solidFill>
              <a:schemeClr val="accent2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33029" name="组合 71"/>
            <p:cNvGrpSpPr>
              <a:grpSpLocks/>
            </p:cNvGrpSpPr>
            <p:nvPr/>
          </p:nvGrpSpPr>
          <p:grpSpPr bwMode="auto">
            <a:xfrm>
              <a:off x="9094091" y="3746424"/>
              <a:ext cx="4014404" cy="780419"/>
              <a:chOff x="8769338" y="4326588"/>
              <a:chExt cx="4014404" cy="780419"/>
            </a:xfrm>
          </p:grpSpPr>
          <p:graphicFrame>
            <p:nvGraphicFramePr>
              <p:cNvPr id="33009" name="Object 2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8883914"/>
                  </p:ext>
                </p:extLst>
              </p:nvPr>
            </p:nvGraphicFramePr>
            <p:xfrm>
              <a:off x="8769338" y="4398466"/>
              <a:ext cx="2300051" cy="708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37" name="Equation" r:id="rId24" imgW="990360" imgH="253800" progId="Equation.DSMT4">
                      <p:embed/>
                    </p:oleObj>
                  </mc:Choice>
                  <mc:Fallback>
                    <p:oleObj name="Equation" r:id="rId24" imgW="990360" imgH="253800" progId="Equation.DSMT4">
                      <p:embed/>
                      <p:pic>
                        <p:nvPicPr>
                          <p:cNvPr id="0" name="Picture 2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769338" y="4398466"/>
                            <a:ext cx="2300051" cy="708541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30" name="文本框 73"/>
              <p:cNvSpPr txBox="1">
                <a:spLocks noChangeArrowheads="1"/>
              </p:cNvSpPr>
              <p:nvPr/>
            </p:nvSpPr>
            <p:spPr bwMode="auto">
              <a:xfrm>
                <a:off x="9578985" y="4326588"/>
                <a:ext cx="3204757" cy="7080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i="1" dirty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          </a:t>
                </a:r>
                <a:r>
                  <a:rPr lang="en-US" altLang="zh-CN" sz="2400" i="1" dirty="0" smtClean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              </a:t>
                </a:r>
                <a:r>
                  <a:rPr lang="zh-CN" altLang="en-US" sz="2400" dirty="0" smtClean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：</a:t>
                </a:r>
                <a:r>
                  <a:rPr lang="en-US" altLang="zh-CN" sz="2400" i="1" dirty="0">
                    <a:solidFill>
                      <a:schemeClr val="bg1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A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 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 </a:t>
                </a:r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的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特征多项式</a:t>
                </a:r>
              </a:p>
            </p:txBody>
          </p:sp>
        </p:grpSp>
      </p:grpSp>
      <p:grpSp>
        <p:nvGrpSpPr>
          <p:cNvPr id="75" name="组合 74"/>
          <p:cNvGrpSpPr>
            <a:grpSpLocks/>
          </p:cNvGrpSpPr>
          <p:nvPr/>
        </p:nvGrpSpPr>
        <p:grpSpPr bwMode="auto">
          <a:xfrm>
            <a:off x="7953374" y="3367089"/>
            <a:ext cx="2244726" cy="576262"/>
            <a:chOff x="9108041" y="4200270"/>
            <a:chExt cx="2244997" cy="575398"/>
          </a:xfrm>
        </p:grpSpPr>
        <p:sp>
          <p:nvSpPr>
            <p:cNvPr id="76" name="圆角矩形 75"/>
            <p:cNvSpPr/>
            <p:nvPr/>
          </p:nvSpPr>
          <p:spPr>
            <a:xfrm>
              <a:off x="9108041" y="4200270"/>
              <a:ext cx="2244996" cy="575398"/>
            </a:xfrm>
            <a:prstGeom prst="roundRect">
              <a:avLst/>
            </a:prstGeom>
            <a:solidFill>
              <a:schemeClr val="accent2"/>
            </a:soli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3027" name="文本框 78"/>
            <p:cNvSpPr txBox="1">
              <a:spLocks noChangeArrowheads="1"/>
            </p:cNvSpPr>
            <p:nvPr/>
          </p:nvSpPr>
          <p:spPr bwMode="auto">
            <a:xfrm>
              <a:off x="9276816" y="4268743"/>
              <a:ext cx="207622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400" i="1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的特征方程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 animBg="1"/>
      <p:bldP spid="52" grpId="0" animBg="1"/>
      <p:bldP spid="56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组合 1"/>
          <p:cNvGrpSpPr>
            <a:grpSpLocks/>
          </p:cNvGrpSpPr>
          <p:nvPr/>
        </p:nvGrpSpPr>
        <p:grpSpPr bwMode="auto">
          <a:xfrm>
            <a:off x="1046163" y="1270000"/>
            <a:ext cx="9186862" cy="904875"/>
            <a:chOff x="582613" y="1284365"/>
            <a:chExt cx="6890599" cy="904026"/>
          </a:xfrm>
        </p:grpSpPr>
        <p:sp>
          <p:nvSpPr>
            <p:cNvPr id="44035" name="Text Box 2"/>
            <p:cNvSpPr txBox="1">
              <a:spLocks noChangeArrowheads="1"/>
            </p:cNvSpPr>
            <p:nvPr/>
          </p:nvSpPr>
          <p:spPr bwMode="auto">
            <a:xfrm>
              <a:off x="582613" y="1360494"/>
              <a:ext cx="6890599" cy="639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400" b="1">
                  <a:solidFill>
                    <a:schemeClr val="accent2"/>
                  </a:solidFill>
                  <a:latin typeface="Verdana" pitchFamily="34" charset="0"/>
                </a:rPr>
                <a:t>1  </a:t>
              </a:r>
              <a:r>
                <a:rPr lang="zh-CN" altLang="en-US" sz="2400" b="1">
                  <a:latin typeface="Verdana" pitchFamily="34" charset="0"/>
                </a:rPr>
                <a:t>求                             的特征值与特征向量</a:t>
              </a:r>
            </a:p>
          </p:txBody>
        </p:sp>
        <p:graphicFrame>
          <p:nvGraphicFramePr>
            <p:cNvPr id="44036" name="Object 3"/>
            <p:cNvGraphicFramePr>
              <a:graphicFrameLocks noChangeAspect="1"/>
            </p:cNvGraphicFramePr>
            <p:nvPr/>
          </p:nvGraphicFramePr>
          <p:xfrm>
            <a:off x="1917391" y="1284365"/>
            <a:ext cx="1609831" cy="904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0" name="Equation" r:id="rId3" imgW="812520" imgH="457200" progId="Equation.DSMT4">
                    <p:embed/>
                  </p:oleObj>
                </mc:Choice>
                <mc:Fallback>
                  <p:oleObj name="Equation" r:id="rId3" imgW="812520" imgH="457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391" y="1284365"/>
                          <a:ext cx="1609831" cy="9040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37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4043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endParaRPr lang="zh-CN" altLang="en-US" sz="2000" b="1">
              <a:latin typeface="Verdana" pitchFamily="34" charset="0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750888" y="2619375"/>
            <a:ext cx="9594850" cy="1243013"/>
            <a:chOff x="1259632" y="1933698"/>
            <a:chExt cx="6840760" cy="1073561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3549"/>
              <a:ext cx="6840760" cy="9337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解：</a:t>
              </a: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     </a:t>
              </a: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    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44046" name="对象 30"/>
            <p:cNvGraphicFramePr>
              <a:graphicFrameLocks noChangeAspect="1"/>
            </p:cNvGraphicFramePr>
            <p:nvPr/>
          </p:nvGraphicFramePr>
          <p:xfrm>
            <a:off x="2408363" y="1933698"/>
            <a:ext cx="5114400" cy="806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1" name="Equation" r:id="rId5" imgW="2641320" imgH="457200" progId="Equation.DSMT4">
                    <p:embed/>
                  </p:oleObj>
                </mc:Choice>
                <mc:Fallback>
                  <p:oleObj name="Equation" r:id="rId5" imgW="2641320" imgH="45720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363" y="1933698"/>
                          <a:ext cx="5114400" cy="806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989807" y="3805053"/>
            <a:ext cx="9117012" cy="1206334"/>
            <a:chOff x="1259632" y="2074138"/>
            <a:chExt cx="6839757" cy="1327566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2074138"/>
              <a:ext cx="6839757" cy="1327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endParaRPr lang="en-US" altLang="zh-CN" sz="2400" b="1">
                <a:solidFill>
                  <a:schemeClr val="tx1"/>
                </a:solidFill>
                <a:latin typeface="Verdana" pitchFamily="34" charset="0"/>
              </a:endParaRPr>
            </a:p>
            <a:p>
              <a:r>
                <a:rPr lang="en-US" altLang="zh-CN" sz="2400" b="1">
                  <a:solidFill>
                    <a:schemeClr val="tx1"/>
                  </a:solidFill>
                  <a:latin typeface="Verdana" pitchFamily="34" charset="0"/>
                </a:rPr>
                <a:t>    </a:t>
              </a:r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由                         得，所有特征值为</a:t>
              </a:r>
            </a:p>
          </p:txBody>
        </p:sp>
        <p:graphicFrame>
          <p:nvGraphicFramePr>
            <p:cNvPr id="44050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186484"/>
                </p:ext>
              </p:extLst>
            </p:nvPr>
          </p:nvGraphicFramePr>
          <p:xfrm>
            <a:off x="5863934" y="2533863"/>
            <a:ext cx="1822188" cy="408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2" name="Equation" r:id="rId7" imgW="901440" imgH="228600" progId="Equation.DSMT4">
                    <p:embed/>
                  </p:oleObj>
                </mc:Choice>
                <mc:Fallback>
                  <p:oleObj name="Equation" r:id="rId7" imgW="901440" imgH="228600" progId="Equation.DSMT4">
                    <p:embed/>
                    <p:pic>
                      <p:nvPicPr>
                        <p:cNvPr id="0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3934" y="2533863"/>
                          <a:ext cx="1822188" cy="4081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1" name="对象 37"/>
            <p:cNvGraphicFramePr>
              <a:graphicFrameLocks noChangeAspect="1"/>
            </p:cNvGraphicFramePr>
            <p:nvPr/>
          </p:nvGraphicFramePr>
          <p:xfrm>
            <a:off x="2123728" y="2483652"/>
            <a:ext cx="1539464" cy="453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3" name="Equation" r:id="rId9" imgW="761669" imgH="253890" progId="Equation.DSMT4">
                    <p:embed/>
                  </p:oleObj>
                </mc:Choice>
                <mc:Fallback>
                  <p:oleObj name="Equation" r:id="rId9" imgW="761669" imgH="253890" progId="Equation.DSMT4">
                    <p:embed/>
                    <p:pic>
                      <p:nvPicPr>
                        <p:cNvPr id="0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483652"/>
                          <a:ext cx="1539464" cy="4539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3"/>
          <p:cNvSpPr txBox="1">
            <a:spLocks noChangeArrowheads="1"/>
          </p:cNvSpPr>
          <p:nvPr/>
        </p:nvSpPr>
        <p:spPr bwMode="auto">
          <a:xfrm>
            <a:off x="7469188" y="492125"/>
            <a:ext cx="41513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ea typeface="华文行楷"/>
                <a:cs typeface="华文行楷"/>
              </a:rPr>
              <a:t>4.2 </a:t>
            </a:r>
            <a:r>
              <a:rPr lang="zh-CN" altLang="en-US" sz="2400" dirty="0">
                <a:solidFill>
                  <a:srgbClr val="C00000"/>
                </a:solidFill>
                <a:ea typeface="华文行楷"/>
                <a:cs typeface="华文行楷"/>
              </a:rPr>
              <a:t>方阵的特征值与特征向量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5064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 dirty="0" smtClean="0">
                <a:solidFill>
                  <a:srgbClr val="FF0000"/>
                </a:solidFill>
                <a:latin typeface="Verdana" pitchFamily="34" charset="0"/>
              </a:rPr>
              <a:t>4.2  </a:t>
            </a:r>
            <a:r>
              <a:rPr lang="zh-CN" altLang="en-US" sz="2000" b="1" dirty="0">
                <a:solidFill>
                  <a:srgbClr val="FF0000"/>
                </a:solidFill>
                <a:latin typeface="Verdana" pitchFamily="34" charset="0"/>
              </a:rPr>
              <a:t>方阵的特征值与特征向量</a:t>
            </a: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701675" y="1176338"/>
            <a:ext cx="9121775" cy="1573212"/>
            <a:chOff x="1259632" y="2074138"/>
            <a:chExt cx="6840809" cy="1573191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138"/>
              <a:ext cx="6840809" cy="13271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当             时，解齐次线性方程组</a:t>
              </a:r>
            </a:p>
          </p:txBody>
        </p:sp>
        <p:graphicFrame>
          <p:nvGraphicFramePr>
            <p:cNvPr id="45067" name="对象 30"/>
            <p:cNvGraphicFramePr>
              <a:graphicFrameLocks noChangeAspect="1"/>
            </p:cNvGraphicFramePr>
            <p:nvPr/>
          </p:nvGraphicFramePr>
          <p:xfrm>
            <a:off x="1585858" y="2164624"/>
            <a:ext cx="887001" cy="314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3" name="Equation" r:id="rId3" imgW="457200" imgH="177480" progId="Equation.DSMT4">
                    <p:embed/>
                  </p:oleObj>
                </mc:Choice>
                <mc:Fallback>
                  <p:oleObj name="Equation" r:id="rId3" imgW="457200" imgH="17748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5858" y="2164624"/>
                          <a:ext cx="887001" cy="314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8" name="对象 18"/>
            <p:cNvGraphicFramePr>
              <a:graphicFrameLocks noChangeAspect="1"/>
            </p:cNvGraphicFramePr>
            <p:nvPr/>
          </p:nvGraphicFramePr>
          <p:xfrm>
            <a:off x="2149014" y="2829778"/>
            <a:ext cx="5748243" cy="817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4" name="Equation" r:id="rId5" imgW="2844720" imgH="457200" progId="Equation.DSMT4">
                    <p:embed/>
                  </p:oleObj>
                </mc:Choice>
                <mc:Fallback>
                  <p:oleObj name="Equation" r:id="rId5" imgW="2844720" imgH="457200" progId="Equation.DSMT4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014" y="2829778"/>
                          <a:ext cx="5748243" cy="8175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854075" y="3979863"/>
            <a:ext cx="9120188" cy="1574800"/>
            <a:chOff x="1259632" y="2074138"/>
            <a:chExt cx="6840186" cy="1575332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2074138"/>
              <a:ext cx="6840186" cy="13275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当           时，解齐次线性方程组</a:t>
              </a:r>
            </a:p>
            <a:p>
              <a:endParaRPr lang="zh-CN" altLang="en-US" sz="2400" b="1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graphicFrame>
          <p:nvGraphicFramePr>
            <p:cNvPr id="45071" name="对象 29"/>
            <p:cNvGraphicFramePr>
              <a:graphicFrameLocks noChangeAspect="1"/>
            </p:cNvGraphicFramePr>
            <p:nvPr/>
          </p:nvGraphicFramePr>
          <p:xfrm>
            <a:off x="1672758" y="2164656"/>
            <a:ext cx="713147" cy="314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5" name="Equation" r:id="rId7" imgW="368280" imgH="177480" progId="Equation.DSMT4">
                    <p:embed/>
                  </p:oleObj>
                </mc:Choice>
                <mc:Fallback>
                  <p:oleObj name="Equation" r:id="rId7" imgW="368280" imgH="177480" progId="Equation.DSMT4">
                    <p:embed/>
                    <p:pic>
                      <p:nvPicPr>
                        <p:cNvPr id="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758" y="2164656"/>
                          <a:ext cx="713147" cy="3144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2" name="对象 32"/>
            <p:cNvGraphicFramePr>
              <a:graphicFrameLocks noChangeAspect="1"/>
            </p:cNvGraphicFramePr>
            <p:nvPr/>
          </p:nvGraphicFramePr>
          <p:xfrm>
            <a:off x="2251372" y="2831631"/>
            <a:ext cx="5542074" cy="817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6" name="Equation" r:id="rId9" imgW="2743200" imgH="457200" progId="Equation.DSMT4">
                    <p:embed/>
                  </p:oleObj>
                </mc:Choice>
                <mc:Fallback>
                  <p:oleObj name="Equation" r:id="rId9" imgW="2743200" imgH="457200" progId="Equation.DSMT4">
                    <p:embed/>
                    <p:pic>
                      <p:nvPicPr>
                        <p:cNvPr id="0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1372" y="2831631"/>
                          <a:ext cx="5542074" cy="8178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1168400" y="3143250"/>
            <a:ext cx="9906000" cy="579438"/>
            <a:chOff x="1259632" y="2074138"/>
            <a:chExt cx="7430482" cy="579443"/>
          </a:xfrm>
        </p:grpSpPr>
        <p:sp>
          <p:nvSpPr>
            <p:cNvPr id="36" name="TextBox 35"/>
            <p:cNvSpPr txBox="1"/>
            <p:nvPr/>
          </p:nvSpPr>
          <p:spPr>
            <a:xfrm>
              <a:off x="1259632" y="2074138"/>
              <a:ext cx="6841045" cy="579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所以，属于                  的所有特征向量为</a:t>
              </a:r>
            </a:p>
          </p:txBody>
        </p:sp>
        <p:graphicFrame>
          <p:nvGraphicFramePr>
            <p:cNvPr id="45075" name="对象 36"/>
            <p:cNvGraphicFramePr>
              <a:graphicFrameLocks noChangeAspect="1"/>
            </p:cNvGraphicFramePr>
            <p:nvPr/>
          </p:nvGraphicFramePr>
          <p:xfrm>
            <a:off x="2931256" y="2165197"/>
            <a:ext cx="7143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7" name="Equation" r:id="rId11" imgW="368140" imgH="177723" progId="Equation.DSMT4">
                    <p:embed/>
                  </p:oleObj>
                </mc:Choice>
                <mc:Fallback>
                  <p:oleObj name="Equation" r:id="rId11" imgW="368140" imgH="177723" progId="Equation.DSMT4">
                    <p:embed/>
                    <p:pic>
                      <p:nvPicPr>
                        <p:cNvPr id="0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1256" y="2165197"/>
                          <a:ext cx="71437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6" name="对象 38"/>
            <p:cNvGraphicFramePr>
              <a:graphicFrameLocks noChangeAspect="1"/>
            </p:cNvGraphicFramePr>
            <p:nvPr/>
          </p:nvGraphicFramePr>
          <p:xfrm>
            <a:off x="6399351" y="2087737"/>
            <a:ext cx="2290763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8" name="Equation" r:id="rId13" imgW="1180588" imgH="253890" progId="Equation.DSMT4">
                    <p:embed/>
                  </p:oleObj>
                </mc:Choice>
                <mc:Fallback>
                  <p:oleObj name="Equation" r:id="rId13" imgW="1180588" imgH="253890" progId="Equation.DSMT4">
                    <p:embed/>
                    <p:pic>
                      <p:nvPicPr>
                        <p:cNvPr id="0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9351" y="2087737"/>
                          <a:ext cx="2290763" cy="449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1085850" y="5949950"/>
            <a:ext cx="9988550" cy="579438"/>
            <a:chOff x="1259632" y="2074138"/>
            <a:chExt cx="7491874" cy="579443"/>
          </a:xfrm>
        </p:grpSpPr>
        <p:sp>
          <p:nvSpPr>
            <p:cNvPr id="41" name="TextBox 40"/>
            <p:cNvSpPr txBox="1"/>
            <p:nvPr/>
          </p:nvSpPr>
          <p:spPr>
            <a:xfrm>
              <a:off x="1259632" y="2074138"/>
              <a:ext cx="6840562" cy="579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所以，属于                  的所有特征向量为</a:t>
              </a:r>
            </a:p>
          </p:txBody>
        </p:sp>
        <p:graphicFrame>
          <p:nvGraphicFramePr>
            <p:cNvPr id="45079" name="对象 41"/>
            <p:cNvGraphicFramePr>
              <a:graphicFrameLocks noChangeAspect="1"/>
            </p:cNvGraphicFramePr>
            <p:nvPr/>
          </p:nvGraphicFramePr>
          <p:xfrm>
            <a:off x="2955544" y="2165296"/>
            <a:ext cx="6651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9" name="Equation" r:id="rId15" imgW="342603" imgH="177646" progId="Equation.DSMT4">
                    <p:embed/>
                  </p:oleObj>
                </mc:Choice>
                <mc:Fallback>
                  <p:oleObj name="Equation" r:id="rId15" imgW="342603" imgH="177646" progId="Equation.DSMT4">
                    <p:embed/>
                    <p:pic>
                      <p:nvPicPr>
                        <p:cNvPr id="0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5544" y="2165296"/>
                          <a:ext cx="665162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0" name="对象 42"/>
            <p:cNvGraphicFramePr>
              <a:graphicFrameLocks noChangeAspect="1"/>
            </p:cNvGraphicFramePr>
            <p:nvPr/>
          </p:nvGraphicFramePr>
          <p:xfrm>
            <a:off x="6338506" y="2087508"/>
            <a:ext cx="2413000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60" name="Equation" r:id="rId17" imgW="1244600" imgH="254000" progId="Equation.DSMT4">
                    <p:embed/>
                  </p:oleObj>
                </mc:Choice>
                <mc:Fallback>
                  <p:oleObj name="Equation" r:id="rId17" imgW="1244600" imgH="254000" progId="Equation.DSMT4">
                    <p:embed/>
                    <p:pic>
                      <p:nvPicPr>
                        <p:cNvPr id="0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8506" y="2087508"/>
                          <a:ext cx="2413000" cy="449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25"/>
          <p:cNvGraphicFramePr>
            <a:graphicFrameLocks noChangeAspect="1"/>
          </p:cNvGraphicFramePr>
          <p:nvPr/>
        </p:nvGraphicFramePr>
        <p:xfrm>
          <a:off x="5776913" y="1198563"/>
          <a:ext cx="217011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1" name="Equation" r:id="rId19" imgW="1041120" imgH="253800" progId="Equation.DSMT4">
                  <p:embed/>
                </p:oleObj>
              </mc:Choice>
              <mc:Fallback>
                <p:oleObj name="Equation" r:id="rId19" imgW="1041120" imgH="2538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1198563"/>
                        <a:ext cx="2170112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/>
        </p:nvGraphicFramePr>
        <p:xfrm>
          <a:off x="5688013" y="3960813"/>
          <a:ext cx="201136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62" name="Equation" r:id="rId21" imgW="965160" imgH="253800" progId="Equation.DSMT4">
                  <p:embed/>
                </p:oleObj>
              </mc:Choice>
              <mc:Fallback>
                <p:oleObj name="Equation" r:id="rId21" imgW="965160" imgH="2538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3960813"/>
                        <a:ext cx="2011362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组合 1"/>
          <p:cNvGrpSpPr>
            <a:grpSpLocks/>
          </p:cNvGrpSpPr>
          <p:nvPr/>
        </p:nvGrpSpPr>
        <p:grpSpPr bwMode="auto">
          <a:xfrm>
            <a:off x="984250" y="1090613"/>
            <a:ext cx="9186863" cy="1408112"/>
            <a:chOff x="582613" y="976680"/>
            <a:chExt cx="6890599" cy="1406790"/>
          </a:xfrm>
        </p:grpSpPr>
        <p:sp>
          <p:nvSpPr>
            <p:cNvPr id="43011" name="Text Box 2"/>
            <p:cNvSpPr txBox="1">
              <a:spLocks noChangeArrowheads="1"/>
            </p:cNvSpPr>
            <p:nvPr/>
          </p:nvSpPr>
          <p:spPr bwMode="auto">
            <a:xfrm>
              <a:off x="582613" y="1360494"/>
              <a:ext cx="6890599" cy="645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itchFamily="34" charset="0"/>
                </a:rPr>
                <a:t>2  </a:t>
              </a:r>
              <a:r>
                <a:rPr lang="zh-CN" altLang="en-US" sz="2400" b="1" dirty="0">
                  <a:latin typeface="Verdana" pitchFamily="34" charset="0"/>
                </a:rPr>
                <a:t>求                             </a:t>
              </a:r>
              <a:r>
                <a:rPr lang="zh-CN" altLang="en-US" sz="2400" b="1" dirty="0" smtClean="0">
                  <a:latin typeface="Verdana" pitchFamily="34" charset="0"/>
                </a:rPr>
                <a:t>的</a:t>
              </a:r>
              <a:r>
                <a:rPr lang="zh-CN" altLang="en-US" sz="2400" b="1" dirty="0">
                  <a:latin typeface="Verdana" pitchFamily="34" charset="0"/>
                </a:rPr>
                <a:t>特征值与特征向量</a:t>
              </a:r>
              <a:r>
                <a:rPr lang="en-US" altLang="zh-CN" sz="2400" b="1" dirty="0">
                  <a:latin typeface="Verdana" pitchFamily="34" charset="0"/>
                </a:rPr>
                <a:t>.</a:t>
              </a:r>
            </a:p>
          </p:txBody>
        </p:sp>
        <p:graphicFrame>
          <p:nvGraphicFramePr>
            <p:cNvPr id="4301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96792"/>
                </p:ext>
              </p:extLst>
            </p:nvPr>
          </p:nvGraphicFramePr>
          <p:xfrm>
            <a:off x="1494887" y="976680"/>
            <a:ext cx="2062575" cy="1406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4" name="Equation" r:id="rId3" imgW="1040948" imgH="710891" progId="Equation.DSMT4">
                    <p:embed/>
                  </p:oleObj>
                </mc:Choice>
                <mc:Fallback>
                  <p:oleObj name="Equation" r:id="rId3" imgW="1040948" imgH="710891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4887" y="976680"/>
                          <a:ext cx="2062575" cy="14067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3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3019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4.2  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方阵的特征值与特征向量</a:t>
            </a: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839788" y="2711450"/>
            <a:ext cx="9120187" cy="1296988"/>
            <a:chOff x="1259632" y="1709775"/>
            <a:chExt cx="6840760" cy="1297484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3452"/>
              <a:ext cx="6840760" cy="9338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解：</a:t>
              </a: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     </a:t>
              </a: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    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43022" name="对象 30"/>
            <p:cNvGraphicFramePr>
              <a:graphicFrameLocks noChangeAspect="1"/>
            </p:cNvGraphicFramePr>
            <p:nvPr/>
          </p:nvGraphicFramePr>
          <p:xfrm>
            <a:off x="1831578" y="1709775"/>
            <a:ext cx="6268814" cy="1255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5" name="Equation" r:id="rId5" imgW="3238500" imgH="711200" progId="Equation.DSMT4">
                    <p:embed/>
                  </p:oleObj>
                </mc:Choice>
                <mc:Fallback>
                  <p:oleObj name="Equation" r:id="rId5" imgW="3238500" imgH="71120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1578" y="1709775"/>
                          <a:ext cx="6268814" cy="1255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云形标注 1"/>
          <p:cNvSpPr/>
          <p:nvPr/>
        </p:nvSpPr>
        <p:spPr>
          <a:xfrm>
            <a:off x="6446838" y="2019300"/>
            <a:ext cx="1822450" cy="885825"/>
          </a:xfrm>
          <a:prstGeom prst="cloudCallout">
            <a:avLst>
              <a:gd name="adj1" fmla="val -60734"/>
              <a:gd name="adj2" fmla="val 7265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直接展开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839787" y="4706938"/>
            <a:ext cx="9117013" cy="1327150"/>
            <a:chOff x="1259632" y="2074138"/>
            <a:chExt cx="6839758" cy="1327566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2074138"/>
              <a:ext cx="6839758" cy="1327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endParaRPr lang="en-US" altLang="zh-CN" sz="2400" b="1">
                <a:solidFill>
                  <a:schemeClr val="tx1"/>
                </a:solidFill>
                <a:latin typeface="Verdana" pitchFamily="34" charset="0"/>
              </a:endParaRPr>
            </a:p>
            <a:p>
              <a:r>
                <a:rPr lang="en-US" altLang="zh-CN" sz="2400" b="1">
                  <a:solidFill>
                    <a:schemeClr val="tx1"/>
                  </a:solidFill>
                  <a:latin typeface="Verdana" pitchFamily="34" charset="0"/>
                </a:rPr>
                <a:t>    </a:t>
              </a:r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由                      得，所有特征值为</a:t>
              </a:r>
            </a:p>
          </p:txBody>
        </p:sp>
        <p:graphicFrame>
          <p:nvGraphicFramePr>
            <p:cNvPr id="4302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1897648"/>
                </p:ext>
              </p:extLst>
            </p:nvPr>
          </p:nvGraphicFramePr>
          <p:xfrm>
            <a:off x="5628419" y="2533927"/>
            <a:ext cx="2181225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6" name="Equation" r:id="rId7" imgW="1079500" imgH="228600" progId="Equation.DSMT4">
                    <p:embed/>
                  </p:oleObj>
                </mc:Choice>
                <mc:Fallback>
                  <p:oleObj name="Equation" r:id="rId7" imgW="1079500" imgH="228600" progId="Equation.DSMT4">
                    <p:embed/>
                    <p:pic>
                      <p:nvPicPr>
                        <p:cNvPr id="0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8419" y="2533927"/>
                          <a:ext cx="2181225" cy="4079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7" name="对象 37"/>
            <p:cNvGraphicFramePr>
              <a:graphicFrameLocks noChangeAspect="1"/>
            </p:cNvGraphicFramePr>
            <p:nvPr/>
          </p:nvGraphicFramePr>
          <p:xfrm>
            <a:off x="2123728" y="2483652"/>
            <a:ext cx="1539464" cy="453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7" name="Equation" r:id="rId9" imgW="761669" imgH="253890" progId="Equation.DSMT4">
                    <p:embed/>
                  </p:oleObj>
                </mc:Choice>
                <mc:Fallback>
                  <p:oleObj name="Equation" r:id="rId9" imgW="761669" imgH="253890" progId="Equation.DSMT4">
                    <p:embed/>
                    <p:pic>
                      <p:nvPicPr>
                        <p:cNvPr id="0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483652"/>
                          <a:ext cx="1539464" cy="4539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028" name="对象 36"/>
          <p:cNvGraphicFramePr>
            <a:graphicFrameLocks noGrp="1" noChangeAspect="1"/>
          </p:cNvGraphicFramePr>
          <p:nvPr>
            <p:ph idx="4294967295"/>
          </p:nvPr>
        </p:nvGraphicFramePr>
        <p:xfrm>
          <a:off x="2932113" y="4206875"/>
          <a:ext cx="54038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8" name="Equation" r:id="rId11" imgW="2400300" imgH="292100" progId="Equation.DSMT4">
                  <p:embed/>
                </p:oleObj>
              </mc:Choice>
              <mc:Fallback>
                <p:oleObj name="Equation" r:id="rId11" imgW="2400300" imgH="2921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4206875"/>
                        <a:ext cx="5403850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465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7112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 dirty="0" smtClean="0">
                <a:solidFill>
                  <a:srgbClr val="FF0000"/>
                </a:solidFill>
                <a:latin typeface="Verdana" pitchFamily="34" charset="0"/>
              </a:rPr>
              <a:t>4.2  </a:t>
            </a:r>
            <a:r>
              <a:rPr lang="zh-CN" altLang="en-US" sz="2000" b="1" dirty="0">
                <a:solidFill>
                  <a:srgbClr val="FF0000"/>
                </a:solidFill>
                <a:latin typeface="Verdana" pitchFamily="34" charset="0"/>
              </a:rPr>
              <a:t>方阵的特征值与特征向量</a:t>
            </a: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917575" y="1217613"/>
            <a:ext cx="9244013" cy="1800225"/>
            <a:chOff x="1259632" y="2074138"/>
            <a:chExt cx="6932895" cy="1800200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138"/>
              <a:ext cx="6841218" cy="13271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当          时，解齐次线性方程组</a:t>
              </a:r>
              <a:endParaRPr lang="en-US" altLang="zh-CN" sz="2400" b="1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graphicFrame>
          <p:nvGraphicFramePr>
            <p:cNvPr id="47115" name="对象 30"/>
            <p:cNvGraphicFramePr>
              <a:graphicFrameLocks noChangeAspect="1"/>
            </p:cNvGraphicFramePr>
            <p:nvPr/>
          </p:nvGraphicFramePr>
          <p:xfrm>
            <a:off x="1672046" y="2165197"/>
            <a:ext cx="7143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1" name="Equation" r:id="rId3" imgW="368140" imgH="177723" progId="Equation.DSMT4">
                    <p:embed/>
                  </p:oleObj>
                </mc:Choice>
                <mc:Fallback>
                  <p:oleObj name="Equation" r:id="rId3" imgW="368140" imgH="177723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046" y="2165197"/>
                          <a:ext cx="71437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6" name="对象 18"/>
            <p:cNvGraphicFramePr>
              <a:graphicFrameLocks noChangeAspect="1"/>
            </p:cNvGraphicFramePr>
            <p:nvPr/>
          </p:nvGraphicFramePr>
          <p:xfrm>
            <a:off x="1854935" y="2602768"/>
            <a:ext cx="6337592" cy="1271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2" name="Equation" r:id="rId5" imgW="3136680" imgH="711000" progId="Equation.DSMT4">
                    <p:embed/>
                  </p:oleObj>
                </mc:Choice>
                <mc:Fallback>
                  <p:oleObj name="Equation" r:id="rId5" imgW="3136680" imgH="711000" progId="Equation.DSMT4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4935" y="2602768"/>
                          <a:ext cx="6337592" cy="12715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876300" y="3978275"/>
            <a:ext cx="9671050" cy="1801813"/>
            <a:chOff x="1259632" y="2074138"/>
            <a:chExt cx="7252915" cy="1802421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2074138"/>
              <a:ext cx="6839790" cy="13275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 smtClean="0">
                  <a:solidFill>
                    <a:schemeClr val="tx1"/>
                  </a:solidFill>
                  <a:latin typeface="Verdana" pitchFamily="34" charset="0"/>
                </a:rPr>
                <a:t>  当         时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，解齐次线性方程组</a:t>
              </a:r>
            </a:p>
          </p:txBody>
        </p:sp>
        <p:graphicFrame>
          <p:nvGraphicFramePr>
            <p:cNvPr id="47119" name="对象 29"/>
            <p:cNvGraphicFramePr>
              <a:graphicFrameLocks noChangeAspect="1"/>
            </p:cNvGraphicFramePr>
            <p:nvPr/>
          </p:nvGraphicFramePr>
          <p:xfrm>
            <a:off x="1696108" y="2165072"/>
            <a:ext cx="66516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3" name="Equation" r:id="rId7" imgW="342603" imgH="177646" progId="Equation.DSMT4">
                    <p:embed/>
                  </p:oleObj>
                </mc:Choice>
                <mc:Fallback>
                  <p:oleObj name="Equation" r:id="rId7" imgW="342603" imgH="177646" progId="Equation.DSMT4">
                    <p:embed/>
                    <p:pic>
                      <p:nvPicPr>
                        <p:cNvPr id="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108" y="2165072"/>
                          <a:ext cx="665163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0" name="对象 32"/>
            <p:cNvGraphicFramePr>
              <a:graphicFrameLocks noChangeAspect="1"/>
            </p:cNvGraphicFramePr>
            <p:nvPr/>
          </p:nvGraphicFramePr>
          <p:xfrm>
            <a:off x="1533897" y="2604972"/>
            <a:ext cx="6978650" cy="1271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4" name="Equation" r:id="rId9" imgW="3454400" imgH="711200" progId="Equation.DSMT4">
                    <p:embed/>
                  </p:oleObj>
                </mc:Choice>
                <mc:Fallback>
                  <p:oleObj name="Equation" r:id="rId9" imgW="3454400" imgH="711200" progId="Equation.DSMT4">
                    <p:embed/>
                    <p:pic>
                      <p:nvPicPr>
                        <p:cNvPr id="0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3897" y="2604972"/>
                          <a:ext cx="6978650" cy="1271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1190625" y="3213100"/>
            <a:ext cx="9368972" cy="579438"/>
            <a:chOff x="1259632" y="2074138"/>
            <a:chExt cx="7027658" cy="579443"/>
          </a:xfrm>
        </p:grpSpPr>
        <p:sp>
          <p:nvSpPr>
            <p:cNvPr id="36" name="TextBox 35"/>
            <p:cNvSpPr txBox="1"/>
            <p:nvPr/>
          </p:nvSpPr>
          <p:spPr>
            <a:xfrm>
              <a:off x="1259632" y="2074138"/>
              <a:ext cx="6841045" cy="579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所以，</a:t>
              </a:r>
              <a:r>
                <a:rPr lang="zh-CN" altLang="en-US" sz="2400" b="1" dirty="0" smtClean="0">
                  <a:solidFill>
                    <a:schemeClr val="tx1"/>
                  </a:solidFill>
                  <a:latin typeface="Verdana" pitchFamily="34" charset="0"/>
                </a:rPr>
                <a:t>属于特征值           的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所有特征向量为</a:t>
              </a:r>
            </a:p>
          </p:txBody>
        </p:sp>
        <p:graphicFrame>
          <p:nvGraphicFramePr>
            <p:cNvPr id="47123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6011405"/>
                </p:ext>
              </p:extLst>
            </p:nvPr>
          </p:nvGraphicFramePr>
          <p:xfrm>
            <a:off x="3279644" y="2206697"/>
            <a:ext cx="7143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5" name="Equation" r:id="rId11" imgW="368140" imgH="177723" progId="Equation.DSMT4">
                    <p:embed/>
                  </p:oleObj>
                </mc:Choice>
                <mc:Fallback>
                  <p:oleObj name="Equation" r:id="rId11" imgW="368140" imgH="177723" progId="Equation.DSMT4">
                    <p:embed/>
                    <p:pic>
                      <p:nvPicPr>
                        <p:cNvPr id="0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9644" y="2206697"/>
                          <a:ext cx="71437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4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8403379"/>
                </p:ext>
              </p:extLst>
            </p:nvPr>
          </p:nvGraphicFramePr>
          <p:xfrm>
            <a:off x="5996527" y="2139229"/>
            <a:ext cx="2290763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6" name="Equation" r:id="rId13" imgW="1180588" imgH="253890" progId="Equation.DSMT4">
                    <p:embed/>
                  </p:oleObj>
                </mc:Choice>
                <mc:Fallback>
                  <p:oleObj name="Equation" r:id="rId13" imgW="1180588" imgH="253890" progId="Equation.DSMT4">
                    <p:embed/>
                    <p:pic>
                      <p:nvPicPr>
                        <p:cNvPr id="0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6527" y="2139229"/>
                          <a:ext cx="2290763" cy="449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1085850" y="5949950"/>
            <a:ext cx="9538608" cy="579438"/>
            <a:chOff x="1259632" y="2074138"/>
            <a:chExt cx="7154397" cy="579443"/>
          </a:xfrm>
        </p:grpSpPr>
        <p:sp>
          <p:nvSpPr>
            <p:cNvPr id="41" name="TextBox 40"/>
            <p:cNvSpPr txBox="1"/>
            <p:nvPr/>
          </p:nvSpPr>
          <p:spPr>
            <a:xfrm>
              <a:off x="1259632" y="2074138"/>
              <a:ext cx="6840562" cy="579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所以，</a:t>
              </a:r>
              <a:r>
                <a:rPr lang="zh-CN" altLang="en-US" sz="2400" b="1" dirty="0" smtClean="0">
                  <a:solidFill>
                    <a:schemeClr val="tx1"/>
                  </a:solidFill>
                  <a:latin typeface="Verdana" pitchFamily="34" charset="0"/>
                </a:rPr>
                <a:t>属于特征值           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的所有特征向量为</a:t>
              </a:r>
            </a:p>
          </p:txBody>
        </p:sp>
        <p:graphicFrame>
          <p:nvGraphicFramePr>
            <p:cNvPr id="47127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45028"/>
                </p:ext>
              </p:extLst>
            </p:nvPr>
          </p:nvGraphicFramePr>
          <p:xfrm>
            <a:off x="3282136" y="2130721"/>
            <a:ext cx="6651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7" name="Equation" r:id="rId15" imgW="342603" imgH="177646" progId="Equation.DSMT4">
                    <p:embed/>
                  </p:oleObj>
                </mc:Choice>
                <mc:Fallback>
                  <p:oleObj name="Equation" r:id="rId15" imgW="342603" imgH="177646" progId="Equation.DSMT4">
                    <p:embed/>
                    <p:pic>
                      <p:nvPicPr>
                        <p:cNvPr id="0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136" y="2130721"/>
                          <a:ext cx="665162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8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5160133"/>
                </p:ext>
              </p:extLst>
            </p:nvPr>
          </p:nvGraphicFramePr>
          <p:xfrm>
            <a:off x="6001029" y="2074138"/>
            <a:ext cx="2413000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08" name="Equation" r:id="rId17" imgW="1244600" imgH="254000" progId="Equation.DSMT4">
                    <p:embed/>
                  </p:oleObj>
                </mc:Choice>
                <mc:Fallback>
                  <p:oleObj name="Equation" r:id="rId17" imgW="1244600" imgH="254000" progId="Equation.DSMT4">
                    <p:embed/>
                    <p:pic>
                      <p:nvPicPr>
                        <p:cNvPr id="0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1029" y="2074138"/>
                          <a:ext cx="2413000" cy="449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25"/>
          <p:cNvGraphicFramePr>
            <a:graphicFrameLocks noChangeAspect="1"/>
          </p:cNvGraphicFramePr>
          <p:nvPr/>
        </p:nvGraphicFramePr>
        <p:xfrm>
          <a:off x="5867400" y="1198563"/>
          <a:ext cx="20113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9" name="Equation" r:id="rId19" imgW="965160" imgH="253800" progId="Equation.DSMT4">
                  <p:embed/>
                </p:oleObj>
              </mc:Choice>
              <mc:Fallback>
                <p:oleObj name="Equation" r:id="rId19" imgW="965160" imgH="2538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198563"/>
                        <a:ext cx="2011363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931020"/>
              </p:ext>
            </p:extLst>
          </p:nvPr>
        </p:nvGraphicFramePr>
        <p:xfrm>
          <a:off x="5645943" y="4024313"/>
          <a:ext cx="185261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10" name="Equation" r:id="rId21" imgW="888840" imgH="253800" progId="Equation.DSMT4">
                  <p:embed/>
                </p:oleObj>
              </mc:Choice>
              <mc:Fallback>
                <p:oleObj name="Equation" r:id="rId21" imgW="888840" imgH="2538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943" y="4024313"/>
                        <a:ext cx="1852612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组合 1"/>
          <p:cNvGrpSpPr>
            <a:grpSpLocks/>
          </p:cNvGrpSpPr>
          <p:nvPr/>
        </p:nvGrpSpPr>
        <p:grpSpPr bwMode="auto">
          <a:xfrm>
            <a:off x="1109663" y="1122363"/>
            <a:ext cx="9186862" cy="1408112"/>
            <a:chOff x="582613" y="1034415"/>
            <a:chExt cx="6890599" cy="1406792"/>
          </a:xfrm>
        </p:grpSpPr>
        <p:sp>
          <p:nvSpPr>
            <p:cNvPr id="49155" name="Text Box 2"/>
            <p:cNvSpPr txBox="1">
              <a:spLocks noChangeArrowheads="1"/>
            </p:cNvSpPr>
            <p:nvPr/>
          </p:nvSpPr>
          <p:spPr bwMode="auto">
            <a:xfrm>
              <a:off x="582613" y="1359547"/>
              <a:ext cx="6890599" cy="639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400" b="1">
                  <a:solidFill>
                    <a:schemeClr val="accent2"/>
                  </a:solidFill>
                  <a:latin typeface="Verdana" pitchFamily="34" charset="0"/>
                </a:rPr>
                <a:t>3  </a:t>
              </a:r>
              <a:r>
                <a:rPr lang="zh-CN" altLang="en-US" sz="2400" b="1">
                  <a:latin typeface="Verdana" pitchFamily="34" charset="0"/>
                </a:rPr>
                <a:t>求                              的特征值与特征向量</a:t>
              </a:r>
            </a:p>
          </p:txBody>
        </p:sp>
        <p:graphicFrame>
          <p:nvGraphicFramePr>
            <p:cNvPr id="49156" name="Object 3"/>
            <p:cNvGraphicFramePr>
              <a:graphicFrameLocks noChangeAspect="1"/>
            </p:cNvGraphicFramePr>
            <p:nvPr/>
          </p:nvGraphicFramePr>
          <p:xfrm>
            <a:off x="1738853" y="1034415"/>
            <a:ext cx="1912378" cy="1406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3" name="Equation" r:id="rId3" imgW="965200" imgH="711200" progId="Equation.DSMT4">
                    <p:embed/>
                  </p:oleObj>
                </mc:Choice>
                <mc:Fallback>
                  <p:oleObj name="Equation" r:id="rId3" imgW="965200" imgH="711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8853" y="1034415"/>
                          <a:ext cx="1912378" cy="14067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7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9163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>
                <a:solidFill>
                  <a:srgbClr val="FF0000"/>
                </a:solidFill>
                <a:latin typeface="Verdana" pitchFamily="34" charset="0"/>
              </a:rPr>
              <a:t>4.1  </a:t>
            </a:r>
            <a:r>
              <a:rPr lang="zh-CN" altLang="en-US" sz="2000" b="1">
                <a:solidFill>
                  <a:srgbClr val="FF0000"/>
                </a:solidFill>
                <a:latin typeface="Verdana" pitchFamily="34" charset="0"/>
              </a:rPr>
              <a:t>方阵的特征值与特征向量</a:t>
            </a: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982663" y="2819400"/>
            <a:ext cx="10382250" cy="1285875"/>
            <a:chOff x="1259632" y="1721785"/>
            <a:chExt cx="7787332" cy="1285474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100"/>
              <a:ext cx="6840707" cy="9331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解：</a:t>
              </a: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     </a:t>
              </a:r>
              <a:endParaRPr lang="en-US" altLang="zh-CN" sz="2400" b="1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    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49166" name="对象 30"/>
            <p:cNvGraphicFramePr>
              <a:graphicFrameLocks noChangeAspect="1"/>
            </p:cNvGraphicFramePr>
            <p:nvPr/>
          </p:nvGraphicFramePr>
          <p:xfrm>
            <a:off x="1835696" y="1721785"/>
            <a:ext cx="7211268" cy="1255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4" name="Equation" r:id="rId5" imgW="4660900" imgH="711200" progId="Equation.DSMT4">
                    <p:embed/>
                  </p:oleObj>
                </mc:Choice>
                <mc:Fallback>
                  <p:oleObj name="Equation" r:id="rId5" imgW="4660900" imgH="711200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1721785"/>
                          <a:ext cx="7211268" cy="1255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云形标注 1"/>
          <p:cNvSpPr/>
          <p:nvPr/>
        </p:nvSpPr>
        <p:spPr>
          <a:xfrm>
            <a:off x="5713413" y="2012950"/>
            <a:ext cx="1824037" cy="887413"/>
          </a:xfrm>
          <a:prstGeom prst="cloudCallout">
            <a:avLst>
              <a:gd name="adj1" fmla="val -60734"/>
              <a:gd name="adj2" fmla="val 7265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行和相等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982663" y="4655557"/>
            <a:ext cx="9117012" cy="1327150"/>
            <a:chOff x="1259632" y="1803597"/>
            <a:chExt cx="6839757" cy="1327566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1803597"/>
              <a:ext cx="6839757" cy="1327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endParaRPr lang="en-US" altLang="zh-CN" sz="2400" b="1" dirty="0">
                <a:solidFill>
                  <a:schemeClr val="tx1"/>
                </a:solidFill>
                <a:latin typeface="Verdana" pitchFamily="34" charset="0"/>
              </a:endParaRPr>
            </a:p>
            <a:p>
              <a:r>
                <a:rPr lang="en-US" altLang="zh-CN" sz="2400" b="1" dirty="0">
                  <a:solidFill>
                    <a:schemeClr val="tx1"/>
                  </a:solidFill>
                  <a:latin typeface="Verdana" pitchFamily="34" charset="0"/>
                </a:rPr>
                <a:t>    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由                       得，所有特征值为</a:t>
              </a:r>
            </a:p>
          </p:txBody>
        </p:sp>
        <p:graphicFrame>
          <p:nvGraphicFramePr>
            <p:cNvPr id="49170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857490"/>
                </p:ext>
              </p:extLst>
            </p:nvPr>
          </p:nvGraphicFramePr>
          <p:xfrm>
            <a:off x="5642257" y="2160323"/>
            <a:ext cx="2181225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5" name="Equation" r:id="rId7" imgW="1079500" imgH="228600" progId="Equation.DSMT4">
                    <p:embed/>
                  </p:oleObj>
                </mc:Choice>
                <mc:Fallback>
                  <p:oleObj name="Equation" r:id="rId7" imgW="1079500" imgH="228600" progId="Equation.DSMT4">
                    <p:embed/>
                    <p:pic>
                      <p:nvPicPr>
                        <p:cNvPr id="0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2257" y="2160323"/>
                          <a:ext cx="2181225" cy="4079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1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8474101"/>
                </p:ext>
              </p:extLst>
            </p:nvPr>
          </p:nvGraphicFramePr>
          <p:xfrm>
            <a:off x="2104404" y="2240407"/>
            <a:ext cx="1539464" cy="453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6" name="Equation" r:id="rId9" imgW="761669" imgH="253890" progId="Equation.DSMT4">
                    <p:embed/>
                  </p:oleObj>
                </mc:Choice>
                <mc:Fallback>
                  <p:oleObj name="Equation" r:id="rId9" imgW="761669" imgH="253890" progId="Equation.DSMT4">
                    <p:embed/>
                    <p:pic>
                      <p:nvPicPr>
                        <p:cNvPr id="0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4404" y="2240407"/>
                          <a:ext cx="1539464" cy="4539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26582"/>
              </p:ext>
            </p:extLst>
          </p:nvPr>
        </p:nvGraphicFramePr>
        <p:xfrm>
          <a:off x="2741613" y="4138613"/>
          <a:ext cx="28067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7" name="Equation" r:id="rId11" imgW="1040948" imgH="279279" progId="Equation.DSMT4">
                  <p:embed/>
                </p:oleObj>
              </mc:Choice>
              <mc:Fallback>
                <p:oleObj name="Equation" r:id="rId11" imgW="1040948" imgH="279279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4138613"/>
                        <a:ext cx="28067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1208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 dirty="0" smtClean="0">
                <a:solidFill>
                  <a:srgbClr val="FF0000"/>
                </a:solidFill>
                <a:latin typeface="Verdana" pitchFamily="34" charset="0"/>
              </a:rPr>
              <a:t>4.2  </a:t>
            </a:r>
            <a:r>
              <a:rPr lang="zh-CN" altLang="en-US" sz="2000" b="1" dirty="0">
                <a:solidFill>
                  <a:srgbClr val="FF0000"/>
                </a:solidFill>
                <a:latin typeface="Verdana" pitchFamily="34" charset="0"/>
              </a:rPr>
              <a:t>方阵的特征值与特征向量</a:t>
            </a: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912813" y="981075"/>
            <a:ext cx="9413875" cy="1774825"/>
            <a:chOff x="1259632" y="2074138"/>
            <a:chExt cx="7061851" cy="1775643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138"/>
              <a:ext cx="6841540" cy="13277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当          时，</a:t>
              </a:r>
            </a:p>
          </p:txBody>
        </p:sp>
        <p:graphicFrame>
          <p:nvGraphicFramePr>
            <p:cNvPr id="51211" name="对象 30"/>
            <p:cNvGraphicFramePr>
              <a:graphicFrameLocks noChangeAspect="1"/>
            </p:cNvGraphicFramePr>
            <p:nvPr/>
          </p:nvGraphicFramePr>
          <p:xfrm>
            <a:off x="1672046" y="2165197"/>
            <a:ext cx="7143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1" name="Equation" r:id="rId4" imgW="368140" imgH="177723" progId="Equation.DSMT4">
                    <p:embed/>
                  </p:oleObj>
                </mc:Choice>
                <mc:Fallback>
                  <p:oleObj name="Equation" r:id="rId4" imgW="368140" imgH="177723" progId="Equation.DSMT4">
                    <p:embed/>
                    <p:pic>
                      <p:nvPicPr>
                        <p:cNvPr id="0" name="对象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046" y="2165197"/>
                          <a:ext cx="71437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2" name="对象 18"/>
            <p:cNvGraphicFramePr>
              <a:graphicFrameLocks noChangeAspect="1"/>
            </p:cNvGraphicFramePr>
            <p:nvPr/>
          </p:nvGraphicFramePr>
          <p:xfrm>
            <a:off x="1728834" y="2577607"/>
            <a:ext cx="6592649" cy="1272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2" name="Equation" r:id="rId6" imgW="3263760" imgH="711000" progId="Equation.DSMT4">
                    <p:embed/>
                  </p:oleObj>
                </mc:Choice>
                <mc:Fallback>
                  <p:oleObj name="Equation" r:id="rId6" imgW="3263760" imgH="711000" progId="Equation.DSMT4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834" y="2577607"/>
                          <a:ext cx="6592649" cy="12721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844550" y="3408363"/>
            <a:ext cx="10185400" cy="1801812"/>
            <a:chOff x="1259632" y="2074138"/>
            <a:chExt cx="7639395" cy="1802320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2074138"/>
              <a:ext cx="6840450" cy="13275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Verdana" pitchFamily="34" charset="0"/>
                </a:rPr>
                <a:t>当           时，</a:t>
              </a:r>
            </a:p>
          </p:txBody>
        </p:sp>
        <p:graphicFrame>
          <p:nvGraphicFramePr>
            <p:cNvPr id="51215" name="对象 29"/>
            <p:cNvGraphicFramePr>
              <a:graphicFrameLocks noChangeAspect="1"/>
            </p:cNvGraphicFramePr>
            <p:nvPr/>
          </p:nvGraphicFramePr>
          <p:xfrm>
            <a:off x="1696108" y="2165072"/>
            <a:ext cx="66516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3" name="Equation" r:id="rId8" imgW="342603" imgH="177646" progId="Equation.DSMT4">
                    <p:embed/>
                  </p:oleObj>
                </mc:Choice>
                <mc:Fallback>
                  <p:oleObj name="Equation" r:id="rId8" imgW="342603" imgH="177646" progId="Equation.DSMT4">
                    <p:embed/>
                    <p:pic>
                      <p:nvPicPr>
                        <p:cNvPr id="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108" y="2165072"/>
                          <a:ext cx="665163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6" name="对象 32"/>
            <p:cNvGraphicFramePr>
              <a:graphicFrameLocks noChangeAspect="1"/>
            </p:cNvGraphicFramePr>
            <p:nvPr/>
          </p:nvGraphicFramePr>
          <p:xfrm>
            <a:off x="1740666" y="2604512"/>
            <a:ext cx="7158361" cy="1271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4" name="Equation" r:id="rId10" imgW="3962160" imgH="711000" progId="Equation.DSMT4">
                    <p:embed/>
                  </p:oleObj>
                </mc:Choice>
                <mc:Fallback>
                  <p:oleObj name="Equation" r:id="rId10" imgW="3962160" imgH="711000" progId="Equation.DSMT4">
                    <p:embed/>
                    <p:pic>
                      <p:nvPicPr>
                        <p:cNvPr id="0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0666" y="2604512"/>
                          <a:ext cx="7158361" cy="12719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846139" y="2828925"/>
            <a:ext cx="9118599" cy="579437"/>
            <a:chOff x="1259632" y="2074138"/>
            <a:chExt cx="6840532" cy="579443"/>
          </a:xfrm>
        </p:grpSpPr>
        <p:sp>
          <p:nvSpPr>
            <p:cNvPr id="36" name="TextBox 35"/>
            <p:cNvSpPr txBox="1"/>
            <p:nvPr/>
          </p:nvSpPr>
          <p:spPr>
            <a:xfrm>
              <a:off x="1259632" y="2074138"/>
              <a:ext cx="6840532" cy="579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所以，属于            </a:t>
              </a:r>
              <a:r>
                <a:rPr lang="zh-CN" altLang="en-US" sz="2400" b="1" dirty="0" smtClean="0">
                  <a:solidFill>
                    <a:schemeClr val="tx1"/>
                  </a:solidFill>
                  <a:latin typeface="Verdana" pitchFamily="34" charset="0"/>
                </a:rPr>
                <a:t>的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所有特征向量为</a:t>
              </a:r>
            </a:p>
          </p:txBody>
        </p:sp>
        <p:graphicFrame>
          <p:nvGraphicFramePr>
            <p:cNvPr id="51219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5213727"/>
                </p:ext>
              </p:extLst>
            </p:nvPr>
          </p:nvGraphicFramePr>
          <p:xfrm>
            <a:off x="2593720" y="2206696"/>
            <a:ext cx="7143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5" name="Equation" r:id="rId12" imgW="368140" imgH="177723" progId="Equation.DSMT4">
                    <p:embed/>
                  </p:oleObj>
                </mc:Choice>
                <mc:Fallback>
                  <p:oleObj name="Equation" r:id="rId12" imgW="368140" imgH="177723" progId="Equation.DSMT4">
                    <p:embed/>
                    <p:pic>
                      <p:nvPicPr>
                        <p:cNvPr id="0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3720" y="2206696"/>
                          <a:ext cx="714375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0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8032887"/>
                </p:ext>
              </p:extLst>
            </p:nvPr>
          </p:nvGraphicFramePr>
          <p:xfrm>
            <a:off x="5389355" y="2139228"/>
            <a:ext cx="2290763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6" name="Equation" r:id="rId14" imgW="1180588" imgH="253890" progId="Equation.DSMT4">
                    <p:embed/>
                  </p:oleObj>
                </mc:Choice>
                <mc:Fallback>
                  <p:oleObj name="Equation" r:id="rId14" imgW="1180588" imgH="253890" progId="Equation.DSMT4">
                    <p:embed/>
                    <p:pic>
                      <p:nvPicPr>
                        <p:cNvPr id="0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9355" y="2139228"/>
                          <a:ext cx="2290763" cy="449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909638" y="5422900"/>
            <a:ext cx="9121775" cy="934781"/>
            <a:chOff x="1259632" y="2074138"/>
            <a:chExt cx="6840830" cy="935318"/>
          </a:xfrm>
        </p:grpSpPr>
        <p:sp>
          <p:nvSpPr>
            <p:cNvPr id="41" name="TextBox 40"/>
            <p:cNvSpPr txBox="1"/>
            <p:nvPr/>
          </p:nvSpPr>
          <p:spPr>
            <a:xfrm>
              <a:off x="1259632" y="2074138"/>
              <a:ext cx="6840830" cy="5797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所以，属于         </a:t>
              </a:r>
              <a:r>
                <a:rPr lang="zh-CN" altLang="en-US" sz="2400" b="1" dirty="0" smtClean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的所有特征向量为</a:t>
              </a:r>
            </a:p>
          </p:txBody>
        </p:sp>
        <p:graphicFrame>
          <p:nvGraphicFramePr>
            <p:cNvPr id="51223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283430"/>
                </p:ext>
              </p:extLst>
            </p:nvPr>
          </p:nvGraphicFramePr>
          <p:xfrm>
            <a:off x="2541917" y="2169783"/>
            <a:ext cx="6651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7" name="Equation" r:id="rId16" imgW="342603" imgH="177646" progId="Equation.DSMT4">
                    <p:embed/>
                  </p:oleObj>
                </mc:Choice>
                <mc:Fallback>
                  <p:oleObj name="Equation" r:id="rId16" imgW="342603" imgH="177646" progId="Equation.DSMT4">
                    <p:embed/>
                    <p:pic>
                      <p:nvPicPr>
                        <p:cNvPr id="0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917" y="2169783"/>
                          <a:ext cx="665162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4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1982556"/>
                </p:ext>
              </p:extLst>
            </p:nvPr>
          </p:nvGraphicFramePr>
          <p:xfrm>
            <a:off x="2193033" y="2560193"/>
            <a:ext cx="4875212" cy="449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8" name="Equation" r:id="rId18" imgW="2514600" imgH="254000" progId="Equation.DSMT4">
                    <p:embed/>
                  </p:oleObj>
                </mc:Choice>
                <mc:Fallback>
                  <p:oleObj name="Equation" r:id="rId18" imgW="2514600" imgH="254000" progId="Equation.DSMT4">
                    <p:embed/>
                    <p:pic>
                      <p:nvPicPr>
                        <p:cNvPr id="0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3033" y="2560193"/>
                          <a:ext cx="4875212" cy="449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组合 1"/>
          <p:cNvGrpSpPr>
            <a:grpSpLocks/>
          </p:cNvGrpSpPr>
          <p:nvPr/>
        </p:nvGrpSpPr>
        <p:grpSpPr bwMode="auto">
          <a:xfrm>
            <a:off x="1143000" y="1079609"/>
            <a:ext cx="9186863" cy="1408112"/>
            <a:chOff x="582613" y="979013"/>
            <a:chExt cx="6890599" cy="1406792"/>
          </a:xfrm>
        </p:grpSpPr>
        <p:sp>
          <p:nvSpPr>
            <p:cNvPr id="53251" name="Text Box 2"/>
            <p:cNvSpPr txBox="1">
              <a:spLocks noChangeArrowheads="1"/>
            </p:cNvSpPr>
            <p:nvPr/>
          </p:nvSpPr>
          <p:spPr bwMode="auto">
            <a:xfrm>
              <a:off x="582613" y="1359547"/>
              <a:ext cx="6890599" cy="645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Verdana" pitchFamily="34" charset="0"/>
                </a:rPr>
                <a:t>练习 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itchFamily="34" charset="0"/>
                </a:rPr>
                <a:t>  </a:t>
              </a:r>
              <a:r>
                <a:rPr lang="zh-CN" altLang="en-US" sz="2400" b="1" dirty="0" smtClean="0">
                  <a:solidFill>
                    <a:schemeClr val="accent2"/>
                  </a:solidFill>
                  <a:latin typeface="Verdana" pitchFamily="34" charset="0"/>
                </a:rPr>
                <a:t>（</a:t>
              </a:r>
              <a:r>
                <a:rPr lang="en-US" altLang="zh-CN" sz="2400" b="1" dirty="0" smtClean="0">
                  <a:solidFill>
                    <a:schemeClr val="accent2"/>
                  </a:solidFill>
                  <a:latin typeface="Verdana" pitchFamily="34" charset="0"/>
                </a:rPr>
                <a:t>1</a:t>
              </a:r>
              <a:r>
                <a:rPr lang="zh-CN" altLang="en-US" sz="2400" b="1" dirty="0" smtClean="0">
                  <a:solidFill>
                    <a:schemeClr val="accent2"/>
                  </a:solidFill>
                  <a:latin typeface="Verdana" pitchFamily="34" charset="0"/>
                </a:rPr>
                <a:t>）</a:t>
              </a:r>
              <a:r>
                <a:rPr lang="zh-CN" altLang="en-US" sz="2400" b="1" dirty="0" smtClean="0">
                  <a:latin typeface="Verdana" pitchFamily="34" charset="0"/>
                </a:rPr>
                <a:t>求                              </a:t>
              </a:r>
              <a:r>
                <a:rPr lang="zh-CN" altLang="en-US" sz="2400" b="1" dirty="0">
                  <a:latin typeface="Verdana" pitchFamily="34" charset="0"/>
                </a:rPr>
                <a:t>的特征值与特征向量</a:t>
              </a:r>
            </a:p>
          </p:txBody>
        </p:sp>
        <p:graphicFrame>
          <p:nvGraphicFramePr>
            <p:cNvPr id="5325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4329569"/>
                </p:ext>
              </p:extLst>
            </p:nvPr>
          </p:nvGraphicFramePr>
          <p:xfrm>
            <a:off x="2322189" y="979013"/>
            <a:ext cx="2163508" cy="1406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15" name="Equation" r:id="rId3" imgW="1091880" imgH="711000" progId="Equation.DSMT4">
                    <p:embed/>
                  </p:oleObj>
                </mc:Choice>
                <mc:Fallback>
                  <p:oleObj name="Equation" r:id="rId3" imgW="1091880" imgH="711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2189" y="979013"/>
                          <a:ext cx="2163508" cy="14067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3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4138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119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3259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 dirty="0" smtClean="0">
                <a:solidFill>
                  <a:srgbClr val="FF0000"/>
                </a:solidFill>
                <a:latin typeface="Verdana" pitchFamily="34" charset="0"/>
              </a:rPr>
              <a:t>4.2  </a:t>
            </a:r>
            <a:r>
              <a:rPr lang="zh-CN" altLang="en-US" sz="2000" b="1" dirty="0">
                <a:solidFill>
                  <a:srgbClr val="FF0000"/>
                </a:solidFill>
                <a:latin typeface="Verdana" pitchFamily="34" charset="0"/>
              </a:rPr>
              <a:t>方阵的特征值与特征向量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973138" y="3247024"/>
            <a:ext cx="8969148" cy="1107000"/>
            <a:chOff x="1259632" y="1451197"/>
            <a:chExt cx="6839757" cy="1327566"/>
          </a:xfrm>
        </p:grpSpPr>
        <p:sp>
          <p:nvSpPr>
            <p:cNvPr id="26" name="TextBox 25"/>
            <p:cNvSpPr txBox="1"/>
            <p:nvPr/>
          </p:nvSpPr>
          <p:spPr>
            <a:xfrm>
              <a:off x="1259632" y="1451197"/>
              <a:ext cx="6839757" cy="13275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endParaRPr lang="en-US" altLang="zh-CN" sz="2400" b="1" dirty="0">
                <a:solidFill>
                  <a:schemeClr val="tx1"/>
                </a:solidFill>
                <a:latin typeface="Verdana" pitchFamily="34" charset="0"/>
              </a:endParaRPr>
            </a:p>
            <a:p>
              <a:r>
                <a:rPr lang="en-US" altLang="zh-CN" sz="2000" b="1" dirty="0">
                  <a:solidFill>
                    <a:schemeClr val="tx1"/>
                  </a:solidFill>
                  <a:latin typeface="Verdana" pitchFamily="34" charset="0"/>
                </a:rPr>
                <a:t>   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（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Verdana" pitchFamily="34" charset="0"/>
                </a:rPr>
                <a:t>1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）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r>
                <a:rPr lang="zh-CN" altLang="en-US" sz="2000" b="1" dirty="0">
                  <a:solidFill>
                    <a:schemeClr val="tx1"/>
                  </a:solidFill>
                  <a:latin typeface="Verdana" pitchFamily="34" charset="0"/>
                </a:rPr>
                <a:t>由                         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r>
                <a:rPr lang="zh-CN" altLang="en-US" sz="2000" b="1" dirty="0">
                  <a:solidFill>
                    <a:schemeClr val="tx1"/>
                  </a:solidFill>
                  <a:latin typeface="Verdana" pitchFamily="34" charset="0"/>
                </a:rPr>
                <a:t>得，所有特征值为</a:t>
              </a:r>
            </a:p>
          </p:txBody>
        </p:sp>
        <p:graphicFrame>
          <p:nvGraphicFramePr>
            <p:cNvPr id="5326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6537718"/>
                </p:ext>
              </p:extLst>
            </p:nvPr>
          </p:nvGraphicFramePr>
          <p:xfrm>
            <a:off x="5696610" y="1910321"/>
            <a:ext cx="1923655" cy="409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16" name="Equation" r:id="rId5" imgW="952200" imgH="228600" progId="Equation.DSMT4">
                    <p:embed/>
                  </p:oleObj>
                </mc:Choice>
                <mc:Fallback>
                  <p:oleObj name="Equation" r:id="rId5" imgW="952200" imgH="228600" progId="Equation.DSMT4">
                    <p:embed/>
                    <p:pic>
                      <p:nvPicPr>
                        <p:cNvPr id="0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6610" y="1910321"/>
                          <a:ext cx="1923655" cy="409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7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5253092"/>
                </p:ext>
              </p:extLst>
            </p:nvPr>
          </p:nvGraphicFramePr>
          <p:xfrm>
            <a:off x="2351532" y="1888007"/>
            <a:ext cx="1539464" cy="453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17" name="Equation" r:id="rId7" imgW="761669" imgH="253890" progId="Equation.DSMT4">
                    <p:embed/>
                  </p:oleObj>
                </mc:Choice>
                <mc:Fallback>
                  <p:oleObj name="Equation" r:id="rId7" imgW="761669" imgH="253890" progId="Equation.DSMT4">
                    <p:embed/>
                    <p:pic>
                      <p:nvPicPr>
                        <p:cNvPr id="0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1532" y="1888007"/>
                          <a:ext cx="1539464" cy="4539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990493"/>
              </p:ext>
            </p:extLst>
          </p:nvPr>
        </p:nvGraphicFramePr>
        <p:xfrm>
          <a:off x="9331098" y="3034812"/>
          <a:ext cx="156210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8" name="Equation" r:id="rId9" imgW="749160" imgH="711000" progId="Equation.DSMT4">
                  <p:embed/>
                </p:oleObj>
              </mc:Choice>
              <mc:Fallback>
                <p:oleObj name="Equation" r:id="rId9" imgW="749160" imgH="7110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1098" y="3034812"/>
                        <a:ext cx="1562100" cy="1319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301975" y="5142687"/>
            <a:ext cx="6725856" cy="1319213"/>
            <a:chOff x="1301975" y="5070772"/>
            <a:chExt cx="6725856" cy="1319213"/>
          </a:xfrm>
        </p:grpSpPr>
        <p:grpSp>
          <p:nvGrpSpPr>
            <p:cNvPr id="8" name="组合 7"/>
            <p:cNvGrpSpPr/>
            <p:nvPr/>
          </p:nvGrpSpPr>
          <p:grpSpPr>
            <a:xfrm>
              <a:off x="1301975" y="5615255"/>
              <a:ext cx="6725856" cy="423863"/>
              <a:chOff x="1301975" y="5615255"/>
              <a:chExt cx="6725856" cy="423863"/>
            </a:xfrm>
          </p:grpSpPr>
          <p:sp>
            <p:nvSpPr>
              <p:cNvPr id="53270" name="Rectangle 22"/>
              <p:cNvSpPr>
                <a:spLocks noChangeArrowheads="1"/>
              </p:cNvSpPr>
              <p:nvPr/>
            </p:nvSpPr>
            <p:spPr bwMode="auto">
              <a:xfrm>
                <a:off x="1301975" y="5643831"/>
                <a:ext cx="6725856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属于                            的所有特征向量</a:t>
                </a:r>
                <a:r>
                  <a:rPr lang="zh-CN" altLang="en-US" b="1" dirty="0" smtClean="0"/>
                  <a:t>为</a:t>
                </a:r>
                <a:endParaRPr lang="en-US" altLang="zh-CN" b="1" dirty="0"/>
              </a:p>
            </p:txBody>
          </p:sp>
          <p:graphicFrame>
            <p:nvGraphicFramePr>
              <p:cNvPr id="3" name="Object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7113334"/>
                  </p:ext>
                </p:extLst>
              </p:nvPr>
            </p:nvGraphicFramePr>
            <p:xfrm>
              <a:off x="1943793" y="5615255"/>
              <a:ext cx="1455737" cy="4238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19" name="Equation" r:id="rId11" imgW="698400" imgH="228600" progId="Equation.DSMT4">
                      <p:embed/>
                    </p:oleObj>
                  </mc:Choice>
                  <mc:Fallback>
                    <p:oleObj name="Equation" r:id="rId11" imgW="698400" imgH="228600" progId="Equation.DSMT4">
                      <p:embed/>
                      <p:pic>
                        <p:nvPicPr>
                          <p:cNvPr id="0" name="Picture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43793" y="5615255"/>
                            <a:ext cx="1455737" cy="4238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2207323"/>
                </p:ext>
              </p:extLst>
            </p:nvPr>
          </p:nvGraphicFramePr>
          <p:xfrm>
            <a:off x="5548313" y="5070772"/>
            <a:ext cx="1773238" cy="1319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20" name="Equation" r:id="rId13" imgW="850680" imgH="711000" progId="Equation.DSMT4">
                    <p:embed/>
                  </p:oleObj>
                </mc:Choice>
                <mc:Fallback>
                  <p:oleObj name="Equation" r:id="rId13" imgW="850680" imgH="711000" progId="Equation.DSMT4">
                    <p:embed/>
                    <p:pic>
                      <p:nvPicPr>
                        <p:cNvPr id="0" name="Picture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8313" y="5070772"/>
                          <a:ext cx="1773238" cy="1319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1"/>
          <p:cNvGrpSpPr>
            <a:grpSpLocks/>
          </p:cNvGrpSpPr>
          <p:nvPr/>
        </p:nvGrpSpPr>
        <p:grpSpPr bwMode="auto">
          <a:xfrm>
            <a:off x="1142999" y="2326470"/>
            <a:ext cx="9186863" cy="1408112"/>
            <a:chOff x="582613" y="1045408"/>
            <a:chExt cx="6890599" cy="1406792"/>
          </a:xfrm>
        </p:grpSpPr>
        <p:sp>
          <p:nvSpPr>
            <p:cNvPr id="27" name="Text Box 2"/>
            <p:cNvSpPr txBox="1">
              <a:spLocks noChangeArrowheads="1"/>
            </p:cNvSpPr>
            <p:nvPr/>
          </p:nvSpPr>
          <p:spPr bwMode="auto">
            <a:xfrm>
              <a:off x="582613" y="1359547"/>
              <a:ext cx="6890599" cy="569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 smtClean="0">
                  <a:solidFill>
                    <a:schemeClr val="accent2"/>
                  </a:solidFill>
                  <a:latin typeface="Verdana" pitchFamily="34" charset="0"/>
                </a:rPr>
                <a:t>（</a:t>
              </a:r>
              <a:r>
                <a:rPr lang="en-US" altLang="zh-CN" sz="2400" b="1" dirty="0" smtClean="0">
                  <a:solidFill>
                    <a:schemeClr val="accent2"/>
                  </a:solidFill>
                  <a:latin typeface="Verdana" pitchFamily="34" charset="0"/>
                </a:rPr>
                <a:t>2</a:t>
              </a:r>
              <a:r>
                <a:rPr lang="zh-CN" altLang="en-US" sz="2400" b="1" dirty="0" smtClean="0">
                  <a:solidFill>
                    <a:schemeClr val="accent2"/>
                  </a:solidFill>
                  <a:latin typeface="Verdana" pitchFamily="34" charset="0"/>
                </a:rPr>
                <a:t>）</a:t>
              </a:r>
              <a:r>
                <a:rPr lang="zh-CN" altLang="en-US" sz="2400" b="1" dirty="0" smtClean="0">
                  <a:latin typeface="Verdana" pitchFamily="34" charset="0"/>
                </a:rPr>
                <a:t>求                              </a:t>
              </a:r>
              <a:r>
                <a:rPr lang="zh-CN" altLang="en-US" sz="2400" b="1" dirty="0">
                  <a:latin typeface="Verdana" pitchFamily="34" charset="0"/>
                </a:rPr>
                <a:t>的特征值与特征向量</a:t>
              </a:r>
            </a:p>
          </p:txBody>
        </p:sp>
        <p:graphicFrame>
          <p:nvGraphicFramePr>
            <p:cNvPr id="2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7652269"/>
                </p:ext>
              </p:extLst>
            </p:nvPr>
          </p:nvGraphicFramePr>
          <p:xfrm>
            <a:off x="1595902" y="1045408"/>
            <a:ext cx="2088493" cy="1406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21" name="Equation" r:id="rId15" imgW="1054080" imgH="711000" progId="Equation.DSMT4">
                    <p:embed/>
                  </p:oleObj>
                </mc:Choice>
                <mc:Fallback>
                  <p:oleObj name="Equation" r:id="rId15" imgW="10540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5902" y="1045408"/>
                          <a:ext cx="2088493" cy="14067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1143000" y="3852331"/>
            <a:ext cx="8969148" cy="1107000"/>
            <a:chOff x="1143000" y="3852331"/>
            <a:chExt cx="8969148" cy="1107000"/>
          </a:xfrm>
        </p:grpSpPr>
        <p:sp>
          <p:nvSpPr>
            <p:cNvPr id="30" name="TextBox 29"/>
            <p:cNvSpPr txBox="1"/>
            <p:nvPr/>
          </p:nvSpPr>
          <p:spPr bwMode="auto">
            <a:xfrm>
              <a:off x="1143000" y="3852331"/>
              <a:ext cx="8969148" cy="1107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endParaRPr lang="en-US" altLang="zh-CN" sz="2400" b="1" dirty="0">
                <a:solidFill>
                  <a:schemeClr val="tx1"/>
                </a:solidFill>
                <a:latin typeface="Verdana" pitchFamily="34" charset="0"/>
              </a:endParaRPr>
            </a:p>
            <a:p>
              <a:r>
                <a:rPr lang="en-US" altLang="zh-CN" sz="2000" b="1" dirty="0">
                  <a:solidFill>
                    <a:schemeClr val="tx1"/>
                  </a:solidFill>
                  <a:latin typeface="Verdana" pitchFamily="34" charset="0"/>
                </a:rPr>
                <a:t>  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（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Verdana" pitchFamily="34" charset="0"/>
                </a:rPr>
                <a:t>2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）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r>
                <a:rPr lang="zh-CN" altLang="en-US" sz="2000" b="1" dirty="0">
                  <a:solidFill>
                    <a:schemeClr val="tx1"/>
                  </a:solidFill>
                  <a:latin typeface="Verdana" pitchFamily="34" charset="0"/>
                </a:rPr>
                <a:t>由                         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 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Verdana" pitchFamily="34" charset="0"/>
                </a:rPr>
                <a:t>              得， 所有</a:t>
              </a:r>
              <a:r>
                <a:rPr lang="zh-CN" altLang="en-US" sz="2000" b="1" dirty="0">
                  <a:solidFill>
                    <a:schemeClr val="tx1"/>
                  </a:solidFill>
                  <a:latin typeface="Verdana" pitchFamily="34" charset="0"/>
                </a:rPr>
                <a:t>特征值为</a:t>
              </a:r>
            </a:p>
          </p:txBody>
        </p:sp>
        <p:graphicFrame>
          <p:nvGraphicFramePr>
            <p:cNvPr id="31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4014420"/>
                </p:ext>
              </p:extLst>
            </p:nvPr>
          </p:nvGraphicFramePr>
          <p:xfrm>
            <a:off x="2542381" y="4288082"/>
            <a:ext cx="3194050" cy="379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22" name="Equation" r:id="rId17" imgW="1206360" imgH="253800" progId="Equation.DSMT4">
                    <p:embed/>
                  </p:oleObj>
                </mc:Choice>
                <mc:Fallback>
                  <p:oleObj name="Equation" r:id="rId17" imgW="12063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2381" y="4288082"/>
                          <a:ext cx="3194050" cy="379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323950"/>
              </p:ext>
            </p:extLst>
          </p:nvPr>
        </p:nvGraphicFramePr>
        <p:xfrm>
          <a:off x="8215626" y="4265128"/>
          <a:ext cx="28590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3" name="Equation" r:id="rId19" imgW="1079280" imgH="228600" progId="Equation.DSMT4">
                  <p:embed/>
                </p:oleObj>
              </mc:Choice>
              <mc:Fallback>
                <p:oleObj name="Equation" r:id="rId19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5626" y="4265128"/>
                        <a:ext cx="2859087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301975" y="4779550"/>
            <a:ext cx="6184944" cy="464337"/>
            <a:chOff x="1301975" y="4930755"/>
            <a:chExt cx="6184944" cy="464337"/>
          </a:xfrm>
        </p:grpSpPr>
        <p:grpSp>
          <p:nvGrpSpPr>
            <p:cNvPr id="7" name="组合 6"/>
            <p:cNvGrpSpPr/>
            <p:nvPr/>
          </p:nvGrpSpPr>
          <p:grpSpPr>
            <a:xfrm>
              <a:off x="1301975" y="4947417"/>
              <a:ext cx="6184944" cy="447675"/>
              <a:chOff x="1301975" y="4947417"/>
              <a:chExt cx="6184944" cy="447675"/>
            </a:xfrm>
          </p:grpSpPr>
          <p:sp>
            <p:nvSpPr>
              <p:cNvPr id="53269" name="Rectangle 21"/>
              <p:cNvSpPr>
                <a:spLocks noChangeArrowheads="1"/>
              </p:cNvSpPr>
              <p:nvPr/>
            </p:nvSpPr>
            <p:spPr bwMode="auto">
              <a:xfrm>
                <a:off x="1301975" y="4959331"/>
                <a:ext cx="6184944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属于  </a:t>
                </a:r>
                <a:r>
                  <a:rPr lang="zh-CN" altLang="en-US" b="1" dirty="0" smtClean="0"/>
                  <a:t>               </a:t>
                </a:r>
                <a:r>
                  <a:rPr lang="zh-CN" altLang="en-US" b="1" dirty="0"/>
                  <a:t>的所有特征向量为</a:t>
                </a:r>
              </a:p>
            </p:txBody>
          </p:sp>
          <p:graphicFrame>
            <p:nvGraphicFramePr>
              <p:cNvPr id="5" name="对象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41921063"/>
                  </p:ext>
                </p:extLst>
              </p:nvPr>
            </p:nvGraphicFramePr>
            <p:xfrm>
              <a:off x="4690268" y="4947417"/>
              <a:ext cx="2092325" cy="4476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424" name="Equation" r:id="rId21" imgW="1002960" imgH="241200" progId="Equation.DSMT4">
                      <p:embed/>
                    </p:oleObj>
                  </mc:Choice>
                  <mc:Fallback>
                    <p:oleObj name="Equation" r:id="rId21" imgW="1002960" imgH="2412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0268" y="4947417"/>
                            <a:ext cx="2092325" cy="4476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7005807"/>
                </p:ext>
              </p:extLst>
            </p:nvPr>
          </p:nvGraphicFramePr>
          <p:xfrm>
            <a:off x="1917857" y="4930755"/>
            <a:ext cx="768350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25" name="Equation" r:id="rId23" imgW="368280" imgH="228600" progId="Equation.DSMT4">
                    <p:embed/>
                  </p:oleObj>
                </mc:Choice>
                <mc:Fallback>
                  <p:oleObj name="Equation" r:id="rId23" imgW="368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857" y="4930755"/>
                          <a:ext cx="768350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20505" y="1148253"/>
            <a:ext cx="1048988" cy="696036"/>
            <a:chOff x="745588" y="1310185"/>
            <a:chExt cx="1082435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08243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1068368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  质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840609" y="1200643"/>
            <a:ext cx="707794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7693025" y="492125"/>
            <a:ext cx="4151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C00000"/>
                </a:solidFill>
                <a:ea typeface="华文行楷"/>
                <a:cs typeface="华文行楷"/>
              </a:rPr>
              <a:t>4.1 </a:t>
            </a:r>
            <a:r>
              <a:rPr lang="zh-CN" altLang="en-US" sz="2400">
                <a:solidFill>
                  <a:srgbClr val="C00000"/>
                </a:solidFill>
                <a:ea typeface="华文行楷"/>
                <a:cs typeface="华文行楷"/>
              </a:rPr>
              <a:t>方阵的特征值与特征向量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2690813" y="1265238"/>
            <a:ext cx="5921375" cy="573087"/>
            <a:chOff x="2690751" y="1265438"/>
            <a:chExt cx="5920986" cy="572982"/>
          </a:xfrm>
        </p:grpSpPr>
        <p:graphicFrame>
          <p:nvGraphicFramePr>
            <p:cNvPr id="25067" name="Object 491"/>
            <p:cNvGraphicFramePr>
              <a:graphicFrameLocks noChangeAspect="1"/>
            </p:cNvGraphicFramePr>
            <p:nvPr/>
          </p:nvGraphicFramePr>
          <p:xfrm>
            <a:off x="3133963" y="1295495"/>
            <a:ext cx="1133475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5" name="Equation" r:id="rId3" imgW="609480" imgH="291960" progId="Equation.DSMT4">
                    <p:embed/>
                  </p:oleObj>
                </mc:Choice>
                <mc:Fallback>
                  <p:oleObj name="Equation" r:id="rId3" imgW="609480" imgH="291960" progId="Equation.DSMT4">
                    <p:embed/>
                    <p:pic>
                      <p:nvPicPr>
                        <p:cNvPr id="0" name="Picture 4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3963" y="1295495"/>
                          <a:ext cx="1133475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068" name="Object 492"/>
            <p:cNvGraphicFramePr>
              <a:graphicFrameLocks noChangeAspect="1"/>
            </p:cNvGraphicFramePr>
            <p:nvPr/>
          </p:nvGraphicFramePr>
          <p:xfrm>
            <a:off x="6519488" y="1295495"/>
            <a:ext cx="141763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36" name="Equation" r:id="rId5" imgW="761760" imgH="228600" progId="Equation.DSMT4">
                    <p:embed/>
                  </p:oleObj>
                </mc:Choice>
                <mc:Fallback>
                  <p:oleObj name="Equation" r:id="rId5" imgW="761760" imgH="228600" progId="Equation.DSMT4">
                    <p:embed/>
                    <p:pic>
                      <p:nvPicPr>
                        <p:cNvPr id="0" name="Picture 4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9488" y="1295495"/>
                          <a:ext cx="1417638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11" name="文本框 1"/>
            <p:cNvSpPr txBox="1">
              <a:spLocks noChangeArrowheads="1"/>
            </p:cNvSpPr>
            <p:nvPr/>
          </p:nvSpPr>
          <p:spPr bwMode="auto">
            <a:xfrm>
              <a:off x="2690751" y="1265438"/>
              <a:ext cx="394206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若              的全部特征值为</a:t>
              </a:r>
            </a:p>
          </p:txBody>
        </p:sp>
        <p:sp>
          <p:nvSpPr>
            <p:cNvPr id="25112" name="文本框 2"/>
            <p:cNvSpPr txBox="1">
              <a:spLocks noChangeArrowheads="1"/>
            </p:cNvSpPr>
            <p:nvPr/>
          </p:nvSpPr>
          <p:spPr bwMode="auto">
            <a:xfrm>
              <a:off x="8079474" y="1295495"/>
              <a:ext cx="53226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</a:t>
              </a:r>
            </a:p>
          </p:txBody>
        </p:sp>
      </p:grpSp>
      <p:graphicFrame>
        <p:nvGraphicFramePr>
          <p:cNvPr id="30" name="Object 4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409913"/>
              </p:ext>
            </p:extLst>
          </p:nvPr>
        </p:nvGraphicFramePr>
        <p:xfrm>
          <a:off x="2949575" y="1933575"/>
          <a:ext cx="43005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7" name="Equation" r:id="rId7" imgW="2311200" imgH="253800" progId="Equation.DSMT4">
                  <p:embed/>
                </p:oleObj>
              </mc:Choice>
              <mc:Fallback>
                <p:oleObj name="Equation" r:id="rId7" imgW="2311200" imgH="253800" progId="Equation.DSMT4">
                  <p:embed/>
                  <p:pic>
                    <p:nvPicPr>
                      <p:cNvPr id="0" name="Picture 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1933575"/>
                        <a:ext cx="4300538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98807"/>
              </p:ext>
            </p:extLst>
          </p:nvPr>
        </p:nvGraphicFramePr>
        <p:xfrm>
          <a:off x="7283045" y="1852011"/>
          <a:ext cx="20097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8" name="Equation" r:id="rId9" imgW="1079280" imgH="304560" progId="Equation.DSMT4">
                  <p:embed/>
                </p:oleObj>
              </mc:Choice>
              <mc:Fallback>
                <p:oleObj name="Equation" r:id="rId9" imgW="1079280" imgH="304560" progId="Equation.DSMT4">
                  <p:embed/>
                  <p:pic>
                    <p:nvPicPr>
                      <p:cNvPr id="0" name="Picture 4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045" y="1852011"/>
                        <a:ext cx="20097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835442"/>
              </p:ext>
            </p:extLst>
          </p:nvPr>
        </p:nvGraphicFramePr>
        <p:xfrm>
          <a:off x="9440862" y="1956158"/>
          <a:ext cx="2055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39" name="Equation" r:id="rId11" imgW="1104840" imgH="253800" progId="Equation.DSMT4">
                  <p:embed/>
                </p:oleObj>
              </mc:Choice>
              <mc:Fallback>
                <p:oleObj name="Equation" r:id="rId11" imgW="1104840" imgH="253800" progId="Equation.DSMT4">
                  <p:embed/>
                  <p:pic>
                    <p:nvPicPr>
                      <p:cNvPr id="0" name="Picture 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0862" y="1956158"/>
                        <a:ext cx="205581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1840609" y="2588404"/>
            <a:ext cx="707794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圆角矩形 33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6176963" y="2686050"/>
            <a:ext cx="5027612" cy="477838"/>
            <a:chOff x="7658670" y="1984790"/>
            <a:chExt cx="5026518" cy="477672"/>
          </a:xfrm>
        </p:grpSpPr>
        <p:sp>
          <p:nvSpPr>
            <p:cNvPr id="25110" name="文本框 36"/>
            <p:cNvSpPr txBox="1">
              <a:spLocks noChangeArrowheads="1"/>
            </p:cNvSpPr>
            <p:nvPr/>
          </p:nvSpPr>
          <p:spPr bwMode="auto">
            <a:xfrm>
              <a:off x="7658670" y="1984790"/>
              <a:ext cx="5026518" cy="47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x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为 </a:t>
              </a:r>
              <a:r>
                <a:rPr lang="en-US" altLang="zh-CN" sz="2400" i="1" dirty="0">
                  <a:latin typeface="Times New Roman" pitchFamily="18" charset="0"/>
                  <a:ea typeface="微软雅黑" pitchFamily="34" charset="-122"/>
                </a:rPr>
                <a:t>A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的属于特征值    的特征向量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,</a:t>
              </a:r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     </a:t>
              </a:r>
            </a:p>
          </p:txBody>
        </p:sp>
        <p:graphicFrame>
          <p:nvGraphicFramePr>
            <p:cNvPr id="25072" name="Object 496"/>
            <p:cNvGraphicFramePr>
              <a:graphicFrameLocks noChangeAspect="1"/>
            </p:cNvGraphicFramePr>
            <p:nvPr/>
          </p:nvGraphicFramePr>
          <p:xfrm>
            <a:off x="10647588" y="2079894"/>
            <a:ext cx="2603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40" name="Equation" r:id="rId13" imgW="139680" imgH="177480" progId="Equation.DSMT4">
                    <p:embed/>
                  </p:oleObj>
                </mc:Choice>
                <mc:Fallback>
                  <p:oleObj name="Equation" r:id="rId13" imgW="139680" imgH="177480" progId="Equation.DSMT4">
                    <p:embed/>
                    <p:pic>
                      <p:nvPicPr>
                        <p:cNvPr id="0" name="Picture 4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47588" y="2079894"/>
                          <a:ext cx="2603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2682875" y="2703513"/>
            <a:ext cx="3994150" cy="457200"/>
            <a:chOff x="551485" y="3357349"/>
            <a:chExt cx="3642520" cy="456906"/>
          </a:xfrm>
        </p:grpSpPr>
        <p:sp>
          <p:nvSpPr>
            <p:cNvPr id="25109" name="文本框 39"/>
            <p:cNvSpPr txBox="1">
              <a:spLocks noChangeArrowheads="1"/>
            </p:cNvSpPr>
            <p:nvPr/>
          </p:nvSpPr>
          <p:spPr bwMode="auto">
            <a:xfrm>
              <a:off x="551485" y="3357349"/>
              <a:ext cx="3642520" cy="456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设    为 </a:t>
              </a:r>
              <a:r>
                <a:rPr lang="en-US" altLang="zh-CN" sz="24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en-US" altLang="zh-CN" sz="1600" i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</a:t>
              </a:r>
              <a:r>
                <a:rPr lang="en-US" altLang="zh-CN" sz="16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的一个特征值，</a:t>
              </a:r>
            </a:p>
          </p:txBody>
        </p:sp>
        <p:graphicFrame>
          <p:nvGraphicFramePr>
            <p:cNvPr id="25073" name="Object 497"/>
            <p:cNvGraphicFramePr>
              <a:graphicFrameLocks noChangeAspect="1"/>
            </p:cNvGraphicFramePr>
            <p:nvPr/>
          </p:nvGraphicFramePr>
          <p:xfrm>
            <a:off x="988061" y="3448216"/>
            <a:ext cx="260350" cy="33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41" name="Equation" r:id="rId15" imgW="139680" imgH="177480" progId="Equation.DSMT4">
                    <p:embed/>
                  </p:oleObj>
                </mc:Choice>
                <mc:Fallback>
                  <p:oleObj name="Equation" r:id="rId15" imgW="139680" imgH="177480" progId="Equation.DSMT4">
                    <p:embed/>
                    <p:pic>
                      <p:nvPicPr>
                        <p:cNvPr id="0" name="Picture 4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8061" y="3448216"/>
                          <a:ext cx="260350" cy="331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2979738" y="3478213"/>
            <a:ext cx="3495675" cy="457200"/>
            <a:chOff x="2791856" y="3366752"/>
            <a:chExt cx="2933643" cy="456906"/>
          </a:xfrm>
        </p:grpSpPr>
        <p:graphicFrame>
          <p:nvGraphicFramePr>
            <p:cNvPr id="25074" name="Object 498"/>
            <p:cNvGraphicFramePr>
              <a:graphicFrameLocks noChangeAspect="1"/>
            </p:cNvGraphicFramePr>
            <p:nvPr/>
          </p:nvGraphicFramePr>
          <p:xfrm>
            <a:off x="2791856" y="3382251"/>
            <a:ext cx="6842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42" name="Equation" r:id="rId17" imgW="368280" imgH="228600" progId="Equation.DSMT4">
                    <p:embed/>
                  </p:oleObj>
                </mc:Choice>
                <mc:Fallback>
                  <p:oleObj name="Equation" r:id="rId17" imgW="368280" imgH="228600" progId="Equation.DSMT4">
                    <p:embed/>
                    <p:pic>
                      <p:nvPicPr>
                        <p:cNvPr id="0" name="Picture 4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856" y="3382251"/>
                          <a:ext cx="68421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107" name="组合 14"/>
            <p:cNvGrpSpPr>
              <a:grpSpLocks/>
            </p:cNvGrpSpPr>
            <p:nvPr/>
          </p:nvGrpSpPr>
          <p:grpSpPr bwMode="auto">
            <a:xfrm>
              <a:off x="3459971" y="3366752"/>
              <a:ext cx="2265528" cy="456906"/>
              <a:chOff x="3603009" y="3382251"/>
              <a:chExt cx="2265528" cy="456906"/>
            </a:xfrm>
          </p:grpSpPr>
          <p:sp>
            <p:nvSpPr>
              <p:cNvPr id="25108" name="文本框 13"/>
              <p:cNvSpPr txBox="1">
                <a:spLocks noChangeArrowheads="1"/>
              </p:cNvSpPr>
              <p:nvPr/>
            </p:nvSpPr>
            <p:spPr bwMode="auto">
              <a:xfrm>
                <a:off x="3603009" y="3382251"/>
                <a:ext cx="2265528" cy="4569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是     的特征值；</a:t>
                </a:r>
              </a:p>
            </p:txBody>
          </p:sp>
          <p:graphicFrame>
            <p:nvGraphicFramePr>
              <p:cNvPr id="25075" name="Object 499"/>
              <p:cNvGraphicFramePr>
                <a:graphicFrameLocks noChangeAspect="1"/>
              </p:cNvGraphicFramePr>
              <p:nvPr/>
            </p:nvGraphicFramePr>
            <p:xfrm>
              <a:off x="3986834" y="3393650"/>
              <a:ext cx="401638" cy="3540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43" name="Equation" r:id="rId19" imgW="215640" imgH="190440" progId="Equation.DSMT4">
                      <p:embed/>
                    </p:oleObj>
                  </mc:Choice>
                  <mc:Fallback>
                    <p:oleObj name="Equation" r:id="rId19" imgW="215640" imgH="190440" progId="Equation.DSMT4">
                      <p:embed/>
                      <p:pic>
                        <p:nvPicPr>
                          <p:cNvPr id="0" name="Picture 4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6834" y="3393650"/>
                            <a:ext cx="401638" cy="3540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1" name="组合 50"/>
          <p:cNvGrpSpPr>
            <a:grpSpLocks/>
          </p:cNvGrpSpPr>
          <p:nvPr/>
        </p:nvGrpSpPr>
        <p:grpSpPr bwMode="auto">
          <a:xfrm>
            <a:off x="2973388" y="4002088"/>
            <a:ext cx="8523287" cy="782637"/>
            <a:chOff x="2797764" y="3747662"/>
            <a:chExt cx="8522532" cy="782637"/>
          </a:xfrm>
        </p:grpSpPr>
        <p:graphicFrame>
          <p:nvGraphicFramePr>
            <p:cNvPr id="25076" name="Object 500"/>
            <p:cNvGraphicFramePr>
              <a:graphicFrameLocks noChangeAspect="1"/>
            </p:cNvGraphicFramePr>
            <p:nvPr/>
          </p:nvGraphicFramePr>
          <p:xfrm>
            <a:off x="2797764" y="3997805"/>
            <a:ext cx="423863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44" name="Equation" r:id="rId21" imgW="228600" imgH="203040" progId="Equation.DSMT4">
                    <p:embed/>
                  </p:oleObj>
                </mc:Choice>
                <mc:Fallback>
                  <p:oleObj name="Equation" r:id="rId21" imgW="228600" imgH="203040" progId="Equation.DSMT4">
                    <p:embed/>
                    <p:pic>
                      <p:nvPicPr>
                        <p:cNvPr id="0" name="Picture 5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764" y="3997805"/>
                          <a:ext cx="423863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105" name="组合 49"/>
            <p:cNvGrpSpPr>
              <a:grpSpLocks/>
            </p:cNvGrpSpPr>
            <p:nvPr/>
          </p:nvGrpSpPr>
          <p:grpSpPr bwMode="auto">
            <a:xfrm>
              <a:off x="3133962" y="3747662"/>
              <a:ext cx="8186334" cy="782637"/>
              <a:chOff x="3264138" y="3828417"/>
              <a:chExt cx="8186334" cy="782637"/>
            </a:xfrm>
          </p:grpSpPr>
          <p:sp>
            <p:nvSpPr>
              <p:cNvPr id="25106" name="文本框 43"/>
              <p:cNvSpPr txBox="1">
                <a:spLocks noChangeArrowheads="1"/>
              </p:cNvSpPr>
              <p:nvPr/>
            </p:nvSpPr>
            <p:spPr bwMode="auto">
              <a:xfrm>
                <a:off x="3264138" y="4024425"/>
                <a:ext cx="818633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若    可逆，则     是      的特征值，     是      的特征值；    </a:t>
                </a:r>
              </a:p>
            </p:txBody>
          </p:sp>
          <p:graphicFrame>
            <p:nvGraphicFramePr>
              <p:cNvPr id="25077" name="Object 501"/>
              <p:cNvGraphicFramePr>
                <a:graphicFrameLocks noChangeAspect="1"/>
              </p:cNvGraphicFramePr>
              <p:nvPr/>
            </p:nvGraphicFramePr>
            <p:xfrm>
              <a:off x="3700700" y="4061674"/>
              <a:ext cx="282575" cy="3079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45" name="Equation" r:id="rId23" imgW="152280" imgH="164880" progId="Equation.DSMT4">
                      <p:embed/>
                    </p:oleObj>
                  </mc:Choice>
                  <mc:Fallback>
                    <p:oleObj name="Equation" r:id="rId23" imgW="152280" imgH="164880" progId="Equation.DSMT4">
                      <p:embed/>
                      <p:pic>
                        <p:nvPicPr>
                          <p:cNvPr id="0" name="Picture 5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0700" y="4061674"/>
                            <a:ext cx="282575" cy="3079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078" name="Object 502"/>
              <p:cNvGraphicFramePr>
                <a:graphicFrameLocks noChangeAspect="1"/>
              </p:cNvGraphicFramePr>
              <p:nvPr/>
            </p:nvGraphicFramePr>
            <p:xfrm>
              <a:off x="5253631" y="3828417"/>
              <a:ext cx="306387" cy="7350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46" name="Equation" r:id="rId25" imgW="164880" imgH="393480" progId="Equation.DSMT4">
                      <p:embed/>
                    </p:oleObj>
                  </mc:Choice>
                  <mc:Fallback>
                    <p:oleObj name="Equation" r:id="rId25" imgW="164880" imgH="393480" progId="Equation.DSMT4">
                      <p:embed/>
                      <p:pic>
                        <p:nvPicPr>
                          <p:cNvPr id="0" name="Picture 5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3631" y="3828417"/>
                            <a:ext cx="306387" cy="7350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079" name="Object 503"/>
              <p:cNvGraphicFramePr>
                <a:graphicFrameLocks noChangeAspect="1"/>
              </p:cNvGraphicFramePr>
              <p:nvPr/>
            </p:nvGraphicFramePr>
            <p:xfrm>
              <a:off x="6040438" y="4038600"/>
              <a:ext cx="449262" cy="3540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47" name="Equation" r:id="rId27" imgW="241200" imgH="190440" progId="Equation.DSMT4">
                      <p:embed/>
                    </p:oleObj>
                  </mc:Choice>
                  <mc:Fallback>
                    <p:oleObj name="Equation" r:id="rId27" imgW="241200" imgH="190440" progId="Equation.DSMT4">
                      <p:embed/>
                      <p:pic>
                        <p:nvPicPr>
                          <p:cNvPr id="0" name="Picture 5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40438" y="4038600"/>
                            <a:ext cx="449262" cy="3540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080" name="Object 504"/>
              <p:cNvGraphicFramePr>
                <a:graphicFrameLocks noChangeAspect="1"/>
              </p:cNvGraphicFramePr>
              <p:nvPr/>
            </p:nvGraphicFramePr>
            <p:xfrm>
              <a:off x="8079474" y="3828417"/>
              <a:ext cx="425450" cy="782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48" name="Equation" r:id="rId29" imgW="228600" imgH="419040" progId="Equation.DSMT4">
                      <p:embed/>
                    </p:oleObj>
                  </mc:Choice>
                  <mc:Fallback>
                    <p:oleObj name="Equation" r:id="rId29" imgW="228600" imgH="419040" progId="Equation.DSMT4">
                      <p:embed/>
                      <p:pic>
                        <p:nvPicPr>
                          <p:cNvPr id="0" name="Picture 5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9474" y="3828417"/>
                            <a:ext cx="425450" cy="7826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081" name="Object 505"/>
              <p:cNvGraphicFramePr>
                <a:graphicFrameLocks noChangeAspect="1"/>
              </p:cNvGraphicFramePr>
              <p:nvPr/>
            </p:nvGraphicFramePr>
            <p:xfrm>
              <a:off x="8874125" y="4040188"/>
              <a:ext cx="354013" cy="3540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49" name="Equation" r:id="rId31" imgW="190440" imgH="190440" progId="Equation.DSMT4">
                      <p:embed/>
                    </p:oleObj>
                  </mc:Choice>
                  <mc:Fallback>
                    <p:oleObj name="Equation" r:id="rId31" imgW="190440" imgH="190440" progId="Equation.DSMT4">
                      <p:embed/>
                      <p:pic>
                        <p:nvPicPr>
                          <p:cNvPr id="0" name="Picture 5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74125" y="4040188"/>
                            <a:ext cx="354013" cy="3540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2973388" y="4953000"/>
            <a:ext cx="6664325" cy="479425"/>
            <a:chOff x="2813050" y="4923673"/>
            <a:chExt cx="6289727" cy="478911"/>
          </a:xfrm>
        </p:grpSpPr>
        <p:graphicFrame>
          <p:nvGraphicFramePr>
            <p:cNvPr id="25082" name="Object 506"/>
            <p:cNvGraphicFramePr>
              <a:graphicFrameLocks noChangeAspect="1"/>
            </p:cNvGraphicFramePr>
            <p:nvPr/>
          </p:nvGraphicFramePr>
          <p:xfrm>
            <a:off x="2813050" y="5006975"/>
            <a:ext cx="40005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0" name="Equation" r:id="rId33" imgW="215640" imgH="203040" progId="Equation.DSMT4">
                    <p:embed/>
                  </p:oleObj>
                </mc:Choice>
                <mc:Fallback>
                  <p:oleObj name="Equation" r:id="rId33" imgW="215640" imgH="203040" progId="Equation.DSMT4">
                    <p:embed/>
                    <p:pic>
                      <p:nvPicPr>
                        <p:cNvPr id="0" name="Picture 5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3050" y="5006975"/>
                          <a:ext cx="40005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083" name="Object 507"/>
            <p:cNvGraphicFramePr>
              <a:graphicFrameLocks noChangeAspect="1"/>
            </p:cNvGraphicFramePr>
            <p:nvPr/>
          </p:nvGraphicFramePr>
          <p:xfrm>
            <a:off x="3213100" y="4923673"/>
            <a:ext cx="4191000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1" name="Equation" r:id="rId35" imgW="2260440" imgH="253800" progId="Equation.DSMT4">
                    <p:embed/>
                  </p:oleObj>
                </mc:Choice>
                <mc:Fallback>
                  <p:oleObj name="Equation" r:id="rId35" imgW="2260440" imgH="253800" progId="Equation.DSMT4">
                    <p:embed/>
                    <p:pic>
                      <p:nvPicPr>
                        <p:cNvPr id="0" name="Picture 5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3100" y="4923673"/>
                          <a:ext cx="4191000" cy="474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04" name="文本框 54"/>
            <p:cNvSpPr txBox="1">
              <a:spLocks noChangeArrowheads="1"/>
            </p:cNvSpPr>
            <p:nvPr/>
          </p:nvSpPr>
          <p:spPr bwMode="auto">
            <a:xfrm>
              <a:off x="7403742" y="4945874"/>
              <a:ext cx="1699035" cy="456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为多项式，</a:t>
              </a:r>
            </a:p>
          </p:txBody>
        </p:sp>
      </p:grpSp>
      <p:grpSp>
        <p:nvGrpSpPr>
          <p:cNvPr id="62" name="组合 61"/>
          <p:cNvGrpSpPr>
            <a:grpSpLocks/>
          </p:cNvGrpSpPr>
          <p:nvPr/>
        </p:nvGrpSpPr>
        <p:grpSpPr bwMode="auto">
          <a:xfrm>
            <a:off x="3276600" y="5743575"/>
            <a:ext cx="3875088" cy="476250"/>
            <a:chOff x="4661781" y="4950415"/>
            <a:chExt cx="3873807" cy="477176"/>
          </a:xfrm>
        </p:grpSpPr>
        <p:sp>
          <p:nvSpPr>
            <p:cNvPr id="25103" name="文本框 62"/>
            <p:cNvSpPr txBox="1">
              <a:spLocks noChangeArrowheads="1"/>
            </p:cNvSpPr>
            <p:nvPr/>
          </p:nvSpPr>
          <p:spPr bwMode="auto">
            <a:xfrm>
              <a:off x="4661781" y="4965926"/>
              <a:ext cx="387380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微软雅黑" pitchFamily="34" charset="-122"/>
                  <a:ea typeface="微软雅黑" pitchFamily="34" charset="-122"/>
                </a:rPr>
                <a:t>则         是          的特征值</a:t>
              </a: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.</a:t>
              </a:r>
              <a:endParaRPr lang="zh-CN" altLang="en-US" sz="240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5084" name="Object 508"/>
            <p:cNvGraphicFramePr>
              <a:graphicFrameLocks noChangeAspect="1"/>
            </p:cNvGraphicFramePr>
            <p:nvPr/>
          </p:nvGraphicFramePr>
          <p:xfrm>
            <a:off x="5006653" y="4954516"/>
            <a:ext cx="6858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2" name="Equation" r:id="rId37" imgW="368280" imgH="253800" progId="Equation.DSMT4">
                    <p:embed/>
                  </p:oleObj>
                </mc:Choice>
                <mc:Fallback>
                  <p:oleObj name="Equation" r:id="rId37" imgW="368280" imgH="253800" progId="Equation.DSMT4">
                    <p:embed/>
                    <p:pic>
                      <p:nvPicPr>
                        <p:cNvPr id="0" name="Picture 5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6653" y="4954516"/>
                          <a:ext cx="685800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085" name="Object 509"/>
            <p:cNvGraphicFramePr>
              <a:graphicFrameLocks noChangeAspect="1"/>
            </p:cNvGraphicFramePr>
            <p:nvPr/>
          </p:nvGraphicFramePr>
          <p:xfrm>
            <a:off x="6242543" y="4950415"/>
            <a:ext cx="709612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3" name="Equation" r:id="rId39" imgW="380880" imgH="253800" progId="Equation.DSMT4">
                    <p:embed/>
                  </p:oleObj>
                </mc:Choice>
                <mc:Fallback>
                  <p:oleObj name="Equation" r:id="rId39" imgW="380880" imgH="253800" progId="Equation.DSMT4">
                    <p:embed/>
                    <p:pic>
                      <p:nvPicPr>
                        <p:cNvPr id="0" name="Picture 5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2543" y="4950415"/>
                          <a:ext cx="709612" cy="474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左大括号 17"/>
          <p:cNvSpPr/>
          <p:nvPr/>
        </p:nvSpPr>
        <p:spPr>
          <a:xfrm>
            <a:off x="2747963" y="3667125"/>
            <a:ext cx="201612" cy="1609725"/>
          </a:xfrm>
          <a:prstGeom prst="leftBrac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858963" y="3521075"/>
            <a:ext cx="692150" cy="2370138"/>
            <a:chOff x="1629743" y="3493932"/>
            <a:chExt cx="692172" cy="2370441"/>
          </a:xfrm>
        </p:grpSpPr>
        <p:grpSp>
          <p:nvGrpSpPr>
            <p:cNvPr id="25100" name="组合 20"/>
            <p:cNvGrpSpPr>
              <a:grpSpLocks/>
            </p:cNvGrpSpPr>
            <p:nvPr/>
          </p:nvGrpSpPr>
          <p:grpSpPr bwMode="auto">
            <a:xfrm>
              <a:off x="1629743" y="3493932"/>
              <a:ext cx="692172" cy="2370441"/>
              <a:chOff x="1629743" y="3493932"/>
              <a:chExt cx="692172" cy="2370441"/>
            </a:xfrm>
          </p:grpSpPr>
          <p:sp>
            <p:nvSpPr>
              <p:cNvPr id="54" name="圆角矩形 53"/>
              <p:cNvSpPr/>
              <p:nvPr/>
            </p:nvSpPr>
            <p:spPr>
              <a:xfrm rot="5400000">
                <a:off x="790609" y="4333067"/>
                <a:ext cx="2370441" cy="692172"/>
              </a:xfrm>
              <a:prstGeom prst="roundRect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5102" name="文本框 19"/>
              <p:cNvSpPr txBox="1">
                <a:spLocks noChangeArrowheads="1"/>
              </p:cNvSpPr>
              <p:nvPr/>
            </p:nvSpPr>
            <p:spPr bwMode="auto">
              <a:xfrm>
                <a:off x="1745519" y="3569897"/>
                <a:ext cx="363040" cy="19389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特征向量为</a:t>
                </a:r>
                <a:endParaRPr lang="zh-CN" altLang="en-US" sz="2400" i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graphicFrame>
          <p:nvGraphicFramePr>
            <p:cNvPr id="25086" name="Object 510"/>
            <p:cNvGraphicFramePr>
              <a:graphicFrameLocks noChangeAspect="1"/>
            </p:cNvGraphicFramePr>
            <p:nvPr/>
          </p:nvGraphicFramePr>
          <p:xfrm>
            <a:off x="1851628" y="5502699"/>
            <a:ext cx="236538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4" name="Equation" r:id="rId41" imgW="126720" imgH="139680" progId="Equation.DSMT4">
                    <p:embed/>
                  </p:oleObj>
                </mc:Choice>
                <mc:Fallback>
                  <p:oleObj name="Equation" r:id="rId41" imgW="126720" imgH="139680" progId="Equation.DSMT4">
                    <p:embed/>
                    <p:pic>
                      <p:nvPicPr>
                        <p:cNvPr id="0" name="Picture 5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628" y="5502699"/>
                          <a:ext cx="236538" cy="260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/>
          <p:cNvGrpSpPr>
            <a:grpSpLocks/>
          </p:cNvGrpSpPr>
          <p:nvPr/>
        </p:nvGrpSpPr>
        <p:grpSpPr bwMode="auto">
          <a:xfrm>
            <a:off x="6475414" y="3461019"/>
            <a:ext cx="3162300" cy="457200"/>
            <a:chOff x="2961721" y="3389232"/>
            <a:chExt cx="2653868" cy="456906"/>
          </a:xfrm>
        </p:grpSpPr>
        <p:graphicFrame>
          <p:nvGraphicFramePr>
            <p:cNvPr id="56" name="Object 4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7871901"/>
                </p:ext>
              </p:extLst>
            </p:nvPr>
          </p:nvGraphicFramePr>
          <p:xfrm>
            <a:off x="2961721" y="3469081"/>
            <a:ext cx="401011" cy="331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5" name="Equation" r:id="rId43" imgW="215640" imgH="177480" progId="Equation.DSMT4">
                    <p:embed/>
                  </p:oleObj>
                </mc:Choice>
                <mc:Fallback>
                  <p:oleObj name="Equation" r:id="rId43" imgW="215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1721" y="3469081"/>
                          <a:ext cx="401011" cy="331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7" name="组合 14"/>
            <p:cNvGrpSpPr>
              <a:grpSpLocks/>
            </p:cNvGrpSpPr>
            <p:nvPr/>
          </p:nvGrpSpPr>
          <p:grpSpPr bwMode="auto">
            <a:xfrm>
              <a:off x="3350061" y="3389232"/>
              <a:ext cx="2265528" cy="456906"/>
              <a:chOff x="3493099" y="3404731"/>
              <a:chExt cx="2265528" cy="456906"/>
            </a:xfrm>
          </p:grpSpPr>
          <p:sp>
            <p:nvSpPr>
              <p:cNvPr id="58" name="文本框 13"/>
              <p:cNvSpPr txBox="1">
                <a:spLocks noChangeArrowheads="1"/>
              </p:cNvSpPr>
              <p:nvPr/>
            </p:nvSpPr>
            <p:spPr bwMode="auto">
              <a:xfrm>
                <a:off x="3493099" y="3404731"/>
                <a:ext cx="2265528" cy="4569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dirty="0">
                    <a:latin typeface="微软雅黑" pitchFamily="34" charset="-122"/>
                    <a:ea typeface="微软雅黑" pitchFamily="34" charset="-122"/>
                  </a:rPr>
                  <a:t>是     的特征值；</a:t>
                </a:r>
              </a:p>
            </p:txBody>
          </p:sp>
          <p:graphicFrame>
            <p:nvGraphicFramePr>
              <p:cNvPr id="59" name="Object 49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204931"/>
                  </p:ext>
                </p:extLst>
              </p:nvPr>
            </p:nvGraphicFramePr>
            <p:xfrm>
              <a:off x="3869478" y="3485373"/>
              <a:ext cx="378363" cy="329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56" name="Equation" r:id="rId45" imgW="203040" imgH="177480" progId="Equation.DSMT4">
                      <p:embed/>
                    </p:oleObj>
                  </mc:Choice>
                  <mc:Fallback>
                    <p:oleObj name="Equation" r:id="rId45" imgW="20304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69478" y="3485373"/>
                            <a:ext cx="378363" cy="3299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20505" y="1148253"/>
            <a:ext cx="1048988" cy="696036"/>
            <a:chOff x="745588" y="1310185"/>
            <a:chExt cx="1082435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08243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1068368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  质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51624" y="2410318"/>
            <a:ext cx="707795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7693025" y="492125"/>
            <a:ext cx="4151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ea typeface="华文行楷"/>
                <a:cs typeface="华文行楷"/>
              </a:rPr>
              <a:t>4.2 </a:t>
            </a:r>
            <a:r>
              <a:rPr lang="zh-CN" altLang="en-US" sz="2400" dirty="0">
                <a:solidFill>
                  <a:srgbClr val="C00000"/>
                </a:solidFill>
                <a:ea typeface="华文行楷"/>
                <a:cs typeface="华文行楷"/>
              </a:rPr>
              <a:t>方阵的特征值与特征向量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742099" y="3839354"/>
            <a:ext cx="707795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圆角矩形 33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1449894" y="3934057"/>
            <a:ext cx="62214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的属于不同特征值的特征向量线性无关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</a:t>
            </a: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569492" y="2534272"/>
            <a:ext cx="3368675" cy="461963"/>
            <a:chOff x="2808731" y="1346626"/>
            <a:chExt cx="3369006" cy="461665"/>
          </a:xfrm>
        </p:grpSpPr>
        <p:graphicFrame>
          <p:nvGraphicFramePr>
            <p:cNvPr id="33800" name="Object 8"/>
            <p:cNvGraphicFramePr>
              <a:graphicFrameLocks noChangeAspect="1"/>
            </p:cNvGraphicFramePr>
            <p:nvPr/>
          </p:nvGraphicFramePr>
          <p:xfrm>
            <a:off x="2808731" y="1387152"/>
            <a:ext cx="282575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6" name="Equation" r:id="rId3" imgW="152280" imgH="164880" progId="Equation.DSMT4">
                    <p:embed/>
                  </p:oleObj>
                </mc:Choice>
                <mc:Fallback>
                  <p:oleObj name="Equation" r:id="rId3" imgW="152280" imgH="1648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8731" y="1387152"/>
                          <a:ext cx="282575" cy="307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8" name="文本框 1"/>
            <p:cNvSpPr txBox="1">
              <a:spLocks noChangeArrowheads="1"/>
            </p:cNvSpPr>
            <p:nvPr/>
          </p:nvSpPr>
          <p:spPr bwMode="auto">
            <a:xfrm>
              <a:off x="3079519" y="1346626"/>
              <a:ext cx="309821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latin typeface="微软雅黑" pitchFamily="34" charset="-122"/>
                  <a:ea typeface="微软雅黑" pitchFamily="34" charset="-122"/>
                </a:rPr>
                <a:t>与       的特征值相同</a:t>
              </a:r>
              <a:r>
                <a:rPr lang="en-US" altLang="zh-CN" sz="2400" dirty="0">
                  <a:latin typeface="微软雅黑" pitchFamily="34" charset="-122"/>
                  <a:ea typeface="微软雅黑" pitchFamily="34" charset="-122"/>
                </a:rPr>
                <a:t>.</a:t>
              </a:r>
              <a:endParaRPr lang="zh-CN" altLang="en-US" sz="2400" dirty="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33801" name="Object 9"/>
            <p:cNvGraphicFramePr>
              <a:graphicFrameLocks noChangeAspect="1"/>
            </p:cNvGraphicFramePr>
            <p:nvPr/>
          </p:nvGraphicFramePr>
          <p:xfrm>
            <a:off x="3586590" y="1362157"/>
            <a:ext cx="40005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7" name="Equation" r:id="rId5" imgW="215640" imgH="190440" progId="Equation.DSMT4">
                    <p:embed/>
                  </p:oleObj>
                </mc:Choice>
                <mc:Fallback>
                  <p:oleObj name="Equation" r:id="rId5" imgW="215640" imgH="19044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6590" y="1362157"/>
                          <a:ext cx="40005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en-US" sz="2800" b="1">
              <a:latin typeface="Verdana" pitchFamily="34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-273133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105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862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4278" name="Rectangle 13"/>
          <p:cNvSpPr>
            <a:spLocks noChangeArrowheads="1"/>
          </p:cNvSpPr>
          <p:nvPr/>
        </p:nvSpPr>
        <p:spPr bwMode="auto">
          <a:xfrm>
            <a:off x="5548313" y="260350"/>
            <a:ext cx="57467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altLang="zh-CN" sz="2000" b="1" dirty="0" smtClean="0">
                <a:solidFill>
                  <a:srgbClr val="FF0000"/>
                </a:solidFill>
                <a:latin typeface="Verdana" pitchFamily="34" charset="0"/>
              </a:rPr>
              <a:t>4.2  </a:t>
            </a:r>
            <a:r>
              <a:rPr lang="zh-CN" altLang="en-US" sz="2000" b="1" dirty="0">
                <a:solidFill>
                  <a:srgbClr val="FF0000"/>
                </a:solidFill>
                <a:latin typeface="Verdana" pitchFamily="34" charset="0"/>
              </a:rPr>
              <a:t>方阵的特征值与特征向量</a:t>
            </a:r>
          </a:p>
        </p:txBody>
      </p:sp>
      <p:grpSp>
        <p:nvGrpSpPr>
          <p:cNvPr id="54279" name="组合 20"/>
          <p:cNvGrpSpPr>
            <a:grpSpLocks/>
          </p:cNvGrpSpPr>
          <p:nvPr/>
        </p:nvGrpSpPr>
        <p:grpSpPr bwMode="auto">
          <a:xfrm>
            <a:off x="798513" y="1017587"/>
            <a:ext cx="10480675" cy="1417637"/>
            <a:chOff x="1259632" y="1741394"/>
            <a:chExt cx="7859340" cy="1416990"/>
          </a:xfrm>
        </p:grpSpPr>
        <p:sp>
          <p:nvSpPr>
            <p:cNvPr id="24" name="TextBox 23"/>
            <p:cNvSpPr txBox="1"/>
            <p:nvPr/>
          </p:nvSpPr>
          <p:spPr>
            <a:xfrm>
              <a:off x="1259632" y="1741394"/>
              <a:ext cx="7859340" cy="13281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itchFamily="34" charset="0"/>
                </a:rPr>
                <a:t>例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itchFamily="34" charset="0"/>
                </a:rPr>
                <a:t>4   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已知     </a:t>
              </a:r>
              <a:r>
                <a:rPr lang="zh-CN" altLang="en-US" sz="2400" b="1" dirty="0" smtClean="0">
                  <a:solidFill>
                    <a:schemeClr val="tx1"/>
                  </a:solidFill>
                  <a:latin typeface="Verdana" pitchFamily="34" charset="0"/>
                </a:rPr>
                <a:t>为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三阶方阵 ，且   的特征值分别为              </a:t>
              </a:r>
              <a:endParaRPr lang="en-US" altLang="zh-CN" sz="2400" b="1" dirty="0">
                <a:solidFill>
                  <a:schemeClr val="tx1"/>
                </a:solidFill>
                <a:latin typeface="Verdana" pitchFamily="34" charset="0"/>
              </a:endParaRPr>
            </a:p>
            <a:p>
              <a:r>
                <a:rPr lang="en-US" altLang="zh-CN" sz="2400" b="1" dirty="0">
                  <a:solidFill>
                    <a:schemeClr val="tx1"/>
                  </a:solidFill>
                  <a:latin typeface="Verdana" pitchFamily="34" charset="0"/>
                </a:rPr>
                <a:t>        </a:t>
              </a:r>
            </a:p>
            <a:p>
              <a:r>
                <a:rPr lang="en-US" altLang="zh-CN" sz="2400" b="1" dirty="0">
                  <a:solidFill>
                    <a:schemeClr val="tx1"/>
                  </a:solidFill>
                  <a:latin typeface="Verdana" pitchFamily="34" charset="0"/>
                </a:rPr>
                <a:t>        </a:t>
              </a:r>
              <a:r>
                <a:rPr lang="zh-CN" altLang="en-US" sz="2400" b="1" dirty="0">
                  <a:solidFill>
                    <a:schemeClr val="tx1"/>
                  </a:solidFill>
                  <a:latin typeface="Verdana" pitchFamily="34" charset="0"/>
                </a:rPr>
                <a:t>求：</a:t>
              </a:r>
              <a:endParaRPr lang="en-US" altLang="zh-CN" sz="2400" b="1" dirty="0">
                <a:solidFill>
                  <a:schemeClr val="tx1"/>
                </a:solidFill>
                <a:latin typeface="Verdana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2400" b="1" dirty="0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graphicFrame>
          <p:nvGraphicFramePr>
            <p:cNvPr id="54281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6940673"/>
                </p:ext>
              </p:extLst>
            </p:nvPr>
          </p:nvGraphicFramePr>
          <p:xfrm>
            <a:off x="2462864" y="1847404"/>
            <a:ext cx="319087" cy="322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05" name="Equation" r:id="rId3" imgW="152268" imgH="164957" progId="Equation.DSMT4">
                    <p:embed/>
                  </p:oleObj>
                </mc:Choice>
                <mc:Fallback>
                  <p:oleObj name="Equation" r:id="rId3" imgW="152268" imgH="164957" progId="Equation.DSMT4">
                    <p:embed/>
                    <p:pic>
                      <p:nvPicPr>
                        <p:cNvPr id="0" name="对象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2864" y="1847404"/>
                          <a:ext cx="319087" cy="322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1866370"/>
                </p:ext>
              </p:extLst>
            </p:nvPr>
          </p:nvGraphicFramePr>
          <p:xfrm>
            <a:off x="4490462" y="1846544"/>
            <a:ext cx="319087" cy="322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06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对象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0462" y="1846544"/>
                          <a:ext cx="319087" cy="322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0234915"/>
                </p:ext>
              </p:extLst>
            </p:nvPr>
          </p:nvGraphicFramePr>
          <p:xfrm>
            <a:off x="6512616" y="1741394"/>
            <a:ext cx="903288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07" name="Equation" r:id="rId6" imgW="431613" imgH="203112" progId="Equation.DSMT4">
                    <p:embed/>
                  </p:oleObj>
                </mc:Choice>
                <mc:Fallback>
                  <p:oleObj name="Equation" r:id="rId6" imgW="431613" imgH="203112" progId="Equation.DSMT4">
                    <p:embed/>
                    <p:pic>
                      <p:nvPicPr>
                        <p:cNvPr id="0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2616" y="1741394"/>
                          <a:ext cx="903288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4" name="对象 34"/>
            <p:cNvGraphicFramePr>
              <a:graphicFrameLocks noChangeAspect="1"/>
            </p:cNvGraphicFramePr>
            <p:nvPr/>
          </p:nvGraphicFramePr>
          <p:xfrm>
            <a:off x="2713440" y="2315421"/>
            <a:ext cx="5949950" cy="842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08" name="Equation" r:id="rId8" imgW="2844800" imgH="431800" progId="Equation.DSMT4">
                    <p:embed/>
                  </p:oleObj>
                </mc:Choice>
                <mc:Fallback>
                  <p:oleObj name="Equation" r:id="rId8" imgW="2844800" imgH="431800" progId="Equation.DSMT4">
                    <p:embed/>
                    <p:pic>
                      <p:nvPicPr>
                        <p:cNvPr id="0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3440" y="2315421"/>
                          <a:ext cx="5949950" cy="842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871538" y="2730500"/>
            <a:ext cx="10382250" cy="1200150"/>
            <a:chOff x="683568" y="2751311"/>
            <a:chExt cx="7787850" cy="1200329"/>
          </a:xfrm>
        </p:grpSpPr>
        <p:sp>
          <p:nvSpPr>
            <p:cNvPr id="54286" name="TextBox 2"/>
            <p:cNvSpPr txBox="1">
              <a:spLocks noChangeArrowheads="1"/>
            </p:cNvSpPr>
            <p:nvPr/>
          </p:nvSpPr>
          <p:spPr bwMode="auto">
            <a:xfrm>
              <a:off x="683568" y="2751311"/>
              <a:ext cx="7129336" cy="1187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b="1">
                  <a:latin typeface="Verdana" pitchFamily="34" charset="0"/>
                </a:rPr>
                <a:t>解</a:t>
              </a:r>
              <a:r>
                <a:rPr lang="zh-CN" altLang="en-US" sz="2400" b="1">
                  <a:latin typeface="Verdana" pitchFamily="34" charset="0"/>
                  <a:sym typeface="Wingdings" pitchFamily="2" charset="2"/>
                </a:rPr>
                <a:t>：（</a:t>
              </a:r>
              <a:r>
                <a:rPr lang="en-US" altLang="zh-CN" sz="2400" b="1">
                  <a:latin typeface="Verdana" pitchFamily="34" charset="0"/>
                  <a:sym typeface="Wingdings" pitchFamily="2" charset="2"/>
                </a:rPr>
                <a:t>1</a:t>
              </a:r>
              <a:r>
                <a:rPr lang="zh-CN" altLang="en-US" sz="2400" b="1">
                  <a:latin typeface="Verdana" pitchFamily="34" charset="0"/>
                  <a:sym typeface="Wingdings" pitchFamily="2" charset="2"/>
                </a:rPr>
                <a:t>）</a:t>
              </a:r>
              <a:endParaRPr lang="en-US" altLang="zh-CN" sz="2400" b="1">
                <a:latin typeface="Verdana" pitchFamily="34" charset="0"/>
                <a:sym typeface="Wingdings" pitchFamily="2" charset="2"/>
              </a:endParaRPr>
            </a:p>
            <a:p>
              <a:endParaRPr lang="en-US" altLang="zh-CN" sz="2400" b="1">
                <a:latin typeface="Verdana" pitchFamily="34" charset="0"/>
                <a:sym typeface="Wingdings" pitchFamily="2" charset="2"/>
              </a:endParaRPr>
            </a:p>
            <a:p>
              <a:r>
                <a:rPr lang="zh-CN" altLang="en-US" sz="2400" b="1">
                  <a:latin typeface="Verdana" pitchFamily="34" charset="0"/>
                  <a:sym typeface="Wingdings" pitchFamily="2" charset="2"/>
                </a:rPr>
                <a:t>          所以    的特征值为</a:t>
              </a:r>
              <a:endParaRPr lang="zh-CN" altLang="en-US" sz="2400" b="1">
                <a:latin typeface="Verdana" pitchFamily="34" charset="0"/>
              </a:endParaRPr>
            </a:p>
          </p:txBody>
        </p:sp>
        <p:grpSp>
          <p:nvGrpSpPr>
            <p:cNvPr id="54287" name="组合 19"/>
            <p:cNvGrpSpPr>
              <a:grpSpLocks/>
            </p:cNvGrpSpPr>
            <p:nvPr/>
          </p:nvGrpSpPr>
          <p:grpSpPr bwMode="auto">
            <a:xfrm>
              <a:off x="1952416" y="2786247"/>
              <a:ext cx="6519002" cy="1165393"/>
              <a:chOff x="3102598" y="991717"/>
              <a:chExt cx="6519002" cy="1165393"/>
            </a:xfrm>
          </p:grpSpPr>
          <p:graphicFrame>
            <p:nvGraphicFramePr>
              <p:cNvPr id="54288" name="对象 35"/>
              <p:cNvGraphicFramePr>
                <a:graphicFrameLocks noChangeAspect="1"/>
              </p:cNvGraphicFramePr>
              <p:nvPr/>
            </p:nvGraphicFramePr>
            <p:xfrm>
              <a:off x="3102598" y="1719326"/>
              <a:ext cx="385762" cy="33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09" name="Equation" r:id="rId10" imgW="190417" imgH="190417" progId="Equation.DSMT4">
                      <p:embed/>
                    </p:oleObj>
                  </mc:Choice>
                  <mc:Fallback>
                    <p:oleObj name="Equation" r:id="rId10" imgW="190417" imgH="190417" progId="Equation.DSMT4">
                      <p:embed/>
                      <p:pic>
                        <p:nvPicPr>
                          <p:cNvPr id="0" name="对象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2598" y="1719326"/>
                            <a:ext cx="385762" cy="33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89" name="对象 37"/>
              <p:cNvGraphicFramePr>
                <a:graphicFrameLocks noChangeAspect="1"/>
              </p:cNvGraphicFramePr>
              <p:nvPr/>
            </p:nvGraphicFramePr>
            <p:xfrm>
              <a:off x="3390630" y="991717"/>
              <a:ext cx="2436812" cy="454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10" name="Equation" r:id="rId12" imgW="1205977" imgH="253890" progId="Equation.DSMT4">
                      <p:embed/>
                    </p:oleObj>
                  </mc:Choice>
                  <mc:Fallback>
                    <p:oleObj name="Equation" r:id="rId12" imgW="1205977" imgH="253890" progId="Equation.DSMT4">
                      <p:embed/>
                      <p:pic>
                        <p:nvPicPr>
                          <p:cNvPr id="0" name="对象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0630" y="991717"/>
                            <a:ext cx="2436812" cy="4540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0" name="对象 38"/>
              <p:cNvGraphicFramePr>
                <a:graphicFrameLocks noChangeAspect="1"/>
              </p:cNvGraphicFramePr>
              <p:nvPr/>
            </p:nvGraphicFramePr>
            <p:xfrm>
              <a:off x="5343554" y="1762090"/>
              <a:ext cx="1104900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11" name="Equation" r:id="rId14" imgW="545626" imgH="203024" progId="Equation.DSMT4">
                      <p:embed/>
                    </p:oleObj>
                  </mc:Choice>
                  <mc:Fallback>
                    <p:oleObj name="Equation" r:id="rId14" imgW="545626" imgH="203024" progId="Equation.DSMT4">
                      <p:embed/>
                      <p:pic>
                        <p:nvPicPr>
                          <p:cNvPr id="0" name="对象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3554" y="1762090"/>
                            <a:ext cx="1104900" cy="3619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1" name="对象 39"/>
              <p:cNvGraphicFramePr>
                <a:graphicFrameLocks noChangeAspect="1"/>
              </p:cNvGraphicFramePr>
              <p:nvPr/>
            </p:nvGraphicFramePr>
            <p:xfrm>
              <a:off x="6640275" y="1660223"/>
              <a:ext cx="2981325" cy="496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12" name="Equation" r:id="rId16" imgW="1473200" imgH="279400" progId="Equation.DSMT4">
                      <p:embed/>
                    </p:oleObj>
                  </mc:Choice>
                  <mc:Fallback>
                    <p:oleObj name="Equation" r:id="rId16" imgW="1473200" imgH="279400" progId="Equation.DSMT4">
                      <p:embed/>
                      <p:pic>
                        <p:nvPicPr>
                          <p:cNvPr id="0" name="对象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40275" y="1660223"/>
                            <a:ext cx="2981325" cy="4968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1" name="组合 40"/>
          <p:cNvGrpSpPr>
            <a:grpSpLocks/>
          </p:cNvGrpSpPr>
          <p:nvPr/>
        </p:nvGrpSpPr>
        <p:grpSpPr bwMode="auto">
          <a:xfrm>
            <a:off x="1716088" y="4149725"/>
            <a:ext cx="9504362" cy="1187450"/>
            <a:chOff x="683568" y="2751311"/>
            <a:chExt cx="7128792" cy="1187627"/>
          </a:xfrm>
        </p:grpSpPr>
        <p:sp>
          <p:nvSpPr>
            <p:cNvPr id="54293" name="TextBox 41"/>
            <p:cNvSpPr txBox="1">
              <a:spLocks noChangeArrowheads="1"/>
            </p:cNvSpPr>
            <p:nvPr/>
          </p:nvSpPr>
          <p:spPr bwMode="auto">
            <a:xfrm>
              <a:off x="683568" y="2751311"/>
              <a:ext cx="7128792" cy="1187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Verdana" pitchFamily="34" charset="0"/>
                  <a:sym typeface="Wingdings" pitchFamily="2" charset="2"/>
                </a:rPr>
                <a:t>（</a:t>
              </a:r>
              <a:r>
                <a:rPr lang="en-US" altLang="zh-CN" sz="2400" b="1" dirty="0">
                  <a:latin typeface="Verdana" pitchFamily="34" charset="0"/>
                  <a:sym typeface="Wingdings" pitchFamily="2" charset="2"/>
                </a:rPr>
                <a:t>2</a:t>
              </a:r>
              <a:r>
                <a:rPr lang="zh-CN" altLang="en-US" sz="2400" b="1" dirty="0">
                  <a:latin typeface="Verdana" pitchFamily="34" charset="0"/>
                  <a:sym typeface="Wingdings" pitchFamily="2" charset="2"/>
                </a:rPr>
                <a:t>）                         的特征值为 </a:t>
              </a:r>
              <a:endParaRPr lang="en-US" altLang="zh-CN" sz="2400" b="1" dirty="0">
                <a:latin typeface="Verdana" pitchFamily="34" charset="0"/>
                <a:sym typeface="Wingdings" pitchFamily="2" charset="2"/>
              </a:endParaRPr>
            </a:p>
            <a:p>
              <a:endParaRPr lang="en-US" altLang="zh-CN" sz="2400" b="1" dirty="0">
                <a:latin typeface="Verdana" pitchFamily="34" charset="0"/>
                <a:sym typeface="Wingdings" pitchFamily="2" charset="2"/>
              </a:endParaRPr>
            </a:p>
            <a:p>
              <a:r>
                <a:rPr lang="zh-CN" altLang="en-US" sz="2400" b="1" dirty="0">
                  <a:latin typeface="Verdana" pitchFamily="34" charset="0"/>
                  <a:sym typeface="Wingdings" pitchFamily="2" charset="2"/>
                </a:rPr>
                <a:t>     </a:t>
              </a:r>
              <a:endParaRPr lang="zh-CN" altLang="en-US" sz="2400" b="1" dirty="0">
                <a:latin typeface="Verdana" pitchFamily="34" charset="0"/>
              </a:endParaRPr>
            </a:p>
          </p:txBody>
        </p:sp>
        <p:grpSp>
          <p:nvGrpSpPr>
            <p:cNvPr id="54294" name="组合 42"/>
            <p:cNvGrpSpPr>
              <a:grpSpLocks/>
            </p:cNvGrpSpPr>
            <p:nvPr/>
          </p:nvGrpSpPr>
          <p:grpSpPr bwMode="auto">
            <a:xfrm>
              <a:off x="1669083" y="2807492"/>
              <a:ext cx="4219842" cy="1032177"/>
              <a:chOff x="2819265" y="1012962"/>
              <a:chExt cx="4219842" cy="1032177"/>
            </a:xfrm>
          </p:grpSpPr>
          <p:graphicFrame>
            <p:nvGraphicFramePr>
              <p:cNvPr id="54295" name="对象 44"/>
              <p:cNvGraphicFramePr>
                <a:graphicFrameLocks noChangeAspect="1"/>
              </p:cNvGraphicFramePr>
              <p:nvPr/>
            </p:nvGraphicFramePr>
            <p:xfrm>
              <a:off x="2841862" y="1012962"/>
              <a:ext cx="1405830" cy="363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13" name="Equation" r:id="rId18" imgW="837836" imgH="203112" progId="Equation.DSMT4">
                      <p:embed/>
                    </p:oleObj>
                  </mc:Choice>
                  <mc:Fallback>
                    <p:oleObj name="Equation" r:id="rId18" imgW="837836" imgH="203112" progId="Equation.DSMT4">
                      <p:embed/>
                      <p:pic>
                        <p:nvPicPr>
                          <p:cNvPr id="0" name="对象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1862" y="1012962"/>
                            <a:ext cx="1405830" cy="3635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6" name="对象 45"/>
              <p:cNvGraphicFramePr>
                <a:graphicFrameLocks noChangeAspect="1"/>
              </p:cNvGraphicFramePr>
              <p:nvPr/>
            </p:nvGraphicFramePr>
            <p:xfrm>
              <a:off x="6140582" y="1027128"/>
              <a:ext cx="898525" cy="36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14" name="Equation" r:id="rId20" imgW="444307" imgH="203112" progId="Equation.DSMT4">
                      <p:embed/>
                    </p:oleObj>
                  </mc:Choice>
                  <mc:Fallback>
                    <p:oleObj name="Equation" r:id="rId20" imgW="444307" imgH="203112" progId="Equation.DSMT4">
                      <p:embed/>
                      <p:pic>
                        <p:nvPicPr>
                          <p:cNvPr id="0" name="对象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40582" y="1027128"/>
                            <a:ext cx="898525" cy="3619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7" name="对象 46"/>
              <p:cNvGraphicFramePr>
                <a:graphicFrameLocks noChangeAspect="1"/>
              </p:cNvGraphicFramePr>
              <p:nvPr/>
            </p:nvGraphicFramePr>
            <p:xfrm>
              <a:off x="2819265" y="1548251"/>
              <a:ext cx="3983037" cy="496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515" name="Equation" r:id="rId22" imgW="1968500" imgH="279400" progId="Equation.DSMT4">
                      <p:embed/>
                    </p:oleObj>
                  </mc:Choice>
                  <mc:Fallback>
                    <p:oleObj name="Equation" r:id="rId22" imgW="1968500" imgH="279400" progId="Equation.DSMT4">
                      <p:embed/>
                      <p:pic>
                        <p:nvPicPr>
                          <p:cNvPr id="0" name="对象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19265" y="1548251"/>
                            <a:ext cx="3983037" cy="4968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1776413" y="5367338"/>
            <a:ext cx="9502775" cy="817562"/>
            <a:chOff x="683568" y="2626533"/>
            <a:chExt cx="7128792" cy="817562"/>
          </a:xfrm>
        </p:grpSpPr>
        <p:sp>
          <p:nvSpPr>
            <p:cNvPr id="54299" name="TextBox 48"/>
            <p:cNvSpPr txBox="1">
              <a:spLocks noChangeArrowheads="1"/>
            </p:cNvSpPr>
            <p:nvPr/>
          </p:nvSpPr>
          <p:spPr bwMode="auto">
            <a:xfrm>
              <a:off x="683568" y="2751311"/>
              <a:ext cx="712879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b="1">
                  <a:latin typeface="Verdana" pitchFamily="34" charset="0"/>
                  <a:sym typeface="Wingdings" pitchFamily="2" charset="2"/>
                </a:rPr>
                <a:t>（</a:t>
              </a:r>
              <a:r>
                <a:rPr lang="en-US" altLang="zh-CN" sz="2400" b="1">
                  <a:latin typeface="Verdana" pitchFamily="34" charset="0"/>
                  <a:sym typeface="Wingdings" pitchFamily="2" charset="2"/>
                </a:rPr>
                <a:t>3</a:t>
              </a:r>
              <a:r>
                <a:rPr lang="zh-CN" altLang="en-US" sz="2400" b="1">
                  <a:latin typeface="Verdana" pitchFamily="34" charset="0"/>
                  <a:sym typeface="Wingdings" pitchFamily="2" charset="2"/>
                </a:rPr>
                <a:t>）</a:t>
              </a:r>
              <a:endParaRPr lang="zh-CN" altLang="en-US" sz="2400" b="1">
                <a:latin typeface="Verdana" pitchFamily="34" charset="0"/>
              </a:endParaRPr>
            </a:p>
          </p:txBody>
        </p:sp>
        <p:graphicFrame>
          <p:nvGraphicFramePr>
            <p:cNvPr id="54300" name="对象 50"/>
            <p:cNvGraphicFramePr>
              <a:graphicFrameLocks noChangeAspect="1"/>
            </p:cNvGraphicFramePr>
            <p:nvPr/>
          </p:nvGraphicFramePr>
          <p:xfrm>
            <a:off x="1641709" y="2626533"/>
            <a:ext cx="3749675" cy="817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16" name="Equation" r:id="rId24" imgW="2235200" imgH="457200" progId="Equation.DSMT4">
                    <p:embed/>
                  </p:oleObj>
                </mc:Choice>
                <mc:Fallback>
                  <p:oleObj name="Equation" r:id="rId24" imgW="2235200" imgH="457200" progId="Equation.DSMT4">
                    <p:embed/>
                    <p:pic>
                      <p:nvPicPr>
                        <p:cNvPr id="0" name="对象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1709" y="2626533"/>
                          <a:ext cx="3749675" cy="817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537</Words>
  <Application>Microsoft Office PowerPoint</Application>
  <PresentationFormat>自定义</PresentationFormat>
  <Paragraphs>110</Paragraphs>
  <Slides>14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Office 主题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211</cp:revision>
  <dcterms:created xsi:type="dcterms:W3CDTF">2016-07-04T12:59:51Z</dcterms:created>
  <dcterms:modified xsi:type="dcterms:W3CDTF">2018-04-12T11:46:49Z</dcterms:modified>
</cp:coreProperties>
</file>
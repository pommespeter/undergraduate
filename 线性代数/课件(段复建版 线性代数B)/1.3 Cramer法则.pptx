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5" r:id="rId2"/>
  </p:sldMasterIdLst>
  <p:notesMasterIdLst>
    <p:notesMasterId r:id="rId16"/>
  </p:notesMasterIdLst>
  <p:sldIdLst>
    <p:sldId id="288" r:id="rId3"/>
    <p:sldId id="299" r:id="rId4"/>
    <p:sldId id="300" r:id="rId5"/>
    <p:sldId id="285" r:id="rId6"/>
    <p:sldId id="301" r:id="rId7"/>
    <p:sldId id="302" r:id="rId8"/>
    <p:sldId id="287" r:id="rId9"/>
    <p:sldId id="286" r:id="rId10"/>
    <p:sldId id="291" r:id="rId11"/>
    <p:sldId id="292" r:id="rId12"/>
    <p:sldId id="293" r:id="rId13"/>
    <p:sldId id="297" r:id="rId14"/>
    <p:sldId id="298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0000"/>
    <a:srgbClr val="CC0000"/>
    <a:srgbClr val="004F8C"/>
    <a:srgbClr val="7F7F7F"/>
    <a:srgbClr val="86AC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4660"/>
  </p:normalViewPr>
  <p:slideViewPr>
    <p:cSldViewPr snapToGrid="0">
      <p:cViewPr varScale="1">
        <p:scale>
          <a:sx n="66" d="100"/>
          <a:sy n="66" d="100"/>
        </p:scale>
        <p:origin x="-870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image" Target="../media/image17.wmf"/><Relationship Id="rId7" Type="http://schemas.openxmlformats.org/officeDocument/2006/relationships/image" Target="../media/image21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6" Type="http://schemas.openxmlformats.org/officeDocument/2006/relationships/image" Target="../media/image20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6" Type="http://schemas.openxmlformats.org/officeDocument/2006/relationships/image" Target="../media/image31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image" Target="../media/image34.wmf"/><Relationship Id="rId7" Type="http://schemas.openxmlformats.org/officeDocument/2006/relationships/image" Target="../media/image37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6" Type="http://schemas.openxmlformats.org/officeDocument/2006/relationships/image" Target="../media/image36.wmf"/><Relationship Id="rId5" Type="http://schemas.openxmlformats.org/officeDocument/2006/relationships/image" Target="../media/image35.wmf"/><Relationship Id="rId4" Type="http://schemas.openxmlformats.org/officeDocument/2006/relationships/image" Target="../media/image18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Relationship Id="rId6" Type="http://schemas.openxmlformats.org/officeDocument/2006/relationships/image" Target="../media/image44.wmf"/><Relationship Id="rId5" Type="http://schemas.openxmlformats.org/officeDocument/2006/relationships/image" Target="../media/image43.wmf"/><Relationship Id="rId4" Type="http://schemas.openxmlformats.org/officeDocument/2006/relationships/image" Target="../media/image42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5" Type="http://schemas.openxmlformats.org/officeDocument/2006/relationships/image" Target="../media/image50.wmf"/><Relationship Id="rId4" Type="http://schemas.openxmlformats.org/officeDocument/2006/relationships/image" Target="../media/image49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6" Type="http://schemas.openxmlformats.org/officeDocument/2006/relationships/image" Target="../media/image56.wmf"/><Relationship Id="rId5" Type="http://schemas.openxmlformats.org/officeDocument/2006/relationships/image" Target="../media/image55.wmf"/><Relationship Id="rId4" Type="http://schemas.openxmlformats.org/officeDocument/2006/relationships/image" Target="../media/image54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4" Type="http://schemas.openxmlformats.org/officeDocument/2006/relationships/image" Target="../media/image6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F3917-3F83-411E-AC77-22E419B16E22}" type="datetimeFigureOut">
              <a:rPr lang="zh-CN" altLang="en-US" smtClean="0"/>
              <a:t>2018/9/30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1BB759-FB8C-4783-AE36-659E65BB1F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2079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1BB759-FB8C-4783-AE36-659E65BB1F8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887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1BB759-FB8C-4783-AE36-659E65BB1F8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367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 smtClean="0"/>
              <a:t>线性代数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4454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61807" y="161745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525196" y="915715"/>
            <a:ext cx="11133407" cy="140677"/>
            <a:chOff x="478302" y="1098594"/>
            <a:chExt cx="11133406" cy="140677"/>
          </a:xfrm>
        </p:grpSpPr>
        <p:cxnSp>
          <p:nvCxnSpPr>
            <p:cNvPr id="12" name="直接连接符 11"/>
            <p:cNvCxnSpPr/>
            <p:nvPr userDrawn="1"/>
          </p:nvCxnSpPr>
          <p:spPr>
            <a:xfrm>
              <a:off x="478302" y="1098594"/>
              <a:ext cx="11133406" cy="0"/>
            </a:xfrm>
            <a:prstGeom prst="line">
              <a:avLst/>
            </a:prstGeom>
            <a:ln w="38100">
              <a:solidFill>
                <a:srgbClr val="004F8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 userDrawn="1"/>
          </p:nvSpPr>
          <p:spPr>
            <a:xfrm>
              <a:off x="478302" y="1098594"/>
              <a:ext cx="6386732" cy="140677"/>
            </a:xfrm>
            <a:prstGeom prst="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26" name="Picture 2" descr="top_img[1]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06"/>
          <a:stretch>
            <a:fillRect/>
          </a:stretch>
        </p:blipFill>
        <p:spPr bwMode="auto">
          <a:xfrm>
            <a:off x="525197" y="3"/>
            <a:ext cx="3649955" cy="887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13855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49" y="458952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5463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2018/9/30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985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2018/9/30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2539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2018/9/30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89905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2018/9/30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49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2018/9/30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707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2018/9/30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395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988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675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7" descr="4校标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brigh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7" y="36776"/>
            <a:ext cx="6718243" cy="669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11299" y="2181443"/>
            <a:ext cx="12192000" cy="2690766"/>
            <a:chOff x="0" y="1966958"/>
            <a:chExt cx="12192000" cy="2690766"/>
          </a:xfrm>
        </p:grpSpPr>
        <p:sp>
          <p:nvSpPr>
            <p:cNvPr id="8" name="矩形 7"/>
            <p:cNvSpPr/>
            <p:nvPr/>
          </p:nvSpPr>
          <p:spPr bwMode="auto">
            <a:xfrm>
              <a:off x="0" y="1966958"/>
              <a:ext cx="12192000" cy="2690766"/>
            </a:xfrm>
            <a:prstGeom prst="rect">
              <a:avLst/>
            </a:prstGeom>
            <a:solidFill>
              <a:srgbClr val="284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Arial" pitchFamily="34" charset="0"/>
                <a:ea typeface="微软雅黑" pitchFamily="34" charset="-122"/>
                <a:sym typeface="Arial" pitchFamily="34" charset="0"/>
              </a:endParaRPr>
            </a:p>
          </p:txBody>
        </p:sp>
        <p:pic>
          <p:nvPicPr>
            <p:cNvPr id="9" name="图片 17" descr="4校标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932" y="2159818"/>
              <a:ext cx="2112433" cy="2103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0" name="直接连接符 9"/>
            <p:cNvCxnSpPr/>
            <p:nvPr userDrawn="1"/>
          </p:nvCxnSpPr>
          <p:spPr>
            <a:xfrm>
              <a:off x="3016249" y="3182938"/>
              <a:ext cx="914400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6"/>
          <p:cNvSpPr txBox="1">
            <a:spLocks noChangeArrowheads="1"/>
          </p:cNvSpPr>
          <p:nvPr userDrawn="1"/>
        </p:nvSpPr>
        <p:spPr bwMode="auto">
          <a:xfrm>
            <a:off x="2779663" y="2548448"/>
            <a:ext cx="9652000" cy="719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线性代数 </a:t>
            </a:r>
            <a:r>
              <a:rPr lang="en-US" altLang="zh-CN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—— </a:t>
            </a:r>
            <a:r>
              <a:rPr lang="zh-CN" altLang="en-US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第一章 行列式</a:t>
            </a:r>
            <a:endParaRPr lang="en-US" altLang="zh-CN" sz="4000" b="1" dirty="0">
              <a:solidFill>
                <a:schemeClr val="bg1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  <p:sp>
        <p:nvSpPr>
          <p:cNvPr id="12" name="文本框 32"/>
          <p:cNvSpPr txBox="1">
            <a:spLocks noChangeArrowheads="1"/>
          </p:cNvSpPr>
          <p:nvPr userDrawn="1"/>
        </p:nvSpPr>
        <p:spPr bwMode="auto">
          <a:xfrm>
            <a:off x="2333567" y="3526826"/>
            <a:ext cx="9652000" cy="60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      </a:t>
            </a:r>
            <a:r>
              <a:rPr lang="en-US" altLang="zh-CN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1.3</a:t>
            </a:r>
            <a:r>
              <a:rPr lang="en-US" altLang="zh-CN" sz="3200" baseline="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Cramer </a:t>
            </a:r>
            <a:r>
              <a:rPr lang="zh-CN" altLang="en-US" sz="3200" baseline="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法则</a:t>
            </a:r>
            <a:endParaRPr lang="zh-CN" altLang="en-US" sz="3200" dirty="0">
              <a:solidFill>
                <a:schemeClr val="bg1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307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31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C6508-CD1D-48B9-AC8D-A3B0FB2E1971}" type="datetimeFigureOut">
              <a:rPr lang="zh-CN" altLang="en-US" smtClean="0"/>
              <a:t>2018/9/30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915E3-15A9-4A77-826A-EEBB2183B3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4204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C6508-CD1D-48B9-AC8D-A3B0FB2E1971}" type="datetimeFigureOut">
              <a:rPr lang="zh-CN" altLang="en-US" smtClean="0"/>
              <a:t>2018/9/30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915E3-15A9-4A77-826A-EEBB2183B3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00871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6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C6508-CD1D-48B9-AC8D-A3B0FB2E1971}" type="datetimeFigureOut">
              <a:rPr lang="zh-CN" altLang="en-US" smtClean="0"/>
              <a:t>2018/9/30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915E3-15A9-4A77-826A-EEBB2183B3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52515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4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C6508-CD1D-48B9-AC8D-A3B0FB2E1971}" type="datetimeFigureOut">
              <a:rPr lang="zh-CN" altLang="en-US" smtClean="0"/>
              <a:t>2018/9/30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915E3-15A9-4A77-826A-EEBB2183B3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3031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7" y="1535113"/>
            <a:ext cx="538956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7" y="2174875"/>
            <a:ext cx="538956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C6508-CD1D-48B9-AC8D-A3B0FB2E1971}" type="datetimeFigureOut">
              <a:rPr lang="zh-CN" altLang="en-US" smtClean="0"/>
              <a:t>2018/9/30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915E3-15A9-4A77-826A-EEBB2183B3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1335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C6508-CD1D-48B9-AC8D-A3B0FB2E1971}" type="datetimeFigureOut">
              <a:rPr lang="zh-CN" altLang="en-US" smtClean="0"/>
              <a:t>2018/9/30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915E3-15A9-4A77-826A-EEBB2183B3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27301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C6508-CD1D-48B9-AC8D-A3B0FB2E1971}" type="datetimeFigureOut">
              <a:rPr lang="zh-CN" altLang="en-US" smtClean="0"/>
              <a:t>2018/9/30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915E3-15A9-4A77-826A-EEBB2183B3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5484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7" y="273052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C6508-CD1D-48B9-AC8D-A3B0FB2E1971}" type="datetimeFigureOut">
              <a:rPr lang="zh-CN" altLang="en-US" smtClean="0"/>
              <a:t>2018/9/30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915E3-15A9-4A77-826A-EEBB2183B3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678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C6508-CD1D-48B9-AC8D-A3B0FB2E1971}" type="datetimeFigureOut">
              <a:rPr lang="zh-CN" altLang="en-US" smtClean="0"/>
              <a:t>2018/9/30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915E3-15A9-4A77-826A-EEBB2183B3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99345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C6508-CD1D-48B9-AC8D-A3B0FB2E1971}" type="datetimeFigureOut">
              <a:rPr lang="zh-CN" altLang="en-US" smtClean="0"/>
              <a:t>2018/9/30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915E3-15A9-4A77-826A-EEBB2183B3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6901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C6508-CD1D-48B9-AC8D-A3B0FB2E1971}" type="datetimeFigureOut">
              <a:rPr lang="zh-CN" altLang="en-US" smtClean="0"/>
              <a:t>2018/9/30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915E3-15A9-4A77-826A-EEBB2183B3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941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4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50789-27F0-408F-9528-9DD877FE9CA3}" type="datetimeFigureOut">
              <a:rPr lang="zh-CN" altLang="en-US" smtClean="0"/>
              <a:t>2018/9/30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41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4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722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4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4C6508-CD1D-48B9-AC8D-A3B0FB2E1971}" type="datetimeFigureOut">
              <a:rPr lang="zh-CN" altLang="en-US" smtClean="0"/>
              <a:t>2018/9/30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915E3-15A9-4A77-826A-EEBB2183B3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9358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1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9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2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oleObject" Target="../embeddings/oleObject17.bin"/><Relationship Id="rId18" Type="http://schemas.openxmlformats.org/officeDocument/2006/relationships/image" Target="../media/image22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19.wmf"/><Relationship Id="rId17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1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5" Type="http://schemas.openxmlformats.org/officeDocument/2006/relationships/oleObject" Target="../embeddings/oleObject18.bin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20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3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oleObject" Target="../embeddings/oleObject28.bin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3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29.wmf"/><Relationship Id="rId4" Type="http://schemas.openxmlformats.org/officeDocument/2006/relationships/image" Target="../media/image26.wmf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31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mlDrawing" Target="../drawings/vmlDrawing6.v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29.bin"/><Relationship Id="rId4" Type="http://schemas.openxmlformats.org/officeDocument/2006/relationships/notesSlide" Target="../notesSlides/notesSlide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oleObject" Target="../embeddings/oleObject35.bin"/><Relationship Id="rId18" Type="http://schemas.openxmlformats.org/officeDocument/2006/relationships/oleObject" Target="../embeddings/oleObject38.bin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35.wmf"/><Relationship Id="rId17" Type="http://schemas.openxmlformats.org/officeDocument/2006/relationships/image" Target="../media/image37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37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34.bin"/><Relationship Id="rId5" Type="http://schemas.openxmlformats.org/officeDocument/2006/relationships/oleObject" Target="../embeddings/oleObject31.bin"/><Relationship Id="rId15" Type="http://schemas.openxmlformats.org/officeDocument/2006/relationships/oleObject" Target="../embeddings/oleObject36.bin"/><Relationship Id="rId10" Type="http://schemas.openxmlformats.org/officeDocument/2006/relationships/image" Target="../media/image18.wmf"/><Relationship Id="rId19" Type="http://schemas.openxmlformats.org/officeDocument/2006/relationships/image" Target="../media/image38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33.bin"/><Relationship Id="rId14" Type="http://schemas.openxmlformats.org/officeDocument/2006/relationships/image" Target="../media/image36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gif"/><Relationship Id="rId13" Type="http://schemas.openxmlformats.org/officeDocument/2006/relationships/oleObject" Target="../embeddings/oleObject43.bin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0.wmf"/><Relationship Id="rId12" Type="http://schemas.openxmlformats.org/officeDocument/2006/relationships/image" Target="../media/image42.wmf"/><Relationship Id="rId2" Type="http://schemas.openxmlformats.org/officeDocument/2006/relationships/vmlDrawing" Target="../drawings/vmlDrawing8.vml"/><Relationship Id="rId16" Type="http://schemas.openxmlformats.org/officeDocument/2006/relationships/image" Target="../media/image44.wmf"/><Relationship Id="rId1" Type="http://schemas.openxmlformats.org/officeDocument/2006/relationships/themeOverride" Target="../theme/themeOverride2.xml"/><Relationship Id="rId6" Type="http://schemas.openxmlformats.org/officeDocument/2006/relationships/oleObject" Target="../embeddings/oleObject40.bin"/><Relationship Id="rId11" Type="http://schemas.openxmlformats.org/officeDocument/2006/relationships/oleObject" Target="../embeddings/oleObject42.bin"/><Relationship Id="rId5" Type="http://schemas.openxmlformats.org/officeDocument/2006/relationships/image" Target="../media/image39.wmf"/><Relationship Id="rId15" Type="http://schemas.openxmlformats.org/officeDocument/2006/relationships/oleObject" Target="../embeddings/oleObject44.bin"/><Relationship Id="rId10" Type="http://schemas.openxmlformats.org/officeDocument/2006/relationships/image" Target="../media/image41.wmf"/><Relationship Id="rId4" Type="http://schemas.openxmlformats.org/officeDocument/2006/relationships/oleObject" Target="../embeddings/oleObject39.bin"/><Relationship Id="rId9" Type="http://schemas.openxmlformats.org/officeDocument/2006/relationships/oleObject" Target="../embeddings/oleObject41.bin"/><Relationship Id="rId14" Type="http://schemas.openxmlformats.org/officeDocument/2006/relationships/image" Target="../media/image43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13" Type="http://schemas.openxmlformats.org/officeDocument/2006/relationships/oleObject" Target="../embeddings/oleObject49.bin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49.wmf"/><Relationship Id="rId2" Type="http://schemas.openxmlformats.org/officeDocument/2006/relationships/vmlDrawing" Target="../drawings/vmlDrawing9.v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48.bin"/><Relationship Id="rId5" Type="http://schemas.openxmlformats.org/officeDocument/2006/relationships/oleObject" Target="../embeddings/oleObject45.bin"/><Relationship Id="rId10" Type="http://schemas.openxmlformats.org/officeDocument/2006/relationships/image" Target="../media/image48.wmf"/><Relationship Id="rId4" Type="http://schemas.openxmlformats.org/officeDocument/2006/relationships/image" Target="../media/image45.gif"/><Relationship Id="rId9" Type="http://schemas.openxmlformats.org/officeDocument/2006/relationships/oleObject" Target="../embeddings/oleObject47.bin"/><Relationship Id="rId14" Type="http://schemas.openxmlformats.org/officeDocument/2006/relationships/image" Target="../media/image50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.bin"/><Relationship Id="rId13" Type="http://schemas.openxmlformats.org/officeDocument/2006/relationships/image" Target="../media/image54.wmf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5.gif"/><Relationship Id="rId12" Type="http://schemas.openxmlformats.org/officeDocument/2006/relationships/oleObject" Target="../embeddings/oleObject53.bin"/><Relationship Id="rId17" Type="http://schemas.openxmlformats.org/officeDocument/2006/relationships/image" Target="../media/image56.wmf"/><Relationship Id="rId2" Type="http://schemas.openxmlformats.org/officeDocument/2006/relationships/vmlDrawing" Target="../drawings/vmlDrawing10.vml"/><Relationship Id="rId16" Type="http://schemas.openxmlformats.org/officeDocument/2006/relationships/oleObject" Target="../embeddings/oleObject55.bin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51.wmf"/><Relationship Id="rId11" Type="http://schemas.openxmlformats.org/officeDocument/2006/relationships/image" Target="../media/image53.wmf"/><Relationship Id="rId5" Type="http://schemas.openxmlformats.org/officeDocument/2006/relationships/oleObject" Target="../embeddings/oleObject50.bin"/><Relationship Id="rId15" Type="http://schemas.openxmlformats.org/officeDocument/2006/relationships/image" Target="../media/image55.wmf"/><Relationship Id="rId10" Type="http://schemas.openxmlformats.org/officeDocument/2006/relationships/oleObject" Target="../embeddings/oleObject52.bin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52.wmf"/><Relationship Id="rId14" Type="http://schemas.openxmlformats.org/officeDocument/2006/relationships/oleObject" Target="../embeddings/oleObject54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gif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8.wmf"/><Relationship Id="rId2" Type="http://schemas.openxmlformats.org/officeDocument/2006/relationships/vmlDrawing" Target="../drawings/vmlDrawing11.vml"/><Relationship Id="rId1" Type="http://schemas.openxmlformats.org/officeDocument/2006/relationships/themeOverride" Target="../theme/themeOverride5.xml"/><Relationship Id="rId6" Type="http://schemas.openxmlformats.org/officeDocument/2006/relationships/oleObject" Target="../embeddings/oleObject57.bin"/><Relationship Id="rId5" Type="http://schemas.openxmlformats.org/officeDocument/2006/relationships/image" Target="../media/image57.wmf"/><Relationship Id="rId4" Type="http://schemas.openxmlformats.org/officeDocument/2006/relationships/oleObject" Target="../embeddings/oleObject56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.bin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60.wmf"/><Relationship Id="rId12" Type="http://schemas.openxmlformats.org/officeDocument/2006/relationships/image" Target="../media/image45.gif"/><Relationship Id="rId2" Type="http://schemas.openxmlformats.org/officeDocument/2006/relationships/vmlDrawing" Target="../drawings/vmlDrawing12.vml"/><Relationship Id="rId1" Type="http://schemas.openxmlformats.org/officeDocument/2006/relationships/themeOverride" Target="../theme/themeOverride6.xml"/><Relationship Id="rId6" Type="http://schemas.openxmlformats.org/officeDocument/2006/relationships/oleObject" Target="../embeddings/oleObject59.bin"/><Relationship Id="rId11" Type="http://schemas.openxmlformats.org/officeDocument/2006/relationships/image" Target="../media/image62.wmf"/><Relationship Id="rId5" Type="http://schemas.openxmlformats.org/officeDocument/2006/relationships/image" Target="../media/image59.wmf"/><Relationship Id="rId10" Type="http://schemas.openxmlformats.org/officeDocument/2006/relationships/oleObject" Target="../embeddings/oleObject61.bin"/><Relationship Id="rId4" Type="http://schemas.openxmlformats.org/officeDocument/2006/relationships/oleObject" Target="../embeddings/oleObject58.bin"/><Relationship Id="rId9" Type="http://schemas.openxmlformats.org/officeDocument/2006/relationships/image" Target="../media/image6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0018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796" name="Group 20"/>
          <p:cNvGrpSpPr>
            <a:grpSpLocks/>
          </p:cNvGrpSpPr>
          <p:nvPr/>
        </p:nvGrpSpPr>
        <p:grpSpPr bwMode="auto">
          <a:xfrm>
            <a:off x="912285" y="3357564"/>
            <a:ext cx="10560049" cy="1384300"/>
            <a:chOff x="431" y="2160"/>
            <a:chExt cx="4989" cy="872"/>
          </a:xfrm>
        </p:grpSpPr>
        <p:sp>
          <p:nvSpPr>
            <p:cNvPr id="4107" name="Text Box 9"/>
            <p:cNvSpPr txBox="1">
              <a:spLocks noChangeArrowheads="1"/>
            </p:cNvSpPr>
            <p:nvPr/>
          </p:nvSpPr>
          <p:spPr bwMode="auto">
            <a:xfrm>
              <a:off x="431" y="2160"/>
              <a:ext cx="4989" cy="8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1524000" indent="-15240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3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1971675" indent="-436563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6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2151063" indent="-395288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3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2330450" indent="-3873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509838" indent="-398463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967038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3424238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881438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4338638" indent="-398463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dirty="0"/>
                <a:t>其中：   由方程组系数确定，称为</a:t>
              </a:r>
              <a:r>
                <a:rPr lang="zh-CN" altLang="en-US" sz="2800" b="1" dirty="0">
                  <a:solidFill>
                    <a:srgbClr val="FF0000"/>
                  </a:solidFill>
                </a:rPr>
                <a:t>系数行列式</a:t>
              </a:r>
            </a:p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dirty="0"/>
                <a:t>            为用常数项替换   中第  列元素所得</a:t>
              </a:r>
              <a:r>
                <a:rPr lang="zh-CN" altLang="en-US" sz="2800" dirty="0" smtClean="0"/>
                <a:t>行列式</a:t>
              </a:r>
              <a:r>
                <a:rPr lang="en-US" altLang="zh-CN" sz="2800" dirty="0"/>
                <a:t>.</a:t>
              </a:r>
              <a:endParaRPr lang="zh-CN" altLang="en-US" sz="2800" dirty="0"/>
            </a:p>
          </p:txBody>
        </p:sp>
        <p:graphicFrame>
          <p:nvGraphicFramePr>
            <p:cNvPr id="4108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54531799"/>
                </p:ext>
              </p:extLst>
            </p:nvPr>
          </p:nvGraphicFramePr>
          <p:xfrm>
            <a:off x="919" y="2696"/>
            <a:ext cx="26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06" name="Equation" r:id="rId3" imgW="203040" imgH="241200" progId="Equation.DSMT4">
                    <p:embed/>
                  </p:oleObj>
                </mc:Choice>
                <mc:Fallback>
                  <p:oleObj name="Equation" r:id="rId3" imgW="2030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9" y="2696"/>
                          <a:ext cx="264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9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30079204"/>
                </p:ext>
              </p:extLst>
            </p:nvPr>
          </p:nvGraphicFramePr>
          <p:xfrm>
            <a:off x="929" y="2303"/>
            <a:ext cx="214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07" name="Equation" r:id="rId5" imgW="164885" imgH="164885" progId="Equation.DSMT4">
                    <p:embed/>
                  </p:oleObj>
                </mc:Choice>
                <mc:Fallback>
                  <p:oleObj name="Equation" r:id="rId5" imgW="164885" imgH="16488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9" y="2303"/>
                          <a:ext cx="214" cy="2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0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7010806"/>
                </p:ext>
              </p:extLst>
            </p:nvPr>
          </p:nvGraphicFramePr>
          <p:xfrm>
            <a:off x="2349" y="2689"/>
            <a:ext cx="214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08" name="Equation" r:id="rId7" imgW="164885" imgH="164885" progId="Equation.DSMT4">
                    <p:embed/>
                  </p:oleObj>
                </mc:Choice>
                <mc:Fallback>
                  <p:oleObj name="Equation" r:id="rId7" imgW="164885" imgH="16488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49" y="2689"/>
                          <a:ext cx="214" cy="2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1" name="Object 13"/>
            <p:cNvGraphicFramePr>
              <a:graphicFrameLocks noChangeAspect="1"/>
            </p:cNvGraphicFramePr>
            <p:nvPr/>
          </p:nvGraphicFramePr>
          <p:xfrm>
            <a:off x="3694" y="2699"/>
            <a:ext cx="115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09" name="Equation" r:id="rId9" imgW="88707" imgH="164742" progId="Equation.DSMT4">
                    <p:embed/>
                  </p:oleObj>
                </mc:Choice>
                <mc:Fallback>
                  <p:oleObj name="Equation" r:id="rId9" imgW="88707" imgH="16474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4" y="2699"/>
                          <a:ext cx="115" cy="2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5795" name="Group 19"/>
          <p:cNvGrpSpPr>
            <a:grpSpLocks/>
          </p:cNvGrpSpPr>
          <p:nvPr/>
        </p:nvGrpSpPr>
        <p:grpSpPr bwMode="auto">
          <a:xfrm>
            <a:off x="719667" y="1598614"/>
            <a:ext cx="10560051" cy="1758950"/>
            <a:chOff x="340" y="1007"/>
            <a:chExt cx="4989" cy="972"/>
          </a:xfrm>
        </p:grpSpPr>
        <p:sp>
          <p:nvSpPr>
            <p:cNvPr id="4104" name="Text Box 6"/>
            <p:cNvSpPr txBox="1">
              <a:spLocks noChangeArrowheads="1"/>
            </p:cNvSpPr>
            <p:nvPr/>
          </p:nvSpPr>
          <p:spPr bwMode="auto">
            <a:xfrm>
              <a:off x="340" y="1007"/>
              <a:ext cx="4989" cy="9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3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6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3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70000"/>
                </a:lnSpc>
                <a:spcBef>
                  <a:spcPct val="0"/>
                </a:spcBef>
                <a:buFont typeface="Wingdings" pitchFamily="2" charset="2"/>
                <a:buChar char="n"/>
              </a:pPr>
              <a:r>
                <a:rPr lang="zh-CN" altLang="en-US" sz="2800" dirty="0"/>
                <a:t>复习  对于二元、三元线性方程组，其解可写为：</a:t>
              </a:r>
            </a:p>
            <a:p>
              <a:pPr eaLnBrk="1" hangingPunct="1">
                <a:lnSpc>
                  <a:spcPct val="17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dirty="0"/>
                <a:t>          当        </a:t>
              </a:r>
              <a:r>
                <a:rPr lang="zh-CN" altLang="en-US" sz="2800" dirty="0" smtClean="0"/>
                <a:t> 时</a:t>
              </a:r>
              <a:r>
                <a:rPr lang="zh-CN" altLang="en-US" sz="2800" dirty="0"/>
                <a:t>，有</a:t>
              </a:r>
            </a:p>
          </p:txBody>
        </p:sp>
        <p:graphicFrame>
          <p:nvGraphicFramePr>
            <p:cNvPr id="4105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61781936"/>
                </p:ext>
              </p:extLst>
            </p:nvPr>
          </p:nvGraphicFramePr>
          <p:xfrm>
            <a:off x="1110" y="1493"/>
            <a:ext cx="590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10" name="Equation" r:id="rId11" imgW="393359" imgH="177646" progId="Equation.DSMT4">
                    <p:embed/>
                  </p:oleObj>
                </mc:Choice>
                <mc:Fallback>
                  <p:oleObj name="Equation" r:id="rId11" imgW="393359" imgH="17764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0" y="1493"/>
                          <a:ext cx="590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6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86026575"/>
                </p:ext>
              </p:extLst>
            </p:nvPr>
          </p:nvGraphicFramePr>
          <p:xfrm>
            <a:off x="2229" y="1357"/>
            <a:ext cx="799" cy="6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11" name="Equation" r:id="rId13" imgW="533160" imgH="419040" progId="Equation.DSMT4">
                    <p:embed/>
                  </p:oleObj>
                </mc:Choice>
                <mc:Fallback>
                  <p:oleObj name="Equation" r:id="rId13" imgW="533160" imgH="419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9" y="1357"/>
                          <a:ext cx="799" cy="6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5792" name="Group 16"/>
          <p:cNvGrpSpPr>
            <a:grpSpLocks/>
          </p:cNvGrpSpPr>
          <p:nvPr/>
        </p:nvGrpSpPr>
        <p:grpSpPr bwMode="auto">
          <a:xfrm>
            <a:off x="753534" y="5103137"/>
            <a:ext cx="10655300" cy="738188"/>
            <a:chOff x="340" y="3067"/>
            <a:chExt cx="5034" cy="465"/>
          </a:xfrm>
        </p:grpSpPr>
        <p:sp>
          <p:nvSpPr>
            <p:cNvPr id="4102" name="Text Box 17"/>
            <p:cNvSpPr txBox="1">
              <a:spLocks noChangeArrowheads="1"/>
            </p:cNvSpPr>
            <p:nvPr/>
          </p:nvSpPr>
          <p:spPr bwMode="auto">
            <a:xfrm>
              <a:off x="340" y="3067"/>
              <a:ext cx="5034" cy="4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3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6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3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50000"/>
                </a:spcBef>
                <a:buFont typeface="Wingdings" pitchFamily="2" charset="2"/>
                <a:buChar char="n"/>
              </a:pPr>
              <a:r>
                <a:rPr lang="zh-CN" altLang="en-US" sz="2800" dirty="0"/>
                <a:t>推广    元线性方程组的解</a:t>
              </a:r>
              <a:r>
                <a:rPr lang="en-US" altLang="zh-CN" sz="2800" dirty="0"/>
                <a:t>——</a:t>
              </a:r>
              <a:r>
                <a:rPr lang="zh-CN" altLang="en-US" sz="2800" b="1" dirty="0">
                  <a:solidFill>
                    <a:srgbClr val="FA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克拉默法则</a:t>
              </a:r>
            </a:p>
          </p:txBody>
        </p:sp>
        <p:graphicFrame>
          <p:nvGraphicFramePr>
            <p:cNvPr id="4103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77668772"/>
                </p:ext>
              </p:extLst>
            </p:nvPr>
          </p:nvGraphicFramePr>
          <p:xfrm>
            <a:off x="874" y="3185"/>
            <a:ext cx="205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12" name="Equation" r:id="rId15" imgW="126835" imgH="139518" progId="Equation.DSMT4">
                    <p:embed/>
                  </p:oleObj>
                </mc:Choice>
                <mc:Fallback>
                  <p:oleObj name="Equation" r:id="rId15" imgW="126835" imgH="13951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4" y="3185"/>
                          <a:ext cx="205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6483496"/>
              </p:ext>
            </p:extLst>
          </p:nvPr>
        </p:nvGraphicFramePr>
        <p:xfrm>
          <a:off x="6051550" y="4144963"/>
          <a:ext cx="349250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13" name="Equation" r:id="rId17" imgW="126720" imgH="190440" progId="Equation.DSMT4">
                  <p:embed/>
                </p:oleObj>
              </mc:Choice>
              <mc:Fallback>
                <p:oleObj name="Equation" r:id="rId17" imgW="12672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1550" y="4144963"/>
                        <a:ext cx="349250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3"/>
          <p:cNvSpPr txBox="1"/>
          <p:nvPr/>
        </p:nvSpPr>
        <p:spPr>
          <a:xfrm>
            <a:off x="8871429" y="436732"/>
            <a:ext cx="2408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1.3 Crammer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法则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57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5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5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5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57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57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6345856"/>
              </p:ext>
            </p:extLst>
          </p:nvPr>
        </p:nvGraphicFramePr>
        <p:xfrm>
          <a:off x="3591206" y="1828206"/>
          <a:ext cx="6104338" cy="212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18" name="Equation" r:id="rId3" imgW="2374900" imgH="939800" progId="Equation.DSMT4">
                  <p:embed/>
                </p:oleObj>
              </mc:Choice>
              <mc:Fallback>
                <p:oleObj name="Equation" r:id="rId3" imgW="2374900" imgH="93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1206" y="1828206"/>
                        <a:ext cx="6104338" cy="212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1242485" y="2590801"/>
            <a:ext cx="23487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/>
              <a:t>设线性方程组</a:t>
            </a:r>
          </a:p>
        </p:txBody>
      </p:sp>
      <p:graphicFrame>
        <p:nvGraphicFramePr>
          <p:cNvPr id="17" name="Object 4"/>
          <p:cNvGraphicFramePr>
            <a:graphicFrameLocks noChangeAspect="1"/>
          </p:cNvGraphicFramePr>
          <p:nvPr/>
        </p:nvGraphicFramePr>
        <p:xfrm>
          <a:off x="1115484" y="4149726"/>
          <a:ext cx="6229349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19" name="Equation" r:id="rId5" imgW="1981200" imgH="228600" progId="Equation.DSMT4">
                  <p:embed/>
                </p:oleObj>
              </mc:Choice>
              <mc:Fallback>
                <p:oleObj name="Equation" r:id="rId5" imgW="1981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484" y="4149726"/>
                        <a:ext cx="6229349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7440084" y="4114800"/>
            <a:ext cx="307007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/>
              <a:t>则称此方程组为</a:t>
            </a:r>
            <a:r>
              <a:rPr lang="zh-CN" altLang="en-US">
                <a:solidFill>
                  <a:srgbClr val="FF0000"/>
                </a:solidFill>
                <a:ea typeface="黑体" pitchFamily="2" charset="-122"/>
              </a:rPr>
              <a:t>非</a:t>
            </a:r>
          </a:p>
        </p:txBody>
      </p:sp>
      <p:sp>
        <p:nvSpPr>
          <p:cNvPr id="19" name="Rectangle 6"/>
          <p:cNvSpPr>
            <a:spLocks noChangeArrowheads="1"/>
          </p:cNvSpPr>
          <p:nvPr/>
        </p:nvSpPr>
        <p:spPr bwMode="auto">
          <a:xfrm>
            <a:off x="823384" y="4800601"/>
            <a:ext cx="319350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 </a:t>
            </a:r>
            <a:r>
              <a:rPr lang="zh-CN" altLang="en-US">
                <a:solidFill>
                  <a:srgbClr val="FF0000"/>
                </a:solidFill>
                <a:ea typeface="黑体" pitchFamily="2" charset="-122"/>
              </a:rPr>
              <a:t>齐次线性方程组</a:t>
            </a:r>
            <a:r>
              <a:rPr lang="zh-CN" altLang="en-US"/>
              <a:t>，</a:t>
            </a:r>
            <a:endParaRPr lang="en-US" altLang="zh-CN"/>
          </a:p>
        </p:txBody>
      </p:sp>
      <p:graphicFrame>
        <p:nvGraphicFramePr>
          <p:cNvPr id="2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3322720"/>
              </p:ext>
            </p:extLst>
          </p:nvPr>
        </p:nvGraphicFramePr>
        <p:xfrm>
          <a:off x="4016887" y="4784071"/>
          <a:ext cx="5990167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20" name="Equation" r:id="rId7" imgW="1905000" imgH="228600" progId="Equation.DSMT4">
                  <p:embed/>
                </p:oleObj>
              </mc:Choice>
              <mc:Fallback>
                <p:oleObj name="Equation" r:id="rId7" imgW="1905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6887" y="4784071"/>
                        <a:ext cx="5990167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8"/>
          <p:cNvSpPr>
            <a:spLocks noChangeArrowheads="1"/>
          </p:cNvSpPr>
          <p:nvPr/>
        </p:nvSpPr>
        <p:spPr bwMode="auto">
          <a:xfrm>
            <a:off x="912285" y="5529945"/>
            <a:ext cx="721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dirty="0"/>
              <a:t>此时称方程组为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齐次线性方程组。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23" name="Text Box 5"/>
          <p:cNvSpPr txBox="1">
            <a:spLocks noChangeArrowheads="1"/>
          </p:cNvSpPr>
          <p:nvPr/>
        </p:nvSpPr>
        <p:spPr bwMode="auto">
          <a:xfrm>
            <a:off x="912285" y="904876"/>
            <a:ext cx="1027218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defRPr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1165225" algn="l" eaLnBrk="0" hangingPunct="0">
              <a:defRPr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344613" algn="l" eaLnBrk="0" hangingPunct="0">
              <a:defRPr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524000" algn="l" eaLnBrk="0" hangingPunct="0">
              <a:defRPr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algn="l" eaLnBrk="0" hangingPunct="0">
              <a:defRPr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3600" dirty="0" smtClean="0">
                <a:solidFill>
                  <a:srgbClr val="FF0000"/>
                </a:solidFill>
              </a:rPr>
              <a:t>非齐次线性方程组与齐次线性方程组</a:t>
            </a:r>
          </a:p>
        </p:txBody>
      </p:sp>
      <p:sp>
        <p:nvSpPr>
          <p:cNvPr id="13" name="文本框 3"/>
          <p:cNvSpPr txBox="1"/>
          <p:nvPr/>
        </p:nvSpPr>
        <p:spPr>
          <a:xfrm>
            <a:off x="8703608" y="436732"/>
            <a:ext cx="2480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1.3 Crammer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法则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utoUpdateAnimBg="0"/>
      <p:bldP spid="18" grpId="0" autoUpdateAnimBg="0"/>
      <p:bldP spid="19" grpId="0" autoUpdateAnimBg="0"/>
      <p:bldP spid="21" grpId="0" autoUpdateAnimBg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346797" y="436732"/>
            <a:ext cx="2495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1.3 Crammer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法则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545128" y="1060550"/>
            <a:ext cx="2603869" cy="580029"/>
            <a:chOff x="548764" y="1201915"/>
            <a:chExt cx="2603869" cy="58002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548764" y="1201915"/>
              <a:ext cx="2603869" cy="580029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723331" y="1261096"/>
              <a:ext cx="24293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Crammer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法则</a:t>
              </a: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3251022" y="1119730"/>
            <a:ext cx="4585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设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元线性方程组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3794981" y="1581395"/>
            <a:ext cx="3497730" cy="1697774"/>
            <a:chOff x="3775653" y="1888412"/>
            <a:chExt cx="3497729" cy="1697774"/>
          </a:xfrm>
        </p:grpSpPr>
        <p:grpSp>
          <p:nvGrpSpPr>
            <p:cNvPr id="9" name="组合 8"/>
            <p:cNvGrpSpPr/>
            <p:nvPr/>
          </p:nvGrpSpPr>
          <p:grpSpPr>
            <a:xfrm>
              <a:off x="3775653" y="1888412"/>
              <a:ext cx="3497729" cy="1697774"/>
              <a:chOff x="2642889" y="1133980"/>
              <a:chExt cx="3497729" cy="1697774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2642889" y="1133980"/>
                <a:ext cx="3452555" cy="1550824"/>
                <a:chOff x="-287091" y="1329884"/>
                <a:chExt cx="3452555" cy="1550824"/>
              </a:xfrm>
            </p:grpSpPr>
            <p:graphicFrame>
              <p:nvGraphicFramePr>
                <p:cNvPr id="14" name="对象 13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331564988"/>
                    </p:ext>
                  </p:extLst>
                </p:nvPr>
              </p:nvGraphicFramePr>
              <p:xfrm>
                <a:off x="32533" y="1329884"/>
                <a:ext cx="3074988" cy="4222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083" name="Equation" r:id="rId3" imgW="1663560" imgH="228600" progId="Equation.DSMT4">
                        <p:embed/>
                      </p:oleObj>
                    </mc:Choice>
                    <mc:Fallback>
                      <p:oleObj name="Equation" r:id="rId3" imgW="1663560" imgH="228600" progId="Equation.DSMT4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2533" y="1329884"/>
                              <a:ext cx="3074988" cy="4222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5" name="对象 14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84152918"/>
                    </p:ext>
                  </p:extLst>
                </p:nvPr>
              </p:nvGraphicFramePr>
              <p:xfrm>
                <a:off x="-25411" y="1853960"/>
                <a:ext cx="3190875" cy="4222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084" name="Equation" r:id="rId5" imgW="1726920" imgH="228600" progId="Equation.DSMT4">
                        <p:embed/>
                      </p:oleObj>
                    </mc:Choice>
                    <mc:Fallback>
                      <p:oleObj name="Equation" r:id="rId5" imgW="1726920" imgH="228600" progId="Equation.DSMT4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-25411" y="1853960"/>
                              <a:ext cx="3190875" cy="4222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6" name="左大括号 15"/>
                <p:cNvSpPr/>
                <p:nvPr/>
              </p:nvSpPr>
              <p:spPr>
                <a:xfrm>
                  <a:off x="-287091" y="1525040"/>
                  <a:ext cx="261680" cy="1355668"/>
                </a:xfrm>
                <a:prstGeom prst="leftBrac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aphicFrame>
            <p:nvGraphicFramePr>
              <p:cNvPr id="11" name="对象 1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41762822"/>
                  </p:ext>
                </p:extLst>
              </p:nvPr>
            </p:nvGraphicFramePr>
            <p:xfrm>
              <a:off x="2951331" y="2409479"/>
              <a:ext cx="3189287" cy="4222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85" name="Equation" r:id="rId7" imgW="1726920" imgH="228600" progId="Equation.DSMT4">
                      <p:embed/>
                    </p:oleObj>
                  </mc:Choice>
                  <mc:Fallback>
                    <p:oleObj name="Equation" r:id="rId7" imgW="1726920" imgH="2286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2951331" y="2409479"/>
                            <a:ext cx="3189287" cy="42227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7" name="对象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00378611"/>
                </p:ext>
              </p:extLst>
            </p:nvPr>
          </p:nvGraphicFramePr>
          <p:xfrm>
            <a:off x="5521325" y="2944813"/>
            <a:ext cx="471488" cy="141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86" name="Equation" r:id="rId9" imgW="253800" imgH="75960" progId="Equation.DSMT4">
                    <p:embed/>
                  </p:oleObj>
                </mc:Choice>
                <mc:Fallback>
                  <p:oleObj name="Equation" r:id="rId9" imgW="253800" imgH="759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521325" y="2944813"/>
                          <a:ext cx="471488" cy="1412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组合 24"/>
          <p:cNvGrpSpPr/>
          <p:nvPr/>
        </p:nvGrpSpPr>
        <p:grpSpPr>
          <a:xfrm>
            <a:off x="548765" y="3334606"/>
            <a:ext cx="8172155" cy="461665"/>
            <a:chOff x="548764" y="3944203"/>
            <a:chExt cx="8172155" cy="461665"/>
          </a:xfrm>
        </p:grpSpPr>
        <p:sp>
          <p:nvSpPr>
            <p:cNvPr id="19" name="文本框 18"/>
            <p:cNvSpPr txBox="1"/>
            <p:nvPr/>
          </p:nvSpPr>
          <p:spPr>
            <a:xfrm>
              <a:off x="548764" y="3944203"/>
              <a:ext cx="81721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当系数行列式         时，方程组有</a:t>
              </a:r>
              <a:r>
                <a:rPr lang="zh-CN" altLang="en-US" sz="2400" dirty="0" smtClean="0">
                  <a:solidFill>
                    <a:srgbClr val="FA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唯一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解，其解为：</a:t>
              </a:r>
            </a:p>
          </p:txBody>
        </p:sp>
        <p:graphicFrame>
          <p:nvGraphicFramePr>
            <p:cNvPr id="21" name="对象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8385923"/>
                </p:ext>
              </p:extLst>
            </p:nvPr>
          </p:nvGraphicFramePr>
          <p:xfrm>
            <a:off x="2502829" y="4003386"/>
            <a:ext cx="807559" cy="3647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87" name="Equation" r:id="rId11" imgW="393480" imgH="177480" progId="Equation.DSMT4">
                    <p:embed/>
                  </p:oleObj>
                </mc:Choice>
                <mc:Fallback>
                  <p:oleObj name="Equation" r:id="rId11" imgW="393480" imgH="177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502829" y="4003386"/>
                          <a:ext cx="807559" cy="36470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/>
          <p:cNvGrpSpPr/>
          <p:nvPr/>
        </p:nvGrpSpPr>
        <p:grpSpPr>
          <a:xfrm>
            <a:off x="548765" y="4757180"/>
            <a:ext cx="4995081" cy="511181"/>
            <a:chOff x="6851176" y="5104263"/>
            <a:chExt cx="4995081" cy="511181"/>
          </a:xfrm>
        </p:grpSpPr>
        <p:sp>
          <p:nvSpPr>
            <p:cNvPr id="20" name="文本框 19"/>
            <p:cNvSpPr txBox="1"/>
            <p:nvPr/>
          </p:nvSpPr>
          <p:spPr>
            <a:xfrm>
              <a:off x="6851176" y="5104263"/>
              <a:ext cx="499508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其中     为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D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中将第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j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列换为常数列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.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22" name="对象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52993487"/>
                </p:ext>
              </p:extLst>
            </p:nvPr>
          </p:nvGraphicFramePr>
          <p:xfrm>
            <a:off x="7605393" y="5120144"/>
            <a:ext cx="417512" cy="495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88" name="Equation" r:id="rId13" imgW="203040" imgH="241200" progId="Equation.DSMT4">
                    <p:embed/>
                  </p:oleObj>
                </mc:Choice>
                <mc:Fallback>
                  <p:oleObj name="Equation" r:id="rId13" imgW="20304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7605393" y="5120144"/>
                          <a:ext cx="417512" cy="495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8759846"/>
              </p:ext>
            </p:extLst>
          </p:nvPr>
        </p:nvGraphicFramePr>
        <p:xfrm>
          <a:off x="7586745" y="3132220"/>
          <a:ext cx="2636838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89" name="Equation" r:id="rId15" imgW="1282680" imgH="419040" progId="Equation.DSMT4">
                  <p:embed/>
                </p:oleObj>
              </mc:Choice>
              <mc:Fallback>
                <p:oleObj name="Equation" r:id="rId15" imgW="12826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586745" y="3132220"/>
                        <a:ext cx="2636838" cy="858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1987930"/>
              </p:ext>
            </p:extLst>
          </p:nvPr>
        </p:nvGraphicFramePr>
        <p:xfrm>
          <a:off x="5543846" y="4193498"/>
          <a:ext cx="4849275" cy="15890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90" name="Equation" r:id="rId17" imgW="2247840" imgH="736560" progId="Equation.DSMT4">
                  <p:embed/>
                </p:oleObj>
              </mc:Choice>
              <mc:Fallback>
                <p:oleObj name="Equation" r:id="rId17" imgW="2247840" imgH="73656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3846" y="4193498"/>
                        <a:ext cx="4849275" cy="15890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12028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172626" y="423523"/>
            <a:ext cx="3671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1.3 Crammer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法则</a:t>
            </a:r>
          </a:p>
        </p:txBody>
      </p:sp>
      <p:sp>
        <p:nvSpPr>
          <p:cNvPr id="26" name="Rectangle 2"/>
          <p:cNvSpPr>
            <a:spLocks noChangeArrowheads="1"/>
          </p:cNvSpPr>
          <p:nvPr/>
        </p:nvSpPr>
        <p:spPr bwMode="auto">
          <a:xfrm>
            <a:off x="595085" y="1021556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ea typeface="黑体" pitchFamily="49" charset="-122"/>
              </a:rPr>
              <a:t>证明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9472016"/>
              </p:ext>
            </p:extLst>
          </p:nvPr>
        </p:nvGraphicFramePr>
        <p:xfrm>
          <a:off x="1609725" y="1021556"/>
          <a:ext cx="9891713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39" name="Equation" r:id="rId3" imgW="3327120" imgH="482400" progId="Equation.DSMT4">
                  <p:embed/>
                </p:oleObj>
              </mc:Choice>
              <mc:Fallback>
                <p:oleObj name="Equation" r:id="rId3" imgW="3327120" imgH="482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9725" y="1021556"/>
                        <a:ext cx="9891713" cy="108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0987024"/>
              </p:ext>
            </p:extLst>
          </p:nvPr>
        </p:nvGraphicFramePr>
        <p:xfrm>
          <a:off x="2122713" y="2188029"/>
          <a:ext cx="6110288" cy="223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40" name="公式" r:id="rId5" imgW="6108700" imgH="2235200" progId="Equation.3">
                  <p:embed/>
                </p:oleObj>
              </mc:Choice>
              <mc:Fallback>
                <p:oleObj name="公式" r:id="rId5" imgW="6108700" imgH="2235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713" y="2188029"/>
                        <a:ext cx="6110288" cy="223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6"/>
          <p:cNvSpPr txBox="1">
            <a:spLocks noChangeArrowheads="1"/>
          </p:cNvSpPr>
          <p:nvPr/>
        </p:nvSpPr>
        <p:spPr bwMode="auto">
          <a:xfrm>
            <a:off x="914400" y="4644572"/>
            <a:ext cx="507222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 smtClean="0"/>
              <a:t>把</a:t>
            </a:r>
            <a:r>
              <a:rPr lang="zh-CN" altLang="en-US" sz="2800" b="1" dirty="0"/>
              <a:t>上述</a:t>
            </a:r>
            <a:r>
              <a:rPr lang="zh-CN" altLang="en-US" sz="2800" b="1" dirty="0" smtClean="0"/>
              <a:t>  </a:t>
            </a:r>
            <a:r>
              <a:rPr lang="en-US" altLang="zh-CN" sz="2800" b="1" dirty="0" smtClean="0"/>
              <a:t>n</a:t>
            </a:r>
            <a:r>
              <a:rPr lang="zh-CN" altLang="en-US" sz="2800" b="1" dirty="0" smtClean="0"/>
              <a:t>  个</a:t>
            </a:r>
            <a:r>
              <a:rPr lang="zh-CN" altLang="en-US" sz="2800" b="1" dirty="0"/>
              <a:t>方程依次相加，得</a:t>
            </a: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7231393"/>
              </p:ext>
            </p:extLst>
          </p:nvPr>
        </p:nvGraphicFramePr>
        <p:xfrm>
          <a:off x="1244146" y="5291138"/>
          <a:ext cx="9080500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41" name="Equation" r:id="rId7" imgW="3936960" imgH="457200" progId="Equation.DSMT4">
                  <p:embed/>
                </p:oleObj>
              </mc:Choice>
              <mc:Fallback>
                <p:oleObj name="Equation" r:id="rId7" imgW="3936960" imgH="457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146" y="5291138"/>
                        <a:ext cx="9080500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51904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863114" y="436733"/>
            <a:ext cx="3671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1.3 Crammer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法则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504371" y="1284514"/>
            <a:ext cx="4203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/>
              <a:t>由代数余子式的性质可知</a:t>
            </a:r>
            <a:r>
              <a:rPr lang="en-US" altLang="zh-CN" sz="2800" b="1" dirty="0"/>
              <a:t>,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2492286"/>
              </p:ext>
            </p:extLst>
          </p:nvPr>
        </p:nvGraphicFramePr>
        <p:xfrm>
          <a:off x="4840514" y="1321027"/>
          <a:ext cx="3530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13" name="Equation" r:id="rId3" imgW="3530600" imgH="482600" progId="Equation.3">
                  <p:embed/>
                </p:oleObj>
              </mc:Choice>
              <mc:Fallback>
                <p:oleObj name="Equation" r:id="rId3" imgW="3530600" imgH="482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0514" y="1321027"/>
                        <a:ext cx="35306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0671493"/>
              </p:ext>
            </p:extLst>
          </p:nvPr>
        </p:nvGraphicFramePr>
        <p:xfrm>
          <a:off x="541563" y="1984829"/>
          <a:ext cx="4330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14" name="Equation" r:id="rId5" imgW="4330700" imgH="444500" progId="Equation.3">
                  <p:embed/>
                </p:oleObj>
              </mc:Choice>
              <mc:Fallback>
                <p:oleObj name="Equation" r:id="rId5" imgW="4330700" imgH="4445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563" y="1984829"/>
                        <a:ext cx="4330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2976306"/>
              </p:ext>
            </p:extLst>
          </p:nvPr>
        </p:nvGraphicFramePr>
        <p:xfrm>
          <a:off x="5080000" y="1970315"/>
          <a:ext cx="2667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15" name="Equation" r:id="rId7" imgW="2667000" imgH="482600" progId="Equation.3">
                  <p:embed/>
                </p:oleObj>
              </mc:Choice>
              <mc:Fallback>
                <p:oleObj name="Equation" r:id="rId7" imgW="2667000" imgH="482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0000" y="1970315"/>
                        <a:ext cx="26670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7863114" y="1926997"/>
            <a:ext cx="16273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 smtClean="0"/>
              <a:t>于是可得</a:t>
            </a:r>
            <a:endParaRPr lang="zh-CN" altLang="en-US" sz="2800" b="1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1611565"/>
              </p:ext>
            </p:extLst>
          </p:nvPr>
        </p:nvGraphicFramePr>
        <p:xfrm>
          <a:off x="3349171" y="2723242"/>
          <a:ext cx="346710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16" name="Equation" r:id="rId9" imgW="3467100" imgH="469900" progId="Equation.3">
                  <p:embed/>
                </p:oleObj>
              </mc:Choice>
              <mc:Fallback>
                <p:oleObj name="Equation" r:id="rId9" imgW="3467100" imgH="469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9171" y="2723242"/>
                        <a:ext cx="3467100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11"/>
          <p:cNvGrpSpPr>
            <a:grpSpLocks/>
          </p:cNvGrpSpPr>
          <p:nvPr/>
        </p:nvGrpSpPr>
        <p:grpSpPr bwMode="auto">
          <a:xfrm>
            <a:off x="504371" y="3592290"/>
            <a:ext cx="6311900" cy="523876"/>
            <a:chOff x="528" y="2976"/>
            <a:chExt cx="3976" cy="330"/>
          </a:xfrm>
        </p:grpSpPr>
        <p:sp>
          <p:nvSpPr>
            <p:cNvPr id="15" name="Rectangle 12"/>
            <p:cNvSpPr>
              <a:spLocks noChangeArrowheads="1"/>
            </p:cNvSpPr>
            <p:nvPr/>
          </p:nvSpPr>
          <p:spPr bwMode="auto">
            <a:xfrm>
              <a:off x="528" y="2976"/>
              <a:ext cx="397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/>
                <a:t>当           时</a:t>
              </a:r>
              <a:r>
                <a:rPr lang="en-US" altLang="zh-CN" sz="2800" b="1" dirty="0" smtClean="0"/>
                <a:t>,</a:t>
              </a:r>
              <a:r>
                <a:rPr lang="zh-CN" altLang="en-US" sz="2800" b="1" dirty="0" smtClean="0"/>
                <a:t>上述方程组有</a:t>
              </a:r>
              <a:r>
                <a:rPr lang="zh-CN" altLang="en-US" sz="2800" b="1" dirty="0"/>
                <a:t>唯一的一个解</a:t>
              </a:r>
            </a:p>
          </p:txBody>
        </p:sp>
        <p:graphicFrame>
          <p:nvGraphicFramePr>
            <p:cNvPr id="16" name="Object 13"/>
            <p:cNvGraphicFramePr>
              <a:graphicFrameLocks noChangeAspect="1"/>
            </p:cNvGraphicFramePr>
            <p:nvPr/>
          </p:nvGraphicFramePr>
          <p:xfrm>
            <a:off x="816" y="3072"/>
            <a:ext cx="576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17" name="公式" r:id="rId11" imgW="914400" imgH="330200" progId="Equation.3">
                    <p:embed/>
                  </p:oleObj>
                </mc:Choice>
                <mc:Fallback>
                  <p:oleObj name="公式" r:id="rId11" imgW="914400" imgH="330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3072"/>
                          <a:ext cx="576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852982"/>
              </p:ext>
            </p:extLst>
          </p:nvPr>
        </p:nvGraphicFramePr>
        <p:xfrm>
          <a:off x="1842157" y="4304852"/>
          <a:ext cx="6834641" cy="111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18" name="Equation" r:id="rId13" imgW="2412720" imgH="393480" progId="Equation.DSMT4">
                  <p:embed/>
                </p:oleObj>
              </mc:Choice>
              <mc:Fallback>
                <p:oleObj name="Equation" r:id="rId13" imgW="2412720" imgH="3934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2157" y="4304852"/>
                        <a:ext cx="6834641" cy="111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59187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 autoUpdateAnimBg="0"/>
      <p:bldP spid="12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085540" y="451247"/>
            <a:ext cx="3671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1.3 Crammer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法则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548766" y="1291382"/>
            <a:ext cx="931692" cy="580029"/>
            <a:chOff x="548764" y="1201915"/>
            <a:chExt cx="1320979" cy="58002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548764" y="1201915"/>
              <a:ext cx="1198149" cy="580029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723331" y="1261096"/>
              <a:ext cx="11464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注</a:t>
              </a: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1608486" y="1350553"/>
            <a:ext cx="39032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Crammer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法则应用条件：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1824230" y="2170113"/>
            <a:ext cx="38896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个未知量，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个方程；</a:t>
            </a:r>
          </a:p>
        </p:txBody>
      </p:sp>
      <p:grpSp>
        <p:nvGrpSpPr>
          <p:cNvPr id="34" name="组合 33"/>
          <p:cNvGrpSpPr/>
          <p:nvPr/>
        </p:nvGrpSpPr>
        <p:grpSpPr>
          <a:xfrm>
            <a:off x="5773003" y="2170113"/>
            <a:ext cx="3286404" cy="461665"/>
            <a:chOff x="4388927" y="4044276"/>
            <a:chExt cx="3286404" cy="461665"/>
          </a:xfrm>
        </p:grpSpPr>
        <p:sp>
          <p:nvSpPr>
            <p:cNvPr id="35" name="文本框 34"/>
            <p:cNvSpPr txBox="1"/>
            <p:nvPr/>
          </p:nvSpPr>
          <p:spPr>
            <a:xfrm>
              <a:off x="4388927" y="4044276"/>
              <a:ext cx="32117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）系数行列式</a:t>
              </a:r>
            </a:p>
          </p:txBody>
        </p:sp>
        <p:graphicFrame>
          <p:nvGraphicFramePr>
            <p:cNvPr id="36" name="对象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4998421"/>
                </p:ext>
              </p:extLst>
            </p:nvPr>
          </p:nvGraphicFramePr>
          <p:xfrm>
            <a:off x="6867772" y="4092756"/>
            <a:ext cx="807559" cy="3647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36" name="Equation" r:id="rId5" imgW="393480" imgH="177480" progId="Equation.DSMT4">
                    <p:embed/>
                  </p:oleObj>
                </mc:Choice>
                <mc:Fallback>
                  <p:oleObj name="Equation" r:id="rId5" imgW="393480" imgH="177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867772" y="4092756"/>
                          <a:ext cx="807559" cy="36470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" name="组合 36"/>
          <p:cNvGrpSpPr/>
          <p:nvPr/>
        </p:nvGrpSpPr>
        <p:grpSpPr>
          <a:xfrm>
            <a:off x="564067" y="2921581"/>
            <a:ext cx="10989303" cy="961219"/>
            <a:chOff x="548764" y="1201915"/>
            <a:chExt cx="6834677" cy="96121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8" name="圆角矩形 37"/>
            <p:cNvSpPr/>
            <p:nvPr/>
          </p:nvSpPr>
          <p:spPr>
            <a:xfrm>
              <a:off x="548764" y="1201915"/>
              <a:ext cx="6834675" cy="722111"/>
            </a:xfrm>
            <a:prstGeom prst="roundRect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636049" y="1332137"/>
              <a:ext cx="674739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Crammer 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法则给出了解与系数明显的关系，但该方法计算量大，不可取。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48765" y="3995178"/>
            <a:ext cx="11004601" cy="961219"/>
            <a:chOff x="548764" y="1201915"/>
            <a:chExt cx="6834677" cy="96121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" name="圆角矩形 14"/>
            <p:cNvSpPr/>
            <p:nvPr/>
          </p:nvSpPr>
          <p:spPr>
            <a:xfrm>
              <a:off x="548764" y="1201915"/>
              <a:ext cx="6834675" cy="722111"/>
            </a:xfrm>
            <a:prstGeom prst="roundRect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38"/>
            <p:cNvSpPr txBox="1"/>
            <p:nvPr/>
          </p:nvSpPr>
          <p:spPr>
            <a:xfrm>
              <a:off x="636049" y="1332137"/>
              <a:ext cx="674739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）若不满足条件，第三章会研究一般线性方程组的求解理论。</a:t>
              </a:r>
            </a:p>
          </p:txBody>
        </p:sp>
      </p:grpSp>
      <p:sp>
        <p:nvSpPr>
          <p:cNvPr id="17" name="圆角矩形 16"/>
          <p:cNvSpPr/>
          <p:nvPr/>
        </p:nvSpPr>
        <p:spPr>
          <a:xfrm>
            <a:off x="564072" y="5153053"/>
            <a:ext cx="10989298" cy="722111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）若方程组有两个不同的解或无解，则它的系数行列式一定为零。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752004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  <p:bldP spid="19" grpId="0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69540" y="436733"/>
            <a:ext cx="3671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1.3 Crammer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法则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548765" y="1291382"/>
            <a:ext cx="1320979" cy="580029"/>
            <a:chOff x="548764" y="1201915"/>
            <a:chExt cx="1320979" cy="58002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548764" y="1201915"/>
              <a:ext cx="1198149" cy="580029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723331" y="1261096"/>
              <a:ext cx="11464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推论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2044311" y="1350563"/>
            <a:ext cx="4585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设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齐次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线性方程组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3165644" y="1969889"/>
            <a:ext cx="3464315" cy="1697037"/>
            <a:chOff x="3775653" y="1889151"/>
            <a:chExt cx="3464315" cy="1697037"/>
          </a:xfrm>
        </p:grpSpPr>
        <p:grpSp>
          <p:nvGrpSpPr>
            <p:cNvPr id="9" name="组合 8"/>
            <p:cNvGrpSpPr/>
            <p:nvPr/>
          </p:nvGrpSpPr>
          <p:grpSpPr>
            <a:xfrm>
              <a:off x="3775653" y="1889151"/>
              <a:ext cx="3464315" cy="1697037"/>
              <a:chOff x="2642889" y="1134719"/>
              <a:chExt cx="3464315" cy="1697037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2642889" y="1134719"/>
                <a:ext cx="3418278" cy="1550085"/>
                <a:chOff x="-287091" y="1330623"/>
                <a:chExt cx="3418278" cy="1550085"/>
              </a:xfrm>
            </p:grpSpPr>
            <p:graphicFrame>
              <p:nvGraphicFramePr>
                <p:cNvPr id="14" name="对象 13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71015732"/>
                    </p:ext>
                  </p:extLst>
                </p:nvPr>
              </p:nvGraphicFramePr>
              <p:xfrm>
                <a:off x="43499" y="1330623"/>
                <a:ext cx="3051175" cy="4222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111" name="Equation" r:id="rId3" imgW="1650960" imgH="228600" progId="Equation.DSMT4">
                        <p:embed/>
                      </p:oleObj>
                    </mc:Choice>
                    <mc:Fallback>
                      <p:oleObj name="Equation" r:id="rId3" imgW="1650960" imgH="228600" progId="Equation.DSMT4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3499" y="1330623"/>
                              <a:ext cx="3051175" cy="4222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5" name="对象 14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180447556"/>
                    </p:ext>
                  </p:extLst>
                </p:nvPr>
              </p:nvGraphicFramePr>
              <p:xfrm>
                <a:off x="10162" y="1854498"/>
                <a:ext cx="3121025" cy="4222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112" name="Equation" r:id="rId5" imgW="1688760" imgH="228600" progId="Equation.DSMT4">
                        <p:embed/>
                      </p:oleObj>
                    </mc:Choice>
                    <mc:Fallback>
                      <p:oleObj name="Equation" r:id="rId5" imgW="1688760" imgH="228600" progId="Equation.DSMT4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162" y="1854498"/>
                              <a:ext cx="3121025" cy="42227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6" name="左大括号 15"/>
                <p:cNvSpPr/>
                <p:nvPr/>
              </p:nvSpPr>
              <p:spPr>
                <a:xfrm>
                  <a:off x="-287091" y="1525040"/>
                  <a:ext cx="261680" cy="1355668"/>
                </a:xfrm>
                <a:prstGeom prst="leftBrac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aphicFrame>
            <p:nvGraphicFramePr>
              <p:cNvPr id="11" name="对象 1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7836371"/>
                  </p:ext>
                </p:extLst>
              </p:nvPr>
            </p:nvGraphicFramePr>
            <p:xfrm>
              <a:off x="2986179" y="2409481"/>
              <a:ext cx="3121025" cy="4222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113" name="Equation" r:id="rId7" imgW="1688760" imgH="228600" progId="Equation.DSMT4">
                      <p:embed/>
                    </p:oleObj>
                  </mc:Choice>
                  <mc:Fallback>
                    <p:oleObj name="Equation" r:id="rId7" imgW="1688760" imgH="2286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2986179" y="2409481"/>
                            <a:ext cx="3121025" cy="42227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7" name="对象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90601825"/>
                </p:ext>
              </p:extLst>
            </p:nvPr>
          </p:nvGraphicFramePr>
          <p:xfrm>
            <a:off x="5521325" y="2944813"/>
            <a:ext cx="471488" cy="141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114" name="Equation" r:id="rId9" imgW="253800" imgH="75960" progId="Equation.DSMT4">
                    <p:embed/>
                  </p:oleObj>
                </mc:Choice>
                <mc:Fallback>
                  <p:oleObj name="Equation" r:id="rId9" imgW="253800" imgH="759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521325" y="2944813"/>
                          <a:ext cx="471488" cy="1412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文本框 1"/>
          <p:cNvSpPr txBox="1"/>
          <p:nvPr/>
        </p:nvSpPr>
        <p:spPr>
          <a:xfrm>
            <a:off x="639935" y="4753760"/>
            <a:ext cx="3780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齐次线性方程组只有零解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1515913"/>
              </p:ext>
            </p:extLst>
          </p:nvPr>
        </p:nvGraphicFramePr>
        <p:xfrm>
          <a:off x="4264966" y="4680840"/>
          <a:ext cx="815497" cy="575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15" name="Equation" r:id="rId11" imgW="215640" imgH="152280" progId="Equation.DSMT4">
                  <p:embed/>
                </p:oleObj>
              </mc:Choice>
              <mc:Fallback>
                <p:oleObj name="Equation" r:id="rId11" imgW="21564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264966" y="4680840"/>
                        <a:ext cx="815497" cy="5756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/>
          <p:cNvGrpSpPr/>
          <p:nvPr/>
        </p:nvGrpSpPr>
        <p:grpSpPr>
          <a:xfrm>
            <a:off x="5080463" y="5430328"/>
            <a:ext cx="2502049" cy="461665"/>
            <a:chOff x="5080452" y="4059012"/>
            <a:chExt cx="2502049" cy="461665"/>
          </a:xfrm>
        </p:grpSpPr>
        <p:sp>
          <p:nvSpPr>
            <p:cNvPr id="26" name="文本框 25"/>
            <p:cNvSpPr txBox="1"/>
            <p:nvPr/>
          </p:nvSpPr>
          <p:spPr>
            <a:xfrm>
              <a:off x="5080452" y="4059012"/>
              <a:ext cx="20982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系数行列式</a:t>
              </a:r>
            </a:p>
          </p:txBody>
        </p:sp>
        <p:graphicFrame>
          <p:nvGraphicFramePr>
            <p:cNvPr id="27" name="对象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45169321"/>
                </p:ext>
              </p:extLst>
            </p:nvPr>
          </p:nvGraphicFramePr>
          <p:xfrm>
            <a:off x="6774942" y="4107492"/>
            <a:ext cx="807559" cy="3647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116" name="Equation" r:id="rId13" imgW="393480" imgH="177480" progId="Equation.DSMT4">
                    <p:embed/>
                  </p:oleObj>
                </mc:Choice>
                <mc:Fallback>
                  <p:oleObj name="Equation" r:id="rId13" imgW="393480" imgH="177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6774942" y="4107492"/>
                          <a:ext cx="807559" cy="36470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" name="文本框 27"/>
          <p:cNvSpPr txBox="1"/>
          <p:nvPr/>
        </p:nvSpPr>
        <p:spPr>
          <a:xfrm>
            <a:off x="2855096" y="5450678"/>
            <a:ext cx="1482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零解</a:t>
            </a:r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4541466"/>
              </p:ext>
            </p:extLst>
          </p:nvPr>
        </p:nvGraphicFramePr>
        <p:xfrm>
          <a:off x="4265857" y="5350145"/>
          <a:ext cx="815497" cy="575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17" name="Equation" r:id="rId15" imgW="215640" imgH="152280" progId="Equation.DSMT4">
                  <p:embed/>
                </p:oleObj>
              </mc:Choice>
              <mc:Fallback>
                <p:oleObj name="Equation" r:id="rId15" imgW="21564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265857" y="5350145"/>
                        <a:ext cx="815497" cy="5756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组合 29"/>
          <p:cNvGrpSpPr/>
          <p:nvPr/>
        </p:nvGrpSpPr>
        <p:grpSpPr>
          <a:xfrm>
            <a:off x="5080463" y="4737831"/>
            <a:ext cx="2502049" cy="461665"/>
            <a:chOff x="5080452" y="4059012"/>
            <a:chExt cx="2502049" cy="461665"/>
          </a:xfrm>
        </p:grpSpPr>
        <p:sp>
          <p:nvSpPr>
            <p:cNvPr id="31" name="文本框 30"/>
            <p:cNvSpPr txBox="1"/>
            <p:nvPr/>
          </p:nvSpPr>
          <p:spPr>
            <a:xfrm>
              <a:off x="5080452" y="4059012"/>
              <a:ext cx="20982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系数行列式</a:t>
              </a:r>
            </a:p>
          </p:txBody>
        </p:sp>
        <p:graphicFrame>
          <p:nvGraphicFramePr>
            <p:cNvPr id="32" name="对象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8400342"/>
                </p:ext>
              </p:extLst>
            </p:nvPr>
          </p:nvGraphicFramePr>
          <p:xfrm>
            <a:off x="6774942" y="4107492"/>
            <a:ext cx="807559" cy="3647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118" name="Equation" r:id="rId16" imgW="393480" imgH="177480" progId="Equation.DSMT4">
                    <p:embed/>
                  </p:oleObj>
                </mc:Choice>
                <mc:Fallback>
                  <p:oleObj name="Equation" r:id="rId16" imgW="393480" imgH="177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6774942" y="4107492"/>
                          <a:ext cx="807559" cy="36470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5880669"/>
              </p:ext>
            </p:extLst>
          </p:nvPr>
        </p:nvGraphicFramePr>
        <p:xfrm>
          <a:off x="563563" y="3700463"/>
          <a:ext cx="52038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19" name="Equation" r:id="rId18" imgW="2755800" imgH="228600" progId="Equation.DSMT4">
                  <p:embed/>
                </p:oleObj>
              </mc:Choice>
              <mc:Fallback>
                <p:oleObj name="Equation" r:id="rId18" imgW="27558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63563" y="3700463"/>
                        <a:ext cx="5203825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文本框 7"/>
          <p:cNvSpPr txBox="1"/>
          <p:nvPr/>
        </p:nvSpPr>
        <p:spPr>
          <a:xfrm>
            <a:off x="5771960" y="3671004"/>
            <a:ext cx="3488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称为上述方程组的</a:t>
            </a:r>
            <a:r>
              <a:rPr lang="zh-CN" altLang="en-US" sz="2400" b="1" dirty="0" smtClean="0">
                <a:solidFill>
                  <a:srgbClr val="FA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零解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4" name="文本框 7"/>
          <p:cNvSpPr txBox="1"/>
          <p:nvPr/>
        </p:nvSpPr>
        <p:spPr>
          <a:xfrm>
            <a:off x="613981" y="4167844"/>
            <a:ext cx="8390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若有一组不全为零的数满足方程，称为上述方程组的</a:t>
            </a:r>
            <a:r>
              <a:rPr lang="zh-CN" altLang="en-US" sz="2400" b="1" dirty="0" smtClean="0">
                <a:solidFill>
                  <a:srgbClr val="FA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非零解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185367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2" grpId="0"/>
      <p:bldP spid="28" grpId="0"/>
      <p:bldP spid="33" grpId="0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Text Box 2"/>
          <p:cNvSpPr txBox="1">
            <a:spLocks noChangeArrowheads="1"/>
          </p:cNvSpPr>
          <p:nvPr/>
        </p:nvSpPr>
        <p:spPr bwMode="auto">
          <a:xfrm>
            <a:off x="531847" y="1801547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b="1" dirty="0" smtClean="0">
                <a:solidFill>
                  <a:srgbClr val="FF3300"/>
                </a:solidFill>
                <a:ea typeface="黑体" pitchFamily="2" charset="-122"/>
              </a:rPr>
              <a:t>解</a:t>
            </a:r>
          </a:p>
        </p:txBody>
      </p:sp>
      <p:sp>
        <p:nvSpPr>
          <p:cNvPr id="239619" name="Text Box 3"/>
          <p:cNvSpPr txBox="1">
            <a:spLocks noChangeArrowheads="1"/>
          </p:cNvSpPr>
          <p:nvPr/>
        </p:nvSpPr>
        <p:spPr bwMode="auto">
          <a:xfrm>
            <a:off x="1292336" y="1801547"/>
            <a:ext cx="379142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b="1" dirty="0" smtClean="0"/>
              <a:t>设所求的二次多项式为</a:t>
            </a:r>
          </a:p>
        </p:txBody>
      </p:sp>
      <p:graphicFrame>
        <p:nvGraphicFramePr>
          <p:cNvPr id="2396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3735367"/>
              </p:ext>
            </p:extLst>
          </p:nvPr>
        </p:nvGraphicFramePr>
        <p:xfrm>
          <a:off x="5332610" y="1801547"/>
          <a:ext cx="4114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81" name="Equation" r:id="rId4" imgW="3086100" imgH="457200" progId="Equation.3">
                  <p:embed/>
                </p:oleObj>
              </mc:Choice>
              <mc:Fallback>
                <p:oleObj name="Equation" r:id="rId4" imgW="30861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2610" y="1801547"/>
                        <a:ext cx="4114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9621" name="Text Box 5"/>
          <p:cNvSpPr txBox="1">
            <a:spLocks noChangeArrowheads="1"/>
          </p:cNvSpPr>
          <p:nvPr/>
        </p:nvSpPr>
        <p:spPr bwMode="auto">
          <a:xfrm>
            <a:off x="531847" y="2887994"/>
            <a:ext cx="16273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b="1" dirty="0" smtClean="0"/>
              <a:t>由题意得</a:t>
            </a:r>
          </a:p>
        </p:txBody>
      </p:sp>
      <p:graphicFrame>
        <p:nvGraphicFramePr>
          <p:cNvPr id="2396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6225435"/>
              </p:ext>
            </p:extLst>
          </p:nvPr>
        </p:nvGraphicFramePr>
        <p:xfrm>
          <a:off x="2237603" y="2528915"/>
          <a:ext cx="5046133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82" name="Equation" r:id="rId6" imgW="3784600" imgH="1460500" progId="Equation.3">
                  <p:embed/>
                </p:oleObj>
              </mc:Choice>
              <mc:Fallback>
                <p:oleObj name="Equation" r:id="rId6" imgW="3784600" imgH="1460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7603" y="2528915"/>
                        <a:ext cx="5046133" cy="146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9623" name="Picture 7" descr="手">
            <a:hlinkClick r:id="" action="ppaction://hlinkshowjump?jump=nextslide"/>
          </p:cNvPr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7600" y="64008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3240" name="Rectangle 8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10845800" y="6286500"/>
            <a:ext cx="1016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2400" smtClean="0">
              <a:solidFill>
                <a:srgbClr val="FFFFFF"/>
              </a:solidFill>
            </a:endParaRPr>
          </a:p>
        </p:txBody>
      </p:sp>
      <p:sp>
        <p:nvSpPr>
          <p:cNvPr id="12" name="文本框 3"/>
          <p:cNvSpPr txBox="1"/>
          <p:nvPr/>
        </p:nvSpPr>
        <p:spPr>
          <a:xfrm>
            <a:off x="8984776" y="394852"/>
            <a:ext cx="2655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1.3 Crammer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法则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3915258"/>
              </p:ext>
            </p:extLst>
          </p:nvPr>
        </p:nvGraphicFramePr>
        <p:xfrm>
          <a:off x="470670" y="1259554"/>
          <a:ext cx="8514106" cy="438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83" name="Equation" r:id="rId9" imgW="4000320" imgH="215640" progId="Equation.DSMT4">
                  <p:embed/>
                </p:oleObj>
              </mc:Choice>
              <mc:Fallback>
                <p:oleObj name="Equation" r:id="rId9" imgW="4000320" imgH="2156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670" y="1259554"/>
                        <a:ext cx="8514106" cy="4386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/>
          <p:cNvGrpSpPr/>
          <p:nvPr/>
        </p:nvGrpSpPr>
        <p:grpSpPr>
          <a:xfrm>
            <a:off x="4525679" y="349826"/>
            <a:ext cx="1613863" cy="520848"/>
            <a:chOff x="548764" y="1261096"/>
            <a:chExt cx="1613863" cy="52084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圆角矩形 13"/>
            <p:cNvSpPr/>
            <p:nvPr/>
          </p:nvSpPr>
          <p:spPr>
            <a:xfrm>
              <a:off x="548764" y="1261096"/>
              <a:ext cx="1613863" cy="520848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5"/>
            <p:cNvSpPr txBox="1"/>
            <p:nvPr/>
          </p:nvSpPr>
          <p:spPr>
            <a:xfrm>
              <a:off x="723330" y="1261096"/>
              <a:ext cx="14392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应用举例</a:t>
              </a:r>
            </a:p>
          </p:txBody>
        </p:sp>
      </p:grp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5091004"/>
              </p:ext>
            </p:extLst>
          </p:nvPr>
        </p:nvGraphicFramePr>
        <p:xfrm>
          <a:off x="7291387" y="2641604"/>
          <a:ext cx="3859064" cy="11030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84" name="Equation" r:id="rId11" imgW="1422360" imgH="431640" progId="Equation.DSMT4">
                  <p:embed/>
                </p:oleObj>
              </mc:Choice>
              <mc:Fallback>
                <p:oleObj name="Equation" r:id="rId11" imgW="1422360" imgH="4316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1387" y="2641604"/>
                        <a:ext cx="3859064" cy="11030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586492" y="4171452"/>
            <a:ext cx="307007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b="1" dirty="0" smtClean="0">
                <a:solidFill>
                  <a:srgbClr val="FF0000"/>
                </a:solidFill>
              </a:rPr>
              <a:t>由克莱姆法则，得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9531928"/>
              </p:ext>
            </p:extLst>
          </p:nvPr>
        </p:nvGraphicFramePr>
        <p:xfrm>
          <a:off x="3795613" y="4059918"/>
          <a:ext cx="6211987" cy="74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85" name="Equation" r:id="rId13" imgW="5232400" imgH="838200" progId="Equation.3">
                  <p:embed/>
                </p:oleObj>
              </mc:Choice>
              <mc:Fallback>
                <p:oleObj name="Equation" r:id="rId13" imgW="5232400" imgH="838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5613" y="4059918"/>
                        <a:ext cx="6211987" cy="74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531846" y="4825074"/>
            <a:ext cx="379142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b="1" dirty="0" smtClean="0">
                <a:solidFill>
                  <a:srgbClr val="FF0000"/>
                </a:solidFill>
              </a:rPr>
              <a:t>于是，所求的多项式为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252586"/>
              </p:ext>
            </p:extLst>
          </p:nvPr>
        </p:nvGraphicFramePr>
        <p:xfrm>
          <a:off x="4323269" y="5086684"/>
          <a:ext cx="4700252" cy="6609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86" name="Equation" r:id="rId15" imgW="1218960" imgH="228600" progId="Equation.DSMT4">
                  <p:embed/>
                </p:oleObj>
              </mc:Choice>
              <mc:Fallback>
                <p:oleObj name="Equation" r:id="rId15" imgW="121896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3269" y="5086684"/>
                        <a:ext cx="4700252" cy="6609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3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39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39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39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9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4" grpId="0"/>
      <p:bldP spid="239619" grpId="0" autoUpdateAnimBg="0"/>
      <p:bldP spid="239621" grpId="0" autoUpdateAnimBg="0"/>
      <p:bldP spid="16" grpId="0" autoUpdateAnimBg="0"/>
      <p:bldP spid="18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647" name="Picture 7" descr="手">
            <a:hlinkClick r:id="" action="ppaction://hlinkshowjump?jump=nextslide"/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7600" y="64008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4264" name="Rectangle 8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10845800" y="6286500"/>
            <a:ext cx="1016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2400" smtClean="0">
              <a:solidFill>
                <a:srgbClr val="FFFFFF"/>
              </a:solidFill>
            </a:endParaRP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468128" y="1045080"/>
            <a:ext cx="3791423" cy="523220"/>
          </a:xfrm>
          <a:prstGeom prst="rect">
            <a:avLst/>
          </a:prstGeom>
          <a:solidFill>
            <a:srgbClr val="92D050"/>
          </a:solidFill>
          <a:ln/>
          <a:extLst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b="1" dirty="0" smtClean="0">
                <a:solidFill>
                  <a:schemeClr val="bg1"/>
                </a:solidFill>
              </a:rPr>
              <a:t>知识扩展：代数插值法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468128" y="1663550"/>
            <a:ext cx="11266715" cy="1384995"/>
            <a:chOff x="595086" y="4783365"/>
            <a:chExt cx="11266715" cy="1384995"/>
          </a:xfrm>
        </p:grpSpPr>
        <p:sp>
          <p:nvSpPr>
            <p:cNvPr id="10" name="Text Box 3"/>
            <p:cNvSpPr txBox="1">
              <a:spLocks noChangeArrowheads="1"/>
            </p:cNvSpPr>
            <p:nvPr/>
          </p:nvSpPr>
          <p:spPr bwMode="auto">
            <a:xfrm>
              <a:off x="595086" y="4783365"/>
              <a:ext cx="11266715" cy="13849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2800" b="1" dirty="0" smtClean="0">
                  <a:solidFill>
                    <a:srgbClr val="FF0000"/>
                  </a:solidFill>
                </a:rPr>
                <a:t>过</a:t>
              </a:r>
              <a:r>
                <a:rPr lang="en-US" altLang="zh-CN" sz="2800" b="1" dirty="0" smtClean="0">
                  <a:solidFill>
                    <a:srgbClr val="FF0000"/>
                  </a:solidFill>
                </a:rPr>
                <a:t>n+1</a:t>
              </a:r>
              <a:r>
                <a:rPr lang="zh-CN" altLang="en-US" sz="2800" b="1" dirty="0" smtClean="0">
                  <a:solidFill>
                    <a:srgbClr val="FF0000"/>
                  </a:solidFill>
                </a:rPr>
                <a:t>个横坐标不同的点                       可以唯一确定一条</a:t>
              </a:r>
              <a:r>
                <a:rPr lang="en-US" altLang="zh-CN" sz="2800" b="1" dirty="0" smtClean="0">
                  <a:solidFill>
                    <a:srgbClr val="FF0000"/>
                  </a:solidFill>
                </a:rPr>
                <a:t>n</a:t>
              </a:r>
              <a:r>
                <a:rPr lang="zh-CN" altLang="en-US" sz="2800" b="1" dirty="0" smtClean="0">
                  <a:solidFill>
                    <a:srgbClr val="FF0000"/>
                  </a:solidFill>
                </a:rPr>
                <a:t>次曲线的方程</a:t>
              </a:r>
              <a:endParaRPr lang="en-US" altLang="zh-CN" sz="2800" b="1" dirty="0" smtClean="0">
                <a:solidFill>
                  <a:srgbClr val="FF0000"/>
                </a:solidFill>
              </a:endParaRPr>
            </a:p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rgbClr val="FF0000"/>
                  </a:solidFill>
                </a:rPr>
                <a:t> </a:t>
              </a:r>
              <a:r>
                <a:rPr lang="en-US" altLang="zh-CN" sz="2800" b="1" dirty="0" smtClean="0">
                  <a:solidFill>
                    <a:srgbClr val="FF0000"/>
                  </a:solidFill>
                </a:rPr>
                <a:t>                           </a:t>
              </a:r>
              <a:r>
                <a:rPr lang="zh-CN" altLang="en-US" sz="2800" b="1" dirty="0" smtClean="0">
                  <a:solidFill>
                    <a:srgbClr val="FF0000"/>
                  </a:solidFill>
                </a:rPr>
                <a:t>                                                                </a:t>
              </a:r>
              <a:endParaRPr lang="en-US" altLang="zh-CN" sz="2800" b="1" dirty="0" smtClean="0">
                <a:solidFill>
                  <a:srgbClr val="FF0000"/>
                </a:solidFill>
              </a:endParaRPr>
            </a:p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zh-CN" altLang="en-US" sz="2800" b="1" dirty="0" smtClean="0">
                  <a:solidFill>
                    <a:srgbClr val="FF0000"/>
                  </a:solidFill>
                </a:rPr>
                <a:t>的方法称为“</a:t>
              </a:r>
              <a:r>
                <a:rPr lang="zh-CN" altLang="en-US" sz="2800" b="1" dirty="0" smtClean="0">
                  <a:solidFill>
                    <a:srgbClr val="0070C0"/>
                  </a:solidFill>
                </a:rPr>
                <a:t>代数插值法</a:t>
              </a:r>
              <a:r>
                <a:rPr lang="zh-CN" altLang="en-US" sz="2800" b="1" dirty="0" smtClean="0">
                  <a:solidFill>
                    <a:srgbClr val="FF0000"/>
                  </a:solidFill>
                </a:rPr>
                <a:t>”</a:t>
              </a:r>
            </a:p>
          </p:txBody>
        </p:sp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05214452"/>
                </p:ext>
              </p:extLst>
            </p:nvPr>
          </p:nvGraphicFramePr>
          <p:xfrm>
            <a:off x="4620080" y="4783365"/>
            <a:ext cx="1844675" cy="5020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25" name="Equation" r:id="rId5" imgW="1384200" imgH="228600" progId="Equation.DSMT4">
                    <p:embed/>
                  </p:oleObj>
                </mc:Choice>
                <mc:Fallback>
                  <p:oleObj name="Equation" r:id="rId5" imgW="1384200" imgH="2286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0080" y="4783365"/>
                          <a:ext cx="1844675" cy="5020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9797719"/>
                </p:ext>
              </p:extLst>
            </p:nvPr>
          </p:nvGraphicFramePr>
          <p:xfrm>
            <a:off x="3651023" y="5245221"/>
            <a:ext cx="4952712" cy="461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26" name="Equation" r:id="rId7" imgW="1942920" imgH="241200" progId="Equation.DSMT4">
                    <p:embed/>
                  </p:oleObj>
                </mc:Choice>
                <mc:Fallback>
                  <p:oleObj name="Equation" r:id="rId7" imgW="1942920" imgH="2412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1023" y="5245221"/>
                          <a:ext cx="4952712" cy="461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文本框 3"/>
          <p:cNvSpPr txBox="1"/>
          <p:nvPr/>
        </p:nvSpPr>
        <p:spPr>
          <a:xfrm>
            <a:off x="8886805" y="409007"/>
            <a:ext cx="24669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1.3 Crammer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法则</a:t>
            </a: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658851"/>
              </p:ext>
            </p:extLst>
          </p:nvPr>
        </p:nvGraphicFramePr>
        <p:xfrm>
          <a:off x="2210420" y="3048545"/>
          <a:ext cx="6361566" cy="18337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27" name="Equation" r:id="rId9" imgW="2933640" imgH="990360" progId="Equation.DSMT4">
                  <p:embed/>
                </p:oleObj>
              </mc:Choice>
              <mc:Fallback>
                <p:oleObj name="Equation" r:id="rId9" imgW="2933640" imgH="990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0420" y="3048545"/>
                        <a:ext cx="6361566" cy="18337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468127" y="4928592"/>
            <a:ext cx="834204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b="1" dirty="0" smtClean="0">
                <a:solidFill>
                  <a:srgbClr val="FF0000"/>
                </a:solidFill>
              </a:rPr>
              <a:t>上述方程组的系数行列式为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n+1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阶的范德蒙行列式</a:t>
            </a: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012561"/>
              </p:ext>
            </p:extLst>
          </p:nvPr>
        </p:nvGraphicFramePr>
        <p:xfrm>
          <a:off x="758329" y="5670550"/>
          <a:ext cx="43053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28" name="Equation" r:id="rId11" imgW="1688760" imgH="380880" progId="Equation.DSMT4">
                  <p:embed/>
                </p:oleObj>
              </mc:Choice>
              <mc:Fallback>
                <p:oleObj name="Equation" r:id="rId11" imgW="16887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329" y="5670550"/>
                        <a:ext cx="4305300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5"/>
          <p:cNvSpPr txBox="1">
            <a:spLocks noChangeArrowheads="1"/>
          </p:cNvSpPr>
          <p:nvPr/>
        </p:nvSpPr>
        <p:spPr bwMode="auto">
          <a:xfrm>
            <a:off x="5246523" y="5676194"/>
            <a:ext cx="32447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b="1" dirty="0" smtClean="0">
                <a:solidFill>
                  <a:srgbClr val="FF0000"/>
                </a:solidFill>
              </a:rPr>
              <a:t>故方程组有唯一解</a:t>
            </a: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9480914"/>
              </p:ext>
            </p:extLst>
          </p:nvPr>
        </p:nvGraphicFramePr>
        <p:xfrm>
          <a:off x="8276318" y="5736872"/>
          <a:ext cx="246062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29" name="Equation" r:id="rId13" imgW="965160" imgH="228600" progId="Equation.DSMT4">
                  <p:embed/>
                </p:oleObj>
              </mc:Choice>
              <mc:Fallback>
                <p:oleObj name="Equation" r:id="rId13" imgW="9651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6318" y="5736872"/>
                        <a:ext cx="2460625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autoUpdateAnimBg="0"/>
      <p:bldP spid="16" grpId="0"/>
      <p:bldP spid="17" grpId="0" autoUpdateAnimBg="0"/>
      <p:bldP spid="19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Text Box 2"/>
          <p:cNvSpPr txBox="1">
            <a:spLocks noChangeArrowheads="1"/>
          </p:cNvSpPr>
          <p:nvPr/>
        </p:nvSpPr>
        <p:spPr bwMode="auto">
          <a:xfrm>
            <a:off x="8691565" y="1794876"/>
            <a:ext cx="242887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dirty="0" smtClean="0">
                <a:ea typeface="黑体" pitchFamily="2" charset="-122"/>
              </a:rPr>
              <a:t>有非零解，求 </a:t>
            </a:r>
          </a:p>
        </p:txBody>
      </p:sp>
      <p:graphicFrame>
        <p:nvGraphicFramePr>
          <p:cNvPr id="24166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9403527"/>
              </p:ext>
            </p:extLst>
          </p:nvPr>
        </p:nvGraphicFramePr>
        <p:xfrm>
          <a:off x="4344194" y="1331734"/>
          <a:ext cx="4335349" cy="1511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26" name="Equation" r:id="rId5" imgW="1638000" imgH="711000" progId="Equation.DSMT4">
                  <p:embed/>
                </p:oleObj>
              </mc:Choice>
              <mc:Fallback>
                <p:oleObj name="Equation" r:id="rId5" imgW="163800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4194" y="1331734"/>
                        <a:ext cx="4335349" cy="15110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1668" name="Picture 4" descr="手">
            <a:hlinkClick r:id="" action="ppaction://hlinkshowjump?jump=nextslide"/>
          </p:cNvPr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7600" y="64008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285" name="Rectangle 5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10845800" y="6286500"/>
            <a:ext cx="1016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2400" smtClean="0">
              <a:solidFill>
                <a:srgbClr val="FFFF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0" y="1855033"/>
            <a:ext cx="5167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 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已知齐次线性方程组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4878296"/>
              </p:ext>
            </p:extLst>
          </p:nvPr>
        </p:nvGraphicFramePr>
        <p:xfrm>
          <a:off x="10952613" y="1794876"/>
          <a:ext cx="418193" cy="4470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27" name="Equation" r:id="rId8" imgW="139680" imgH="177480" progId="Equation.DSMT4">
                  <p:embed/>
                </p:oleObj>
              </mc:Choice>
              <mc:Fallback>
                <p:oleObj name="Equation" r:id="rId8" imgW="1396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952613" y="1794876"/>
                        <a:ext cx="418193" cy="4470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6"/>
          <p:cNvGrpSpPr>
            <a:grpSpLocks/>
          </p:cNvGrpSpPr>
          <p:nvPr/>
        </p:nvGrpSpPr>
        <p:grpSpPr bwMode="auto">
          <a:xfrm>
            <a:off x="762000" y="2891217"/>
            <a:ext cx="6402388" cy="2805113"/>
            <a:chOff x="720" y="2064"/>
            <a:chExt cx="4033" cy="1767"/>
          </a:xfrm>
        </p:grpSpPr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720" y="2064"/>
              <a:ext cx="403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 smtClean="0">
                  <a:solidFill>
                    <a:srgbClr val="FF0000"/>
                  </a:solidFill>
                </a:rPr>
                <a:t>课堂练习</a:t>
              </a:r>
              <a:r>
                <a:rPr lang="en-US" altLang="zh-CN" sz="2800" b="1" dirty="0" smtClean="0">
                  <a:solidFill>
                    <a:srgbClr val="FF0000"/>
                  </a:solidFill>
                </a:rPr>
                <a:t>1   </a:t>
              </a:r>
              <a:r>
                <a:rPr lang="zh-CN" altLang="en-US" sz="2800" b="1" dirty="0"/>
                <a:t>问    取何值时，齐次方程组</a:t>
              </a:r>
            </a:p>
          </p:txBody>
        </p:sp>
        <p:graphicFrame>
          <p:nvGraphicFramePr>
            <p:cNvPr id="10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3561000"/>
                </p:ext>
              </p:extLst>
            </p:nvPr>
          </p:nvGraphicFramePr>
          <p:xfrm>
            <a:off x="1858" y="2520"/>
            <a:ext cx="2432" cy="8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28" name="Equation" r:id="rId10" imgW="3860800" imgH="1536700" progId="Equation.3">
                    <p:embed/>
                  </p:oleObj>
                </mc:Choice>
                <mc:Fallback>
                  <p:oleObj name="Equation" r:id="rId10" imgW="3860800" imgH="1536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8" y="2520"/>
                          <a:ext cx="2432" cy="8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720" y="3504"/>
              <a:ext cx="152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b="1"/>
                <a:t>有非零解？</a:t>
              </a:r>
              <a:endParaRPr lang="zh-CN" altLang="en-US" sz="2400" b="1"/>
            </a:p>
          </p:txBody>
        </p:sp>
        <p:graphicFrame>
          <p:nvGraphicFramePr>
            <p:cNvPr id="12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08974788"/>
                </p:ext>
              </p:extLst>
            </p:nvPr>
          </p:nvGraphicFramePr>
          <p:xfrm>
            <a:off x="2192" y="2136"/>
            <a:ext cx="176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29" name="公式" r:id="rId12" imgW="279279" imgH="342751" progId="Equation.3">
                    <p:embed/>
                  </p:oleObj>
                </mc:Choice>
                <mc:Fallback>
                  <p:oleObj name="公式" r:id="rId12" imgW="279279" imgH="34275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2" y="2136"/>
                          <a:ext cx="176" cy="1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Group 10"/>
          <p:cNvGrpSpPr>
            <a:grpSpLocks/>
          </p:cNvGrpSpPr>
          <p:nvPr/>
        </p:nvGrpSpPr>
        <p:grpSpPr bwMode="auto">
          <a:xfrm>
            <a:off x="3017837" y="5172456"/>
            <a:ext cx="7294563" cy="523874"/>
            <a:chOff x="432" y="3662"/>
            <a:chExt cx="4595" cy="330"/>
          </a:xfrm>
        </p:grpSpPr>
        <p:sp>
          <p:nvSpPr>
            <p:cNvPr id="14" name="Rectangle 11"/>
            <p:cNvSpPr>
              <a:spLocks noChangeArrowheads="1"/>
            </p:cNvSpPr>
            <p:nvPr/>
          </p:nvSpPr>
          <p:spPr bwMode="auto">
            <a:xfrm>
              <a:off x="432" y="3662"/>
              <a:ext cx="459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 smtClean="0"/>
                <a:t>                       </a:t>
              </a:r>
              <a:r>
                <a:rPr lang="zh-CN" altLang="en-US" sz="2800" b="1" dirty="0"/>
                <a:t>或           时齐次方程组有非零解</a:t>
              </a:r>
              <a:r>
                <a:rPr lang="en-US" altLang="zh-CN" sz="2800" b="1" dirty="0"/>
                <a:t>.</a:t>
              </a:r>
            </a:p>
          </p:txBody>
        </p:sp>
        <p:graphicFrame>
          <p:nvGraphicFramePr>
            <p:cNvPr id="15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740084"/>
                </p:ext>
              </p:extLst>
            </p:nvPr>
          </p:nvGraphicFramePr>
          <p:xfrm>
            <a:off x="564" y="3742"/>
            <a:ext cx="1144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30" name="公式" r:id="rId14" imgW="1815312" imgH="393529" progId="Equation.3">
                    <p:embed/>
                  </p:oleObj>
                </mc:Choice>
                <mc:Fallback>
                  <p:oleObj name="公式" r:id="rId14" imgW="1815312" imgH="39352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4" y="3742"/>
                          <a:ext cx="1144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6445399"/>
                </p:ext>
              </p:extLst>
            </p:nvPr>
          </p:nvGraphicFramePr>
          <p:xfrm>
            <a:off x="2029" y="3717"/>
            <a:ext cx="536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31" name="Equation" r:id="rId16" imgW="850531" imgH="342751" progId="Equation.DSMT4">
                    <p:embed/>
                  </p:oleObj>
                </mc:Choice>
                <mc:Fallback>
                  <p:oleObj name="Equation" r:id="rId16" imgW="850531" imgH="34275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29" y="3717"/>
                          <a:ext cx="536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文本框 3"/>
          <p:cNvSpPr txBox="1"/>
          <p:nvPr/>
        </p:nvSpPr>
        <p:spPr>
          <a:xfrm>
            <a:off x="6641152" y="409009"/>
            <a:ext cx="3671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1.3 Crammer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法则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1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666" grpId="0"/>
      <p:bldP spid="3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Text Box 2"/>
          <p:cNvSpPr txBox="1">
            <a:spLocks noChangeArrowheads="1"/>
          </p:cNvSpPr>
          <p:nvPr/>
        </p:nvSpPr>
        <p:spPr bwMode="auto">
          <a:xfrm>
            <a:off x="729343" y="1157280"/>
            <a:ext cx="10998199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b="1" dirty="0" smtClean="0">
                <a:solidFill>
                  <a:srgbClr val="FF0000"/>
                </a:solidFill>
              </a:rPr>
              <a:t>课堂练习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2(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测土配方问题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) </a:t>
            </a:r>
            <a:r>
              <a:rPr lang="zh-CN" altLang="en-US" sz="2800" dirty="0" smtClean="0"/>
              <a:t>有甲、乙、丙三种化肥，甲种化肥每千克含氮</a:t>
            </a:r>
            <a:r>
              <a:rPr lang="en-US" altLang="zh-CN" sz="2800" dirty="0" smtClean="0"/>
              <a:t>70</a:t>
            </a:r>
            <a:r>
              <a:rPr lang="zh-CN" altLang="en-US" sz="2800" dirty="0" smtClean="0"/>
              <a:t>克，磷</a:t>
            </a:r>
            <a:r>
              <a:rPr lang="en-US" altLang="zh-CN" sz="2800" dirty="0" smtClean="0"/>
              <a:t>8</a:t>
            </a:r>
            <a:r>
              <a:rPr lang="zh-CN" altLang="en-US" sz="2800" dirty="0" smtClean="0"/>
              <a:t>克，钾</a:t>
            </a:r>
            <a:r>
              <a:rPr lang="en-US" altLang="zh-CN" sz="2800" dirty="0" smtClean="0"/>
              <a:t>2</a:t>
            </a:r>
            <a:r>
              <a:rPr lang="zh-CN" altLang="en-US" sz="2800" dirty="0" smtClean="0"/>
              <a:t>克；乙种化肥每千克含氮</a:t>
            </a:r>
            <a:r>
              <a:rPr lang="en-US" altLang="zh-CN" sz="2800" dirty="0" smtClean="0"/>
              <a:t>64</a:t>
            </a:r>
            <a:r>
              <a:rPr lang="zh-CN" altLang="en-US" sz="2800" dirty="0" smtClean="0"/>
              <a:t>克，磷</a:t>
            </a:r>
            <a:r>
              <a:rPr lang="en-US" altLang="zh-CN" sz="2800" dirty="0" smtClean="0"/>
              <a:t>10</a:t>
            </a:r>
            <a:r>
              <a:rPr lang="zh-CN" altLang="en-US" sz="2800" dirty="0" smtClean="0"/>
              <a:t>克，钾</a:t>
            </a:r>
            <a:r>
              <a:rPr lang="en-US" altLang="zh-CN" sz="2800" dirty="0" smtClean="0"/>
              <a:t>0.6</a:t>
            </a:r>
            <a:r>
              <a:rPr lang="zh-CN" altLang="en-US" sz="2800" dirty="0" smtClean="0"/>
              <a:t>克；丙种化肥每千克含氮</a:t>
            </a:r>
            <a:r>
              <a:rPr lang="en-US" altLang="zh-CN" sz="2800" dirty="0" smtClean="0"/>
              <a:t>70</a:t>
            </a:r>
            <a:r>
              <a:rPr lang="zh-CN" altLang="en-US" sz="2800" dirty="0" smtClean="0"/>
              <a:t>克，磷</a:t>
            </a:r>
            <a:r>
              <a:rPr lang="en-US" altLang="zh-CN" sz="2800" dirty="0" smtClean="0"/>
              <a:t>5</a:t>
            </a:r>
            <a:r>
              <a:rPr lang="zh-CN" altLang="en-US" sz="2800" dirty="0" smtClean="0"/>
              <a:t>克，钾</a:t>
            </a:r>
            <a:r>
              <a:rPr lang="en-US" altLang="zh-CN" sz="2800" dirty="0" smtClean="0"/>
              <a:t>1.4</a:t>
            </a:r>
            <a:r>
              <a:rPr lang="zh-CN" altLang="en-US" sz="2800" dirty="0" smtClean="0"/>
              <a:t>克．若把此三种化肥混合，</a:t>
            </a:r>
            <a:r>
              <a:rPr lang="zh-CN" altLang="en-US" sz="2800" dirty="0" smtClean="0"/>
              <a:t>要求</a:t>
            </a:r>
            <a:r>
              <a:rPr lang="zh-CN" altLang="en-US" sz="2800" dirty="0" smtClean="0"/>
              <a:t>总重量</a:t>
            </a:r>
            <a:r>
              <a:rPr lang="en-US" altLang="zh-CN" sz="2800" dirty="0" smtClean="0"/>
              <a:t>23</a:t>
            </a:r>
            <a:r>
              <a:rPr lang="zh-CN" altLang="en-US" sz="2800" dirty="0" smtClean="0"/>
              <a:t>千克且含磷</a:t>
            </a:r>
            <a:r>
              <a:rPr lang="en-US" altLang="zh-CN" sz="2800" dirty="0" smtClean="0"/>
              <a:t>149</a:t>
            </a:r>
            <a:r>
              <a:rPr lang="zh-CN" altLang="en-US" sz="2800" dirty="0" smtClean="0"/>
              <a:t>克，钾</a:t>
            </a:r>
            <a:r>
              <a:rPr lang="en-US" altLang="zh-CN" sz="2800" dirty="0" smtClean="0"/>
              <a:t>30</a:t>
            </a:r>
            <a:r>
              <a:rPr lang="zh-CN" altLang="en-US" sz="2800" dirty="0" smtClean="0"/>
              <a:t>克，问三种化肥各需多少千克？</a:t>
            </a:r>
          </a:p>
        </p:txBody>
      </p:sp>
      <p:sp>
        <p:nvSpPr>
          <p:cNvPr id="245763" name="Text Box 3"/>
          <p:cNvSpPr txBox="1">
            <a:spLocks noChangeArrowheads="1"/>
          </p:cNvSpPr>
          <p:nvPr/>
        </p:nvSpPr>
        <p:spPr bwMode="auto">
          <a:xfrm>
            <a:off x="943431" y="3404049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b="1" dirty="0" smtClean="0">
                <a:solidFill>
                  <a:srgbClr val="FF3300"/>
                </a:solidFill>
                <a:ea typeface="黑体" pitchFamily="2" charset="-122"/>
              </a:rPr>
              <a:t>解</a:t>
            </a:r>
          </a:p>
        </p:txBody>
      </p:sp>
      <p:graphicFrame>
        <p:nvGraphicFramePr>
          <p:cNvPr id="2457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9212761"/>
              </p:ext>
            </p:extLst>
          </p:nvPr>
        </p:nvGraphicFramePr>
        <p:xfrm>
          <a:off x="1407998" y="3395456"/>
          <a:ext cx="9640888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52" name="Equation" r:id="rId4" imgW="3111480" imgH="457200" progId="Equation.DSMT4">
                  <p:embed/>
                </p:oleObj>
              </mc:Choice>
              <mc:Fallback>
                <p:oleObj name="Equation" r:id="rId4" imgW="31114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7998" y="3395456"/>
                        <a:ext cx="9640888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6165041"/>
              </p:ext>
            </p:extLst>
          </p:nvPr>
        </p:nvGraphicFramePr>
        <p:xfrm>
          <a:off x="3135086" y="4513942"/>
          <a:ext cx="51816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53" name="Equation" r:id="rId6" imgW="3886200" imgH="1511300" progId="Equation.DSMT4">
                  <p:embed/>
                </p:oleObj>
              </mc:Choice>
              <mc:Fallback>
                <p:oleObj name="Equation" r:id="rId6" imgW="3886200" imgH="151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5086" y="4513942"/>
                        <a:ext cx="5181600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5766" name="Picture 6" descr="手">
            <a:hlinkClick r:id="" action="ppaction://hlinkshowjump?jump=nextslide"/>
          </p:cNvPr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7600" y="64008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9383" name="Rectangle 7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10845800" y="6286500"/>
            <a:ext cx="1016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2400" smtClean="0">
              <a:solidFill>
                <a:srgbClr val="FFFFFF"/>
              </a:solidFill>
            </a:endParaRPr>
          </a:p>
        </p:txBody>
      </p:sp>
      <p:sp>
        <p:nvSpPr>
          <p:cNvPr id="11" name="文本框 3"/>
          <p:cNvSpPr txBox="1"/>
          <p:nvPr/>
        </p:nvSpPr>
        <p:spPr>
          <a:xfrm>
            <a:off x="8085540" y="451247"/>
            <a:ext cx="3671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1.3 Crammer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法则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5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45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63" grpId="0" autoUpdateAnimBg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40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3282466"/>
              </p:ext>
            </p:extLst>
          </p:nvPr>
        </p:nvGraphicFramePr>
        <p:xfrm>
          <a:off x="566966" y="1128488"/>
          <a:ext cx="7372349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38" name="Equation" r:id="rId4" imgW="5029200" imgH="838200" progId="Equation.DSMT4">
                  <p:embed/>
                </p:oleObj>
              </mc:Choice>
              <mc:Fallback>
                <p:oleObj name="Equation" r:id="rId4" imgW="5029200" imgH="838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966" y="1128488"/>
                        <a:ext cx="7372349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7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933894"/>
              </p:ext>
            </p:extLst>
          </p:nvPr>
        </p:nvGraphicFramePr>
        <p:xfrm>
          <a:off x="621308" y="1955804"/>
          <a:ext cx="9254067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39" name="Equation" r:id="rId6" imgW="6311900" imgH="838200" progId="Equation.3">
                  <p:embed/>
                </p:oleObj>
              </mc:Choice>
              <mc:Fallback>
                <p:oleObj name="Equation" r:id="rId6" imgW="63119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308" y="1955804"/>
                        <a:ext cx="9254067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7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6002708"/>
              </p:ext>
            </p:extLst>
          </p:nvPr>
        </p:nvGraphicFramePr>
        <p:xfrm>
          <a:off x="972457" y="2953662"/>
          <a:ext cx="7893051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40" name="Equation" r:id="rId8" imgW="5384800" imgH="1054100" progId="Equation.3">
                  <p:embed/>
                </p:oleObj>
              </mc:Choice>
              <mc:Fallback>
                <p:oleObj name="Equation" r:id="rId8" imgW="5384800" imgH="1054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2457" y="2953662"/>
                        <a:ext cx="7893051" cy="1116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7825293"/>
              </p:ext>
            </p:extLst>
          </p:nvPr>
        </p:nvGraphicFramePr>
        <p:xfrm>
          <a:off x="714527" y="4162229"/>
          <a:ext cx="10276416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41" name="Equation" r:id="rId10" imgW="7010400" imgH="927100" progId="Equation.DSMT4">
                  <p:embed/>
                </p:oleObj>
              </mc:Choice>
              <mc:Fallback>
                <p:oleObj name="Equation" r:id="rId10" imgW="7010400" imgH="927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527" y="4162229"/>
                        <a:ext cx="10276416" cy="979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6790" name="Picture 6" descr="手">
            <a:hlinkClick r:id="" action="ppaction://hlinkshowjump?jump=nextslide"/>
          </p:cNvPr>
          <p:cNvPicPr>
            <a:picLocks noChangeAspect="1" noChangeArrowheads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7600" y="64008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0407" name="Rectangle 7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10845800" y="6286500"/>
            <a:ext cx="1016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2400" smtClean="0">
              <a:solidFill>
                <a:srgbClr val="FFFFFF"/>
              </a:solidFill>
            </a:endParaRPr>
          </a:p>
        </p:txBody>
      </p:sp>
      <p:sp>
        <p:nvSpPr>
          <p:cNvPr id="10" name="文本框 3"/>
          <p:cNvSpPr txBox="1"/>
          <p:nvPr/>
        </p:nvSpPr>
        <p:spPr>
          <a:xfrm>
            <a:off x="8614663" y="409008"/>
            <a:ext cx="2521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1.3 Crammer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法则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931885" y="5455503"/>
            <a:ext cx="7228115" cy="830997"/>
          </a:xfrm>
          <a:prstGeom prst="rect">
            <a:avLst/>
          </a:prstGeom>
          <a:solidFill>
            <a:srgbClr val="00B05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4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作业：</a:t>
            </a:r>
            <a:r>
              <a:rPr lang="en-US" altLang="zh-CN" sz="4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P17   3</a:t>
            </a:r>
            <a:r>
              <a:rPr lang="zh-CN" altLang="en-US" sz="4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4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  <a:r>
              <a:rPr lang="en-US" altLang="zh-CN" sz="4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4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4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CN" altLang="en-US" sz="48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6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6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6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822</TotalTime>
  <Words>525</Words>
  <Application>Microsoft Office PowerPoint</Application>
  <PresentationFormat>自定义</PresentationFormat>
  <Paragraphs>68</Paragraphs>
  <Slides>13</Slides>
  <Notes>2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Office 主题</vt:lpstr>
      <vt:lpstr>自定义设计方案</vt:lpstr>
      <vt:lpstr>Equation</vt:lpstr>
      <vt:lpstr>公式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Sky123.Org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2.3 可逆矩阵</dc:title>
  <dc:creator>Sky123.Org</dc:creator>
  <cp:lastModifiedBy>LSG</cp:lastModifiedBy>
  <cp:revision>176</cp:revision>
  <dcterms:created xsi:type="dcterms:W3CDTF">2016-07-04T12:59:51Z</dcterms:created>
  <dcterms:modified xsi:type="dcterms:W3CDTF">2018-09-30T07:03:03Z</dcterms:modified>
</cp:coreProperties>
</file>
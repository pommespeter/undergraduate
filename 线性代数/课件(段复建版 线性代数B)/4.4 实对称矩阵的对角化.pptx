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0" r:id="rId2"/>
    <p:sldId id="287" r:id="rId3"/>
    <p:sldId id="271" r:id="rId4"/>
    <p:sldId id="286" r:id="rId5"/>
    <p:sldId id="288" r:id="rId6"/>
    <p:sldId id="289" r:id="rId7"/>
    <p:sldId id="290" r:id="rId8"/>
    <p:sldId id="291" r:id="rId9"/>
    <p:sldId id="292" r:id="rId10"/>
    <p:sldId id="293" r:id="rId11"/>
    <p:sldId id="295" r:id="rId12"/>
    <p:sldId id="296" r:id="rId13"/>
    <p:sldId id="29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C"/>
    <a:srgbClr val="C48170"/>
    <a:srgbClr val="0070C0"/>
    <a:srgbClr val="9DC3E6"/>
    <a:srgbClr val="2E75B6"/>
    <a:srgbClr val="1F4E79"/>
    <a:srgbClr val="FFFFFF"/>
    <a:srgbClr val="548235"/>
    <a:srgbClr val="385723"/>
    <a:srgbClr val="3B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2" autoAdjust="0"/>
    <p:restoredTop sz="94660"/>
  </p:normalViewPr>
  <p:slideViewPr>
    <p:cSldViewPr snapToGrid="0">
      <p:cViewPr>
        <p:scale>
          <a:sx n="90" d="100"/>
          <a:sy n="90" d="100"/>
        </p:scale>
        <p:origin x="186" y="7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10" Type="http://schemas.openxmlformats.org/officeDocument/2006/relationships/image" Target="../media/image24.wmf"/><Relationship Id="rId4" Type="http://schemas.openxmlformats.org/officeDocument/2006/relationships/image" Target="../media/image18.wmf"/><Relationship Id="rId9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Relationship Id="rId9" Type="http://schemas.openxmlformats.org/officeDocument/2006/relationships/image" Target="../media/image5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4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FA301-845D-425A-BD8B-92C2912188AE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5DF3D-F602-47D2-81AF-FFA7EB3996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96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fld id="{1260FA1E-6965-4F9B-9B65-D17D4C489B92}" type="slidenum">
              <a:rPr lang="zh-CN" altLang="en-US" smtClean="0">
                <a:latin typeface="Verdana" pitchFamily="34" charset="0"/>
              </a:rPr>
              <a:pPr/>
              <a:t>2</a:t>
            </a:fld>
            <a:endParaRPr lang="en-US" altLang="zh-CN" smtClean="0">
              <a:latin typeface="Verdana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540000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第四章 矩阵的相似对角化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4.4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实对称矩阵的对角化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2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28B42-2D19-4497-8B47-C50DA73E32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064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6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2.wmf"/><Relationship Id="rId3" Type="http://schemas.openxmlformats.org/officeDocument/2006/relationships/oleObject" Target="../embeddings/oleObject13.bin"/><Relationship Id="rId21" Type="http://schemas.openxmlformats.org/officeDocument/2006/relationships/oleObject" Target="../embeddings/oleObject22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.wmf"/><Relationship Id="rId20" Type="http://schemas.openxmlformats.org/officeDocument/2006/relationships/image" Target="../media/image23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8.wmf"/><Relationship Id="rId19" Type="http://schemas.openxmlformats.org/officeDocument/2006/relationships/oleObject" Target="../embeddings/oleObject21.bin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22" Type="http://schemas.openxmlformats.org/officeDocument/2006/relationships/image" Target="../media/image2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2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44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3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40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56.bin"/><Relationship Id="rId18" Type="http://schemas.openxmlformats.org/officeDocument/2006/relationships/image" Target="../media/image58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7.wmf"/><Relationship Id="rId20" Type="http://schemas.openxmlformats.org/officeDocument/2006/relationships/image" Target="../media/image59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10" Type="http://schemas.openxmlformats.org/officeDocument/2006/relationships/image" Target="../media/image54.wmf"/><Relationship Id="rId19" Type="http://schemas.openxmlformats.org/officeDocument/2006/relationships/oleObject" Target="../embeddings/oleObject59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5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6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6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70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70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49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-143933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0" name="Rectangle 7"/>
          <p:cNvSpPr>
            <a:spLocks noChangeArrowheads="1"/>
          </p:cNvSpPr>
          <p:nvPr/>
        </p:nvSpPr>
        <p:spPr bwMode="auto">
          <a:xfrm>
            <a:off x="-143933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1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9" name="组合 1"/>
          <p:cNvGrpSpPr>
            <a:grpSpLocks/>
          </p:cNvGrpSpPr>
          <p:nvPr/>
        </p:nvGrpSpPr>
        <p:grpSpPr bwMode="auto">
          <a:xfrm>
            <a:off x="817033" y="1377048"/>
            <a:ext cx="9984317" cy="646331"/>
            <a:chOff x="644609" y="1363628"/>
            <a:chExt cx="7489504" cy="645874"/>
          </a:xfrm>
        </p:grpSpPr>
        <p:sp>
          <p:nvSpPr>
            <p:cNvPr id="4114" name="Text Box 2"/>
            <p:cNvSpPr txBox="1">
              <a:spLocks noChangeArrowheads="1"/>
            </p:cNvSpPr>
            <p:nvPr/>
          </p:nvSpPr>
          <p:spPr bwMode="auto">
            <a:xfrm>
              <a:off x="644609" y="1363628"/>
              <a:ext cx="7489504" cy="6458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3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>
                <a:lnSpc>
                  <a:spcPct val="150000"/>
                </a:lnSpc>
                <a:buClr>
                  <a:srgbClr val="FF0000"/>
                </a:buClr>
                <a:buFont typeface="Wingdings" pitchFamily="2" charset="2"/>
                <a:buChar char="Ø"/>
              </a:pPr>
              <a:r>
                <a:rPr lang="zh-CN" altLang="en-US" sz="2400" dirty="0"/>
                <a:t>复习：方阵   可相似</a:t>
              </a:r>
              <a:r>
                <a:rPr lang="zh-CN" altLang="en-US" sz="2400" dirty="0" smtClean="0"/>
                <a:t>对角化          </a:t>
              </a:r>
              <a:r>
                <a:rPr lang="zh-CN" altLang="en-US" sz="2400" dirty="0"/>
                <a:t>有  个线性无关特征向量  </a:t>
              </a:r>
            </a:p>
          </p:txBody>
        </p:sp>
        <p:graphicFrame>
          <p:nvGraphicFramePr>
            <p:cNvPr id="411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5077228"/>
                </p:ext>
              </p:extLst>
            </p:nvPr>
          </p:nvGraphicFramePr>
          <p:xfrm>
            <a:off x="2041896" y="1500214"/>
            <a:ext cx="376251" cy="448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60" name="Equation" r:id="rId4" imgW="190500" imgH="228600" progId="Equation.DSMT4">
                    <p:embed/>
                  </p:oleObj>
                </mc:Choice>
                <mc:Fallback>
                  <p:oleObj name="Equation" r:id="rId4" imgW="1905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1896" y="1500214"/>
                          <a:ext cx="376251" cy="4487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5717967"/>
                </p:ext>
              </p:extLst>
            </p:nvPr>
          </p:nvGraphicFramePr>
          <p:xfrm>
            <a:off x="3802772" y="1486778"/>
            <a:ext cx="679474" cy="399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61" name="Equation" r:id="rId6" imgW="342751" imgH="203112" progId="Equation.DSMT4">
                    <p:embed/>
                  </p:oleObj>
                </mc:Choice>
                <mc:Fallback>
                  <p:oleObj name="Equation" r:id="rId6" imgW="342751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2772" y="1486778"/>
                          <a:ext cx="679474" cy="3995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1996228"/>
                </p:ext>
              </p:extLst>
            </p:nvPr>
          </p:nvGraphicFramePr>
          <p:xfrm>
            <a:off x="4730049" y="1549410"/>
            <a:ext cx="250834" cy="274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62" name="Equation" r:id="rId8" imgW="126835" imgH="139518" progId="Equation.DSMT4">
                    <p:embed/>
                  </p:oleObj>
                </mc:Choice>
                <mc:Fallback>
                  <p:oleObj name="Equation" r:id="rId8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0049" y="1549410"/>
                          <a:ext cx="250834" cy="274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1"/>
          <p:cNvGrpSpPr>
            <a:grpSpLocks/>
          </p:cNvGrpSpPr>
          <p:nvPr/>
        </p:nvGrpSpPr>
        <p:grpSpPr bwMode="auto">
          <a:xfrm>
            <a:off x="910660" y="2281238"/>
            <a:ext cx="9599084" cy="646113"/>
            <a:chOff x="381410" y="718069"/>
            <a:chExt cx="7200530" cy="645559"/>
          </a:xfrm>
        </p:grpSpPr>
        <p:sp>
          <p:nvSpPr>
            <p:cNvPr id="4112" name="Text Box 2"/>
            <p:cNvSpPr txBox="1">
              <a:spLocks noChangeArrowheads="1"/>
            </p:cNvSpPr>
            <p:nvPr/>
          </p:nvSpPr>
          <p:spPr bwMode="auto">
            <a:xfrm>
              <a:off x="381410" y="718069"/>
              <a:ext cx="7200530" cy="6455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400" dirty="0"/>
                <a:t>若方阵    可相似对角化，则</a:t>
              </a:r>
            </a:p>
          </p:txBody>
        </p:sp>
        <p:graphicFrame>
          <p:nvGraphicFramePr>
            <p:cNvPr id="411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9365988"/>
                </p:ext>
              </p:extLst>
            </p:nvPr>
          </p:nvGraphicFramePr>
          <p:xfrm>
            <a:off x="1128131" y="816484"/>
            <a:ext cx="376251" cy="448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63" name="Equation" r:id="rId10" imgW="190500" imgH="228600" progId="Equation.DSMT4">
                    <p:embed/>
                  </p:oleObj>
                </mc:Choice>
                <mc:Fallback>
                  <p:oleObj name="Equation" r:id="rId10" imgW="1905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8131" y="816484"/>
                          <a:ext cx="376251" cy="4487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1"/>
          <p:cNvGrpSpPr>
            <a:grpSpLocks/>
          </p:cNvGrpSpPr>
          <p:nvPr/>
        </p:nvGrpSpPr>
        <p:grpSpPr bwMode="auto">
          <a:xfrm>
            <a:off x="1223433" y="3151004"/>
            <a:ext cx="9987492" cy="1676400"/>
            <a:chOff x="644610" y="911627"/>
            <a:chExt cx="7491263" cy="1673536"/>
          </a:xfrm>
        </p:grpSpPr>
        <p:sp>
          <p:nvSpPr>
            <p:cNvPr id="4109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7200530" cy="645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400" dirty="0"/>
                <a:t>存在</a:t>
              </a:r>
              <a:r>
                <a:rPr lang="zh-CN" altLang="en-US" sz="2400" dirty="0" smtClean="0"/>
                <a:t>可逆                                  </a:t>
              </a:r>
              <a:r>
                <a:rPr lang="zh-CN" altLang="en-US" sz="2400" dirty="0"/>
                <a:t>使得</a:t>
              </a:r>
            </a:p>
          </p:txBody>
        </p:sp>
        <p:graphicFrame>
          <p:nvGraphicFramePr>
            <p:cNvPr id="411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8380093"/>
                </p:ext>
              </p:extLst>
            </p:nvPr>
          </p:nvGraphicFramePr>
          <p:xfrm>
            <a:off x="2052845" y="1422744"/>
            <a:ext cx="2033514" cy="452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64" name="Equation" r:id="rId11" imgW="1129810" imgH="253890" progId="Equation.DSMT4">
                    <p:embed/>
                  </p:oleObj>
                </mc:Choice>
                <mc:Fallback>
                  <p:oleObj name="Equation" r:id="rId11" imgW="1129810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2845" y="1422744"/>
                          <a:ext cx="2033514" cy="4526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9656950"/>
                </p:ext>
              </p:extLst>
            </p:nvPr>
          </p:nvGraphicFramePr>
          <p:xfrm>
            <a:off x="4886378" y="911627"/>
            <a:ext cx="3249495" cy="1673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65" name="Equation" r:id="rId13" imgW="1981080" imgH="939600" progId="Equation.DSMT4">
                    <p:embed/>
                  </p:oleObj>
                </mc:Choice>
                <mc:Fallback>
                  <p:oleObj name="Equation" r:id="rId13" imgW="1981080" imgH="939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6378" y="911627"/>
                          <a:ext cx="3249495" cy="1673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线形标注 3 2"/>
          <p:cNvSpPr>
            <a:spLocks/>
          </p:cNvSpPr>
          <p:nvPr/>
        </p:nvSpPr>
        <p:spPr bwMode="auto">
          <a:xfrm>
            <a:off x="3100918" y="3569073"/>
            <a:ext cx="2832100" cy="681037"/>
          </a:xfrm>
          <a:prstGeom prst="borderCallout3">
            <a:avLst>
              <a:gd name="adj1" fmla="val 102995"/>
              <a:gd name="adj2" fmla="val 31500"/>
              <a:gd name="adj3" fmla="val 145116"/>
              <a:gd name="adj4" fmla="val 30875"/>
              <a:gd name="adj5" fmla="val 144130"/>
              <a:gd name="adj6" fmla="val 5176"/>
              <a:gd name="adj7" fmla="val 207236"/>
              <a:gd name="adj8" fmla="val -13472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/>
            <a:endParaRPr lang="zh-CN" altLang="en-US" sz="1800"/>
          </a:p>
        </p:txBody>
      </p:sp>
      <p:sp>
        <p:nvSpPr>
          <p:cNvPr id="4" name="圆角矩形 3"/>
          <p:cNvSpPr/>
          <p:nvPr/>
        </p:nvSpPr>
        <p:spPr bwMode="auto">
          <a:xfrm>
            <a:off x="1851100" y="4973049"/>
            <a:ext cx="2235200" cy="7191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对应</a:t>
            </a:r>
            <a:r>
              <a:rPr lang="zh-CN" altLang="en-US" sz="2000" dirty="0" smtClean="0">
                <a:solidFill>
                  <a:schemeClr val="tx1"/>
                </a:solidFill>
              </a:rPr>
              <a:t>线性无关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0000FF"/>
                </a:solidFill>
              </a:rPr>
              <a:t>特征向量</a:t>
            </a:r>
          </a:p>
        </p:txBody>
      </p:sp>
      <p:sp>
        <p:nvSpPr>
          <p:cNvPr id="5" name="线形标注 3 4"/>
          <p:cNvSpPr>
            <a:spLocks/>
          </p:cNvSpPr>
          <p:nvPr/>
        </p:nvSpPr>
        <p:spPr bwMode="auto">
          <a:xfrm>
            <a:off x="8070851" y="3046675"/>
            <a:ext cx="3263900" cy="1760538"/>
          </a:xfrm>
          <a:prstGeom prst="borderCallout3">
            <a:avLst>
              <a:gd name="adj1" fmla="val 70727"/>
              <a:gd name="adj2" fmla="val -2199"/>
              <a:gd name="adj3" fmla="val 69954"/>
              <a:gd name="adj4" fmla="val -13880"/>
              <a:gd name="adj5" fmla="val 113963"/>
              <a:gd name="adj6" fmla="val -13880"/>
              <a:gd name="adj7" fmla="val 137014"/>
              <a:gd name="adj8" fmla="val 6718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/>
            <a:endParaRPr lang="zh-CN" altLang="en-US" sz="1800"/>
          </a:p>
        </p:txBody>
      </p:sp>
      <p:sp>
        <p:nvSpPr>
          <p:cNvPr id="37" name="圆角矩形 36"/>
          <p:cNvSpPr/>
          <p:nvPr/>
        </p:nvSpPr>
        <p:spPr bwMode="auto">
          <a:xfrm>
            <a:off x="8371418" y="5097502"/>
            <a:ext cx="2237316" cy="7191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对应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0000FF"/>
                </a:solidFill>
              </a:rPr>
              <a:t>特征值</a:t>
            </a:r>
          </a:p>
        </p:txBody>
      </p:sp>
      <p:sp>
        <p:nvSpPr>
          <p:cNvPr id="2" name="矩形 1"/>
          <p:cNvSpPr/>
          <p:nvPr/>
        </p:nvSpPr>
        <p:spPr>
          <a:xfrm>
            <a:off x="8250608" y="447971"/>
            <a:ext cx="2610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实对称矩阵的对角化</a:t>
            </a:r>
          </a:p>
        </p:txBody>
      </p:sp>
    </p:spTree>
    <p:extLst>
      <p:ext uri="{BB962C8B-B14F-4D97-AF65-F5344CB8AC3E}">
        <p14:creationId xmlns:p14="http://schemas.microsoft.com/office/powerpoint/2010/main" val="292299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实对称矩阵的对角化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3" y="1148253"/>
            <a:ext cx="4747533" cy="696036"/>
            <a:chOff x="745588" y="1310185"/>
            <a:chExt cx="1844209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03200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实对称矩阵的特征值与特征向量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3613" y="2144710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1969908" y="3369941"/>
            <a:ext cx="757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实对称阵属于不同特征值的特征向量是正交的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344127" y="2890929"/>
            <a:ext cx="2077492" cy="461665"/>
            <a:chOff x="3725873" y="3367680"/>
            <a:chExt cx="2077492" cy="461665"/>
          </a:xfrm>
        </p:grpSpPr>
        <p:sp>
          <p:nvSpPr>
            <p:cNvPr id="9" name="文本框 8"/>
            <p:cNvSpPr txBox="1"/>
            <p:nvPr/>
          </p:nvSpPr>
          <p:spPr>
            <a:xfrm>
              <a:off x="3725873" y="3367680"/>
              <a:ext cx="207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需证         </a:t>
              </a:r>
            </a:p>
          </p:txBody>
        </p:sp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6405380"/>
                </p:ext>
              </p:extLst>
            </p:nvPr>
          </p:nvGraphicFramePr>
          <p:xfrm>
            <a:off x="4515382" y="3389964"/>
            <a:ext cx="782638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07" name="Equation" r:id="rId3" imgW="419040" imgH="203040" progId="Equation.DSMT4">
                    <p:embed/>
                  </p:oleObj>
                </mc:Choice>
                <mc:Fallback>
                  <p:oleObj name="Equation" r:id="rId3" imgW="4190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515382" y="3389964"/>
                          <a:ext cx="782638" cy="3762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1910175" y="2222631"/>
            <a:ext cx="5022888" cy="461665"/>
            <a:chOff x="1910175" y="2222631"/>
            <a:chExt cx="5022888" cy="461665"/>
          </a:xfrm>
        </p:grpSpPr>
        <p:sp>
          <p:nvSpPr>
            <p:cNvPr id="8" name="文本框 7"/>
            <p:cNvSpPr txBox="1"/>
            <p:nvPr/>
          </p:nvSpPr>
          <p:spPr>
            <a:xfrm>
              <a:off x="1910175" y="2222631"/>
              <a:ext cx="502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(1)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实对称阵的特征值    均为实数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2528806"/>
                </p:ext>
              </p:extLst>
            </p:nvPr>
          </p:nvGraphicFramePr>
          <p:xfrm>
            <a:off x="4945676" y="2258952"/>
            <a:ext cx="261937" cy="328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08" name="Equation" r:id="rId5" imgW="139680" imgH="177480" progId="Equation.DSMT4">
                    <p:embed/>
                  </p:oleObj>
                </mc:Choice>
                <mc:Fallback>
                  <p:oleObj name="Equation" r:id="rId5" imgW="1396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945676" y="2258952"/>
                          <a:ext cx="261937" cy="3286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2344127" y="4016274"/>
            <a:ext cx="1679302" cy="461665"/>
            <a:chOff x="2357775" y="4101334"/>
            <a:chExt cx="1679302" cy="461665"/>
          </a:xfrm>
        </p:grpSpPr>
        <p:sp>
          <p:nvSpPr>
            <p:cNvPr id="12" name="文本框 11"/>
            <p:cNvSpPr txBox="1"/>
            <p:nvPr/>
          </p:nvSpPr>
          <p:spPr>
            <a:xfrm>
              <a:off x="2357775" y="4101334"/>
              <a:ext cx="12010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</a:t>
              </a:r>
            </a:p>
          </p:txBody>
        </p:sp>
        <p:graphicFrame>
          <p:nvGraphicFramePr>
            <p:cNvPr id="35" name="对象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8877140"/>
                </p:ext>
              </p:extLst>
            </p:nvPr>
          </p:nvGraphicFramePr>
          <p:xfrm>
            <a:off x="2755965" y="4124467"/>
            <a:ext cx="1281112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09" name="Equation" r:id="rId7" imgW="685800" imgH="228600" progId="Equation.DSMT4">
                    <p:embed/>
                  </p:oleObj>
                </mc:Choice>
                <mc:Fallback>
                  <p:oleObj name="Equation" r:id="rId7" imgW="6858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55965" y="4124467"/>
                          <a:ext cx="1281112" cy="4238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976313"/>
              </p:ext>
            </p:extLst>
          </p:nvPr>
        </p:nvGraphicFramePr>
        <p:xfrm>
          <a:off x="4115076" y="4054077"/>
          <a:ext cx="13763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10" name="Equation" r:id="rId9" imgW="736560" imgH="228600" progId="Equation.DSMT4">
                  <p:embed/>
                </p:oleObj>
              </mc:Choice>
              <mc:Fallback>
                <p:oleObj name="Equation" r:id="rId9" imgW="736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15076" y="4054077"/>
                        <a:ext cx="1376363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200282"/>
              </p:ext>
            </p:extLst>
          </p:nvPr>
        </p:nvGraphicFramePr>
        <p:xfrm>
          <a:off x="5591759" y="4016274"/>
          <a:ext cx="94932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11" name="Equation" r:id="rId11" imgW="507960" imgH="228600" progId="Equation.DSMT4">
                  <p:embed/>
                </p:oleObj>
              </mc:Choice>
              <mc:Fallback>
                <p:oleObj name="Equation" r:id="rId11" imgW="507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91759" y="4016274"/>
                        <a:ext cx="949325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6763057" y="3977629"/>
            <a:ext cx="2077492" cy="461665"/>
            <a:chOff x="3725873" y="3433616"/>
            <a:chExt cx="2077492" cy="461665"/>
          </a:xfrm>
        </p:grpSpPr>
        <p:sp>
          <p:nvSpPr>
            <p:cNvPr id="39" name="文本框 38"/>
            <p:cNvSpPr txBox="1"/>
            <p:nvPr/>
          </p:nvSpPr>
          <p:spPr>
            <a:xfrm>
              <a:off x="3725873" y="3433616"/>
              <a:ext cx="207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需证         </a:t>
              </a:r>
            </a:p>
          </p:txBody>
        </p:sp>
        <p:graphicFrame>
          <p:nvGraphicFramePr>
            <p:cNvPr id="40" name="对象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2265942"/>
                </p:ext>
              </p:extLst>
            </p:nvPr>
          </p:nvGraphicFramePr>
          <p:xfrm>
            <a:off x="4508578" y="3433616"/>
            <a:ext cx="1138238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12" name="Equation" r:id="rId13" imgW="609480" imgH="241200" progId="Equation.DSMT4">
                    <p:embed/>
                  </p:oleObj>
                </mc:Choice>
                <mc:Fallback>
                  <p:oleObj name="Equation" r:id="rId13" imgW="6094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508578" y="3433616"/>
                          <a:ext cx="1138238" cy="4476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文本框 7"/>
          <p:cNvSpPr txBox="1"/>
          <p:nvPr/>
        </p:nvSpPr>
        <p:spPr>
          <a:xfrm>
            <a:off x="1722726" y="5160762"/>
            <a:ext cx="7145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特征值为实数的矩阵不一定对称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7"/>
          <p:cNvSpPr txBox="1"/>
          <p:nvPr/>
        </p:nvSpPr>
        <p:spPr>
          <a:xfrm>
            <a:off x="1695522" y="4699097"/>
            <a:ext cx="7145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对称矩阵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特征值未必是实数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7"/>
          <p:cNvSpPr txBox="1"/>
          <p:nvPr/>
        </p:nvSpPr>
        <p:spPr>
          <a:xfrm>
            <a:off x="1722726" y="5715003"/>
            <a:ext cx="7145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对称阵的特征值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可能为纯虚数或零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410199" y="4835078"/>
            <a:ext cx="929503" cy="651368"/>
          </a:xfrm>
          <a:prstGeom prst="roundRect">
            <a:avLst/>
          </a:prstGeom>
          <a:solidFill>
            <a:srgbClr val="004F8C"/>
          </a:solidFill>
          <a:ln>
            <a:solidFill>
              <a:srgbClr val="004F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 smtClean="0"/>
              <a:t>注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92297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4" grpId="0"/>
      <p:bldP spid="32" grpId="0"/>
      <p:bldP spid="41" grpId="0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实对称矩阵的对角化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3" y="1148253"/>
            <a:ext cx="3234079" cy="696036"/>
            <a:chOff x="745588" y="1310185"/>
            <a:chExt cx="1844209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03200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实对称矩阵的对角化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503" y="1961474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907065" y="2039395"/>
            <a:ext cx="342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阶实对称阵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33908" y="2039395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则存在正交矩阵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129508" y="2071139"/>
            <a:ext cx="858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使得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4262015" y="2625737"/>
            <a:ext cx="3303292" cy="741702"/>
            <a:chOff x="1525107" y="4552934"/>
            <a:chExt cx="3303292" cy="7417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2" name="圆角矩形 31"/>
            <p:cNvSpPr/>
            <p:nvPr/>
          </p:nvSpPr>
          <p:spPr>
            <a:xfrm>
              <a:off x="1525107" y="4552934"/>
              <a:ext cx="3303292" cy="741702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0625938"/>
                </p:ext>
              </p:extLst>
            </p:nvPr>
          </p:nvGraphicFramePr>
          <p:xfrm>
            <a:off x="1693870" y="4631624"/>
            <a:ext cx="2935287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84" name="Equation" r:id="rId3" imgW="1282680" imgH="228600" progId="Equation.DSMT4">
                    <p:embed/>
                  </p:oleObj>
                </mc:Choice>
                <mc:Fallback>
                  <p:oleObj name="Equation" r:id="rId3" imgW="12826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93870" y="4631624"/>
                          <a:ext cx="2935287" cy="5238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/>
          <p:cNvGrpSpPr/>
          <p:nvPr/>
        </p:nvGrpSpPr>
        <p:grpSpPr>
          <a:xfrm>
            <a:off x="520503" y="3589189"/>
            <a:ext cx="1199113" cy="651368"/>
            <a:chOff x="505012" y="4041914"/>
            <a:chExt cx="1199113" cy="651368"/>
          </a:xfrm>
        </p:grpSpPr>
        <p:sp>
          <p:nvSpPr>
            <p:cNvPr id="34" name="圆角矩形 33"/>
            <p:cNvSpPr/>
            <p:nvPr/>
          </p:nvSpPr>
          <p:spPr>
            <a:xfrm>
              <a:off x="505012" y="4041914"/>
              <a:ext cx="1199113" cy="651368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35992" y="4136963"/>
              <a:ext cx="11681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步骤：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907065" y="3687853"/>
            <a:ext cx="4923692" cy="503931"/>
            <a:chOff x="2067952" y="4136963"/>
            <a:chExt cx="4923692" cy="504361"/>
          </a:xfrm>
        </p:grpSpPr>
        <p:sp>
          <p:nvSpPr>
            <p:cNvPr id="10" name="文本框 9"/>
            <p:cNvSpPr txBox="1"/>
            <p:nvPr/>
          </p:nvSpPr>
          <p:spPr>
            <a:xfrm>
              <a:off x="2067952" y="4136963"/>
              <a:ext cx="49236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(1)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求解                  得：  </a:t>
              </a:r>
            </a:p>
          </p:txBody>
        </p:sp>
        <p:graphicFrame>
          <p:nvGraphicFramePr>
            <p:cNvPr id="42" name="对象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4765873"/>
                </p:ext>
              </p:extLst>
            </p:nvPr>
          </p:nvGraphicFramePr>
          <p:xfrm>
            <a:off x="3340100" y="4169836"/>
            <a:ext cx="1420813" cy="47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85" name="Equation" r:id="rId5" imgW="761760" imgH="253800" progId="Equation.DSMT4">
                    <p:embed/>
                  </p:oleObj>
                </mc:Choice>
                <mc:Fallback>
                  <p:oleObj name="Equation" r:id="rId5" imgW="7617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40100" y="4169836"/>
                          <a:ext cx="1420813" cy="471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8727998"/>
                </p:ext>
              </p:extLst>
            </p:nvPr>
          </p:nvGraphicFramePr>
          <p:xfrm>
            <a:off x="5475288" y="4168249"/>
            <a:ext cx="139382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86" name="Equation" r:id="rId7" imgW="749160" imgH="228600" progId="Equation.DSMT4">
                    <p:embed/>
                  </p:oleObj>
                </mc:Choice>
                <mc:Fallback>
                  <p:oleObj name="Equation" r:id="rId7" imgW="7491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475288" y="4168249"/>
                          <a:ext cx="1393825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/>
          <p:nvPr/>
        </p:nvGrpSpPr>
        <p:grpSpPr>
          <a:xfrm>
            <a:off x="1907065" y="4371742"/>
            <a:ext cx="1420836" cy="461665"/>
            <a:chOff x="2067952" y="4751376"/>
            <a:chExt cx="1420836" cy="461665"/>
          </a:xfrm>
        </p:grpSpPr>
        <p:sp>
          <p:nvSpPr>
            <p:cNvPr id="45" name="文本框 44"/>
            <p:cNvSpPr txBox="1"/>
            <p:nvPr/>
          </p:nvSpPr>
          <p:spPr>
            <a:xfrm>
              <a:off x="2067952" y="4751376"/>
              <a:ext cx="14208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(2)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    </a:t>
              </a:r>
            </a:p>
          </p:txBody>
        </p:sp>
        <p:graphicFrame>
          <p:nvGraphicFramePr>
            <p:cNvPr id="46" name="对象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728573"/>
                </p:ext>
              </p:extLst>
            </p:nvPr>
          </p:nvGraphicFramePr>
          <p:xfrm>
            <a:off x="2981325" y="4784725"/>
            <a:ext cx="377825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87" name="Equation" r:id="rId9" imgW="203040" imgH="228600" progId="Equation.DSMT4">
                    <p:embed/>
                  </p:oleObj>
                </mc:Choice>
                <mc:Fallback>
                  <p:oleObj name="Equation" r:id="rId9" imgW="203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981325" y="4784725"/>
                          <a:ext cx="377825" cy="4238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3327901" y="4377853"/>
            <a:ext cx="7336555" cy="471488"/>
            <a:chOff x="3488788" y="4757487"/>
            <a:chExt cx="6517704" cy="471488"/>
          </a:xfrm>
        </p:grpSpPr>
        <p:graphicFrame>
          <p:nvGraphicFramePr>
            <p:cNvPr id="47" name="对象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9560898"/>
                </p:ext>
              </p:extLst>
            </p:nvPr>
          </p:nvGraphicFramePr>
          <p:xfrm>
            <a:off x="8636480" y="4757487"/>
            <a:ext cx="1370012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88" name="Equation" r:id="rId11" imgW="736560" imgH="228600" progId="Equation.DSMT4">
                    <p:embed/>
                  </p:oleObj>
                </mc:Choice>
                <mc:Fallback>
                  <p:oleObj name="Equation" r:id="rId11" imgW="7365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636480" y="4757487"/>
                          <a:ext cx="1370012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15"/>
            <p:cNvSpPr txBox="1"/>
            <p:nvPr/>
          </p:nvSpPr>
          <p:spPr>
            <a:xfrm>
              <a:off x="3488788" y="4757487"/>
              <a:ext cx="5251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求方程组                      的基础解系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合并为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</a:p>
          </p:txBody>
        </p:sp>
        <p:graphicFrame>
          <p:nvGraphicFramePr>
            <p:cNvPr id="48" name="对象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2572529"/>
                </p:ext>
              </p:extLst>
            </p:nvPr>
          </p:nvGraphicFramePr>
          <p:xfrm>
            <a:off x="4611976" y="4757487"/>
            <a:ext cx="1752600" cy="47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89" name="Equation" r:id="rId13" imgW="939600" imgH="253800" progId="Equation.DSMT4">
                    <p:embed/>
                  </p:oleObj>
                </mc:Choice>
                <mc:Fallback>
                  <p:oleObj name="Equation" r:id="rId13" imgW="9396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11976" y="4757487"/>
                          <a:ext cx="1752600" cy="471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/>
        </p:nvGrpSpPr>
        <p:grpSpPr>
          <a:xfrm>
            <a:off x="2399199" y="4997229"/>
            <a:ext cx="5944152" cy="470020"/>
            <a:chOff x="2480359" y="5339287"/>
            <a:chExt cx="5944152" cy="470020"/>
          </a:xfrm>
        </p:grpSpPr>
        <p:grpSp>
          <p:nvGrpSpPr>
            <p:cNvPr id="19" name="组合 18"/>
            <p:cNvGrpSpPr/>
            <p:nvPr/>
          </p:nvGrpSpPr>
          <p:grpSpPr>
            <a:xfrm>
              <a:off x="2480359" y="5347642"/>
              <a:ext cx="4511286" cy="461665"/>
              <a:chOff x="2480359" y="5347642"/>
              <a:chExt cx="4511286" cy="461665"/>
            </a:xfrm>
          </p:grpSpPr>
          <p:graphicFrame>
            <p:nvGraphicFramePr>
              <p:cNvPr id="49" name="对象 4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1902652"/>
                  </p:ext>
                </p:extLst>
              </p:nvPr>
            </p:nvGraphicFramePr>
            <p:xfrm>
              <a:off x="2851150" y="5365750"/>
              <a:ext cx="1274763" cy="425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390" name="Equation" r:id="rId15" imgW="685800" imgH="228600" progId="Equation.DSMT4">
                      <p:embed/>
                    </p:oleObj>
                  </mc:Choice>
                  <mc:Fallback>
                    <p:oleObj name="Equation" r:id="rId15" imgW="68580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851150" y="5365750"/>
                            <a:ext cx="1274763" cy="4254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文本框 17"/>
              <p:cNvSpPr txBox="1"/>
              <p:nvPr/>
            </p:nvSpPr>
            <p:spPr>
              <a:xfrm>
                <a:off x="2480359" y="5347642"/>
                <a:ext cx="4511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               正交化、单位化得：</a:t>
                </a:r>
              </a:p>
            </p:txBody>
          </p:sp>
        </p:grpSp>
        <p:graphicFrame>
          <p:nvGraphicFramePr>
            <p:cNvPr id="50" name="对象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2703123"/>
                </p:ext>
              </p:extLst>
            </p:nvPr>
          </p:nvGraphicFramePr>
          <p:xfrm>
            <a:off x="7054499" y="5339287"/>
            <a:ext cx="1370012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91" name="Equation" r:id="rId17" imgW="736560" imgH="228600" progId="Equation.DSMT4">
                    <p:embed/>
                  </p:oleObj>
                </mc:Choice>
                <mc:Fallback>
                  <p:oleObj name="Equation" r:id="rId17" imgW="7365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054499" y="5339287"/>
                          <a:ext cx="1370012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组合 55"/>
          <p:cNvGrpSpPr/>
          <p:nvPr/>
        </p:nvGrpSpPr>
        <p:grpSpPr>
          <a:xfrm>
            <a:off x="1907065" y="5594035"/>
            <a:ext cx="3419047" cy="490282"/>
            <a:chOff x="1910175" y="5847384"/>
            <a:chExt cx="3419047" cy="490282"/>
          </a:xfrm>
        </p:grpSpPr>
        <p:sp>
          <p:nvSpPr>
            <p:cNvPr id="51" name="文本框 50"/>
            <p:cNvSpPr txBox="1"/>
            <p:nvPr/>
          </p:nvSpPr>
          <p:spPr>
            <a:xfrm>
              <a:off x="1910175" y="5847384"/>
              <a:ext cx="34190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(3)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令                       ，                    </a:t>
              </a:r>
            </a:p>
          </p:txBody>
        </p:sp>
        <p:graphicFrame>
          <p:nvGraphicFramePr>
            <p:cNvPr id="52" name="对象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9705161"/>
                </p:ext>
              </p:extLst>
            </p:nvPr>
          </p:nvGraphicFramePr>
          <p:xfrm>
            <a:off x="2835260" y="5864591"/>
            <a:ext cx="20320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92" name="Equation" r:id="rId19" imgW="1091880" imgH="253800" progId="Equation.DSMT4">
                    <p:embed/>
                  </p:oleObj>
                </mc:Choice>
                <mc:Fallback>
                  <p:oleObj name="Equation" r:id="rId19" imgW="1091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835260" y="5864591"/>
                          <a:ext cx="2032000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" name="文本框 52"/>
          <p:cNvSpPr txBox="1"/>
          <p:nvPr/>
        </p:nvSpPr>
        <p:spPr>
          <a:xfrm>
            <a:off x="5087843" y="5611242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正交矩阵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680734" y="5575300"/>
            <a:ext cx="3434941" cy="497607"/>
            <a:chOff x="7683844" y="5828649"/>
            <a:chExt cx="3434941" cy="497607"/>
          </a:xfrm>
        </p:grpSpPr>
        <p:graphicFrame>
          <p:nvGraphicFramePr>
            <p:cNvPr id="54" name="对象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3630373"/>
                </p:ext>
              </p:extLst>
            </p:nvPr>
          </p:nvGraphicFramePr>
          <p:xfrm>
            <a:off x="8427973" y="5828649"/>
            <a:ext cx="2690812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93" name="Equation" r:id="rId21" imgW="1307880" imgH="228600" progId="Equation.DSMT4">
                    <p:embed/>
                  </p:oleObj>
                </mc:Choice>
                <mc:Fallback>
                  <p:oleObj name="Equation" r:id="rId21" imgW="1307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427973" y="5828649"/>
                          <a:ext cx="2690812" cy="469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文本框 22"/>
            <p:cNvSpPr txBox="1"/>
            <p:nvPr/>
          </p:nvSpPr>
          <p:spPr>
            <a:xfrm>
              <a:off x="7683844" y="5864591"/>
              <a:ext cx="1052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且有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446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2" grpId="0"/>
      <p:bldP spid="3" grpId="0"/>
      <p:bldP spid="5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1"/>
          <p:cNvGrpSpPr>
            <a:grpSpLocks/>
          </p:cNvGrpSpPr>
          <p:nvPr/>
        </p:nvGrpSpPr>
        <p:grpSpPr bwMode="auto">
          <a:xfrm>
            <a:off x="527050" y="1306789"/>
            <a:ext cx="11300883" cy="569643"/>
            <a:chOff x="582613" y="1359823"/>
            <a:chExt cx="8475688" cy="569109"/>
          </a:xfrm>
        </p:grpSpPr>
        <p:sp>
          <p:nvSpPr>
            <p:cNvPr id="9237" name="Text Box 2"/>
            <p:cNvSpPr txBox="1">
              <a:spLocks noChangeArrowheads="1"/>
            </p:cNvSpPr>
            <p:nvPr/>
          </p:nvSpPr>
          <p:spPr bwMode="auto">
            <a:xfrm>
              <a:off x="582613" y="1359823"/>
              <a:ext cx="8475688" cy="569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>
                  <a:solidFill>
                    <a:schemeClr val="accent2"/>
                  </a:solidFill>
                </a:rPr>
                <a:t>1  </a:t>
              </a:r>
              <a:r>
                <a:rPr lang="zh-CN" altLang="en-US" sz="2400" dirty="0" smtClean="0"/>
                <a:t>设                          </a:t>
              </a:r>
              <a:r>
                <a:rPr lang="zh-CN" altLang="en-US" sz="2400" dirty="0"/>
                <a:t>，求正交阵   ，</a:t>
              </a:r>
              <a:r>
                <a:rPr lang="zh-CN" altLang="en-US" sz="2400" dirty="0" smtClean="0"/>
                <a:t>使                                </a:t>
              </a:r>
              <a:r>
                <a:rPr lang="zh-CN" altLang="en-US" sz="2400" dirty="0"/>
                <a:t>为对角</a:t>
              </a:r>
              <a:r>
                <a:rPr lang="zh-CN" altLang="en-US" sz="2400" dirty="0" smtClean="0"/>
                <a:t>阵</a:t>
              </a:r>
              <a:r>
                <a:rPr lang="en-US" altLang="zh-CN" sz="2400" dirty="0" smtClean="0"/>
                <a:t>.</a:t>
              </a:r>
              <a:endParaRPr lang="zh-CN" altLang="en-US" sz="2400" dirty="0"/>
            </a:p>
          </p:txBody>
        </p:sp>
        <p:graphicFrame>
          <p:nvGraphicFramePr>
            <p:cNvPr id="923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9355126"/>
                </p:ext>
              </p:extLst>
            </p:nvPr>
          </p:nvGraphicFramePr>
          <p:xfrm>
            <a:off x="4611810" y="1526085"/>
            <a:ext cx="302420" cy="4028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5" name="Equation" r:id="rId3" imgW="152280" imgH="203040" progId="Equation.DSMT4">
                    <p:embed/>
                  </p:oleObj>
                </mc:Choice>
                <mc:Fallback>
                  <p:oleObj name="Equation" r:id="rId3" imgW="152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1810" y="1526085"/>
                          <a:ext cx="302420" cy="4028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6026304"/>
                </p:ext>
              </p:extLst>
            </p:nvPr>
          </p:nvGraphicFramePr>
          <p:xfrm>
            <a:off x="5359942" y="1478504"/>
            <a:ext cx="2551517" cy="450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6" name="Equation" r:id="rId5" imgW="1282680" imgH="228600" progId="Equation.DSMT4">
                    <p:embed/>
                  </p:oleObj>
                </mc:Choice>
                <mc:Fallback>
                  <p:oleObj name="Equation" r:id="rId5" imgW="1282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9942" y="1478504"/>
                          <a:ext cx="2551517" cy="450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9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638174" y="2422009"/>
            <a:ext cx="9120718" cy="1255713"/>
            <a:chOff x="1259632" y="1751924"/>
            <a:chExt cx="6840462" cy="1255335"/>
          </a:xfrm>
        </p:grpSpPr>
        <p:sp>
          <p:nvSpPr>
            <p:cNvPr id="29" name="TextBox 28"/>
            <p:cNvSpPr txBox="1"/>
            <p:nvPr/>
          </p:nvSpPr>
          <p:spPr>
            <a:xfrm>
              <a:off x="1259632" y="2074090"/>
              <a:ext cx="6840462" cy="9331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解：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由                                                                                                  ，得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     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en-US" altLang="zh-CN" sz="2400" dirty="0">
                  <a:solidFill>
                    <a:schemeClr val="tx1"/>
                  </a:solidFill>
                </a:rPr>
                <a:t>    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9235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6242521"/>
                </p:ext>
              </p:extLst>
            </p:nvPr>
          </p:nvGraphicFramePr>
          <p:xfrm>
            <a:off x="2326671" y="1751924"/>
            <a:ext cx="4479081" cy="1255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7" name="Equation" r:id="rId7" imgW="2895480" imgH="711000" progId="Equation.DSMT4">
                    <p:embed/>
                  </p:oleObj>
                </mc:Choice>
                <mc:Fallback>
                  <p:oleObj name="Equation" r:id="rId7" imgW="289548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6671" y="1751924"/>
                          <a:ext cx="4479081" cy="1255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912285" y="3860800"/>
            <a:ext cx="9187391" cy="1719264"/>
            <a:chOff x="1259632" y="1682815"/>
            <a:chExt cx="6890817" cy="1718455"/>
          </a:xfrm>
        </p:grpSpPr>
        <p:sp>
          <p:nvSpPr>
            <p:cNvPr id="33" name="TextBox 32"/>
            <p:cNvSpPr txBox="1"/>
            <p:nvPr/>
          </p:nvSpPr>
          <p:spPr>
            <a:xfrm>
              <a:off x="1259632" y="2074744"/>
              <a:ext cx="6840809" cy="13265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 smtClean="0">
                  <a:solidFill>
                    <a:schemeClr val="tx1"/>
                  </a:solidFill>
                </a:rPr>
                <a:t>当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时，</a:t>
              </a:r>
            </a:p>
          </p:txBody>
        </p:sp>
        <p:graphicFrame>
          <p:nvGraphicFramePr>
            <p:cNvPr id="9232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5023763"/>
                </p:ext>
              </p:extLst>
            </p:nvPr>
          </p:nvGraphicFramePr>
          <p:xfrm>
            <a:off x="1618421" y="2145076"/>
            <a:ext cx="654076" cy="314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8" name="Equation" r:id="rId9" imgW="355138" imgH="177569" progId="Equation.DSMT4">
                    <p:embed/>
                  </p:oleObj>
                </mc:Choice>
                <mc:Fallback>
                  <p:oleObj name="Equation" r:id="rId9" imgW="35513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8421" y="2145076"/>
                          <a:ext cx="654076" cy="314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3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5516734"/>
                </p:ext>
              </p:extLst>
            </p:nvPr>
          </p:nvGraphicFramePr>
          <p:xfrm>
            <a:off x="2729318" y="1682815"/>
            <a:ext cx="5421131" cy="12709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9" name="Equation" r:id="rId11" imgW="3492360" imgH="711000" progId="Equation.DSMT4">
                    <p:embed/>
                  </p:oleObj>
                </mc:Choice>
                <mc:Fallback>
                  <p:oleObj name="Equation" r:id="rId11" imgW="34923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9318" y="1682815"/>
                          <a:ext cx="5421131" cy="12709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912285" y="5272087"/>
            <a:ext cx="3228052" cy="1257300"/>
            <a:chOff x="1300587" y="2120994"/>
            <a:chExt cx="2420184" cy="1257281"/>
          </a:xfrm>
        </p:grpSpPr>
        <p:sp>
          <p:nvSpPr>
            <p:cNvPr id="43" name="TextBox 42"/>
            <p:cNvSpPr txBox="1"/>
            <p:nvPr/>
          </p:nvSpPr>
          <p:spPr>
            <a:xfrm>
              <a:off x="1300587" y="2515481"/>
              <a:ext cx="1715481" cy="4683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单位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化为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9230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3813446"/>
                </p:ext>
              </p:extLst>
            </p:nvPr>
          </p:nvGraphicFramePr>
          <p:xfrm>
            <a:off x="2434160" y="2120994"/>
            <a:ext cx="1286611" cy="1257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80" name="Equation" r:id="rId13" imgW="774360" imgH="711000" progId="Equation.DSMT4">
                    <p:embed/>
                  </p:oleObj>
                </mc:Choice>
                <mc:Fallback>
                  <p:oleObj name="Equation" r:id="rId13" imgW="7743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4160" y="2120994"/>
                          <a:ext cx="1286611" cy="1257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/>
          <p:nvPr/>
        </p:nvSpPr>
        <p:spPr>
          <a:xfrm>
            <a:off x="8257209" y="458604"/>
            <a:ext cx="2610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实对称矩阵的对角化</a:t>
            </a:r>
          </a:p>
        </p:txBody>
      </p:sp>
      <p:graphicFrame>
        <p:nvGraphicFramePr>
          <p:cNvPr id="3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721144"/>
              </p:ext>
            </p:extLst>
          </p:nvPr>
        </p:nvGraphicFramePr>
        <p:xfrm>
          <a:off x="1713323" y="961982"/>
          <a:ext cx="2549830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1" name="Equation" r:id="rId15" imgW="965160" imgH="711000" progId="Equation.DSMT4">
                  <p:embed/>
                </p:oleObj>
              </mc:Choice>
              <mc:Fallback>
                <p:oleObj name="Equation" r:id="rId15" imgW="96516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323" y="961982"/>
                        <a:ext cx="2549830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239107"/>
              </p:ext>
            </p:extLst>
          </p:nvPr>
        </p:nvGraphicFramePr>
        <p:xfrm>
          <a:off x="9016787" y="2744272"/>
          <a:ext cx="2032428" cy="397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2" name="Equation" r:id="rId17" imgW="1168200" imgH="228600" progId="Equation.DSMT4">
                  <p:embed/>
                </p:oleObj>
              </mc:Choice>
              <mc:Fallback>
                <p:oleObj name="Equation" r:id="rId17" imgW="1168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016787" y="2744272"/>
                        <a:ext cx="2032428" cy="3976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946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624418" y="1084263"/>
            <a:ext cx="10783357" cy="1687512"/>
            <a:chOff x="1259632" y="1714332"/>
            <a:chExt cx="8088279" cy="1686938"/>
          </a:xfrm>
        </p:grpSpPr>
        <p:sp>
          <p:nvSpPr>
            <p:cNvPr id="33" name="TextBox 32"/>
            <p:cNvSpPr txBox="1"/>
            <p:nvPr/>
          </p:nvSpPr>
          <p:spPr>
            <a:xfrm>
              <a:off x="1259632" y="2074572"/>
              <a:ext cx="6841180" cy="13266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 smtClean="0">
                  <a:solidFill>
                    <a:schemeClr val="tx1"/>
                  </a:solidFill>
                </a:rPr>
                <a:t>当   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时，</a:t>
              </a:r>
            </a:p>
          </p:txBody>
        </p:sp>
        <p:graphicFrame>
          <p:nvGraphicFramePr>
            <p:cNvPr id="10259" name="对象 30"/>
            <p:cNvGraphicFramePr>
              <a:graphicFrameLocks noChangeAspect="1"/>
            </p:cNvGraphicFramePr>
            <p:nvPr/>
          </p:nvGraphicFramePr>
          <p:xfrm>
            <a:off x="1625541" y="2164966"/>
            <a:ext cx="817595" cy="314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02" name="Equation" r:id="rId3" imgW="444240" imgH="177480" progId="Equation.DSMT4">
                    <p:embed/>
                  </p:oleObj>
                </mc:Choice>
                <mc:Fallback>
                  <p:oleObj name="Equation" r:id="rId3" imgW="444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5541" y="2164966"/>
                          <a:ext cx="817595" cy="314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0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2931178"/>
                </p:ext>
              </p:extLst>
            </p:nvPr>
          </p:nvGraphicFramePr>
          <p:xfrm>
            <a:off x="2840533" y="1714332"/>
            <a:ext cx="6507378" cy="1272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03" name="Equation" r:id="rId5" imgW="4190760" imgH="711000" progId="Equation.DSMT4">
                    <p:embed/>
                  </p:oleObj>
                </mc:Choice>
                <mc:Fallback>
                  <p:oleObj name="Equation" r:id="rId5" imgW="41907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0533" y="1714332"/>
                          <a:ext cx="6507378" cy="12727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624418" y="3490913"/>
            <a:ext cx="5373012" cy="1257300"/>
            <a:chOff x="1300587" y="2121317"/>
            <a:chExt cx="4028484" cy="1257281"/>
          </a:xfrm>
        </p:grpSpPr>
        <p:sp>
          <p:nvSpPr>
            <p:cNvPr id="43" name="TextBox 42"/>
            <p:cNvSpPr txBox="1"/>
            <p:nvPr/>
          </p:nvSpPr>
          <p:spPr>
            <a:xfrm>
              <a:off x="1300587" y="2515805"/>
              <a:ext cx="1715545" cy="4683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单位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化为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0257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2407234"/>
                </p:ext>
              </p:extLst>
            </p:nvPr>
          </p:nvGraphicFramePr>
          <p:xfrm>
            <a:off x="2436768" y="2121317"/>
            <a:ext cx="2892303" cy="1257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04" name="Equation" r:id="rId7" imgW="1739880" imgH="711000" progId="Equation.DSMT4">
                    <p:embed/>
                  </p:oleObj>
                </mc:Choice>
                <mc:Fallback>
                  <p:oleObj name="Equation" r:id="rId7" imgW="173988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6768" y="2121317"/>
                          <a:ext cx="2892303" cy="1257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747898" y="2376488"/>
            <a:ext cx="7676965" cy="1257300"/>
            <a:chOff x="1300587" y="2119762"/>
            <a:chExt cx="5755434" cy="1257281"/>
          </a:xfrm>
        </p:grpSpPr>
        <p:sp>
          <p:nvSpPr>
            <p:cNvPr id="30" name="TextBox 29"/>
            <p:cNvSpPr txBox="1"/>
            <p:nvPr/>
          </p:nvSpPr>
          <p:spPr>
            <a:xfrm>
              <a:off x="1300587" y="2515043"/>
              <a:ext cx="1715406" cy="4683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正交化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为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0255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008413"/>
                </p:ext>
              </p:extLst>
            </p:nvPr>
          </p:nvGraphicFramePr>
          <p:xfrm>
            <a:off x="2491790" y="2119762"/>
            <a:ext cx="4564231" cy="1257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05" name="Equation" r:id="rId9" imgW="2743200" imgH="711000" progId="Equation.DSMT4">
                    <p:embed/>
                  </p:oleObj>
                </mc:Choice>
                <mc:Fallback>
                  <p:oleObj name="Equation" r:id="rId9" imgW="274320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1790" y="2119762"/>
                          <a:ext cx="4564231" cy="1257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308344" y="4483241"/>
            <a:ext cx="11146526" cy="2328863"/>
            <a:chOff x="1300587" y="1584658"/>
            <a:chExt cx="7698434" cy="2329108"/>
          </a:xfrm>
        </p:grpSpPr>
        <p:sp>
          <p:nvSpPr>
            <p:cNvPr id="38" name="TextBox 37"/>
            <p:cNvSpPr txBox="1"/>
            <p:nvPr/>
          </p:nvSpPr>
          <p:spPr>
            <a:xfrm>
              <a:off x="1300587" y="2515031"/>
              <a:ext cx="5991939" cy="4683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 smtClean="0">
                  <a:solidFill>
                    <a:schemeClr val="tx1"/>
                  </a:solidFill>
                </a:rPr>
                <a:t>所以存在</a:t>
              </a:r>
              <a:r>
                <a:rPr lang="zh-CN" altLang="en-US" sz="2400" dirty="0">
                  <a:solidFill>
                    <a:schemeClr val="tx1"/>
                  </a:solidFill>
                </a:rPr>
                <a:t>正交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阵                                                                        使得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0252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2600419"/>
                </p:ext>
              </p:extLst>
            </p:nvPr>
          </p:nvGraphicFramePr>
          <p:xfrm>
            <a:off x="6637334" y="2122876"/>
            <a:ext cx="2361687" cy="1252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06" name="Equation" r:id="rId11" imgW="1422360" imgH="711000" progId="Equation.DSMT4">
                    <p:embed/>
                  </p:oleObj>
                </mc:Choice>
                <mc:Fallback>
                  <p:oleObj name="Equation" r:id="rId11" imgW="14223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37334" y="2122876"/>
                          <a:ext cx="2361687" cy="12526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3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3201965"/>
                </p:ext>
              </p:extLst>
            </p:nvPr>
          </p:nvGraphicFramePr>
          <p:xfrm>
            <a:off x="2809152" y="1584658"/>
            <a:ext cx="3434203" cy="2329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07" name="Equation" r:id="rId13" imgW="2349360" imgH="1320480" progId="Equation.DSMT4">
                    <p:embed/>
                  </p:oleObj>
                </mc:Choice>
                <mc:Fallback>
                  <p:oleObj name="Equation" r:id="rId13" imgW="2349360" imgH="1320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9152" y="1584658"/>
                          <a:ext cx="3434203" cy="2329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/>
          <p:nvPr/>
        </p:nvSpPr>
        <p:spPr>
          <a:xfrm>
            <a:off x="8440128" y="405441"/>
            <a:ext cx="2610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实对称矩阵的对角化</a:t>
            </a:r>
          </a:p>
        </p:txBody>
      </p:sp>
    </p:spTree>
    <p:extLst>
      <p:ext uri="{BB962C8B-B14F-4D97-AF65-F5344CB8AC3E}">
        <p14:creationId xmlns:p14="http://schemas.microsoft.com/office/powerpoint/2010/main" val="314807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1"/>
          <p:cNvGrpSpPr>
            <a:grpSpLocks/>
          </p:cNvGrpSpPr>
          <p:nvPr/>
        </p:nvGrpSpPr>
        <p:grpSpPr bwMode="auto">
          <a:xfrm>
            <a:off x="527050" y="1306789"/>
            <a:ext cx="11300883" cy="646331"/>
            <a:chOff x="582613" y="1359823"/>
            <a:chExt cx="8475688" cy="645725"/>
          </a:xfrm>
        </p:grpSpPr>
        <p:sp>
          <p:nvSpPr>
            <p:cNvPr id="9237" name="Text Box 2"/>
            <p:cNvSpPr txBox="1">
              <a:spLocks noChangeArrowheads="1"/>
            </p:cNvSpPr>
            <p:nvPr/>
          </p:nvSpPr>
          <p:spPr bwMode="auto">
            <a:xfrm>
              <a:off x="582613" y="1359823"/>
              <a:ext cx="8475688" cy="645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2  </a:t>
              </a:r>
              <a:r>
                <a:rPr lang="zh-CN" altLang="en-US" sz="2400" dirty="0" smtClean="0"/>
                <a:t>设                          </a:t>
              </a:r>
              <a:r>
                <a:rPr lang="zh-CN" altLang="en-US" sz="2400" dirty="0"/>
                <a:t>，求正交阵   ，</a:t>
              </a:r>
              <a:r>
                <a:rPr lang="zh-CN" altLang="en-US" sz="2400" dirty="0" smtClean="0"/>
                <a:t>使                                </a:t>
              </a:r>
              <a:r>
                <a:rPr lang="zh-CN" altLang="en-US" sz="2400" dirty="0"/>
                <a:t>为对角</a:t>
              </a:r>
              <a:r>
                <a:rPr lang="zh-CN" altLang="en-US" sz="2400" dirty="0" smtClean="0"/>
                <a:t>阵</a:t>
              </a:r>
              <a:r>
                <a:rPr lang="en-US" altLang="zh-CN" sz="2400" dirty="0" smtClean="0"/>
                <a:t>.</a:t>
              </a:r>
              <a:endParaRPr lang="zh-CN" altLang="en-US" sz="2400" dirty="0"/>
            </a:p>
          </p:txBody>
        </p:sp>
        <p:graphicFrame>
          <p:nvGraphicFramePr>
            <p:cNvPr id="923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5212785"/>
                </p:ext>
              </p:extLst>
            </p:nvPr>
          </p:nvGraphicFramePr>
          <p:xfrm>
            <a:off x="4595862" y="1480324"/>
            <a:ext cx="302420" cy="4028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66" name="Equation" r:id="rId3" imgW="152280" imgH="203040" progId="Equation.DSMT4">
                    <p:embed/>
                  </p:oleObj>
                </mc:Choice>
                <mc:Fallback>
                  <p:oleObj name="Equation" r:id="rId3" imgW="152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5862" y="1480324"/>
                          <a:ext cx="302420" cy="4028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9711828"/>
                </p:ext>
              </p:extLst>
            </p:nvPr>
          </p:nvGraphicFramePr>
          <p:xfrm>
            <a:off x="5359942" y="1478504"/>
            <a:ext cx="2551517" cy="450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67" name="Equation" r:id="rId5" imgW="1282680" imgH="228600" progId="Equation.DSMT4">
                    <p:embed/>
                  </p:oleObj>
                </mc:Choice>
                <mc:Fallback>
                  <p:oleObj name="Equation" r:id="rId5" imgW="1282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9942" y="1478504"/>
                          <a:ext cx="2551517" cy="450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9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527050" y="2422010"/>
            <a:ext cx="10823575" cy="1255713"/>
            <a:chOff x="1259632" y="1751925"/>
            <a:chExt cx="8117591" cy="1255335"/>
          </a:xfrm>
        </p:grpSpPr>
        <p:sp>
          <p:nvSpPr>
            <p:cNvPr id="29" name="TextBox 28"/>
            <p:cNvSpPr txBox="1"/>
            <p:nvPr/>
          </p:nvSpPr>
          <p:spPr>
            <a:xfrm>
              <a:off x="1259632" y="2074090"/>
              <a:ext cx="6840462" cy="9331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解：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由                                                                                                  ，得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     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en-US" altLang="zh-CN" sz="2400" dirty="0">
                  <a:solidFill>
                    <a:schemeClr val="tx1"/>
                  </a:solidFill>
                </a:rPr>
                <a:t>    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9235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4945168"/>
                </p:ext>
              </p:extLst>
            </p:nvPr>
          </p:nvGraphicFramePr>
          <p:xfrm>
            <a:off x="2106623" y="1751925"/>
            <a:ext cx="4950564" cy="1255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68" name="Equation" r:id="rId7" imgW="3200400" imgH="711000" progId="Equation.DSMT4">
                    <p:embed/>
                  </p:oleObj>
                </mc:Choice>
                <mc:Fallback>
                  <p:oleObj name="Equation" r:id="rId7" imgW="320040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6623" y="1751925"/>
                          <a:ext cx="4950564" cy="1255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6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7149616"/>
                </p:ext>
              </p:extLst>
            </p:nvPr>
          </p:nvGraphicFramePr>
          <p:xfrm>
            <a:off x="7707985" y="2114797"/>
            <a:ext cx="1669238" cy="403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69" name="Equation" r:id="rId9" imgW="1079280" imgH="228600" progId="Equation.DSMT4">
                    <p:embed/>
                  </p:oleObj>
                </mc:Choice>
                <mc:Fallback>
                  <p:oleObj name="Equation" r:id="rId9" imgW="1079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7985" y="2114797"/>
                          <a:ext cx="1669238" cy="403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827225" y="3687484"/>
            <a:ext cx="9120716" cy="1709501"/>
            <a:chOff x="1259632" y="1692573"/>
            <a:chExt cx="6840809" cy="1708697"/>
          </a:xfrm>
        </p:grpSpPr>
        <p:sp>
          <p:nvSpPr>
            <p:cNvPr id="33" name="TextBox 32"/>
            <p:cNvSpPr txBox="1"/>
            <p:nvPr/>
          </p:nvSpPr>
          <p:spPr>
            <a:xfrm>
              <a:off x="1259632" y="2074744"/>
              <a:ext cx="6840809" cy="13265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 smtClean="0">
                  <a:solidFill>
                    <a:schemeClr val="tx1"/>
                  </a:solidFill>
                </a:rPr>
                <a:t>当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时，</a:t>
              </a:r>
            </a:p>
          </p:txBody>
        </p:sp>
        <p:graphicFrame>
          <p:nvGraphicFramePr>
            <p:cNvPr id="9232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580447"/>
                </p:ext>
              </p:extLst>
            </p:nvPr>
          </p:nvGraphicFramePr>
          <p:xfrm>
            <a:off x="1606513" y="2144561"/>
            <a:ext cx="677493" cy="314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70" name="Equation" r:id="rId11" imgW="368280" imgH="177480" progId="Equation.DSMT4">
                    <p:embed/>
                  </p:oleObj>
                </mc:Choice>
                <mc:Fallback>
                  <p:oleObj name="Equation" r:id="rId11" imgW="368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6513" y="2144561"/>
                          <a:ext cx="677493" cy="314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3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2349558"/>
                </p:ext>
              </p:extLst>
            </p:nvPr>
          </p:nvGraphicFramePr>
          <p:xfrm>
            <a:off x="2798377" y="1692573"/>
            <a:ext cx="5302064" cy="12709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71" name="Equation" r:id="rId13" imgW="3416040" imgH="711000" progId="Equation.DSMT4">
                    <p:embed/>
                  </p:oleObj>
                </mc:Choice>
                <mc:Fallback>
                  <p:oleObj name="Equation" r:id="rId13" imgW="341604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8377" y="1692573"/>
                          <a:ext cx="5302064" cy="12709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1018611" y="5024437"/>
            <a:ext cx="3302146" cy="1257300"/>
            <a:chOff x="1300587" y="2120993"/>
            <a:chExt cx="2475735" cy="1257281"/>
          </a:xfrm>
        </p:grpSpPr>
        <p:sp>
          <p:nvSpPr>
            <p:cNvPr id="43" name="TextBox 42"/>
            <p:cNvSpPr txBox="1"/>
            <p:nvPr/>
          </p:nvSpPr>
          <p:spPr>
            <a:xfrm>
              <a:off x="1300587" y="2515481"/>
              <a:ext cx="1715481" cy="4683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单位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化为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9230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7100504"/>
                </p:ext>
              </p:extLst>
            </p:nvPr>
          </p:nvGraphicFramePr>
          <p:xfrm>
            <a:off x="2552311" y="2120993"/>
            <a:ext cx="1224011" cy="1257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72" name="Equation" r:id="rId15" imgW="736600" imgH="711200" progId="Equation.DSMT4">
                    <p:embed/>
                  </p:oleObj>
                </mc:Choice>
                <mc:Fallback>
                  <p:oleObj name="Equation" r:id="rId15" imgW="7366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2311" y="2120993"/>
                          <a:ext cx="1224011" cy="1257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/>
          <p:nvPr/>
        </p:nvSpPr>
        <p:spPr>
          <a:xfrm>
            <a:off x="8257209" y="458604"/>
            <a:ext cx="2610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实对称矩阵的对角化</a:t>
            </a:r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867326"/>
              </p:ext>
            </p:extLst>
          </p:nvPr>
        </p:nvGraphicFramePr>
        <p:xfrm>
          <a:off x="1807535" y="1031598"/>
          <a:ext cx="2549830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3" name="Equation" r:id="rId17" imgW="965200" imgH="711200" progId="Equation.DSMT4">
                  <p:embed/>
                </p:oleObj>
              </mc:Choice>
              <mc:Fallback>
                <p:oleObj name="Equation" r:id="rId17" imgW="9652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535" y="1031598"/>
                        <a:ext cx="2549830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182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624418" y="1280319"/>
            <a:ext cx="11255902" cy="1494779"/>
            <a:chOff x="1259632" y="1746071"/>
            <a:chExt cx="8330825" cy="1655199"/>
          </a:xfrm>
        </p:grpSpPr>
        <p:sp>
          <p:nvSpPr>
            <p:cNvPr id="33" name="TextBox 32"/>
            <p:cNvSpPr txBox="1"/>
            <p:nvPr/>
          </p:nvSpPr>
          <p:spPr>
            <a:xfrm>
              <a:off x="1259632" y="2074572"/>
              <a:ext cx="6841180" cy="13266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 smtClean="0">
                  <a:solidFill>
                    <a:schemeClr val="tx1"/>
                  </a:solidFill>
                </a:rPr>
                <a:t>当         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时，</a:t>
              </a:r>
            </a:p>
          </p:txBody>
        </p:sp>
        <p:graphicFrame>
          <p:nvGraphicFramePr>
            <p:cNvPr id="10259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1979659"/>
                </p:ext>
              </p:extLst>
            </p:nvPr>
          </p:nvGraphicFramePr>
          <p:xfrm>
            <a:off x="1576508" y="2159604"/>
            <a:ext cx="1235985" cy="4046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08" name="Equation" r:id="rId3" imgW="672840" imgH="228600" progId="Equation.DSMT4">
                    <p:embed/>
                  </p:oleObj>
                </mc:Choice>
                <mc:Fallback>
                  <p:oleObj name="Equation" r:id="rId3" imgW="6728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6508" y="2159604"/>
                          <a:ext cx="1235985" cy="4046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0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5133846"/>
                </p:ext>
              </p:extLst>
            </p:nvPr>
          </p:nvGraphicFramePr>
          <p:xfrm>
            <a:off x="3300265" y="1746071"/>
            <a:ext cx="6290192" cy="1272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09" name="Equation" r:id="rId5" imgW="4051080" imgH="711000" progId="Equation.DSMT4">
                    <p:embed/>
                  </p:oleObj>
                </mc:Choice>
                <mc:Fallback>
                  <p:oleObj name="Equation" r:id="rId5" imgW="405108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0265" y="1746071"/>
                          <a:ext cx="6290192" cy="12727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624418" y="4119563"/>
            <a:ext cx="5876397" cy="1257300"/>
            <a:chOff x="1300587" y="2134811"/>
            <a:chExt cx="4405903" cy="1257281"/>
          </a:xfrm>
        </p:grpSpPr>
        <p:sp>
          <p:nvSpPr>
            <p:cNvPr id="43" name="TextBox 42"/>
            <p:cNvSpPr txBox="1"/>
            <p:nvPr/>
          </p:nvSpPr>
          <p:spPr>
            <a:xfrm>
              <a:off x="1300587" y="2515805"/>
              <a:ext cx="1715545" cy="4683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单位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化为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0257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5615066"/>
                </p:ext>
              </p:extLst>
            </p:nvPr>
          </p:nvGraphicFramePr>
          <p:xfrm>
            <a:off x="2792762" y="2134811"/>
            <a:ext cx="2913728" cy="1257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10" name="Equation" r:id="rId7" imgW="1752480" imgH="711000" progId="Equation.DSMT4">
                    <p:embed/>
                  </p:oleObj>
                </mc:Choice>
                <mc:Fallback>
                  <p:oleObj name="Equation" r:id="rId7" imgW="175248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2762" y="2134811"/>
                          <a:ext cx="2913728" cy="1257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624418" y="2300288"/>
            <a:ext cx="8232246" cy="2200275"/>
            <a:chOff x="1220874" y="1692730"/>
            <a:chExt cx="6171730" cy="2200242"/>
          </a:xfrm>
        </p:grpSpPr>
        <p:sp>
          <p:nvSpPr>
            <p:cNvPr id="30" name="TextBox 29"/>
            <p:cNvSpPr txBox="1"/>
            <p:nvPr/>
          </p:nvSpPr>
          <p:spPr>
            <a:xfrm>
              <a:off x="1220874" y="2515042"/>
              <a:ext cx="1715406" cy="4683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正交化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为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0255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6811419"/>
                </p:ext>
              </p:extLst>
            </p:nvPr>
          </p:nvGraphicFramePr>
          <p:xfrm>
            <a:off x="2745061" y="1692730"/>
            <a:ext cx="4647543" cy="2200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11" name="Equation" r:id="rId9" imgW="2793960" imgH="1244520" progId="Equation.DSMT4">
                    <p:embed/>
                  </p:oleObj>
                </mc:Choice>
                <mc:Fallback>
                  <p:oleObj name="Equation" r:id="rId9" imgW="2793960" imgH="12445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5061" y="1692730"/>
                          <a:ext cx="4647543" cy="2200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518093" y="5129211"/>
            <a:ext cx="9780390" cy="1252537"/>
            <a:chOff x="1300587" y="2122877"/>
            <a:chExt cx="7336166" cy="1252669"/>
          </a:xfrm>
        </p:grpSpPr>
        <p:sp>
          <p:nvSpPr>
            <p:cNvPr id="38" name="TextBox 37"/>
            <p:cNvSpPr txBox="1"/>
            <p:nvPr/>
          </p:nvSpPr>
          <p:spPr>
            <a:xfrm>
              <a:off x="1300587" y="2515031"/>
              <a:ext cx="5991939" cy="4683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所以，存在正交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阵                 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，使得</a:t>
              </a:r>
            </a:p>
          </p:txBody>
        </p:sp>
        <p:graphicFrame>
          <p:nvGraphicFramePr>
            <p:cNvPr id="10252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6365365"/>
                </p:ext>
              </p:extLst>
            </p:nvPr>
          </p:nvGraphicFramePr>
          <p:xfrm>
            <a:off x="5621732" y="2122877"/>
            <a:ext cx="3015021" cy="1252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12" name="Equation" r:id="rId11" imgW="1815840" imgH="711000" progId="Equation.DSMT4">
                    <p:embed/>
                  </p:oleObj>
                </mc:Choice>
                <mc:Fallback>
                  <p:oleObj name="Equation" r:id="rId11" imgW="181584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1732" y="2122877"/>
                          <a:ext cx="3015021" cy="12526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3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9933763"/>
                </p:ext>
              </p:extLst>
            </p:nvPr>
          </p:nvGraphicFramePr>
          <p:xfrm>
            <a:off x="3304250" y="2535671"/>
            <a:ext cx="1355870" cy="447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13" name="Equation" r:id="rId13" imgW="927000" imgH="253800" progId="Equation.DSMT4">
                    <p:embed/>
                  </p:oleObj>
                </mc:Choice>
                <mc:Fallback>
                  <p:oleObj name="Equation" r:id="rId13" imgW="9270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4250" y="2535671"/>
                          <a:ext cx="1355870" cy="4477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/>
          <p:nvPr/>
        </p:nvSpPr>
        <p:spPr>
          <a:xfrm>
            <a:off x="8440128" y="405441"/>
            <a:ext cx="2610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实对称矩阵的对角化</a:t>
            </a:r>
          </a:p>
        </p:txBody>
      </p:sp>
    </p:spTree>
    <p:extLst>
      <p:ext uri="{BB962C8B-B14F-4D97-AF65-F5344CB8AC3E}">
        <p14:creationId xmlns:p14="http://schemas.microsoft.com/office/powerpoint/2010/main" val="24903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257209" y="458604"/>
            <a:ext cx="2610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实对称矩阵的对角化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701902"/>
              </p:ext>
            </p:extLst>
          </p:nvPr>
        </p:nvGraphicFramePr>
        <p:xfrm>
          <a:off x="1814031" y="1460369"/>
          <a:ext cx="280581" cy="339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5" name="Equation" r:id="rId3" imgW="152280" imgH="164880" progId="Equation.DSMT4">
                  <p:embed/>
                </p:oleObj>
              </mc:Choice>
              <mc:Fallback>
                <p:oleObj name="Equation" r:id="rId3" imgW="1522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14031" y="1460369"/>
                        <a:ext cx="280581" cy="339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930045"/>
              </p:ext>
            </p:extLst>
          </p:nvPr>
        </p:nvGraphicFramePr>
        <p:xfrm>
          <a:off x="1754262" y="3133356"/>
          <a:ext cx="2794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6" name="Equation" r:id="rId5" imgW="152280" imgH="164880" progId="Equation.DSMT4">
                  <p:embed/>
                </p:oleObj>
              </mc:Choice>
              <mc:Fallback>
                <p:oleObj name="Equation" r:id="rId5" imgW="152280" imgH="1648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262" y="3133356"/>
                        <a:ext cx="27940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527050" y="1306789"/>
            <a:ext cx="11300883" cy="2308324"/>
            <a:chOff x="527050" y="1306789"/>
            <a:chExt cx="11300883" cy="2308324"/>
          </a:xfrm>
        </p:grpSpPr>
        <p:sp>
          <p:nvSpPr>
            <p:cNvPr id="9237" name="Text Box 2"/>
            <p:cNvSpPr txBox="1">
              <a:spLocks noChangeArrowheads="1"/>
            </p:cNvSpPr>
            <p:nvPr/>
          </p:nvSpPr>
          <p:spPr bwMode="auto">
            <a:xfrm>
              <a:off x="527050" y="1306789"/>
              <a:ext cx="11300883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3   </a:t>
              </a:r>
              <a:r>
                <a:rPr lang="zh-CN" altLang="en-US" sz="2400" dirty="0" smtClean="0"/>
                <a:t>设     为</a:t>
              </a:r>
              <a:r>
                <a:rPr lang="en-US" altLang="zh-CN" sz="2400" dirty="0" smtClean="0"/>
                <a:t>3</a:t>
              </a:r>
              <a:r>
                <a:rPr lang="zh-CN" altLang="en-US" sz="2400" dirty="0" smtClean="0"/>
                <a:t>阶实对称矩阵，特征值为                         ，属于                 </a:t>
              </a:r>
              <a:endParaRPr lang="en-US" altLang="zh-CN" sz="2400" dirty="0" smtClean="0"/>
            </a:p>
            <a:p>
              <a:pPr algn="l" eaLnBrk="1" hangingPunct="1">
                <a:lnSpc>
                  <a:spcPct val="150000"/>
                </a:lnSpc>
              </a:pPr>
              <a:endParaRPr lang="en-US" altLang="zh-CN" sz="2400" dirty="0"/>
            </a:p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 smtClean="0"/>
                <a:t>的特征向量为                                         </a:t>
              </a:r>
              <a:r>
                <a:rPr lang="en-US" altLang="zh-CN" sz="2400" dirty="0" smtClean="0"/>
                <a:t>,</a:t>
              </a:r>
              <a:r>
                <a:rPr lang="zh-CN" altLang="en-US" sz="2400" dirty="0" smtClean="0"/>
                <a:t>试求：</a:t>
              </a:r>
              <a:endParaRPr lang="en-US" altLang="zh-CN" sz="2400" dirty="0" smtClean="0"/>
            </a:p>
            <a:p>
              <a:pPr algn="l" eaLnBrk="1" hangingPunct="1">
                <a:lnSpc>
                  <a:spcPct val="150000"/>
                </a:lnSpc>
              </a:pPr>
              <a:r>
                <a:rPr lang="en-US" altLang="zh-CN" sz="2400" dirty="0"/>
                <a:t> </a:t>
              </a:r>
              <a:r>
                <a:rPr lang="en-US" altLang="zh-CN" sz="2400" dirty="0" smtClean="0"/>
                <a:t>  </a:t>
              </a:r>
              <a:r>
                <a:rPr lang="zh-CN" altLang="en-US" sz="2400" dirty="0" smtClean="0"/>
                <a:t>（</a:t>
              </a:r>
              <a:r>
                <a:rPr lang="en-US" altLang="zh-CN" sz="2400" dirty="0" smtClean="0"/>
                <a:t>1</a:t>
              </a:r>
              <a:r>
                <a:rPr lang="zh-CN" altLang="en-US" sz="2400" dirty="0" smtClean="0"/>
                <a:t>）    的属于          的特征向量；（</a:t>
              </a:r>
              <a:r>
                <a:rPr lang="en-US" altLang="zh-CN" sz="2400" dirty="0" smtClean="0"/>
                <a:t>2</a:t>
              </a:r>
              <a:r>
                <a:rPr lang="zh-CN" altLang="en-US" sz="2400" dirty="0" smtClean="0"/>
                <a:t>）矩阵</a:t>
              </a:r>
              <a:endParaRPr lang="zh-CN" altLang="en-US" sz="2400" dirty="0"/>
            </a:p>
          </p:txBody>
        </p:sp>
        <p:graphicFrame>
          <p:nvGraphicFramePr>
            <p:cNvPr id="30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9316807"/>
                </p:ext>
              </p:extLst>
            </p:nvPr>
          </p:nvGraphicFramePr>
          <p:xfrm>
            <a:off x="6287681" y="1503728"/>
            <a:ext cx="2487613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7" name="Equation" r:id="rId7" imgW="1206360" imgH="228600" progId="Equation.DSMT4">
                    <p:embed/>
                  </p:oleObj>
                </mc:Choice>
                <mc:Fallback>
                  <p:oleObj name="Equation" r:id="rId7" imgW="12063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7681" y="1503728"/>
                          <a:ext cx="2487613" cy="403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4403611"/>
                </p:ext>
              </p:extLst>
            </p:nvPr>
          </p:nvGraphicFramePr>
          <p:xfrm>
            <a:off x="9880810" y="1503728"/>
            <a:ext cx="1649412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8" name="Equation" r:id="rId9" imgW="799920" imgH="228600" progId="Equation.DSMT4">
                    <p:embed/>
                  </p:oleObj>
                </mc:Choice>
                <mc:Fallback>
                  <p:oleObj name="Equation" r:id="rId9" imgW="799920" imgH="228600" progId="Equation.DSMT4">
                    <p:embed/>
                    <p:pic>
                      <p:nvPicPr>
                        <p:cNvPr id="0" name="对象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80810" y="1503728"/>
                          <a:ext cx="1649412" cy="403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3443883"/>
                </p:ext>
              </p:extLst>
            </p:nvPr>
          </p:nvGraphicFramePr>
          <p:xfrm>
            <a:off x="2535976" y="2460951"/>
            <a:ext cx="4241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9" name="Equation" r:id="rId11" imgW="1968480" imgH="241200" progId="Equation.DSMT4">
                    <p:embed/>
                  </p:oleObj>
                </mc:Choice>
                <mc:Fallback>
                  <p:oleObj name="Equation" r:id="rId11" imgW="1968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5976" y="2460951"/>
                          <a:ext cx="42418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7786725"/>
                </p:ext>
              </p:extLst>
            </p:nvPr>
          </p:nvGraphicFramePr>
          <p:xfrm>
            <a:off x="3159937" y="3133836"/>
            <a:ext cx="838200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30" name="Equation" r:id="rId13" imgW="406080" imgH="228600" progId="Equation.DSMT4">
                    <p:embed/>
                  </p:oleObj>
                </mc:Choice>
                <mc:Fallback>
                  <p:oleObj name="Equation" r:id="rId13" imgW="406080" imgH="228600" progId="Equation.DSMT4">
                    <p:embed/>
                    <p:pic>
                      <p:nvPicPr>
                        <p:cNvPr id="0" name="对象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9937" y="3133836"/>
                          <a:ext cx="838200" cy="403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2995197"/>
                </p:ext>
              </p:extLst>
            </p:nvPr>
          </p:nvGraphicFramePr>
          <p:xfrm>
            <a:off x="7503891" y="3098948"/>
            <a:ext cx="327025" cy="366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31" name="Equation" r:id="rId15" imgW="177480" imgH="177480" progId="Equation.DSMT4">
                    <p:embed/>
                  </p:oleObj>
                </mc:Choice>
                <mc:Fallback>
                  <p:oleObj name="Equation" r:id="rId15" imgW="177480" imgH="177480" progId="Equation.DSMT4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3891" y="3098948"/>
                          <a:ext cx="327025" cy="366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444837"/>
              </p:ext>
            </p:extLst>
          </p:nvPr>
        </p:nvGraphicFramePr>
        <p:xfrm>
          <a:off x="434494" y="3591441"/>
          <a:ext cx="8685213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32" name="Equation" r:id="rId17" imgW="4736880" imgH="711000" progId="Equation.DSMT4">
                  <p:embed/>
                </p:oleObj>
              </mc:Choice>
              <mc:Fallback>
                <p:oleObj name="Equation" r:id="rId17" imgW="4736880" imgH="7110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494" y="3591441"/>
                        <a:ext cx="8685213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500083"/>
              </p:ext>
            </p:extLst>
          </p:nvPr>
        </p:nvGraphicFramePr>
        <p:xfrm>
          <a:off x="184731" y="4977957"/>
          <a:ext cx="12061825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33" name="Equation" r:id="rId19" imgW="6578280" imgH="711000" progId="Equation.DSMT4">
                  <p:embed/>
                </p:oleObj>
              </mc:Choice>
              <mc:Fallback>
                <p:oleObj name="Equation" r:id="rId19" imgW="6578280" imgH="7110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31" y="4977957"/>
                        <a:ext cx="12061825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757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257209" y="458604"/>
            <a:ext cx="2610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实对称矩阵的对角化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112618"/>
              </p:ext>
            </p:extLst>
          </p:nvPr>
        </p:nvGraphicFramePr>
        <p:xfrm>
          <a:off x="532366" y="1377397"/>
          <a:ext cx="6676508" cy="1397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5" name="Equation" r:id="rId3" imgW="4076640" imgH="711000" progId="Equation.DSMT4">
                  <p:embed/>
                </p:oleObj>
              </mc:Choice>
              <mc:Fallback>
                <p:oleObj name="Equation" r:id="rId3" imgW="40766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2366" y="1377397"/>
                        <a:ext cx="6676508" cy="1397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894367"/>
              </p:ext>
            </p:extLst>
          </p:nvPr>
        </p:nvGraphicFramePr>
        <p:xfrm>
          <a:off x="7485063" y="1470025"/>
          <a:ext cx="4303712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6" name="Equation" r:id="rId5" imgW="2628720" imgH="711000" progId="Equation.DSMT4">
                  <p:embed/>
                </p:oleObj>
              </mc:Choice>
              <mc:Fallback>
                <p:oleObj name="Equation" r:id="rId5" imgW="2628720" imgH="7110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5063" y="1470025"/>
                        <a:ext cx="4303712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775997"/>
              </p:ext>
            </p:extLst>
          </p:nvPr>
        </p:nvGraphicFramePr>
        <p:xfrm>
          <a:off x="216629" y="2656959"/>
          <a:ext cx="8858250" cy="259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7" name="Equation" r:id="rId7" imgW="5410080" imgH="1320480" progId="Equation.DSMT4">
                  <p:embed/>
                </p:oleObj>
              </mc:Choice>
              <mc:Fallback>
                <p:oleObj name="Equation" r:id="rId7" imgW="5410080" imgH="132048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29" y="2656959"/>
                        <a:ext cx="8858250" cy="259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125437"/>
              </p:ext>
            </p:extLst>
          </p:nvPr>
        </p:nvGraphicFramePr>
        <p:xfrm>
          <a:off x="2753611" y="5318311"/>
          <a:ext cx="432435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8" name="Equation" r:id="rId9" imgW="2641320" imgH="711000" progId="Equation.DSMT4">
                  <p:embed/>
                </p:oleObj>
              </mc:Choice>
              <mc:Fallback>
                <p:oleObj name="Equation" r:id="rId9" imgW="2641320" imgH="7110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3611" y="5318311"/>
                        <a:ext cx="432435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711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047878"/>
              </p:ext>
            </p:extLst>
          </p:nvPr>
        </p:nvGraphicFramePr>
        <p:xfrm>
          <a:off x="693681" y="2025501"/>
          <a:ext cx="9992784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3" name="Equation" r:id="rId3" imgW="7493000" imgH="1003300" progId="Equation.3">
                  <p:embed/>
                </p:oleObj>
              </mc:Choice>
              <mc:Fallback>
                <p:oleObj name="Equation" r:id="rId3" imgW="7493000" imgH="1003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681" y="2025501"/>
                        <a:ext cx="9992784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5" name="Rectangle 3"/>
          <p:cNvSpPr>
            <a:spLocks noGrp="1" noChangeArrowheads="1"/>
          </p:cNvSpPr>
          <p:nvPr>
            <p:ph type="title"/>
          </p:nvPr>
        </p:nvSpPr>
        <p:spPr>
          <a:xfrm>
            <a:off x="574158" y="1148317"/>
            <a:ext cx="1775638" cy="604802"/>
          </a:xfrm>
          <a:solidFill>
            <a:srgbClr val="FF0000"/>
          </a:solidFill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chemeClr val="bg1"/>
                </a:solidFill>
              </a:rPr>
              <a:t>思考题</a:t>
            </a:r>
          </a:p>
        </p:txBody>
      </p:sp>
      <p:sp>
        <p:nvSpPr>
          <p:cNvPr id="4" name="矩形 3"/>
          <p:cNvSpPr/>
          <p:nvPr/>
        </p:nvSpPr>
        <p:spPr>
          <a:xfrm>
            <a:off x="8257209" y="458604"/>
            <a:ext cx="2610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实对称矩阵的对角化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6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228263"/>
              </p:ext>
            </p:extLst>
          </p:nvPr>
        </p:nvGraphicFramePr>
        <p:xfrm>
          <a:off x="781050" y="1022350"/>
          <a:ext cx="9502775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2" name="Equation" r:id="rId3" imgW="2768400" imgH="457200" progId="Equation.DSMT4">
                  <p:embed/>
                </p:oleObj>
              </mc:Choice>
              <mc:Fallback>
                <p:oleObj name="Equation" r:id="rId3" imgW="2768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1022350"/>
                        <a:ext cx="9502775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355344"/>
              </p:ext>
            </p:extLst>
          </p:nvPr>
        </p:nvGraphicFramePr>
        <p:xfrm>
          <a:off x="805694" y="2265842"/>
          <a:ext cx="6218139" cy="1519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3" name="Equation" r:id="rId5" imgW="2184120" imgH="711000" progId="Equation.DSMT4">
                  <p:embed/>
                </p:oleObj>
              </mc:Choice>
              <mc:Fallback>
                <p:oleObj name="Equation" r:id="rId5" imgW="21841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694" y="2265842"/>
                        <a:ext cx="6218139" cy="1519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733021"/>
              </p:ext>
            </p:extLst>
          </p:nvPr>
        </p:nvGraphicFramePr>
        <p:xfrm>
          <a:off x="724712" y="4007957"/>
          <a:ext cx="86344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4" name="Equation" r:id="rId7" imgW="2730240" imgH="228600" progId="Equation.DSMT4">
                  <p:embed/>
                </p:oleObj>
              </mc:Choice>
              <mc:Fallback>
                <p:oleObj name="Equation" r:id="rId7" imgW="2730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712" y="4007957"/>
                        <a:ext cx="863441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07000"/>
              </p:ext>
            </p:extLst>
          </p:nvPr>
        </p:nvGraphicFramePr>
        <p:xfrm>
          <a:off x="1813440" y="4856865"/>
          <a:ext cx="281093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5" name="Equation" r:id="rId9" imgW="2108200" imgH="393700" progId="Equation.3">
                  <p:embed/>
                </p:oleObj>
              </mc:Choice>
              <mc:Fallback>
                <p:oleObj name="Equation" r:id="rId9" imgW="2108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440" y="4856865"/>
                        <a:ext cx="281093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459168"/>
              </p:ext>
            </p:extLst>
          </p:nvPr>
        </p:nvGraphicFramePr>
        <p:xfrm>
          <a:off x="4732670" y="4583962"/>
          <a:ext cx="374226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6" name="Equation" r:id="rId11" imgW="2806700" imgH="977900" progId="Equation.3">
                  <p:embed/>
                </p:oleObj>
              </mc:Choice>
              <mc:Fallback>
                <p:oleObj name="Equation" r:id="rId11" imgW="28067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2670" y="4583962"/>
                        <a:ext cx="374226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349512"/>
              </p:ext>
            </p:extLst>
          </p:nvPr>
        </p:nvGraphicFramePr>
        <p:xfrm>
          <a:off x="8456870" y="4693876"/>
          <a:ext cx="1203906" cy="526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7" name="Equation" r:id="rId13" imgW="457200" imgH="266400" progId="Equation.DSMT4">
                  <p:embed/>
                </p:oleObj>
              </mc:Choice>
              <mc:Fallback>
                <p:oleObj name="Equation" r:id="rId13" imgW="4572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6870" y="4693876"/>
                        <a:ext cx="1203906" cy="526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8257209" y="458604"/>
            <a:ext cx="2610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实对称矩阵的对角化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ChangeArrowheads="1"/>
          </p:cNvSpPr>
          <p:nvPr/>
        </p:nvSpPr>
        <p:spPr bwMode="auto">
          <a:xfrm>
            <a:off x="750383" y="1550729"/>
            <a:ext cx="40607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 dirty="0"/>
              <a:t>1.</a:t>
            </a:r>
            <a:r>
              <a:rPr lang="zh-CN" altLang="en-US" sz="2800" b="1" dirty="0">
                <a:latin typeface="宋体" charset="-122"/>
              </a:rPr>
              <a:t>　实</a:t>
            </a:r>
            <a:r>
              <a:rPr lang="zh-CN" altLang="en-US" sz="2800" b="1" dirty="0" smtClean="0">
                <a:latin typeface="宋体" charset="-122"/>
              </a:rPr>
              <a:t>对称矩阵</a:t>
            </a:r>
            <a:r>
              <a:rPr lang="zh-CN" altLang="en-US" sz="2800" b="1" dirty="0">
                <a:latin typeface="宋体" charset="-122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宋体" charset="-122"/>
              </a:rPr>
              <a:t>性质</a:t>
            </a:r>
            <a:r>
              <a:rPr lang="zh-CN" altLang="en-US" sz="2800" b="1" dirty="0">
                <a:latin typeface="宋体" charset="-122"/>
              </a:rPr>
              <a:t>：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title"/>
          </p:nvPr>
        </p:nvSpPr>
        <p:spPr>
          <a:xfrm>
            <a:off x="549350" y="972953"/>
            <a:ext cx="1796902" cy="6477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b="1" dirty="0" smtClean="0">
                <a:solidFill>
                  <a:srgbClr val="FF0000"/>
                </a:solidFill>
              </a:rPr>
              <a:t>小结</a:t>
            </a:r>
          </a:p>
        </p:txBody>
      </p:sp>
      <p:sp>
        <p:nvSpPr>
          <p:cNvPr id="155652" name="Text Box 4"/>
          <p:cNvSpPr txBox="1">
            <a:spLocks noChangeArrowheads="1"/>
          </p:cNvSpPr>
          <p:nvPr/>
        </p:nvSpPr>
        <p:spPr bwMode="auto">
          <a:xfrm>
            <a:off x="176224" y="1986194"/>
            <a:ext cx="1270246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宋体" charset="-122"/>
              </a:rPr>
              <a:t>   (1)</a:t>
            </a:r>
            <a:r>
              <a:rPr lang="zh-CN" altLang="en-US" sz="2800" b="1" dirty="0">
                <a:latin typeface="宋体" charset="-122"/>
              </a:rPr>
              <a:t>特征值为实数；</a:t>
            </a:r>
          </a:p>
          <a:p>
            <a:pPr eaLnBrk="1" hangingPunct="1"/>
            <a:r>
              <a:rPr lang="zh-CN" altLang="en-US" sz="2800" b="1" dirty="0">
                <a:latin typeface="宋体" charset="-122"/>
              </a:rPr>
              <a:t>　 </a:t>
            </a:r>
            <a:r>
              <a:rPr lang="en-US" altLang="zh-CN" sz="2800" b="1" dirty="0">
                <a:latin typeface="宋体" charset="-122"/>
              </a:rPr>
              <a:t>(2)</a:t>
            </a:r>
            <a:r>
              <a:rPr lang="zh-CN" altLang="en-US" sz="2800" b="1" dirty="0">
                <a:latin typeface="宋体" charset="-122"/>
              </a:rPr>
              <a:t>属于不同特征值的特征向量正交；</a:t>
            </a:r>
          </a:p>
          <a:p>
            <a:pPr eaLnBrk="1" hangingPunct="1"/>
            <a:r>
              <a:rPr lang="zh-CN" altLang="en-US" sz="2800" b="1" dirty="0">
                <a:latin typeface="宋体" charset="-122"/>
              </a:rPr>
              <a:t>   </a:t>
            </a:r>
            <a:r>
              <a:rPr lang="en-US" altLang="zh-CN" sz="2800" b="1" dirty="0">
                <a:latin typeface="宋体" charset="-122"/>
              </a:rPr>
              <a:t>(3)</a:t>
            </a:r>
            <a:r>
              <a:rPr lang="zh-CN" altLang="en-US" sz="2800" b="1" dirty="0">
                <a:latin typeface="宋体" charset="-122"/>
              </a:rPr>
              <a:t>特征值的重数和与之对应的线性无关</a:t>
            </a:r>
            <a:r>
              <a:rPr lang="zh-CN" altLang="en-US" sz="2800" b="1" dirty="0" smtClean="0">
                <a:latin typeface="宋体" charset="-122"/>
              </a:rPr>
              <a:t>的特征向量</a:t>
            </a:r>
            <a:r>
              <a:rPr lang="zh-CN" altLang="en-US" sz="2800" b="1" dirty="0">
                <a:latin typeface="宋体" charset="-122"/>
              </a:rPr>
              <a:t>的个数相等；</a:t>
            </a:r>
          </a:p>
          <a:p>
            <a:pPr eaLnBrk="1" hangingPunct="1"/>
            <a:r>
              <a:rPr lang="zh-CN" altLang="en-US" sz="2800" b="1" dirty="0">
                <a:latin typeface="宋体" charset="-122"/>
              </a:rPr>
              <a:t>   </a:t>
            </a:r>
            <a:r>
              <a:rPr lang="en-US" altLang="zh-CN" sz="2800" b="1" dirty="0">
                <a:latin typeface="宋体" charset="-122"/>
              </a:rPr>
              <a:t>(4)</a:t>
            </a:r>
            <a:r>
              <a:rPr lang="zh-CN" altLang="en-US" sz="2800" b="1" dirty="0">
                <a:latin typeface="宋体" charset="-122"/>
              </a:rPr>
              <a:t>必存在正交矩阵，将其化为</a:t>
            </a:r>
            <a:r>
              <a:rPr lang="zh-CN" altLang="en-US" sz="2800" b="1" dirty="0" smtClean="0">
                <a:latin typeface="宋体" charset="-122"/>
              </a:rPr>
              <a:t>对角矩阵</a:t>
            </a:r>
            <a:r>
              <a:rPr lang="zh-CN" altLang="en-US" sz="2800" b="1" dirty="0">
                <a:latin typeface="宋体" charset="-122"/>
              </a:rPr>
              <a:t>，</a:t>
            </a:r>
            <a:r>
              <a:rPr lang="zh-CN" altLang="en-US" sz="2800" b="1" dirty="0" smtClean="0">
                <a:latin typeface="宋体" charset="-122"/>
              </a:rPr>
              <a:t>且</a:t>
            </a:r>
            <a:r>
              <a:rPr lang="zh-CN" altLang="en-US" sz="2800" b="1" dirty="0">
                <a:latin typeface="宋体" charset="-122"/>
              </a:rPr>
              <a:t>对角矩阵对角</a:t>
            </a:r>
            <a:r>
              <a:rPr lang="zh-CN" altLang="en-US" sz="2800" b="1" dirty="0" smtClean="0">
                <a:latin typeface="宋体" charset="-122"/>
              </a:rPr>
              <a:t>元素</a:t>
            </a:r>
            <a:endParaRPr lang="en-US" altLang="zh-CN" sz="2800" b="1" dirty="0" smtClean="0">
              <a:latin typeface="宋体" charset="-122"/>
            </a:endParaRPr>
          </a:p>
          <a:p>
            <a:pPr eaLnBrk="1" hangingPunct="1"/>
            <a:r>
              <a:rPr lang="zh-CN" altLang="en-US" sz="2800" b="1" dirty="0" smtClean="0">
                <a:latin typeface="宋体" charset="-122"/>
              </a:rPr>
              <a:t>即</a:t>
            </a:r>
            <a:r>
              <a:rPr lang="zh-CN" altLang="en-US" sz="2800" b="1" dirty="0">
                <a:latin typeface="宋体" charset="-122"/>
              </a:rPr>
              <a:t>为特征值．</a:t>
            </a:r>
          </a:p>
        </p:txBody>
      </p:sp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616693" y="4202837"/>
            <a:ext cx="76674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 dirty="0"/>
              <a:t>2.</a:t>
            </a:r>
            <a:r>
              <a:rPr lang="zh-CN" altLang="en-US" sz="2800" b="1" dirty="0"/>
              <a:t>　利用正交矩阵将对称阵化为对角阵的</a:t>
            </a:r>
            <a:r>
              <a:rPr lang="zh-CN" altLang="en-US" sz="2800" b="1" dirty="0">
                <a:solidFill>
                  <a:srgbClr val="FF0000"/>
                </a:solidFill>
              </a:rPr>
              <a:t>步骤</a:t>
            </a:r>
            <a:r>
              <a:rPr lang="zh-CN" altLang="en-US" sz="2800" b="1" dirty="0"/>
              <a:t>：</a:t>
            </a:r>
          </a:p>
        </p:txBody>
      </p:sp>
      <p:sp>
        <p:nvSpPr>
          <p:cNvPr id="155654" name="Text Box 6"/>
          <p:cNvSpPr txBox="1">
            <a:spLocks noChangeArrowheads="1"/>
          </p:cNvSpPr>
          <p:nvPr/>
        </p:nvSpPr>
        <p:spPr bwMode="auto">
          <a:xfrm>
            <a:off x="-4608" y="4871113"/>
            <a:ext cx="118721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/>
              <a:t>　   </a:t>
            </a:r>
            <a:r>
              <a:rPr lang="en-US" altLang="zh-CN" sz="2800" b="1" dirty="0"/>
              <a:t>(1)</a:t>
            </a:r>
            <a:r>
              <a:rPr lang="zh-CN" altLang="en-US" sz="2800" b="1" dirty="0"/>
              <a:t>求特征值；</a:t>
            </a:r>
            <a:r>
              <a:rPr lang="en-US" altLang="zh-CN" sz="2800" b="1" dirty="0"/>
              <a:t>(2)</a:t>
            </a:r>
            <a:r>
              <a:rPr lang="zh-CN" altLang="en-US" sz="2800" b="1" dirty="0"/>
              <a:t>找特征向量；</a:t>
            </a:r>
            <a:r>
              <a:rPr lang="en-US" altLang="zh-CN" sz="2800" b="1" dirty="0"/>
              <a:t>(3)</a:t>
            </a:r>
            <a:r>
              <a:rPr lang="zh-CN" altLang="en-US" sz="2800" b="1" dirty="0"/>
              <a:t>将</a:t>
            </a:r>
            <a:r>
              <a:rPr lang="zh-CN" altLang="en-US" sz="2800" b="1" dirty="0" smtClean="0"/>
              <a:t>特征向量</a:t>
            </a:r>
            <a:r>
              <a:rPr lang="zh-CN" altLang="en-US" sz="2800" b="1" dirty="0"/>
              <a:t>单位化；</a:t>
            </a:r>
            <a:r>
              <a:rPr lang="en-US" altLang="zh-CN" sz="2800" b="1" dirty="0"/>
              <a:t>(4)</a:t>
            </a:r>
            <a:r>
              <a:rPr lang="zh-CN" altLang="en-US" sz="2800" b="1" dirty="0"/>
              <a:t>最后正交化．</a:t>
            </a:r>
          </a:p>
        </p:txBody>
      </p:sp>
      <p:sp>
        <p:nvSpPr>
          <p:cNvPr id="7" name="矩形 6"/>
          <p:cNvSpPr/>
          <p:nvPr/>
        </p:nvSpPr>
        <p:spPr>
          <a:xfrm>
            <a:off x="8257209" y="458604"/>
            <a:ext cx="2610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实对称矩阵的对角化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0" grpId="0" autoUpdateAnimBg="0"/>
      <p:bldP spid="155652" grpId="0" autoUpdateAnimBg="0"/>
      <p:bldP spid="155653" grpId="0" autoUpdateAnimBg="0"/>
      <p:bldP spid="155654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344</Words>
  <Application>Microsoft Office PowerPoint</Application>
  <PresentationFormat>自定义</PresentationFormat>
  <Paragraphs>80</Paragraphs>
  <Slides>13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思考题</vt:lpstr>
      <vt:lpstr>PowerPoint 演示文稿</vt:lpstr>
      <vt:lpstr>小结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250</cp:revision>
  <dcterms:created xsi:type="dcterms:W3CDTF">2016-07-04T12:59:51Z</dcterms:created>
  <dcterms:modified xsi:type="dcterms:W3CDTF">2018-10-30T09:10:40Z</dcterms:modified>
</cp:coreProperties>
</file>
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1" r:id="rId3"/>
    <p:sldId id="272" r:id="rId4"/>
    <p:sldId id="273" r:id="rId5"/>
    <p:sldId id="274" r:id="rId6"/>
    <p:sldId id="283" r:id="rId7"/>
    <p:sldId id="275" r:id="rId8"/>
    <p:sldId id="276" r:id="rId9"/>
    <p:sldId id="277" r:id="rId10"/>
    <p:sldId id="284" r:id="rId11"/>
    <p:sldId id="286" r:id="rId12"/>
    <p:sldId id="289" r:id="rId13"/>
    <p:sldId id="290" r:id="rId14"/>
    <p:sldId id="288" r:id="rId15"/>
    <p:sldId id="278" r:id="rId16"/>
    <p:sldId id="279" r:id="rId17"/>
    <p:sldId id="285" r:id="rId18"/>
    <p:sldId id="293" r:id="rId19"/>
    <p:sldId id="297" r:id="rId2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8C"/>
    <a:srgbClr val="C48170"/>
    <a:srgbClr val="0070C0"/>
    <a:srgbClr val="9DC3E6"/>
    <a:srgbClr val="2E75B6"/>
    <a:srgbClr val="1F4E79"/>
    <a:srgbClr val="FFFFFF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-120" y="-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12" Type="http://schemas.openxmlformats.org/officeDocument/2006/relationships/image" Target="../media/image21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5" Type="http://schemas.openxmlformats.org/officeDocument/2006/relationships/image" Target="../media/image1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4.wmf"/><Relationship Id="rId7" Type="http://schemas.openxmlformats.org/officeDocument/2006/relationships/image" Target="../media/image2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14.wmf"/><Relationship Id="rId11" Type="http://schemas.openxmlformats.org/officeDocument/2006/relationships/image" Target="../media/image31.wmf"/><Relationship Id="rId5" Type="http://schemas.openxmlformats.org/officeDocument/2006/relationships/image" Target="../media/image26.wmf"/><Relationship Id="rId10" Type="http://schemas.openxmlformats.org/officeDocument/2006/relationships/image" Target="../media/image30.wmf"/><Relationship Id="rId4" Type="http://schemas.openxmlformats.org/officeDocument/2006/relationships/image" Target="../media/image25.wmf"/><Relationship Id="rId9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image" Target="../media/image102.emf"/><Relationship Id="rId3" Type="http://schemas.openxmlformats.org/officeDocument/2006/relationships/image" Target="../media/image92.emf"/><Relationship Id="rId7" Type="http://schemas.openxmlformats.org/officeDocument/2006/relationships/image" Target="../media/image96.wmf"/><Relationship Id="rId12" Type="http://schemas.openxmlformats.org/officeDocument/2006/relationships/image" Target="../media/image101.wmf"/><Relationship Id="rId2" Type="http://schemas.openxmlformats.org/officeDocument/2006/relationships/image" Target="../media/image91.emf"/><Relationship Id="rId16" Type="http://schemas.openxmlformats.org/officeDocument/2006/relationships/image" Target="../media/image105.emf"/><Relationship Id="rId1" Type="http://schemas.openxmlformats.org/officeDocument/2006/relationships/image" Target="../media/image90.emf"/><Relationship Id="rId6" Type="http://schemas.openxmlformats.org/officeDocument/2006/relationships/image" Target="../media/image95.wmf"/><Relationship Id="rId11" Type="http://schemas.openxmlformats.org/officeDocument/2006/relationships/image" Target="../media/image100.emf"/><Relationship Id="rId5" Type="http://schemas.openxmlformats.org/officeDocument/2006/relationships/image" Target="../media/image94.wmf"/><Relationship Id="rId15" Type="http://schemas.openxmlformats.org/officeDocument/2006/relationships/image" Target="../media/image104.wmf"/><Relationship Id="rId10" Type="http://schemas.openxmlformats.org/officeDocument/2006/relationships/image" Target="../media/image99.wmf"/><Relationship Id="rId4" Type="http://schemas.openxmlformats.org/officeDocument/2006/relationships/image" Target="../media/image93.emf"/><Relationship Id="rId9" Type="http://schemas.openxmlformats.org/officeDocument/2006/relationships/image" Target="../media/image98.emf"/><Relationship Id="rId14" Type="http://schemas.openxmlformats.org/officeDocument/2006/relationships/image" Target="../media/image10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1F9BE-1162-49C0-8FC4-382DF85D8AD9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29439-03D2-46E6-B072-CCC18BC67D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3"/>
          <p:cNvGrpSpPr>
            <a:grpSpLocks/>
          </p:cNvGrpSpPr>
          <p:nvPr userDrawn="1"/>
        </p:nvGrpSpPr>
        <p:grpSpPr bwMode="auto">
          <a:xfrm>
            <a:off x="525463" y="915988"/>
            <a:ext cx="11133137" cy="139700"/>
            <a:chOff x="478302" y="1098594"/>
            <a:chExt cx="11133406" cy="140677"/>
          </a:xfrm>
        </p:grpSpPr>
        <p:cxnSp>
          <p:nvCxnSpPr>
            <p:cNvPr id="5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12"/>
            <p:cNvSpPr/>
            <p:nvPr userDrawn="1"/>
          </p:nvSpPr>
          <p:spPr>
            <a:xfrm>
              <a:off x="478302" y="1098594"/>
              <a:ext cx="6386666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7" name="Picture 2" descr="top_img[1]"/>
          <p:cNvPicPr>
            <a:picLocks noChangeAspect="1" noChangeArrowheads="1"/>
          </p:cNvPicPr>
          <p:nvPr userDrawn="1"/>
        </p:nvPicPr>
        <p:blipFill>
          <a:blip r:embed="rId2"/>
          <a:srcRect r="24306"/>
          <a:stretch>
            <a:fillRect/>
          </a:stretch>
        </p:blipFill>
        <p:spPr bwMode="auto">
          <a:xfrm>
            <a:off x="525463" y="0"/>
            <a:ext cx="3649662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A2BBB-26FA-44F6-96F2-3D2A9277A738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D3B49-882F-42C7-852A-649298540A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6ADE-591F-470F-840E-C1A5502D3982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2E519-09C7-4B94-BF1E-6CCDE733DC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84733-4ACC-484B-8BA2-A4EDCB025619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3C5DF-5FF5-4506-B415-444FAF6A68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9C095-2DD9-4F5B-A30B-AF8D51983E72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A51DF-147F-4E53-B8AE-12CE2D74AA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7202A-D1AE-4EE1-9571-7F736794CB1B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D7FFF-8F2A-4CA1-A19F-C360841BC8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FEAD9-A21F-4AEE-A65D-117D710A3398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FC4E-0BD9-40C7-8CF4-803BBDDD0A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FF1CA-28BA-4B06-B91A-31AA38013BDA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59318-7B01-458D-A584-FEE31E1502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35E30-BDA0-4FD4-9565-4EE0C879E048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DAAF1-9036-4AFA-ACF6-14A255E2A5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A56C3-57C1-49F3-9D40-EF1E9A48245E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D3BDB-64AC-494D-9D29-CC5569E187E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993DF-592C-479B-AE78-3F813C615AD3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61FA3-79ED-4D4D-BE2F-E00A31523B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/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/>
        </p:spPr>
      </p:pic>
      <p:grpSp>
        <p:nvGrpSpPr>
          <p:cNvPr id="3" name="组合 6"/>
          <p:cNvGrpSpPr>
            <a:grpSpLocks/>
          </p:cNvGrpSpPr>
          <p:nvPr userDrawn="1"/>
        </p:nvGrpSpPr>
        <p:grpSpPr bwMode="auto">
          <a:xfrm>
            <a:off x="11113" y="2181225"/>
            <a:ext cx="12192000" cy="2690813"/>
            <a:chOff x="0" y="1966958"/>
            <a:chExt cx="12192000" cy="2690766"/>
          </a:xfrm>
        </p:grpSpPr>
        <p:sp>
          <p:nvSpPr>
            <p:cNvPr id="4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5" name="图片 17" descr="4校标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直接连接符 9"/>
            <p:cNvCxnSpPr/>
            <p:nvPr userDrawn="1"/>
          </p:nvCxnSpPr>
          <p:spPr>
            <a:xfrm>
              <a:off x="3016250" y="3182962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779713" y="2547938"/>
            <a:ext cx="9652000" cy="7207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第四章 矩阵相似对角化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8" name="文本框 32"/>
          <p:cNvSpPr txBox="1">
            <a:spLocks noChangeArrowheads="1"/>
          </p:cNvSpPr>
          <p:nvPr userDrawn="1"/>
        </p:nvSpPr>
        <p:spPr bwMode="auto">
          <a:xfrm>
            <a:off x="2333625" y="3527425"/>
            <a:ext cx="9652000" cy="60166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4.1.2  </a:t>
            </a:r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欧式空间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871CC-1BB3-4EA2-8789-06AD1D2A7E7B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9B104-2E3B-4E4D-928C-94224D9561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9EB2A7A-0601-4E3F-B461-8712CB400087}" type="datetimeFigureOut">
              <a:rPr lang="zh-CN" altLang="en-US"/>
              <a:pPr>
                <a:defRPr/>
              </a:pPr>
              <a:t>2018/4/10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FBBA8D0-08D1-47F3-8C78-2FE064F745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7.wmf"/><Relationship Id="rId26" Type="http://schemas.openxmlformats.org/officeDocument/2006/relationships/image" Target="../media/image21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20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1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14.wmf"/><Relationship Id="rId22" Type="http://schemas.openxmlformats.org/officeDocument/2006/relationships/image" Target="../media/image3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5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4.bin"/><Relationship Id="rId10" Type="http://schemas.openxmlformats.org/officeDocument/2006/relationships/oleObject" Target="../embeddings/oleObject57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2.wmf"/><Relationship Id="rId18" Type="http://schemas.openxmlformats.org/officeDocument/2006/relationships/oleObject" Target="../embeddings/oleObject77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6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image" Target="../media/image71.wmf"/><Relationship Id="rId5" Type="http://schemas.openxmlformats.org/officeDocument/2006/relationships/oleObject" Target="../embeddings/oleObject70.bin"/><Relationship Id="rId15" Type="http://schemas.openxmlformats.org/officeDocument/2006/relationships/image" Target="../media/image73.w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75.wmf"/><Relationship Id="rId4" Type="http://schemas.openxmlformats.org/officeDocument/2006/relationships/image" Target="../media/image68.wmf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7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97.emf"/><Relationship Id="rId26" Type="http://schemas.openxmlformats.org/officeDocument/2006/relationships/image" Target="../media/image101.wmf"/><Relationship Id="rId3" Type="http://schemas.openxmlformats.org/officeDocument/2006/relationships/oleObject" Target="../embeddings/oleObject92.bin"/><Relationship Id="rId21" Type="http://schemas.openxmlformats.org/officeDocument/2006/relationships/oleObject" Target="../embeddings/oleObject101.bin"/><Relationship Id="rId34" Type="http://schemas.openxmlformats.org/officeDocument/2006/relationships/image" Target="../media/image105.emf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99.bin"/><Relationship Id="rId25" Type="http://schemas.openxmlformats.org/officeDocument/2006/relationships/oleObject" Target="../embeddings/oleObject103.bin"/><Relationship Id="rId33" Type="http://schemas.openxmlformats.org/officeDocument/2006/relationships/oleObject" Target="../embeddings/oleObject10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6.wmf"/><Relationship Id="rId20" Type="http://schemas.openxmlformats.org/officeDocument/2006/relationships/image" Target="../media/image98.emf"/><Relationship Id="rId29" Type="http://schemas.openxmlformats.org/officeDocument/2006/relationships/oleObject" Target="../embeddings/oleObject105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100.emf"/><Relationship Id="rId32" Type="http://schemas.openxmlformats.org/officeDocument/2006/relationships/image" Target="../media/image104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2.bin"/><Relationship Id="rId28" Type="http://schemas.openxmlformats.org/officeDocument/2006/relationships/image" Target="../media/image102.emf"/><Relationship Id="rId10" Type="http://schemas.openxmlformats.org/officeDocument/2006/relationships/image" Target="../media/image93.emf"/><Relationship Id="rId19" Type="http://schemas.openxmlformats.org/officeDocument/2006/relationships/oleObject" Target="../embeddings/oleObject100.bin"/><Relationship Id="rId31" Type="http://schemas.openxmlformats.org/officeDocument/2006/relationships/oleObject" Target="../embeddings/oleObject106.bin"/><Relationship Id="rId4" Type="http://schemas.openxmlformats.org/officeDocument/2006/relationships/image" Target="../media/image90.e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5.wmf"/><Relationship Id="rId22" Type="http://schemas.openxmlformats.org/officeDocument/2006/relationships/image" Target="../media/image99.wmf"/><Relationship Id="rId27" Type="http://schemas.openxmlformats.org/officeDocument/2006/relationships/oleObject" Target="../embeddings/oleObject104.bin"/><Relationship Id="rId30" Type="http://schemas.openxmlformats.org/officeDocument/2006/relationships/image" Target="../media/image10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09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1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1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30.bin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0" Type="http://schemas.openxmlformats.org/officeDocument/2006/relationships/image" Target="../media/image126.wmf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2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3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5" y="1148253"/>
            <a:ext cx="1745024" cy="696036"/>
            <a:chOff x="745588" y="1310185"/>
            <a:chExt cx="18006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向量的内积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4" y="196147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1979613" y="1450975"/>
            <a:ext cx="5678487" cy="1746250"/>
            <a:chOff x="1978926" y="1450975"/>
            <a:chExt cx="5679744" cy="1746250"/>
          </a:xfrm>
        </p:grpSpPr>
        <p:sp>
          <p:nvSpPr>
            <p:cNvPr id="21802" name="文本框 7"/>
            <p:cNvSpPr txBox="1">
              <a:spLocks noChangeArrowheads="1"/>
            </p:cNvSpPr>
            <p:nvPr/>
          </p:nvSpPr>
          <p:spPr bwMode="auto">
            <a:xfrm>
              <a:off x="1978926" y="2071139"/>
              <a:ext cx="567974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设  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中任意两个向量</a:t>
              </a:r>
            </a:p>
          </p:txBody>
        </p:sp>
        <p:graphicFrame>
          <p:nvGraphicFramePr>
            <p:cNvPr id="21784" name="Object 280"/>
            <p:cNvGraphicFramePr>
              <a:graphicFrameLocks noChangeAspect="1"/>
            </p:cNvGraphicFramePr>
            <p:nvPr/>
          </p:nvGraphicFramePr>
          <p:xfrm>
            <a:off x="2414694" y="2108449"/>
            <a:ext cx="377825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80" name="Equation" r:id="rId3" imgW="203040" imgH="190440" progId="Equation.DSMT4">
                    <p:embed/>
                  </p:oleObj>
                </mc:Choice>
                <mc:Fallback>
                  <p:oleObj name="Equation" r:id="rId3" imgW="203040" imgH="190440" progId="Equation.DSMT4">
                    <p:embed/>
                    <p:pic>
                      <p:nvPicPr>
                        <p:cNvPr id="0" name="Picture 2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4694" y="2108449"/>
                          <a:ext cx="377825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785" name="Object 281"/>
            <p:cNvGraphicFramePr>
              <a:graphicFrameLocks noChangeAspect="1"/>
            </p:cNvGraphicFramePr>
            <p:nvPr/>
          </p:nvGraphicFramePr>
          <p:xfrm>
            <a:off x="5133975" y="1450975"/>
            <a:ext cx="2312988" cy="174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81" name="Equation" r:id="rId5" imgW="1244520" imgH="939600" progId="Equation.DSMT4">
                    <p:embed/>
                  </p:oleObj>
                </mc:Choice>
                <mc:Fallback>
                  <p:oleObj name="Equation" r:id="rId5" imgW="1244520" imgH="939600" progId="Equation.DSMT4">
                    <p:embed/>
                    <p:pic>
                      <p:nvPicPr>
                        <p:cNvPr id="0" name="Picture 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3975" y="1450975"/>
                          <a:ext cx="2312988" cy="1746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7658100" y="1984375"/>
            <a:ext cx="3116263" cy="477838"/>
            <a:chOff x="7658669" y="1984790"/>
            <a:chExt cx="3115670" cy="477672"/>
          </a:xfrm>
        </p:grpSpPr>
        <p:sp>
          <p:nvSpPr>
            <p:cNvPr id="21801" name="文本框 14"/>
            <p:cNvSpPr txBox="1">
              <a:spLocks noChangeArrowheads="1"/>
            </p:cNvSpPr>
            <p:nvPr/>
          </p:nvSpPr>
          <p:spPr bwMode="auto">
            <a:xfrm>
              <a:off x="7658669" y="1984790"/>
              <a:ext cx="1021307" cy="47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称数     </a:t>
              </a:r>
            </a:p>
          </p:txBody>
        </p:sp>
        <p:graphicFrame>
          <p:nvGraphicFramePr>
            <p:cNvPr id="21786" name="Object 282"/>
            <p:cNvGraphicFramePr>
              <a:graphicFrameLocks noChangeAspect="1"/>
            </p:cNvGraphicFramePr>
            <p:nvPr/>
          </p:nvGraphicFramePr>
          <p:xfrm>
            <a:off x="8412139" y="2011694"/>
            <a:ext cx="2362200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82" name="Equation" r:id="rId7" imgW="1269720" imgH="228600" progId="Equation.DSMT4">
                    <p:embed/>
                  </p:oleObj>
                </mc:Choice>
                <mc:Fallback>
                  <p:oleObj name="Equation" r:id="rId7" imgW="1269720" imgH="228600" progId="Equation.DSMT4">
                    <p:embed/>
                    <p:pic>
                      <p:nvPicPr>
                        <p:cNvPr id="0" name="Picture 2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2139" y="2011694"/>
                          <a:ext cx="2362200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653256" y="3357563"/>
            <a:ext cx="2652713" cy="457200"/>
            <a:chOff x="551484" y="3357349"/>
            <a:chExt cx="2241035" cy="456906"/>
          </a:xfrm>
        </p:grpSpPr>
        <p:sp>
          <p:nvSpPr>
            <p:cNvPr id="21800" name="文本框 1"/>
            <p:cNvSpPr txBox="1">
              <a:spLocks noChangeArrowheads="1"/>
            </p:cNvSpPr>
            <p:nvPr/>
          </p:nvSpPr>
          <p:spPr bwMode="auto">
            <a:xfrm>
              <a:off x="551484" y="3357349"/>
              <a:ext cx="2241035" cy="456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为          的内积，</a:t>
              </a:r>
            </a:p>
          </p:txBody>
        </p:sp>
        <p:graphicFrame>
          <p:nvGraphicFramePr>
            <p:cNvPr id="21787" name="Object 283"/>
            <p:cNvGraphicFramePr>
              <a:graphicFrameLocks noChangeAspect="1"/>
            </p:cNvGraphicFramePr>
            <p:nvPr/>
          </p:nvGraphicFramePr>
          <p:xfrm>
            <a:off x="999564" y="3399268"/>
            <a:ext cx="59055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83" name="Equation" r:id="rId9" imgW="317160" imgH="203040" progId="Equation.DSMT4">
                    <p:embed/>
                  </p:oleObj>
                </mc:Choice>
                <mc:Fallback>
                  <p:oleObj name="Equation" r:id="rId9" imgW="317160" imgH="203040" progId="Equation.DSMT4">
                    <p:embed/>
                    <p:pic>
                      <p:nvPicPr>
                        <p:cNvPr id="0" name="Picture 2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564" y="3399268"/>
                          <a:ext cx="59055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3305969" y="3341688"/>
            <a:ext cx="1833562" cy="473075"/>
            <a:chOff x="2792519" y="3351213"/>
            <a:chExt cx="1834072" cy="473075"/>
          </a:xfrm>
        </p:grpSpPr>
        <p:sp>
          <p:nvSpPr>
            <p:cNvPr id="21799" name="文本框 2"/>
            <p:cNvSpPr txBox="1">
              <a:spLocks noChangeArrowheads="1"/>
            </p:cNvSpPr>
            <p:nvPr/>
          </p:nvSpPr>
          <p:spPr bwMode="auto">
            <a:xfrm>
              <a:off x="2792519" y="3357563"/>
              <a:ext cx="183407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记作</a:t>
              </a:r>
            </a:p>
          </p:txBody>
        </p:sp>
        <p:graphicFrame>
          <p:nvGraphicFramePr>
            <p:cNvPr id="21788" name="Object 284"/>
            <p:cNvGraphicFramePr>
              <a:graphicFrameLocks noChangeAspect="1"/>
            </p:cNvGraphicFramePr>
            <p:nvPr/>
          </p:nvGraphicFramePr>
          <p:xfrm>
            <a:off x="3557588" y="3351213"/>
            <a:ext cx="8731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84" name="Equation" r:id="rId11" imgW="469800" imgH="253800" progId="Equation.DSMT4">
                    <p:embed/>
                  </p:oleObj>
                </mc:Choice>
                <mc:Fallback>
                  <p:oleObj name="Equation" r:id="rId11" imgW="469800" imgH="253800" progId="Equation.DSMT4">
                    <p:embed/>
                    <p:pic>
                      <p:nvPicPr>
                        <p:cNvPr id="0" name="Picture 2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7588" y="3351213"/>
                          <a:ext cx="873125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12"/>
          <p:cNvGrpSpPr/>
          <p:nvPr/>
        </p:nvGrpSpPr>
        <p:grpSpPr>
          <a:xfrm>
            <a:off x="2736425" y="4234482"/>
            <a:ext cx="5432425" cy="833437"/>
            <a:chOff x="1719618" y="4512686"/>
            <a:chExt cx="5431810" cy="8330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圆角矩形 40"/>
            <p:cNvSpPr/>
            <p:nvPr/>
          </p:nvSpPr>
          <p:spPr>
            <a:xfrm>
              <a:off x="1719618" y="4512686"/>
              <a:ext cx="5431810" cy="833038"/>
            </a:xfrm>
            <a:prstGeom prst="roundRect">
              <a:avLst/>
            </a:prstGeom>
            <a:solidFill>
              <a:schemeClr val="bg2"/>
            </a:solidFill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aphicFrame>
          <p:nvGraphicFramePr>
            <p:cNvPr id="21789" name="Object 2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4996909"/>
                </p:ext>
              </p:extLst>
            </p:nvPr>
          </p:nvGraphicFramePr>
          <p:xfrm>
            <a:off x="1903413" y="4692650"/>
            <a:ext cx="49561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85" name="Equation" r:id="rId13" imgW="2666880" imgH="253800" progId="Equation.DSMT4">
                    <p:embed/>
                  </p:oleObj>
                </mc:Choice>
                <mc:Fallback>
                  <p:oleObj name="Equation" r:id="rId13" imgW="2666880" imgH="253800" progId="Equation.DSMT4">
                    <p:embed/>
                    <p:pic>
                      <p:nvPicPr>
                        <p:cNvPr id="0" name="Picture 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3413" y="4692650"/>
                          <a:ext cx="4956175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20505" y="1148253"/>
            <a:ext cx="1745024" cy="696036"/>
            <a:chOff x="745588" y="1310185"/>
            <a:chExt cx="18006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向量的内积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0505" y="205819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 质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1" name="Object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77839"/>
              </p:ext>
            </p:extLst>
          </p:nvPr>
        </p:nvGraphicFramePr>
        <p:xfrm>
          <a:off x="2049649" y="2058194"/>
          <a:ext cx="21717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5" name="Equation" r:id="rId3" imgW="1168200" imgH="253800" progId="Equation.DSMT4">
                  <p:embed/>
                </p:oleObj>
              </mc:Choice>
              <mc:Fallback>
                <p:oleObj name="Equation" r:id="rId3" imgW="1168200" imgH="253800" progId="Equation.DSMT4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649" y="2058194"/>
                        <a:ext cx="21717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72219"/>
              </p:ext>
            </p:extLst>
          </p:nvPr>
        </p:nvGraphicFramePr>
        <p:xfrm>
          <a:off x="1985169" y="2565378"/>
          <a:ext cx="25971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6" name="Equation" r:id="rId5" imgW="1396800" imgH="253800" progId="Equation.DSMT4">
                  <p:embed/>
                </p:oleObj>
              </mc:Choice>
              <mc:Fallback>
                <p:oleObj name="Equation" r:id="rId5" imgW="1396800" imgH="253800" progId="Equation.DSMT4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169" y="2565378"/>
                        <a:ext cx="259715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79634"/>
              </p:ext>
            </p:extLst>
          </p:nvPr>
        </p:nvGraphicFramePr>
        <p:xfrm>
          <a:off x="4790932" y="2603403"/>
          <a:ext cx="31384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7" name="Equation" r:id="rId7" imgW="1688760" imgH="253800" progId="Equation.DSMT4">
                  <p:embed/>
                </p:oleObj>
              </mc:Choice>
              <mc:Fallback>
                <p:oleObj name="Equation" r:id="rId7" imgW="1688760" imgH="25380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0932" y="2603403"/>
                        <a:ext cx="3138487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290944"/>
              </p:ext>
            </p:extLst>
          </p:nvPr>
        </p:nvGraphicFramePr>
        <p:xfrm>
          <a:off x="1954708" y="3096539"/>
          <a:ext cx="16271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8" name="Equation" r:id="rId9" imgW="876240" imgH="253800" progId="Equation.DSMT4">
                  <p:embed/>
                </p:oleObj>
              </mc:Choice>
              <mc:Fallback>
                <p:oleObj name="Equation" r:id="rId9" imgW="876240" imgH="253800" progId="Equation.DSMT4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708" y="3096539"/>
                        <a:ext cx="1627187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3771898" y="3038453"/>
            <a:ext cx="4803775" cy="514990"/>
            <a:chOff x="3971498" y="3607254"/>
            <a:chExt cx="4804011" cy="514990"/>
          </a:xfrm>
        </p:grpSpPr>
        <p:sp>
          <p:nvSpPr>
            <p:cNvPr id="24746" name="文本框 16"/>
            <p:cNvSpPr txBox="1">
              <a:spLocks noChangeArrowheads="1"/>
            </p:cNvSpPr>
            <p:nvPr/>
          </p:nvSpPr>
          <p:spPr bwMode="auto">
            <a:xfrm>
              <a:off x="3971498" y="3649169"/>
              <a:ext cx="4804011" cy="47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当且仅当        时，</a:t>
              </a:r>
            </a:p>
          </p:txBody>
        </p:sp>
        <p:graphicFrame>
          <p:nvGraphicFramePr>
            <p:cNvPr id="24732" name="Object 1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7336462"/>
                </p:ext>
              </p:extLst>
            </p:nvPr>
          </p:nvGraphicFramePr>
          <p:xfrm>
            <a:off x="5331580" y="3720606"/>
            <a:ext cx="706438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69" name="Equation" r:id="rId11" imgW="380880" imgH="177480" progId="Equation.DSMT4">
                    <p:embed/>
                  </p:oleObj>
                </mc:Choice>
                <mc:Fallback>
                  <p:oleObj name="Equation" r:id="rId11" imgW="380880" imgH="177480" progId="Equation.DSMT4">
                    <p:embed/>
                    <p:pic>
                      <p:nvPicPr>
                        <p:cNvPr id="0" name="Picture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1580" y="3720606"/>
                          <a:ext cx="706438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733" name="Object 1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345195"/>
                </p:ext>
              </p:extLst>
            </p:nvPr>
          </p:nvGraphicFramePr>
          <p:xfrm>
            <a:off x="6595247" y="3607254"/>
            <a:ext cx="12731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0" name="Equation" r:id="rId13" imgW="685800" imgH="253800" progId="Equation.DSMT4">
                    <p:embed/>
                  </p:oleObj>
                </mc:Choice>
                <mc:Fallback>
                  <p:oleObj name="Equation" r:id="rId13" imgW="685800" imgH="253800" progId="Equation.DSMT4">
                    <p:embed/>
                    <p:pic>
                      <p:nvPicPr>
                        <p:cNvPr id="0" name="Picture 1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5247" y="3607254"/>
                          <a:ext cx="1273175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7"/>
          <p:cNvGrpSpPr/>
          <p:nvPr/>
        </p:nvGrpSpPr>
        <p:grpSpPr>
          <a:xfrm>
            <a:off x="8189054" y="1095353"/>
            <a:ext cx="3346449" cy="2606675"/>
            <a:chOff x="8635652" y="1376615"/>
            <a:chExt cx="3347035" cy="26067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741" name="组合 24"/>
            <p:cNvGrpSpPr>
              <a:grpSpLocks/>
            </p:cNvGrpSpPr>
            <p:nvPr/>
          </p:nvGrpSpPr>
          <p:grpSpPr bwMode="auto">
            <a:xfrm>
              <a:off x="8635652" y="1376615"/>
              <a:ext cx="3154914" cy="2606723"/>
              <a:chOff x="8805563" y="1589470"/>
              <a:chExt cx="3154914" cy="2606723"/>
            </a:xfrm>
          </p:grpSpPr>
          <p:grpSp>
            <p:nvGrpSpPr>
              <p:cNvPr id="24743" name="组合 20"/>
              <p:cNvGrpSpPr>
                <a:grpSpLocks/>
              </p:cNvGrpSpPr>
              <p:nvPr/>
            </p:nvGrpSpPr>
            <p:grpSpPr bwMode="auto">
              <a:xfrm>
                <a:off x="8805563" y="1589470"/>
                <a:ext cx="3154914" cy="2606723"/>
                <a:chOff x="8109527" y="539853"/>
                <a:chExt cx="3154914" cy="2606723"/>
              </a:xfrm>
            </p:grpSpPr>
            <p:sp>
              <p:nvSpPr>
                <p:cNvPr id="22" name="圆角矩形 21"/>
                <p:cNvSpPr/>
                <p:nvPr/>
              </p:nvSpPr>
              <p:spPr>
                <a:xfrm>
                  <a:off x="8109527" y="539853"/>
                  <a:ext cx="3154914" cy="2606723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graphicFrame>
              <p:nvGraphicFramePr>
                <p:cNvPr id="24734" name="Object 158"/>
                <p:cNvGraphicFramePr>
                  <a:graphicFrameLocks noChangeAspect="1"/>
                </p:cNvGraphicFramePr>
                <p:nvPr/>
              </p:nvGraphicFramePr>
              <p:xfrm>
                <a:off x="8301803" y="1258874"/>
                <a:ext cx="2643188" cy="5207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71" name="Equation" r:id="rId15" imgW="1422360" imgH="279360" progId="Equation.DSMT4">
                        <p:embed/>
                      </p:oleObj>
                    </mc:Choice>
                    <mc:Fallback>
                      <p:oleObj name="Equation" r:id="rId15" imgW="1422360" imgH="279360" progId="Equation.DSMT4">
                        <p:embed/>
                        <p:pic>
                          <p:nvPicPr>
                            <p:cNvPr id="0" name="Picture 1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301803" y="1258874"/>
                              <a:ext cx="2643188" cy="5207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4744" name="文本框 23"/>
              <p:cNvSpPr txBox="1">
                <a:spLocks noChangeArrowheads="1"/>
              </p:cNvSpPr>
              <p:nvPr/>
            </p:nvSpPr>
            <p:spPr bwMode="auto">
              <a:xfrm>
                <a:off x="8957983" y="1737110"/>
                <a:ext cx="3002369" cy="4572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柯西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-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施瓦兹不等式：</a:t>
                </a:r>
              </a:p>
            </p:txBody>
          </p:sp>
        </p:grpSp>
        <p:sp>
          <p:nvSpPr>
            <p:cNvPr id="24742" name="文本框 25"/>
            <p:cNvSpPr txBox="1">
              <a:spLocks noChangeArrowheads="1"/>
            </p:cNvSpPr>
            <p:nvPr/>
          </p:nvSpPr>
          <p:spPr bwMode="auto">
            <a:xfrm>
              <a:off x="8826184" y="2726015"/>
              <a:ext cx="3156503" cy="1187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当且仅当        相关，</a:t>
              </a:r>
              <a:endPara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“</a:t>
              </a:r>
              <a:r>
                <a:rPr lang="en-US" altLang="zh-CN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=</a:t>
              </a:r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”成立</a:t>
              </a:r>
            </a:p>
          </p:txBody>
        </p:sp>
        <p:graphicFrame>
          <p:nvGraphicFramePr>
            <p:cNvPr id="24735" name="Object 159"/>
            <p:cNvGraphicFramePr>
              <a:graphicFrameLocks noChangeAspect="1"/>
            </p:cNvGraphicFramePr>
            <p:nvPr/>
          </p:nvGraphicFramePr>
          <p:xfrm>
            <a:off x="10225516" y="2901474"/>
            <a:ext cx="59055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2" name="Equation" r:id="rId17" imgW="317160" imgH="203040" progId="Equation.DSMT4">
                    <p:embed/>
                  </p:oleObj>
                </mc:Choice>
                <mc:Fallback>
                  <p:oleObj name="Equation" r:id="rId17" imgW="317160" imgH="203040" progId="Equation.DSMT4">
                    <p:embed/>
                    <p:pic>
                      <p:nvPicPr>
                        <p:cNvPr id="0" name="Picture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5516" y="2901474"/>
                          <a:ext cx="59055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  <p:grpSp>
        <p:nvGrpSpPr>
          <p:cNvPr id="27" name="组合 1"/>
          <p:cNvGrpSpPr>
            <a:grpSpLocks/>
          </p:cNvGrpSpPr>
          <p:nvPr/>
        </p:nvGrpSpPr>
        <p:grpSpPr bwMode="auto">
          <a:xfrm>
            <a:off x="520505" y="3632178"/>
            <a:ext cx="9186862" cy="1171575"/>
            <a:chOff x="582613" y="1049595"/>
            <a:chExt cx="6890599" cy="1171005"/>
          </a:xfrm>
        </p:grpSpPr>
        <p:sp>
          <p:nvSpPr>
            <p:cNvPr id="28" name="Text Box 2"/>
            <p:cNvSpPr txBox="1">
              <a:spLocks noChangeArrowheads="1"/>
            </p:cNvSpPr>
            <p:nvPr/>
          </p:nvSpPr>
          <p:spPr bwMode="auto">
            <a:xfrm>
              <a:off x="582613" y="1360595"/>
              <a:ext cx="6890599" cy="549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2"/>
                  </a:solidFill>
                  <a:latin typeface="Verdana" pitchFamily="34" charset="0"/>
                </a:rPr>
                <a:t>例</a:t>
              </a:r>
              <a:r>
                <a:rPr lang="en-US" altLang="zh-CN" sz="2000" b="1" dirty="0">
                  <a:solidFill>
                    <a:schemeClr val="accent2"/>
                  </a:solidFill>
                  <a:latin typeface="Verdana" pitchFamily="34" charset="0"/>
                </a:rPr>
                <a:t>1  </a:t>
              </a:r>
              <a:r>
                <a:rPr lang="zh-CN" altLang="en-US" sz="2000" b="1" dirty="0">
                  <a:latin typeface="Verdana" pitchFamily="34" charset="0"/>
                </a:rPr>
                <a:t>已知                                 </a:t>
              </a:r>
              <a:r>
                <a:rPr lang="zh-CN" altLang="en-US" sz="2000" b="1" dirty="0" smtClean="0">
                  <a:latin typeface="Verdana" pitchFamily="34" charset="0"/>
                </a:rPr>
                <a:t>，</a:t>
              </a:r>
              <a:r>
                <a:rPr lang="zh-CN" altLang="en-US" sz="2000" b="1" dirty="0">
                  <a:latin typeface="Verdana" pitchFamily="34" charset="0"/>
                </a:rPr>
                <a:t>求</a:t>
              </a:r>
            </a:p>
          </p:txBody>
        </p:sp>
        <p:graphicFrame>
          <p:nvGraphicFramePr>
            <p:cNvPr id="2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6072789"/>
                </p:ext>
              </p:extLst>
            </p:nvPr>
          </p:nvGraphicFramePr>
          <p:xfrm>
            <a:off x="1570486" y="1049595"/>
            <a:ext cx="2035272" cy="11710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3" name="Equation" r:id="rId19" imgW="1244520" imgH="711000" progId="Equation.DSMT4">
                    <p:embed/>
                  </p:oleObj>
                </mc:Choice>
                <mc:Fallback>
                  <p:oleObj name="Equation" r:id="rId19" imgW="124452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0486" y="1049595"/>
                          <a:ext cx="2035272" cy="11710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8279453"/>
                </p:ext>
              </p:extLst>
            </p:nvPr>
          </p:nvGraphicFramePr>
          <p:xfrm>
            <a:off x="4080899" y="1427237"/>
            <a:ext cx="2638598" cy="415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4" name="Equation" r:id="rId21" imgW="1612800" imgH="253800" progId="Equation.DSMT4">
                    <p:embed/>
                  </p:oleObj>
                </mc:Choice>
                <mc:Fallback>
                  <p:oleObj name="Equation" r:id="rId21" imgW="1612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899" y="1427237"/>
                          <a:ext cx="2638598" cy="4157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551485" y="4842061"/>
            <a:ext cx="5456285" cy="706438"/>
            <a:chOff x="533400" y="1120564"/>
            <a:chExt cx="4384290" cy="706437"/>
          </a:xfrm>
        </p:grpSpPr>
        <p:sp>
          <p:nvSpPr>
            <p:cNvPr id="32" name="Text Box 3"/>
            <p:cNvSpPr txBox="1">
              <a:spLocks noChangeArrowheads="1"/>
            </p:cNvSpPr>
            <p:nvPr/>
          </p:nvSpPr>
          <p:spPr bwMode="auto">
            <a:xfrm>
              <a:off x="533400" y="1120564"/>
              <a:ext cx="955428" cy="70643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解：</a:t>
              </a:r>
            </a:p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3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2242326"/>
                </p:ext>
              </p:extLst>
            </p:nvPr>
          </p:nvGraphicFramePr>
          <p:xfrm>
            <a:off x="1209596" y="1120564"/>
            <a:ext cx="3708094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5" name="Equation" r:id="rId23" imgW="2171520" imgH="253800" progId="Equation.DSMT4">
                    <p:embed/>
                  </p:oleObj>
                </mc:Choice>
                <mc:Fallback>
                  <p:oleObj name="Equation" r:id="rId23" imgW="21715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9596" y="1120564"/>
                          <a:ext cx="3708094" cy="436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084812"/>
              </p:ext>
            </p:extLst>
          </p:nvPr>
        </p:nvGraphicFramePr>
        <p:xfrm>
          <a:off x="1242023" y="5370554"/>
          <a:ext cx="774382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6" name="Equation" r:id="rId25" imgW="3644900" imgH="711200" progId="Equation.DSMT4">
                  <p:embed/>
                </p:oleObj>
              </mc:Choice>
              <mc:Fallback>
                <p:oleObj name="Equation" r:id="rId25" imgW="36449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023" y="5370554"/>
                        <a:ext cx="7743825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79561" y="1134605"/>
            <a:ext cx="3041561" cy="696036"/>
            <a:chOff x="745588" y="1310185"/>
            <a:chExt cx="18006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向量的长度、夹角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9561" y="242667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938338" y="1947863"/>
            <a:ext cx="1828800" cy="1746250"/>
            <a:chOff x="1978926" y="1482622"/>
            <a:chExt cx="1828799" cy="1746250"/>
          </a:xfrm>
        </p:grpSpPr>
        <p:sp>
          <p:nvSpPr>
            <p:cNvPr id="25842" name="文本框 11"/>
            <p:cNvSpPr txBox="1">
              <a:spLocks noChangeArrowheads="1"/>
            </p:cNvSpPr>
            <p:nvPr/>
          </p:nvSpPr>
          <p:spPr bwMode="auto">
            <a:xfrm>
              <a:off x="1978926" y="2071139"/>
              <a:ext cx="182879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设  </a:t>
              </a:r>
            </a:p>
          </p:txBody>
        </p:sp>
        <p:graphicFrame>
          <p:nvGraphicFramePr>
            <p:cNvPr id="25807" name="Object 207"/>
            <p:cNvGraphicFramePr>
              <a:graphicFrameLocks noChangeAspect="1"/>
            </p:cNvGraphicFramePr>
            <p:nvPr/>
          </p:nvGraphicFramePr>
          <p:xfrm>
            <a:off x="2447451" y="1482622"/>
            <a:ext cx="1203325" cy="174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3" name="Equation" r:id="rId3" imgW="647640" imgH="939600" progId="Equation.DSMT4">
                    <p:embed/>
                  </p:oleObj>
                </mc:Choice>
                <mc:Fallback>
                  <p:oleObj name="Equation" r:id="rId3" imgW="647640" imgH="939600" progId="Equation.DSMT4">
                    <p:embed/>
                    <p:pic>
                      <p:nvPicPr>
                        <p:cNvPr id="0" name="Picture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7451" y="1482622"/>
                          <a:ext cx="1203325" cy="1746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3852863" y="2584450"/>
            <a:ext cx="3810000" cy="542925"/>
            <a:chOff x="3916908" y="2593387"/>
            <a:chExt cx="3439236" cy="542925"/>
          </a:xfrm>
        </p:grpSpPr>
        <p:sp>
          <p:nvSpPr>
            <p:cNvPr id="25841" name="文本框 15"/>
            <p:cNvSpPr txBox="1">
              <a:spLocks noChangeArrowheads="1"/>
            </p:cNvSpPr>
            <p:nvPr/>
          </p:nvSpPr>
          <p:spPr bwMode="auto">
            <a:xfrm>
              <a:off x="3916908" y="2634662"/>
              <a:ext cx="3439236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称            为      </a:t>
              </a:r>
              <a:r>
                <a:rPr lang="zh-CN" altLang="en-US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的长度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，</a:t>
              </a:r>
            </a:p>
          </p:txBody>
        </p:sp>
        <p:graphicFrame>
          <p:nvGraphicFramePr>
            <p:cNvPr id="25808" name="Object 208"/>
            <p:cNvGraphicFramePr>
              <a:graphicFrameLocks noChangeAspect="1"/>
            </p:cNvGraphicFramePr>
            <p:nvPr/>
          </p:nvGraphicFramePr>
          <p:xfrm>
            <a:off x="4337667" y="2593387"/>
            <a:ext cx="992187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4" name="Equation" r:id="rId5" imgW="533160" imgH="291960" progId="Equation.DSMT4">
                    <p:embed/>
                  </p:oleObj>
                </mc:Choice>
                <mc:Fallback>
                  <p:oleObj name="Equation" r:id="rId5" imgW="533160" imgH="291960" progId="Equation.DSMT4">
                    <p:embed/>
                    <p:pic>
                      <p:nvPicPr>
                        <p:cNvPr id="0" name="Picture 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7667" y="2593387"/>
                          <a:ext cx="992187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09" name="Object 209"/>
            <p:cNvGraphicFramePr>
              <a:graphicFrameLocks noChangeAspect="1"/>
            </p:cNvGraphicFramePr>
            <p:nvPr/>
          </p:nvGraphicFramePr>
          <p:xfrm>
            <a:off x="5773525" y="2739246"/>
            <a:ext cx="284163" cy="258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5" name="Equation" r:id="rId7" imgW="152280" imgH="139680" progId="Equation.DSMT4">
                    <p:embed/>
                  </p:oleObj>
                </mc:Choice>
                <mc:Fallback>
                  <p:oleObj name="Equation" r:id="rId7" imgW="152280" imgH="139680" progId="Equation.DSMT4">
                    <p:embed/>
                    <p:pic>
                      <p:nvPicPr>
                        <p:cNvPr id="0" name="Picture 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3525" y="2739246"/>
                          <a:ext cx="284163" cy="2587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>
            <a:grpSpLocks/>
          </p:cNvGrpSpPr>
          <p:nvPr/>
        </p:nvGrpSpPr>
        <p:grpSpPr bwMode="auto">
          <a:xfrm>
            <a:off x="7469188" y="2630488"/>
            <a:ext cx="1962150" cy="469900"/>
            <a:chOff x="7469944" y="2630488"/>
            <a:chExt cx="1960659" cy="469900"/>
          </a:xfrm>
        </p:grpSpPr>
        <p:sp>
          <p:nvSpPr>
            <p:cNvPr id="25840" name="文本框 19"/>
            <p:cNvSpPr txBox="1">
              <a:spLocks noChangeArrowheads="1"/>
            </p:cNvSpPr>
            <p:nvPr/>
          </p:nvSpPr>
          <p:spPr bwMode="auto">
            <a:xfrm>
              <a:off x="7469944" y="2634018"/>
              <a:ext cx="196065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记作：</a:t>
              </a:r>
            </a:p>
          </p:txBody>
        </p:sp>
        <p:graphicFrame>
          <p:nvGraphicFramePr>
            <p:cNvPr id="25810" name="Object 210"/>
            <p:cNvGraphicFramePr>
              <a:graphicFrameLocks noChangeAspect="1"/>
            </p:cNvGraphicFramePr>
            <p:nvPr/>
          </p:nvGraphicFramePr>
          <p:xfrm>
            <a:off x="8375650" y="2630488"/>
            <a:ext cx="519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6" name="Equation" r:id="rId9" imgW="279360" imgH="253800" progId="Equation.DSMT4">
                    <p:embed/>
                  </p:oleObj>
                </mc:Choice>
                <mc:Fallback>
                  <p:oleObj name="Equation" r:id="rId9" imgW="279360" imgH="253800" progId="Equation.DSMT4">
                    <p:embed/>
                    <p:pic>
                      <p:nvPicPr>
                        <p:cNvPr id="0" name="Picture 2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5650" y="2630488"/>
                          <a:ext cx="519113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468020" y="3875615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圆角矩形 22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  质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2143125" y="3984625"/>
            <a:ext cx="2836863" cy="469900"/>
            <a:chOff x="2142699" y="3985280"/>
            <a:chExt cx="2836628" cy="469900"/>
          </a:xfrm>
        </p:grpSpPr>
        <p:sp>
          <p:nvSpPr>
            <p:cNvPr id="25839" name="文本框 24"/>
            <p:cNvSpPr txBox="1">
              <a:spLocks noChangeArrowheads="1"/>
            </p:cNvSpPr>
            <p:nvPr/>
          </p:nvSpPr>
          <p:spPr bwMode="auto">
            <a:xfrm>
              <a:off x="2142699" y="3985280"/>
              <a:ext cx="23610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）非负性</a:t>
              </a:r>
            </a:p>
          </p:txBody>
        </p:sp>
        <p:graphicFrame>
          <p:nvGraphicFramePr>
            <p:cNvPr id="25811" name="Object 211"/>
            <p:cNvGraphicFramePr>
              <a:graphicFrameLocks noChangeAspect="1"/>
            </p:cNvGraphicFramePr>
            <p:nvPr/>
          </p:nvGraphicFramePr>
          <p:xfrm>
            <a:off x="4058577" y="3985280"/>
            <a:ext cx="92075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7" name="Equation" r:id="rId11" imgW="495000" imgH="253800" progId="Equation.DSMT4">
                    <p:embed/>
                  </p:oleObj>
                </mc:Choice>
                <mc:Fallback>
                  <p:oleObj name="Equation" r:id="rId11" imgW="495000" imgH="253800" progId="Equation.DSMT4">
                    <p:embed/>
                    <p:pic>
                      <p:nvPicPr>
                        <p:cNvPr id="0" name="Picture 2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8577" y="3985280"/>
                          <a:ext cx="92075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4954588" y="3981450"/>
            <a:ext cx="4803775" cy="476250"/>
            <a:chOff x="3971499" y="4167739"/>
            <a:chExt cx="4804011" cy="476250"/>
          </a:xfrm>
        </p:grpSpPr>
        <p:sp>
          <p:nvSpPr>
            <p:cNvPr id="25838" name="文本框 27"/>
            <p:cNvSpPr txBox="1">
              <a:spLocks noChangeArrowheads="1"/>
            </p:cNvSpPr>
            <p:nvPr/>
          </p:nvSpPr>
          <p:spPr bwMode="auto">
            <a:xfrm>
              <a:off x="3971499" y="4170914"/>
              <a:ext cx="4804011" cy="47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当且仅当        时，</a:t>
              </a:r>
            </a:p>
          </p:txBody>
        </p:sp>
        <p:graphicFrame>
          <p:nvGraphicFramePr>
            <p:cNvPr id="25812" name="Object 212"/>
            <p:cNvGraphicFramePr>
              <a:graphicFrameLocks noChangeAspect="1"/>
            </p:cNvGraphicFramePr>
            <p:nvPr/>
          </p:nvGraphicFramePr>
          <p:xfrm>
            <a:off x="5260324" y="4242351"/>
            <a:ext cx="706438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8" name="Equation" r:id="rId13" imgW="380880" imgH="177480" progId="Equation.DSMT4">
                    <p:embed/>
                  </p:oleObj>
                </mc:Choice>
                <mc:Fallback>
                  <p:oleObj name="Equation" r:id="rId13" imgW="380880" imgH="177480" progId="Equation.DSMT4">
                    <p:embed/>
                    <p:pic>
                      <p:nvPicPr>
                        <p:cNvPr id="0" name="Picture 2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324" y="4242351"/>
                          <a:ext cx="706438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3" name="Object 213"/>
            <p:cNvGraphicFramePr>
              <a:graphicFrameLocks noChangeAspect="1"/>
            </p:cNvGraphicFramePr>
            <p:nvPr/>
          </p:nvGraphicFramePr>
          <p:xfrm>
            <a:off x="6586500" y="4167739"/>
            <a:ext cx="919162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9" name="Equation" r:id="rId15" imgW="495000" imgH="253800" progId="Equation.DSMT4">
                    <p:embed/>
                  </p:oleObj>
                </mc:Choice>
                <mc:Fallback>
                  <p:oleObj name="Equation" r:id="rId15" imgW="495000" imgH="253800" progId="Equation.DSMT4">
                    <p:embed/>
                    <p:pic>
                      <p:nvPicPr>
                        <p:cNvPr id="0" name="Picture 2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6500" y="4167739"/>
                          <a:ext cx="919162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2143125" y="4694238"/>
            <a:ext cx="3505200" cy="469900"/>
            <a:chOff x="2142699" y="3985280"/>
            <a:chExt cx="3505448" cy="470284"/>
          </a:xfrm>
        </p:grpSpPr>
        <p:sp>
          <p:nvSpPr>
            <p:cNvPr id="25837" name="文本框 32"/>
            <p:cNvSpPr txBox="1">
              <a:spLocks noChangeArrowheads="1"/>
            </p:cNvSpPr>
            <p:nvPr/>
          </p:nvSpPr>
          <p:spPr bwMode="auto">
            <a:xfrm>
              <a:off x="2142699" y="3985280"/>
              <a:ext cx="23610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）齐次性</a:t>
              </a:r>
            </a:p>
          </p:txBody>
        </p:sp>
        <p:graphicFrame>
          <p:nvGraphicFramePr>
            <p:cNvPr id="25814" name="Object 214"/>
            <p:cNvGraphicFramePr>
              <a:graphicFrameLocks noChangeAspect="1"/>
            </p:cNvGraphicFramePr>
            <p:nvPr/>
          </p:nvGraphicFramePr>
          <p:xfrm>
            <a:off x="4019372" y="3985664"/>
            <a:ext cx="162877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90" name="Equation" r:id="rId17" imgW="876240" imgH="253800" progId="Equation.DSMT4">
                    <p:embed/>
                  </p:oleObj>
                </mc:Choice>
                <mc:Fallback>
                  <p:oleObj name="Equation" r:id="rId17" imgW="876240" imgH="253800" progId="Equation.DSMT4">
                    <p:embed/>
                    <p:pic>
                      <p:nvPicPr>
                        <p:cNvPr id="0" name="Picture 2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9372" y="3985664"/>
                          <a:ext cx="1628775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2143125" y="5434013"/>
            <a:ext cx="4452938" cy="474662"/>
            <a:chOff x="2142699" y="3972828"/>
            <a:chExt cx="4453484" cy="474117"/>
          </a:xfrm>
        </p:grpSpPr>
        <p:sp>
          <p:nvSpPr>
            <p:cNvPr id="25836" name="文本框 35"/>
            <p:cNvSpPr txBox="1">
              <a:spLocks noChangeArrowheads="1"/>
            </p:cNvSpPr>
            <p:nvPr/>
          </p:nvSpPr>
          <p:spPr bwMode="auto">
            <a:xfrm>
              <a:off x="2142699" y="3985280"/>
              <a:ext cx="23610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）不等式性</a:t>
              </a:r>
            </a:p>
          </p:txBody>
        </p:sp>
        <p:graphicFrame>
          <p:nvGraphicFramePr>
            <p:cNvPr id="25815" name="Object 215"/>
            <p:cNvGraphicFramePr>
              <a:graphicFrameLocks noChangeAspect="1"/>
            </p:cNvGraphicFramePr>
            <p:nvPr/>
          </p:nvGraphicFramePr>
          <p:xfrm>
            <a:off x="4375271" y="3972828"/>
            <a:ext cx="2220912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91" name="Equation" r:id="rId19" imgW="1193760" imgH="253800" progId="Equation.DSMT4">
                    <p:embed/>
                  </p:oleObj>
                </mc:Choice>
                <mc:Fallback>
                  <p:oleObj name="Equation" r:id="rId19" imgW="1193760" imgH="253800" progId="Equation.DSMT4">
                    <p:embed/>
                    <p:pic>
                      <p:nvPicPr>
                        <p:cNvPr id="0" name="Picture 2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5271" y="3972828"/>
                          <a:ext cx="2220912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9042400" y="2538413"/>
            <a:ext cx="2643188" cy="576262"/>
            <a:chOff x="9108039" y="4200269"/>
            <a:chExt cx="2642684" cy="575398"/>
          </a:xfrm>
        </p:grpSpPr>
        <p:sp>
          <p:nvSpPr>
            <p:cNvPr id="39" name="圆角矩形 38"/>
            <p:cNvSpPr/>
            <p:nvPr/>
          </p:nvSpPr>
          <p:spPr>
            <a:xfrm>
              <a:off x="9108039" y="4200269"/>
              <a:ext cx="2642684" cy="575398"/>
            </a:xfrm>
            <a:prstGeom prst="round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5835" name="文本框 40"/>
            <p:cNvSpPr txBox="1">
              <a:spLocks noChangeArrowheads="1"/>
            </p:cNvSpPr>
            <p:nvPr/>
          </p:nvSpPr>
          <p:spPr bwMode="auto">
            <a:xfrm>
              <a:off x="9198045" y="4281892"/>
              <a:ext cx="25118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单位向量：</a:t>
              </a:r>
            </a:p>
          </p:txBody>
        </p:sp>
      </p:grpSp>
      <p:grpSp>
        <p:nvGrpSpPr>
          <p:cNvPr id="44" name="组合 43"/>
          <p:cNvGrpSpPr>
            <a:grpSpLocks/>
          </p:cNvGrpSpPr>
          <p:nvPr/>
        </p:nvGrpSpPr>
        <p:grpSpPr bwMode="auto">
          <a:xfrm>
            <a:off x="9042400" y="3938588"/>
            <a:ext cx="2643188" cy="1495425"/>
            <a:chOff x="9108039" y="4200268"/>
            <a:chExt cx="2642684" cy="1495085"/>
          </a:xfrm>
        </p:grpSpPr>
        <p:sp>
          <p:nvSpPr>
            <p:cNvPr id="45" name="圆角矩形 44"/>
            <p:cNvSpPr/>
            <p:nvPr/>
          </p:nvSpPr>
          <p:spPr>
            <a:xfrm>
              <a:off x="9108039" y="4200268"/>
              <a:ext cx="2642684" cy="1495085"/>
            </a:xfrm>
            <a:prstGeom prst="round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aphicFrame>
          <p:nvGraphicFramePr>
            <p:cNvPr id="25817" name="Object 217"/>
            <p:cNvGraphicFramePr>
              <a:graphicFrameLocks noChangeAspect="1"/>
            </p:cNvGraphicFramePr>
            <p:nvPr/>
          </p:nvGraphicFramePr>
          <p:xfrm>
            <a:off x="10074575" y="4743757"/>
            <a:ext cx="709612" cy="823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92" name="Equation" r:id="rId21" imgW="380880" imgH="444240" progId="Equation.DSMT4">
                    <p:embed/>
                  </p:oleObj>
                </mc:Choice>
                <mc:Fallback>
                  <p:oleObj name="Equation" r:id="rId21" imgW="380880" imgH="444240" progId="Equation.DSMT4">
                    <p:embed/>
                    <p:pic>
                      <p:nvPicPr>
                        <p:cNvPr id="0" name="Picture 2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74575" y="4743757"/>
                          <a:ext cx="709612" cy="823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831" name="文本框 48"/>
          <p:cNvSpPr txBox="1">
            <a:spLocks noChangeArrowheads="1"/>
          </p:cNvSpPr>
          <p:nvPr/>
        </p:nvSpPr>
        <p:spPr bwMode="auto">
          <a:xfrm>
            <a:off x="9105900" y="4114800"/>
            <a:ext cx="2565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非零向量单位化：</a:t>
            </a:r>
          </a:p>
        </p:txBody>
      </p:sp>
      <p:sp>
        <p:nvSpPr>
          <p:cNvPr id="46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  <p:graphicFrame>
        <p:nvGraphicFramePr>
          <p:cNvPr id="47" name="Object 2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548398"/>
              </p:ext>
            </p:extLst>
          </p:nvPr>
        </p:nvGraphicFramePr>
        <p:xfrm>
          <a:off x="10747840" y="2591594"/>
          <a:ext cx="8969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93" name="Equation" r:id="rId23" imgW="482400" imgH="253800" progId="Equation.DSMT4">
                  <p:embed/>
                </p:oleObj>
              </mc:Choice>
              <mc:Fallback>
                <p:oleObj name="Equation" r:id="rId23" imgW="482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840" y="2591594"/>
                        <a:ext cx="896937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17739" y="3024910"/>
            <a:ext cx="3118386" cy="696036"/>
            <a:chOff x="850133" y="3020232"/>
            <a:chExt cx="184614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850133" y="3020232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09682" y="3137417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向量的长度、夹角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25756" y="387338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2176932" y="4062794"/>
            <a:ext cx="2016125" cy="461962"/>
            <a:chOff x="2129051" y="2236092"/>
            <a:chExt cx="2015296" cy="461665"/>
          </a:xfrm>
        </p:grpSpPr>
        <p:sp>
          <p:nvSpPr>
            <p:cNvPr id="26684" name="文本框 10"/>
            <p:cNvSpPr txBox="1">
              <a:spLocks noChangeArrowheads="1"/>
            </p:cNvSpPr>
            <p:nvPr/>
          </p:nvSpPr>
          <p:spPr bwMode="auto">
            <a:xfrm>
              <a:off x="2129051" y="2236092"/>
              <a:ext cx="1828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设</a:t>
              </a:r>
            </a:p>
          </p:txBody>
        </p:sp>
        <p:graphicFrame>
          <p:nvGraphicFramePr>
            <p:cNvPr id="26674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5346036"/>
                </p:ext>
              </p:extLst>
            </p:nvPr>
          </p:nvGraphicFramePr>
          <p:xfrm>
            <a:off x="2660034" y="2296546"/>
            <a:ext cx="1484313" cy="379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45" name="Equation" r:id="rId3" imgW="799920" imgH="203040" progId="Equation.DSMT4">
                    <p:embed/>
                  </p:oleObj>
                </mc:Choice>
                <mc:Fallback>
                  <p:oleObj name="Equation" r:id="rId3" imgW="799920" imgH="203040" progId="Equation.DSMT4">
                    <p:embed/>
                    <p:pic>
                      <p:nvPicPr>
                        <p:cNvPr id="0" name="Picture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0034" y="2296546"/>
                          <a:ext cx="1484313" cy="379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1094607" y="4797570"/>
            <a:ext cx="830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称</a:t>
            </a:r>
          </a:p>
        </p:txBody>
      </p:sp>
      <p:graphicFrame>
        <p:nvGraphicFramePr>
          <p:cNvPr id="1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28058"/>
              </p:ext>
            </p:extLst>
          </p:nvPr>
        </p:nvGraphicFramePr>
        <p:xfrm>
          <a:off x="1696671" y="4590009"/>
          <a:ext cx="461962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6" name="Equation" r:id="rId5" imgW="2489040" imgH="469800" progId="Equation.DSMT4">
                  <p:embed/>
                </p:oleObj>
              </mc:Choice>
              <mc:Fallback>
                <p:oleObj name="Equation" r:id="rId5" imgW="2489040" imgH="469800" progId="Equation.DSMT4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6671" y="4590009"/>
                        <a:ext cx="4619625" cy="877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6436004" y="4797570"/>
            <a:ext cx="3001962" cy="457200"/>
            <a:chOff x="5966357" y="3288345"/>
            <a:chExt cx="3002507" cy="458481"/>
          </a:xfrm>
        </p:grpSpPr>
        <p:sp>
          <p:nvSpPr>
            <p:cNvPr id="26683" name="文本框 15"/>
            <p:cNvSpPr txBox="1">
              <a:spLocks noChangeArrowheads="1"/>
            </p:cNvSpPr>
            <p:nvPr/>
          </p:nvSpPr>
          <p:spPr bwMode="auto">
            <a:xfrm>
              <a:off x="5966357" y="3288345"/>
              <a:ext cx="3002507" cy="458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为         </a:t>
              </a:r>
              <a:r>
                <a:rPr lang="zh-CN" altLang="en-US" sz="2400" b="1" dirty="0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的夹角</a:t>
              </a:r>
            </a:p>
          </p:txBody>
        </p:sp>
        <p:graphicFrame>
          <p:nvGraphicFramePr>
            <p:cNvPr id="26676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1942989"/>
                </p:ext>
              </p:extLst>
            </p:nvPr>
          </p:nvGraphicFramePr>
          <p:xfrm>
            <a:off x="6591720" y="3367413"/>
            <a:ext cx="588963" cy="379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47" name="Equation" r:id="rId7" imgW="317160" imgH="203040" progId="Equation.DSMT4">
                    <p:embed/>
                  </p:oleObj>
                </mc:Choice>
                <mc:Fallback>
                  <p:oleObj name="Equation" r:id="rId7" imgW="317160" imgH="203040" progId="Equation.DSMT4">
                    <p:embed/>
                    <p:pic>
                      <p:nvPicPr>
                        <p:cNvPr id="0" name="Picture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1720" y="3367413"/>
                          <a:ext cx="588963" cy="379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4.1 .2 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59169" y="1207574"/>
            <a:ext cx="3076370" cy="696036"/>
            <a:chOff x="559169" y="1207574"/>
            <a:chExt cx="3076370" cy="696036"/>
          </a:xfrm>
        </p:grpSpPr>
        <p:sp>
          <p:nvSpPr>
            <p:cNvPr id="19" name="圆角矩形 18"/>
            <p:cNvSpPr/>
            <p:nvPr/>
          </p:nvSpPr>
          <p:spPr>
            <a:xfrm>
              <a:off x="559169" y="1207574"/>
              <a:ext cx="3041561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文本框 6"/>
            <p:cNvSpPr txBox="1"/>
            <p:nvPr/>
          </p:nvSpPr>
          <p:spPr>
            <a:xfrm>
              <a:off x="617739" y="1323915"/>
              <a:ext cx="3017800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柯西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施瓦茨不等式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296907"/>
              </p:ext>
            </p:extLst>
          </p:nvPr>
        </p:nvGraphicFramePr>
        <p:xfrm>
          <a:off x="4589091" y="1792501"/>
          <a:ext cx="2167969" cy="53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8" name="Equation" r:id="rId9" imgW="1028520" imgH="253800" progId="Equation.DSMT4">
                  <p:embed/>
                </p:oleObj>
              </mc:Choice>
              <mc:Fallback>
                <p:oleObj name="Equation" r:id="rId9" imgW="1028520" imgH="2538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091" y="1792501"/>
                        <a:ext cx="2167969" cy="538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701446" y="1323916"/>
            <a:ext cx="3554378" cy="461665"/>
            <a:chOff x="3701446" y="1323916"/>
            <a:chExt cx="3554378" cy="461665"/>
          </a:xfrm>
        </p:grpSpPr>
        <p:sp>
          <p:nvSpPr>
            <p:cNvPr id="21" name="文本框 10"/>
            <p:cNvSpPr txBox="1">
              <a:spLocks noChangeArrowheads="1"/>
            </p:cNvSpPr>
            <p:nvPr/>
          </p:nvSpPr>
          <p:spPr bwMode="auto">
            <a:xfrm>
              <a:off x="3701446" y="1323916"/>
              <a:ext cx="35543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对于任意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      有不等式</a:t>
              </a:r>
              <a:endParaRPr lang="zh-CN" altLang="en-US" sz="2400" dirty="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9826957"/>
                </p:ext>
              </p:extLst>
            </p:nvPr>
          </p:nvGraphicFramePr>
          <p:xfrm>
            <a:off x="5068888" y="1371600"/>
            <a:ext cx="427037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49" name="Equation" r:id="rId11" imgW="317160" imgH="203040" progId="Equation.DSMT4">
                    <p:embed/>
                  </p:oleObj>
                </mc:Choice>
                <mc:Fallback>
                  <p:oleObj name="Equation" r:id="rId11" imgW="3171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68888" y="1371600"/>
                          <a:ext cx="427037" cy="3667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718325" y="2331340"/>
            <a:ext cx="7325538" cy="461665"/>
            <a:chOff x="3701446" y="1323916"/>
            <a:chExt cx="3554378" cy="461665"/>
          </a:xfrm>
        </p:grpSpPr>
        <p:sp>
          <p:nvSpPr>
            <p:cNvPr id="24" name="文本框 10"/>
            <p:cNvSpPr txBox="1">
              <a:spLocks noChangeArrowheads="1"/>
            </p:cNvSpPr>
            <p:nvPr/>
          </p:nvSpPr>
          <p:spPr bwMode="auto">
            <a:xfrm>
              <a:off x="3701446" y="1323916"/>
              <a:ext cx="35543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等号成立当且仅当        线性相关。</a:t>
              </a:r>
              <a:endParaRPr lang="zh-CN" altLang="en-US" sz="2400" dirty="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352302"/>
                </p:ext>
              </p:extLst>
            </p:nvPr>
          </p:nvGraphicFramePr>
          <p:xfrm>
            <a:off x="4935505" y="1371391"/>
            <a:ext cx="382560" cy="3287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50" name="Equation" r:id="rId13" imgW="317160" imgH="203040" progId="Equation.DSMT4">
                    <p:embed/>
                  </p:oleObj>
                </mc:Choice>
                <mc:Fallback>
                  <p:oleObj name="Equation" r:id="rId13" imgW="3171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935505" y="1371391"/>
                          <a:ext cx="382560" cy="3287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86" name="组合 1"/>
          <p:cNvGrpSpPr>
            <a:grpSpLocks/>
          </p:cNvGrpSpPr>
          <p:nvPr/>
        </p:nvGrpSpPr>
        <p:grpSpPr bwMode="auto">
          <a:xfrm>
            <a:off x="1123950" y="1082675"/>
            <a:ext cx="9188450" cy="1311275"/>
            <a:chOff x="582613" y="1245617"/>
            <a:chExt cx="6890599" cy="1310105"/>
          </a:xfrm>
        </p:grpSpPr>
        <p:sp>
          <p:nvSpPr>
            <p:cNvPr id="36897" name="Text Box 2"/>
            <p:cNvSpPr txBox="1">
              <a:spLocks noChangeArrowheads="1"/>
            </p:cNvSpPr>
            <p:nvPr/>
          </p:nvSpPr>
          <p:spPr bwMode="auto">
            <a:xfrm>
              <a:off x="582613" y="1245617"/>
              <a:ext cx="6890599" cy="1310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zh-CN" altLang="en-US" sz="2000" b="1">
                  <a:solidFill>
                    <a:schemeClr val="accent2"/>
                  </a:solidFill>
                  <a:latin typeface="Verdana" pitchFamily="34" charset="0"/>
                </a:rPr>
                <a:t>例</a:t>
              </a:r>
              <a:r>
                <a:rPr lang="en-US" altLang="zh-CN" sz="2000" b="1">
                  <a:solidFill>
                    <a:schemeClr val="accent2"/>
                  </a:solidFill>
                  <a:latin typeface="Verdana" pitchFamily="34" charset="0"/>
                </a:rPr>
                <a:t>2  </a:t>
              </a:r>
              <a:r>
                <a:rPr lang="zh-CN" altLang="en-US" sz="2000" b="1">
                  <a:latin typeface="Verdana" pitchFamily="34" charset="0"/>
                </a:rPr>
                <a:t>已知                         </a:t>
              </a:r>
              <a:endParaRPr lang="en-US" altLang="zh-CN" sz="2000" b="1">
                <a:latin typeface="Verdana" pitchFamily="34" charset="0"/>
              </a:endParaRPr>
            </a:p>
            <a:p>
              <a:pPr algn="just">
                <a:lnSpc>
                  <a:spcPct val="200000"/>
                </a:lnSpc>
              </a:pPr>
              <a:r>
                <a:rPr lang="zh-CN" altLang="en-US" sz="2000" b="1">
                  <a:latin typeface="Verdana" pitchFamily="34" charset="0"/>
                </a:rPr>
                <a:t>（</a:t>
              </a:r>
              <a:r>
                <a:rPr lang="en-US" altLang="zh-CN" sz="2000" b="1">
                  <a:latin typeface="Verdana" pitchFamily="34" charset="0"/>
                </a:rPr>
                <a:t>1</a:t>
              </a:r>
              <a:r>
                <a:rPr lang="zh-CN" altLang="en-US" sz="2000" b="1">
                  <a:latin typeface="Verdana" pitchFamily="34" charset="0"/>
                </a:rPr>
                <a:t>）求                 ，并将其单位化；        （</a:t>
              </a:r>
              <a:r>
                <a:rPr lang="en-US" altLang="zh-CN" sz="2000" b="1">
                  <a:latin typeface="Verdana" pitchFamily="34" charset="0"/>
                </a:rPr>
                <a:t>2</a:t>
              </a:r>
              <a:r>
                <a:rPr lang="zh-CN" altLang="en-US" sz="2000" b="1">
                  <a:latin typeface="Verdana" pitchFamily="34" charset="0"/>
                </a:rPr>
                <a:t>）求</a:t>
              </a:r>
            </a:p>
          </p:txBody>
        </p:sp>
        <p:graphicFrame>
          <p:nvGraphicFramePr>
            <p:cNvPr id="36868" name="Object 3"/>
            <p:cNvGraphicFramePr>
              <a:graphicFrameLocks noChangeAspect="1"/>
            </p:cNvGraphicFramePr>
            <p:nvPr/>
          </p:nvGraphicFramePr>
          <p:xfrm>
            <a:off x="1836034" y="1423107"/>
            <a:ext cx="3152925" cy="460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06" name="Equation" r:id="rId3" imgW="1930320" imgH="279360" progId="Equation.DSMT4">
                    <p:embed/>
                  </p:oleObj>
                </mc:Choice>
                <mc:Fallback>
                  <p:oleObj name="Equation" r:id="rId3" imgW="1930320" imgH="2793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034" y="1423107"/>
                          <a:ext cx="3152925" cy="460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69" name="Object 5"/>
            <p:cNvGraphicFramePr>
              <a:graphicFrameLocks noChangeAspect="1"/>
            </p:cNvGraphicFramePr>
            <p:nvPr/>
          </p:nvGraphicFramePr>
          <p:xfrm>
            <a:off x="1664775" y="2052934"/>
            <a:ext cx="830967" cy="415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07" name="Equation" r:id="rId5" imgW="507960" imgH="253800" progId="Equation.DSMT4">
                    <p:embed/>
                  </p:oleObj>
                </mc:Choice>
                <mc:Fallback>
                  <p:oleObj name="Equation" r:id="rId5" imgW="507960" imgH="25380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4775" y="2052934"/>
                          <a:ext cx="830967" cy="4155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0" name="Object 6"/>
            <p:cNvGraphicFramePr>
              <a:graphicFrameLocks noChangeAspect="1"/>
            </p:cNvGraphicFramePr>
            <p:nvPr/>
          </p:nvGraphicFramePr>
          <p:xfrm>
            <a:off x="5555321" y="2078311"/>
            <a:ext cx="1704792" cy="415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08" name="Equation" r:id="rId7" imgW="1041120" imgH="253800" progId="Equation.DSMT4">
                    <p:embed/>
                  </p:oleObj>
                </mc:Choice>
                <mc:Fallback>
                  <p:oleObj name="Equation" r:id="rId7" imgW="1041120" imgH="25380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5321" y="2078311"/>
                          <a:ext cx="1704792" cy="4155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87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728663" y="2708275"/>
            <a:ext cx="10129836" cy="2651125"/>
            <a:chOff x="533400" y="1012794"/>
            <a:chExt cx="8139911" cy="2650463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044536"/>
              <a:ext cx="3163608" cy="1768033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解</a:t>
              </a: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：（</a:t>
              </a:r>
              <a:r>
                <a:rPr lang="en-US" altLang="zh-CN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1</a:t>
              </a: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）</a:t>
              </a:r>
              <a:endParaRPr lang="en-US" altLang="zh-CN" sz="2000" b="1" kern="0" dirty="0" smtClean="0">
                <a:solidFill>
                  <a:srgbClr val="000000"/>
                </a:solidFill>
                <a:latin typeface="+mj-ea"/>
                <a:ea typeface="+mj-ea"/>
                <a:sym typeface="Wingdings" panose="05000000000000000000" pitchFamily="2" charset="2"/>
              </a:endParaRPr>
            </a:p>
            <a:p>
              <a:pPr algn="just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sz="2000" b="1" kern="0" dirty="0">
                <a:solidFill>
                  <a:srgbClr val="000000"/>
                </a:solidFill>
                <a:latin typeface="+mj-ea"/>
                <a:ea typeface="+mj-ea"/>
                <a:sym typeface="Wingdings" panose="05000000000000000000" pitchFamily="2" charset="2"/>
              </a:endParaRPr>
            </a:p>
            <a:p>
              <a:pPr algn="just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         单位化为：</a:t>
              </a:r>
              <a:endParaRPr lang="zh-CN" altLang="en-US" sz="2000" b="1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36877" name="Object 13"/>
            <p:cNvGraphicFramePr>
              <a:graphicFrameLocks noChangeAspect="1"/>
            </p:cNvGraphicFramePr>
            <p:nvPr/>
          </p:nvGraphicFramePr>
          <p:xfrm>
            <a:off x="1832010" y="1012794"/>
            <a:ext cx="6635923" cy="566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09" name="Equation" r:id="rId9" imgW="3886200" imgH="330120" progId="Equation.DSMT4">
                    <p:embed/>
                  </p:oleObj>
                </mc:Choice>
                <mc:Fallback>
                  <p:oleObj name="Equation" r:id="rId9" imgW="3886200" imgH="33012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010" y="1012794"/>
                          <a:ext cx="6635923" cy="5665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6516646"/>
                </p:ext>
              </p:extLst>
            </p:nvPr>
          </p:nvGraphicFramePr>
          <p:xfrm>
            <a:off x="2621636" y="1709533"/>
            <a:ext cx="5445743" cy="914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0" name="Equation" r:id="rId11" imgW="3187440" imgH="533160" progId="Equation.DSMT4">
                    <p:embed/>
                  </p:oleObj>
                </mc:Choice>
                <mc:Fallback>
                  <p:oleObj name="Equation" r:id="rId11" imgW="3187440" imgH="53316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1636" y="1709533"/>
                          <a:ext cx="5445743" cy="914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3831961"/>
                </p:ext>
              </p:extLst>
            </p:nvPr>
          </p:nvGraphicFramePr>
          <p:xfrm>
            <a:off x="2514481" y="2812569"/>
            <a:ext cx="6158830" cy="85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1" name="Equation" r:id="rId13" imgW="3606480" imgH="495000" progId="Equation.DSMT4">
                    <p:embed/>
                  </p:oleObj>
                </mc:Choice>
                <mc:Fallback>
                  <p:oleObj name="Equation" r:id="rId13" imgW="3606480" imgH="49500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481" y="2812569"/>
                          <a:ext cx="6158830" cy="8506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6893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endParaRPr lang="zh-CN" altLang="en-US" sz="2000" b="1">
              <a:latin typeface="Verdana" pitchFamily="34" charset="0"/>
            </a:endParaRP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1123950" y="5540375"/>
            <a:ext cx="9721850" cy="676275"/>
            <a:chOff x="533400" y="999818"/>
            <a:chExt cx="7812807" cy="675300"/>
          </a:xfrm>
        </p:grpSpPr>
        <p:sp>
          <p:nvSpPr>
            <p:cNvPr id="21" name="Text Box 3"/>
            <p:cNvSpPr txBox="1">
              <a:spLocks noChangeArrowheads="1"/>
            </p:cNvSpPr>
            <p:nvPr/>
          </p:nvSpPr>
          <p:spPr bwMode="auto">
            <a:xfrm>
              <a:off x="533400" y="1044204"/>
              <a:ext cx="3163906" cy="548483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（</a:t>
              </a:r>
              <a:r>
                <a:rPr lang="en-US" altLang="zh-CN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2</a:t>
              </a: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）</a:t>
              </a:r>
              <a:endParaRPr lang="en-US" altLang="zh-CN" sz="2000" b="1" kern="0" dirty="0" smtClean="0">
                <a:solidFill>
                  <a:srgbClr val="000000"/>
                </a:solidFill>
                <a:latin typeface="+mj-ea"/>
                <a:ea typeface="+mj-ea"/>
                <a:sym typeface="Wingdings" panose="05000000000000000000" pitchFamily="2" charset="2"/>
              </a:endParaRPr>
            </a:p>
          </p:txBody>
        </p:sp>
        <p:graphicFrame>
          <p:nvGraphicFramePr>
            <p:cNvPr id="36884" name="Object 15"/>
            <p:cNvGraphicFramePr>
              <a:graphicFrameLocks noChangeAspect="1"/>
            </p:cNvGraphicFramePr>
            <p:nvPr/>
          </p:nvGraphicFramePr>
          <p:xfrm>
            <a:off x="1524672" y="999818"/>
            <a:ext cx="3165182" cy="67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2" name="Equation" r:id="rId15" imgW="1854000" imgH="393480" progId="Equation.DSMT4">
                    <p:embed/>
                  </p:oleObj>
                </mc:Choice>
                <mc:Fallback>
                  <p:oleObj name="Equation" r:id="rId15" imgW="1854000" imgH="39348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672" y="999818"/>
                          <a:ext cx="3165182" cy="675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5" name="Object 21"/>
            <p:cNvGraphicFramePr>
              <a:graphicFrameLocks noChangeAspect="1"/>
            </p:cNvGraphicFramePr>
            <p:nvPr/>
          </p:nvGraphicFramePr>
          <p:xfrm>
            <a:off x="4876116" y="1066397"/>
            <a:ext cx="3470091" cy="500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3" name="Equation" r:id="rId17" imgW="2031840" imgH="291960" progId="Equation.DSMT4">
                    <p:embed/>
                  </p:oleObj>
                </mc:Choice>
                <mc:Fallback>
                  <p:oleObj name="Equation" r:id="rId17" imgW="2031840" imgH="291960" progId="Equation.DSMT4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116" y="1066397"/>
                          <a:ext cx="3470091" cy="5009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3209" y="1190854"/>
            <a:ext cx="1922444" cy="696036"/>
            <a:chOff x="745588" y="1310185"/>
            <a:chExt cx="19382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72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正 交 性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3209" y="216784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843088" y="2316163"/>
            <a:ext cx="1677987" cy="461962"/>
            <a:chOff x="1978926" y="2071139"/>
            <a:chExt cx="1678674" cy="461665"/>
          </a:xfrm>
        </p:grpSpPr>
        <p:sp>
          <p:nvSpPr>
            <p:cNvPr id="27797" name="文本框 11"/>
            <p:cNvSpPr txBox="1">
              <a:spLocks noChangeArrowheads="1"/>
            </p:cNvSpPr>
            <p:nvPr/>
          </p:nvSpPr>
          <p:spPr bwMode="auto">
            <a:xfrm>
              <a:off x="1978926" y="2071139"/>
              <a:ext cx="16786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设  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7772" name="Object 124"/>
            <p:cNvGraphicFramePr>
              <a:graphicFrameLocks noChangeAspect="1"/>
            </p:cNvGraphicFramePr>
            <p:nvPr/>
          </p:nvGraphicFramePr>
          <p:xfrm>
            <a:off x="2370138" y="2090738"/>
            <a:ext cx="1227137" cy="423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6" name="Equation" r:id="rId3" imgW="660240" imgH="228600" progId="Equation.DSMT4">
                    <p:embed/>
                  </p:oleObj>
                </mc:Choice>
                <mc:Fallback>
                  <p:oleObj name="Equation" r:id="rId3" imgW="660240" imgH="228600" progId="Equation.DSMT4">
                    <p:embed/>
                    <p:pic>
                      <p:nvPicPr>
                        <p:cNvPr id="0" name="Picture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0138" y="2090738"/>
                          <a:ext cx="1227137" cy="4238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3521075" y="2325688"/>
            <a:ext cx="1738313" cy="495300"/>
            <a:chOff x="1978926" y="2071139"/>
            <a:chExt cx="1738999" cy="494364"/>
          </a:xfrm>
        </p:grpSpPr>
        <p:sp>
          <p:nvSpPr>
            <p:cNvPr id="27796" name="文本框 15"/>
            <p:cNvSpPr txBox="1">
              <a:spLocks noChangeArrowheads="1"/>
            </p:cNvSpPr>
            <p:nvPr/>
          </p:nvSpPr>
          <p:spPr bwMode="auto">
            <a:xfrm>
              <a:off x="1978926" y="2071139"/>
              <a:ext cx="1678650" cy="456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若  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7773" name="Object 125"/>
            <p:cNvGraphicFramePr>
              <a:graphicFrameLocks noChangeAspect="1"/>
            </p:cNvGraphicFramePr>
            <p:nvPr/>
          </p:nvGraphicFramePr>
          <p:xfrm>
            <a:off x="2443163" y="2094015"/>
            <a:ext cx="1274762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7" name="Equation" r:id="rId5" imgW="685800" imgH="253800" progId="Equation.DSMT4">
                    <p:embed/>
                  </p:oleObj>
                </mc:Choice>
                <mc:Fallback>
                  <p:oleObj name="Equation" r:id="rId5" imgW="685800" imgH="253800" progId="Equation.DSMT4">
                    <p:embed/>
                    <p:pic>
                      <p:nvPicPr>
                        <p:cNvPr id="0" name="Picture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3163" y="2094015"/>
                          <a:ext cx="1274762" cy="471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5411788" y="2316163"/>
            <a:ext cx="2735262" cy="461962"/>
            <a:chOff x="5547814" y="2071138"/>
            <a:chExt cx="2736378" cy="461665"/>
          </a:xfrm>
        </p:grpSpPr>
        <p:sp>
          <p:nvSpPr>
            <p:cNvPr id="27795" name="文本框 17"/>
            <p:cNvSpPr txBox="1">
              <a:spLocks noChangeArrowheads="1"/>
            </p:cNvSpPr>
            <p:nvPr/>
          </p:nvSpPr>
          <p:spPr bwMode="auto">
            <a:xfrm>
              <a:off x="5547814" y="2071138"/>
              <a:ext cx="27363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则称     </a:t>
              </a:r>
              <a:r>
                <a:rPr lang="zh-CN" altLang="en-US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与     正交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,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7774" name="Object 126"/>
            <p:cNvGraphicFramePr>
              <a:graphicFrameLocks noChangeAspect="1"/>
            </p:cNvGraphicFramePr>
            <p:nvPr/>
          </p:nvGraphicFramePr>
          <p:xfrm>
            <a:off x="6354360" y="2172589"/>
            <a:ext cx="282575" cy="258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8" name="Equation" r:id="rId7" imgW="152280" imgH="139680" progId="Equation.DSMT4">
                    <p:embed/>
                  </p:oleObj>
                </mc:Choice>
                <mc:Fallback>
                  <p:oleObj name="Equation" r:id="rId7" imgW="152280" imgH="139680" progId="Equation.DSMT4">
                    <p:embed/>
                    <p:pic>
                      <p:nvPicPr>
                        <p:cNvPr id="0" name="Picture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4360" y="2172589"/>
                          <a:ext cx="282575" cy="2587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75" name="Object 127"/>
            <p:cNvGraphicFramePr>
              <a:graphicFrameLocks noChangeAspect="1"/>
            </p:cNvGraphicFramePr>
            <p:nvPr/>
          </p:nvGraphicFramePr>
          <p:xfrm>
            <a:off x="7085199" y="2134354"/>
            <a:ext cx="282575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9" name="Equation" r:id="rId9" imgW="152280" imgH="203040" progId="Equation.DSMT4">
                    <p:embed/>
                  </p:oleObj>
                </mc:Choice>
                <mc:Fallback>
                  <p:oleObj name="Equation" r:id="rId9" imgW="152280" imgH="203040" progId="Equation.DSMT4">
                    <p:embed/>
                    <p:pic>
                      <p:nvPicPr>
                        <p:cNvPr id="0" name="Picture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5199" y="2134354"/>
                          <a:ext cx="282575" cy="376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8128000" y="2316163"/>
            <a:ext cx="1917700" cy="461962"/>
            <a:chOff x="8482082" y="2071138"/>
            <a:chExt cx="1917512" cy="461665"/>
          </a:xfrm>
        </p:grpSpPr>
        <p:sp>
          <p:nvSpPr>
            <p:cNvPr id="27794" name="文本框 20"/>
            <p:cNvSpPr txBox="1">
              <a:spLocks noChangeArrowheads="1"/>
            </p:cNvSpPr>
            <p:nvPr/>
          </p:nvSpPr>
          <p:spPr bwMode="auto">
            <a:xfrm>
              <a:off x="8482082" y="2071138"/>
              <a:ext cx="191751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记作</a:t>
              </a:r>
            </a:p>
          </p:txBody>
        </p:sp>
        <p:graphicFrame>
          <p:nvGraphicFramePr>
            <p:cNvPr id="27776" name="Object 128"/>
            <p:cNvGraphicFramePr>
              <a:graphicFrameLocks noChangeAspect="1"/>
            </p:cNvGraphicFramePr>
            <p:nvPr/>
          </p:nvGraphicFramePr>
          <p:xfrm>
            <a:off x="9240838" y="2114550"/>
            <a:ext cx="823912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0" name="Equation" r:id="rId11" imgW="444240" imgH="203040" progId="Equation.DSMT4">
                    <p:embed/>
                  </p:oleObj>
                </mc:Choice>
                <mc:Fallback>
                  <p:oleObj name="Equation" r:id="rId11" imgW="444240" imgH="203040" progId="Equation.DSMT4">
                    <p:embed/>
                    <p:pic>
                      <p:nvPicPr>
                        <p:cNvPr id="0" name="Picture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0838" y="2114550"/>
                          <a:ext cx="823912" cy="376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788" name="组合 40"/>
          <p:cNvGrpSpPr>
            <a:grpSpLocks/>
          </p:cNvGrpSpPr>
          <p:nvPr/>
        </p:nvGrpSpPr>
        <p:grpSpPr bwMode="auto">
          <a:xfrm>
            <a:off x="333375" y="3248025"/>
            <a:ext cx="5330825" cy="730250"/>
            <a:chOff x="524189" y="3291295"/>
            <a:chExt cx="5330701" cy="730250"/>
          </a:xfrm>
        </p:grpSpPr>
        <p:sp>
          <p:nvSpPr>
            <p:cNvPr id="27793" name="文本框 31"/>
            <p:cNvSpPr txBox="1">
              <a:spLocks noChangeArrowheads="1"/>
            </p:cNvSpPr>
            <p:nvPr/>
          </p:nvSpPr>
          <p:spPr bwMode="auto">
            <a:xfrm>
              <a:off x="524189" y="3425588"/>
              <a:ext cx="533070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       非零，则</a:t>
              </a:r>
            </a:p>
          </p:txBody>
        </p:sp>
        <p:graphicFrame>
          <p:nvGraphicFramePr>
            <p:cNvPr id="27777" name="Object 129"/>
            <p:cNvGraphicFramePr>
              <a:graphicFrameLocks noChangeAspect="1"/>
            </p:cNvGraphicFramePr>
            <p:nvPr/>
          </p:nvGraphicFramePr>
          <p:xfrm>
            <a:off x="1386192" y="3453923"/>
            <a:ext cx="590550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1" name="Equation" r:id="rId13" imgW="317160" imgH="203040" progId="Equation.DSMT4">
                    <p:embed/>
                  </p:oleObj>
                </mc:Choice>
                <mc:Fallback>
                  <p:oleObj name="Equation" r:id="rId13" imgW="317160" imgH="203040" progId="Equation.DSMT4">
                    <p:embed/>
                    <p:pic>
                      <p:nvPicPr>
                        <p:cNvPr id="0" name="Picture 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6192" y="3453923"/>
                          <a:ext cx="590550" cy="376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78" name="Object 130"/>
            <p:cNvGraphicFramePr>
              <a:graphicFrameLocks noChangeAspect="1"/>
            </p:cNvGraphicFramePr>
            <p:nvPr/>
          </p:nvGraphicFramePr>
          <p:xfrm>
            <a:off x="3285272" y="3291295"/>
            <a:ext cx="8255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2" name="Equation" r:id="rId15" imgW="444240" imgH="393480" progId="Equation.DSMT4">
                    <p:embed/>
                  </p:oleObj>
                </mc:Choice>
                <mc:Fallback>
                  <p:oleObj name="Equation" r:id="rId15" imgW="444240" imgH="393480" progId="Equation.DSMT4">
                    <p:embed/>
                    <p:pic>
                      <p:nvPicPr>
                        <p:cNvPr id="0" name="Picture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5272" y="3291295"/>
                          <a:ext cx="825500" cy="730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789" name="组合 39"/>
          <p:cNvGrpSpPr>
            <a:grpSpLocks/>
          </p:cNvGrpSpPr>
          <p:nvPr/>
        </p:nvGrpSpPr>
        <p:grpSpPr bwMode="auto">
          <a:xfrm>
            <a:off x="333375" y="4184650"/>
            <a:ext cx="6135688" cy="501650"/>
            <a:chOff x="524189" y="4127081"/>
            <a:chExt cx="6135918" cy="501770"/>
          </a:xfrm>
        </p:grpSpPr>
        <p:sp>
          <p:nvSpPr>
            <p:cNvPr id="27792" name="文本框 32"/>
            <p:cNvSpPr txBox="1">
              <a:spLocks noChangeArrowheads="1"/>
            </p:cNvSpPr>
            <p:nvPr/>
          </p:nvSpPr>
          <p:spPr bwMode="auto">
            <a:xfrm>
              <a:off x="524189" y="4127081"/>
              <a:ext cx="613591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           ，故向量 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0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与任意向量均正交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.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7779" name="Object 131"/>
            <p:cNvGraphicFramePr>
              <a:graphicFrameLocks noChangeAspect="1"/>
            </p:cNvGraphicFramePr>
            <p:nvPr/>
          </p:nvGraphicFramePr>
          <p:xfrm>
            <a:off x="1359992" y="4158951"/>
            <a:ext cx="1157288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3" name="Equation" r:id="rId17" imgW="622080" imgH="253800" progId="Equation.DSMT4">
                    <p:embed/>
                  </p:oleObj>
                </mc:Choice>
                <mc:Fallback>
                  <p:oleObj name="Equation" r:id="rId17" imgW="622080" imgH="253800" progId="Equation.DSMT4">
                    <p:embed/>
                    <p:pic>
                      <p:nvPicPr>
                        <p:cNvPr id="0" name="Picture 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9992" y="4158951"/>
                          <a:ext cx="1157288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790" name="组合 38"/>
          <p:cNvGrpSpPr>
            <a:grpSpLocks/>
          </p:cNvGrpSpPr>
          <p:nvPr/>
        </p:nvGrpSpPr>
        <p:grpSpPr bwMode="auto">
          <a:xfrm>
            <a:off x="333375" y="4986338"/>
            <a:ext cx="6135688" cy="469900"/>
            <a:chOff x="493209" y="4900751"/>
            <a:chExt cx="6135918" cy="469900"/>
          </a:xfrm>
        </p:grpSpPr>
        <p:sp>
          <p:nvSpPr>
            <p:cNvPr id="27791" name="文本框 33"/>
            <p:cNvSpPr txBox="1">
              <a:spLocks noChangeArrowheads="1"/>
            </p:cNvSpPr>
            <p:nvPr/>
          </p:nvSpPr>
          <p:spPr bwMode="auto">
            <a:xfrm>
              <a:off x="493209" y="4908986"/>
              <a:ext cx="613591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           ，故向量 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0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与自身亦正交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.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7780" name="Object 132"/>
            <p:cNvGraphicFramePr>
              <a:graphicFrameLocks noChangeAspect="1"/>
            </p:cNvGraphicFramePr>
            <p:nvPr/>
          </p:nvGraphicFramePr>
          <p:xfrm>
            <a:off x="1349727" y="4900751"/>
            <a:ext cx="1109662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4" name="Equation" r:id="rId19" imgW="596880" imgH="253800" progId="Equation.DSMT4">
                    <p:embed/>
                  </p:oleObj>
                </mc:Choice>
                <mc:Fallback>
                  <p:oleObj name="Equation" r:id="rId19" imgW="596880" imgH="253800" progId="Equation.DSMT4">
                    <p:embed/>
                    <p:pic>
                      <p:nvPicPr>
                        <p:cNvPr id="0" name="Picture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9727" y="4900751"/>
                          <a:ext cx="1109662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3209" y="1190854"/>
            <a:ext cx="1922444" cy="696036"/>
            <a:chOff x="745588" y="1310185"/>
            <a:chExt cx="19382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72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正 交 性</a:t>
              </a:r>
            </a:p>
          </p:txBody>
        </p:sp>
      </p:grpSp>
      <p:sp>
        <p:nvSpPr>
          <p:cNvPr id="28796" name="文本框 8"/>
          <p:cNvSpPr txBox="1">
            <a:spLocks noChangeArrowheads="1"/>
          </p:cNvSpPr>
          <p:nvPr/>
        </p:nvSpPr>
        <p:spPr bwMode="auto">
          <a:xfrm>
            <a:off x="1951038" y="2278063"/>
            <a:ext cx="227251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设非零向量组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93209" y="216784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圆角矩形 11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5922963" y="2287588"/>
            <a:ext cx="2532062" cy="517525"/>
            <a:chOff x="5923128" y="2288049"/>
            <a:chExt cx="2531281" cy="517525"/>
          </a:xfrm>
        </p:grpSpPr>
        <p:sp>
          <p:nvSpPr>
            <p:cNvPr id="28795" name="文本框 13"/>
            <p:cNvSpPr txBox="1">
              <a:spLocks noChangeArrowheads="1"/>
            </p:cNvSpPr>
            <p:nvPr/>
          </p:nvSpPr>
          <p:spPr bwMode="auto">
            <a:xfrm>
              <a:off x="5923128" y="2295620"/>
              <a:ext cx="133748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若        </a:t>
              </a:r>
            </a:p>
          </p:txBody>
        </p:sp>
        <p:graphicFrame>
          <p:nvGraphicFramePr>
            <p:cNvPr id="28766" name="Object 94"/>
            <p:cNvGraphicFramePr>
              <a:graphicFrameLocks noChangeAspect="1"/>
            </p:cNvGraphicFramePr>
            <p:nvPr/>
          </p:nvGraphicFramePr>
          <p:xfrm>
            <a:off x="6400184" y="2288049"/>
            <a:ext cx="205422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7" name="Equation" r:id="rId3" imgW="1104840" imgH="279360" progId="Equation.DSMT4">
                    <p:embed/>
                  </p:oleObj>
                </mc:Choice>
                <mc:Fallback>
                  <p:oleObj name="Equation" r:id="rId3" imgW="1104840" imgH="279360" progId="Equation.DSMT4">
                    <p:embed/>
                    <p:pic>
                      <p:nvPicPr>
                        <p:cNvPr id="0" name="Picture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0184" y="2288049"/>
                          <a:ext cx="2054225" cy="517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8455025" y="2289175"/>
            <a:ext cx="31924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则称 </a:t>
            </a:r>
            <a:r>
              <a:rPr lang="en-US" altLang="zh-CN" sz="2400" i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400" b="1">
                <a:solidFill>
                  <a:srgbClr val="004F8C"/>
                </a:solidFill>
                <a:latin typeface="微软雅黑" pitchFamily="34" charset="-122"/>
                <a:ea typeface="微软雅黑" pitchFamily="34" charset="-122"/>
              </a:rPr>
              <a:t>正交向量组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493713" y="3138488"/>
            <a:ext cx="17859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进一步地，</a:t>
            </a:r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2052638" y="3138488"/>
            <a:ext cx="1746250" cy="477837"/>
            <a:chOff x="2579427" y="3138985"/>
            <a:chExt cx="1746913" cy="477672"/>
          </a:xfrm>
        </p:grpSpPr>
        <p:sp>
          <p:nvSpPr>
            <p:cNvPr id="28794" name="文本框 18"/>
            <p:cNvSpPr txBox="1">
              <a:spLocks noChangeArrowheads="1"/>
            </p:cNvSpPr>
            <p:nvPr/>
          </p:nvSpPr>
          <p:spPr bwMode="auto">
            <a:xfrm>
              <a:off x="2579427" y="3138985"/>
              <a:ext cx="1746913" cy="47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若</a:t>
              </a:r>
            </a:p>
          </p:txBody>
        </p:sp>
        <p:graphicFrame>
          <p:nvGraphicFramePr>
            <p:cNvPr id="28767" name="Object 95"/>
            <p:cNvGraphicFramePr>
              <a:graphicFrameLocks noChangeAspect="1"/>
            </p:cNvGraphicFramePr>
            <p:nvPr/>
          </p:nvGraphicFramePr>
          <p:xfrm>
            <a:off x="2981325" y="3144838"/>
            <a:ext cx="946150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8" name="Equation" r:id="rId5" imgW="507960" imgH="253800" progId="Equation.DSMT4">
                    <p:embed/>
                  </p:oleObj>
                </mc:Choice>
                <mc:Fallback>
                  <p:oleObj name="Equation" r:id="rId5" imgW="507960" imgH="253800" progId="Equation.DSMT4">
                    <p:embed/>
                    <p:pic>
                      <p:nvPicPr>
                        <p:cNvPr id="0" name="Picture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1325" y="3144838"/>
                          <a:ext cx="946150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3400425" y="3138488"/>
            <a:ext cx="37973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则称 </a:t>
            </a:r>
            <a:r>
              <a:rPr lang="en-US" altLang="zh-CN" sz="2400" i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400" b="1">
                <a:solidFill>
                  <a:srgbClr val="004F8C"/>
                </a:solidFill>
                <a:latin typeface="微软雅黑" pitchFamily="34" charset="-122"/>
                <a:ea typeface="微软雅黑" pitchFamily="34" charset="-122"/>
              </a:rPr>
              <a:t>标准正交向量组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7088188" y="3035300"/>
            <a:ext cx="4354512" cy="574675"/>
            <a:chOff x="9108039" y="4200269"/>
            <a:chExt cx="2511875" cy="575398"/>
          </a:xfrm>
        </p:grpSpPr>
        <p:sp>
          <p:nvSpPr>
            <p:cNvPr id="24" name="圆角矩形 23"/>
            <p:cNvSpPr/>
            <p:nvPr/>
          </p:nvSpPr>
          <p:spPr>
            <a:xfrm>
              <a:off x="9108039" y="4200269"/>
              <a:ext cx="2511875" cy="575398"/>
            </a:xfrm>
            <a:prstGeom prst="round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8793" name="文本框 26"/>
            <p:cNvSpPr txBox="1">
              <a:spLocks noChangeArrowheads="1"/>
            </p:cNvSpPr>
            <p:nvPr/>
          </p:nvSpPr>
          <p:spPr bwMode="auto">
            <a:xfrm>
              <a:off x="9108039" y="4265438"/>
              <a:ext cx="2511875" cy="457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正交向量组是线性无关向量组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4189" y="3920419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1871663" y="4038600"/>
            <a:ext cx="5807075" cy="457200"/>
            <a:chOff x="2346870" y="5333567"/>
            <a:chExt cx="5598530" cy="458481"/>
          </a:xfrm>
        </p:grpSpPr>
        <p:sp>
          <p:nvSpPr>
            <p:cNvPr id="28791" name="文本框 31"/>
            <p:cNvSpPr txBox="1">
              <a:spLocks noChangeArrowheads="1"/>
            </p:cNvSpPr>
            <p:nvPr/>
          </p:nvSpPr>
          <p:spPr bwMode="auto">
            <a:xfrm>
              <a:off x="2346870" y="5333567"/>
              <a:ext cx="5598530" cy="458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若                  是向量空间 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V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的一个基，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 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8768" name="Object 96"/>
            <p:cNvGraphicFramePr>
              <a:graphicFrameLocks noChangeAspect="1"/>
            </p:cNvGraphicFramePr>
            <p:nvPr/>
          </p:nvGraphicFramePr>
          <p:xfrm>
            <a:off x="2891109" y="5343898"/>
            <a:ext cx="13938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9" name="Equation" r:id="rId7" imgW="749160" imgH="228600" progId="Equation.DSMT4">
                    <p:embed/>
                  </p:oleObj>
                </mc:Choice>
                <mc:Fallback>
                  <p:oleObj name="Equation" r:id="rId7" imgW="749160" imgH="228600" progId="Equation.DSMT4">
                    <p:embed/>
                    <p:pic>
                      <p:nvPicPr>
                        <p:cNvPr id="0" name="Picture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1109" y="5343898"/>
                          <a:ext cx="1393825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7469188" y="4024313"/>
            <a:ext cx="36941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且为正交向量组，</a:t>
            </a:r>
          </a:p>
        </p:txBody>
      </p: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479425" y="4852988"/>
            <a:ext cx="4602163" cy="457200"/>
            <a:chOff x="643639" y="4831307"/>
            <a:chExt cx="4296852" cy="456905"/>
          </a:xfrm>
        </p:grpSpPr>
        <p:sp>
          <p:nvSpPr>
            <p:cNvPr id="28790" name="文本框 34"/>
            <p:cNvSpPr txBox="1">
              <a:spLocks noChangeArrowheads="1"/>
            </p:cNvSpPr>
            <p:nvPr/>
          </p:nvSpPr>
          <p:spPr bwMode="auto">
            <a:xfrm>
              <a:off x="643639" y="4831307"/>
              <a:ext cx="4296852" cy="4569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则称                为 </a:t>
              </a:r>
              <a:r>
                <a:rPr lang="en-US" altLang="zh-CN" sz="2400" b="1" i="1">
                  <a:solidFill>
                    <a:srgbClr val="004F8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</a:t>
              </a:r>
              <a:r>
                <a:rPr lang="en-US" altLang="zh-CN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的正交基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；</a:t>
              </a:r>
            </a:p>
          </p:txBody>
        </p:sp>
        <p:graphicFrame>
          <p:nvGraphicFramePr>
            <p:cNvPr id="28769" name="Object 97"/>
            <p:cNvGraphicFramePr>
              <a:graphicFrameLocks noChangeAspect="1"/>
            </p:cNvGraphicFramePr>
            <p:nvPr/>
          </p:nvGraphicFramePr>
          <p:xfrm>
            <a:off x="1386192" y="4853875"/>
            <a:ext cx="136549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0" name="Equation" r:id="rId9" imgW="749160" imgH="228600" progId="Equation.DSMT4">
                    <p:embed/>
                  </p:oleObj>
                </mc:Choice>
                <mc:Fallback>
                  <p:oleObj name="Equation" r:id="rId9" imgW="749160" imgH="228600" progId="Equation.DSMT4">
                    <p:embed/>
                    <p:pic>
                      <p:nvPicPr>
                        <p:cNvPr id="0" name="Picture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6192" y="4853875"/>
                          <a:ext cx="136549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/>
          <p:cNvGrpSpPr>
            <a:grpSpLocks/>
          </p:cNvGrpSpPr>
          <p:nvPr/>
        </p:nvGrpSpPr>
        <p:grpSpPr bwMode="auto">
          <a:xfrm>
            <a:off x="4776788" y="4841875"/>
            <a:ext cx="1855787" cy="481013"/>
            <a:chOff x="4776413" y="4842667"/>
            <a:chExt cx="1856399" cy="479519"/>
          </a:xfrm>
        </p:grpSpPr>
        <p:sp>
          <p:nvSpPr>
            <p:cNvPr id="28789" name="文本框 35"/>
            <p:cNvSpPr txBox="1">
              <a:spLocks noChangeArrowheads="1"/>
            </p:cNvSpPr>
            <p:nvPr/>
          </p:nvSpPr>
          <p:spPr bwMode="auto">
            <a:xfrm>
              <a:off x="4776413" y="4860521"/>
              <a:ext cx="185639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又若                        </a:t>
              </a:r>
            </a:p>
          </p:txBody>
        </p:sp>
        <p:graphicFrame>
          <p:nvGraphicFramePr>
            <p:cNvPr id="28770" name="Object 98"/>
            <p:cNvGraphicFramePr>
              <a:graphicFrameLocks noChangeAspect="1"/>
            </p:cNvGraphicFramePr>
            <p:nvPr/>
          </p:nvGraphicFramePr>
          <p:xfrm>
            <a:off x="5561453" y="4842667"/>
            <a:ext cx="946150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1" name="Equation" r:id="rId10" imgW="507960" imgH="253800" progId="Equation.DSMT4">
                    <p:embed/>
                  </p:oleObj>
                </mc:Choice>
                <mc:Fallback>
                  <p:oleObj name="Equation" r:id="rId10" imgW="507960" imgH="253800" progId="Equation.DSMT4">
                    <p:embed/>
                    <p:pic>
                      <p:nvPicPr>
                        <p:cNvPr id="0" name="Picture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1453" y="4842667"/>
                          <a:ext cx="946150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6591300" y="4841875"/>
            <a:ext cx="4851400" cy="461963"/>
            <a:chOff x="6591868" y="4842667"/>
            <a:chExt cx="4850214" cy="461665"/>
          </a:xfrm>
        </p:grpSpPr>
        <p:sp>
          <p:nvSpPr>
            <p:cNvPr id="28788" name="文本框 36"/>
            <p:cNvSpPr txBox="1">
              <a:spLocks noChangeArrowheads="1"/>
            </p:cNvSpPr>
            <p:nvPr/>
          </p:nvSpPr>
          <p:spPr bwMode="auto">
            <a:xfrm>
              <a:off x="6591868" y="4842667"/>
              <a:ext cx="485021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则称                为 </a:t>
              </a:r>
              <a:r>
                <a:rPr lang="en-US" altLang="zh-CN" sz="2400" b="1" i="1">
                  <a:solidFill>
                    <a:srgbClr val="004F8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</a:t>
              </a:r>
              <a:r>
                <a:rPr lang="en-US" altLang="zh-CN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的标准正交基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.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8771" name="Object 99"/>
            <p:cNvGraphicFramePr>
              <a:graphicFrameLocks noChangeAspect="1"/>
            </p:cNvGraphicFramePr>
            <p:nvPr/>
          </p:nvGraphicFramePr>
          <p:xfrm>
            <a:off x="7326206" y="4852745"/>
            <a:ext cx="136549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2" name="Equation" r:id="rId11" imgW="749160" imgH="228600" progId="Equation.DSMT4">
                    <p:embed/>
                  </p:oleObj>
                </mc:Choice>
                <mc:Fallback>
                  <p:oleObj name="Equation" r:id="rId11" imgW="749160" imgH="228600" progId="Equation.DSMT4">
                    <p:embed/>
                    <p:pic>
                      <p:nvPicPr>
                        <p:cNvPr id="0" name="Picture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26206" y="4852745"/>
                          <a:ext cx="136549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963392"/>
              </p:ext>
            </p:extLst>
          </p:nvPr>
        </p:nvGraphicFramePr>
        <p:xfrm>
          <a:off x="3949849" y="2329323"/>
          <a:ext cx="1857185" cy="428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3" name="Equation" r:id="rId12" imgW="990360" imgH="228600" progId="Equation.DSMT4">
                  <p:embed/>
                </p:oleObj>
              </mc:Choice>
              <mc:Fallback>
                <p:oleObj name="Equation" r:id="rId12" imgW="990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49849" y="2329323"/>
                        <a:ext cx="1857185" cy="428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96" grpId="0"/>
      <p:bldP spid="17" grpId="0"/>
      <p:bldP spid="18" grpId="0"/>
      <p:bldP spid="22" grpId="0"/>
      <p:bldP spid="34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3209" y="1190854"/>
            <a:ext cx="1922444" cy="696036"/>
            <a:chOff x="745588" y="1310185"/>
            <a:chExt cx="19382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72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正 交 性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3209" y="1213187"/>
            <a:ext cx="2700368" cy="651368"/>
            <a:chOff x="506043" y="2137359"/>
            <a:chExt cx="846129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846129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755008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施密特正交化法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3614738" y="1322388"/>
            <a:ext cx="4187825" cy="457200"/>
            <a:chOff x="2346869" y="5333567"/>
            <a:chExt cx="3981725" cy="456906"/>
          </a:xfrm>
        </p:grpSpPr>
        <p:sp>
          <p:nvSpPr>
            <p:cNvPr id="29824" name="文本框 11"/>
            <p:cNvSpPr txBox="1">
              <a:spLocks noChangeArrowheads="1"/>
            </p:cNvSpPr>
            <p:nvPr/>
          </p:nvSpPr>
          <p:spPr bwMode="auto">
            <a:xfrm>
              <a:off x="2346869" y="5333567"/>
              <a:ext cx="3981725" cy="456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设                   线性无关组，</a:t>
              </a:r>
            </a:p>
          </p:txBody>
        </p:sp>
        <p:graphicFrame>
          <p:nvGraphicFramePr>
            <p:cNvPr id="29803" name="Object 107"/>
            <p:cNvGraphicFramePr>
              <a:graphicFrameLocks noChangeAspect="1"/>
            </p:cNvGraphicFramePr>
            <p:nvPr/>
          </p:nvGraphicFramePr>
          <p:xfrm>
            <a:off x="2926215" y="5336278"/>
            <a:ext cx="13954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6" name="Equation" r:id="rId3" imgW="749160" imgH="228600" progId="Equation.DSMT4">
                    <p:embed/>
                  </p:oleObj>
                </mc:Choice>
                <mc:Fallback>
                  <p:oleObj name="Equation" r:id="rId3" imgW="749160" imgH="228600" progId="Equation.DSMT4">
                    <p:embed/>
                    <p:pic>
                      <p:nvPicPr>
                        <p:cNvPr id="0" name="Picture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215" y="5336278"/>
                          <a:ext cx="139541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08"/>
          <p:cNvGraphicFramePr>
            <a:graphicFrameLocks noChangeAspect="1"/>
          </p:cNvGraphicFramePr>
          <p:nvPr/>
        </p:nvGraphicFramePr>
        <p:xfrm>
          <a:off x="493713" y="2571750"/>
          <a:ext cx="8509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7" name="Equation" r:id="rId5" imgW="457200" imgH="228600" progId="Equation.DSMT4">
                  <p:embed/>
                </p:oleObj>
              </mc:Choice>
              <mc:Fallback>
                <p:oleObj name="Equation" r:id="rId5" imgW="457200" imgH="228600" progId="Equation.DSMT4">
                  <p:embed/>
                  <p:pic>
                    <p:nvPicPr>
                      <p:cNvPr id="0" name="Picture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2571750"/>
                        <a:ext cx="8509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9"/>
          <p:cNvGraphicFramePr>
            <a:graphicFrameLocks noChangeAspect="1"/>
          </p:cNvGraphicFramePr>
          <p:nvPr/>
        </p:nvGraphicFramePr>
        <p:xfrm>
          <a:off x="523875" y="2995613"/>
          <a:ext cx="236378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8" name="Equation" r:id="rId7" imgW="1269720" imgH="469800" progId="Equation.DSMT4">
                  <p:embed/>
                </p:oleObj>
              </mc:Choice>
              <mc:Fallback>
                <p:oleObj name="Equation" r:id="rId7" imgW="1269720" imgH="469800" progId="Equation.DSMT4">
                  <p:embed/>
                  <p:pic>
                    <p:nvPicPr>
                      <p:cNvPr id="0" name="Picture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2995613"/>
                        <a:ext cx="2363788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0"/>
          <p:cNvGraphicFramePr>
            <a:graphicFrameLocks noChangeAspect="1"/>
          </p:cNvGraphicFramePr>
          <p:nvPr/>
        </p:nvGraphicFramePr>
        <p:xfrm>
          <a:off x="519113" y="3938588"/>
          <a:ext cx="38528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9" name="Equation" r:id="rId9" imgW="2070000" imgH="469800" progId="Equation.DSMT4">
                  <p:embed/>
                </p:oleObj>
              </mc:Choice>
              <mc:Fallback>
                <p:oleObj name="Equation" r:id="rId9" imgW="2070000" imgH="469800" progId="Equation.DSMT4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3938588"/>
                        <a:ext cx="3852862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1385888" y="4803775"/>
            <a:ext cx="18081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" name="Object 111"/>
          <p:cNvGraphicFramePr>
            <a:graphicFrameLocks noChangeAspect="1"/>
          </p:cNvGraphicFramePr>
          <p:nvPr/>
        </p:nvGraphicFramePr>
        <p:xfrm>
          <a:off x="488950" y="5408613"/>
          <a:ext cx="624046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0" name="Equation" r:id="rId11" imgW="3352680" imgH="469800" progId="Equation.DSMT4">
                  <p:embed/>
                </p:oleObj>
              </mc:Choice>
              <mc:Fallback>
                <p:oleObj name="Equation" r:id="rId11" imgW="3352680" imgH="469800" progId="Equation.DSMT4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5408613"/>
                        <a:ext cx="6240463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357188" y="2009775"/>
            <a:ext cx="2644775" cy="461963"/>
            <a:chOff x="7596552" y="1308039"/>
            <a:chExt cx="2644727" cy="461665"/>
          </a:xfrm>
        </p:grpSpPr>
        <p:graphicFrame>
          <p:nvGraphicFramePr>
            <p:cNvPr id="29808" name="Object 112"/>
            <p:cNvGraphicFramePr>
              <a:graphicFrameLocks noChangeAspect="1"/>
            </p:cNvGraphicFramePr>
            <p:nvPr/>
          </p:nvGraphicFramePr>
          <p:xfrm>
            <a:off x="8017806" y="1344254"/>
            <a:ext cx="13954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61" name="Equation" r:id="rId13" imgW="749160" imgH="228600" progId="Equation.DSMT4">
                    <p:embed/>
                  </p:oleObj>
                </mc:Choice>
                <mc:Fallback>
                  <p:oleObj name="Equation" r:id="rId13" imgW="749160" imgH="228600" progId="Equation.DSMT4">
                    <p:embed/>
                    <p:pic>
                      <p:nvPicPr>
                        <p:cNvPr id="0" name="Picture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7806" y="1344254"/>
                          <a:ext cx="139541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823" name="文本框 19"/>
            <p:cNvSpPr txBox="1">
              <a:spLocks noChangeArrowheads="1"/>
            </p:cNvSpPr>
            <p:nvPr/>
          </p:nvSpPr>
          <p:spPr bwMode="auto">
            <a:xfrm>
              <a:off x="7596552" y="1308039"/>
              <a:ext cx="2644727" cy="456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令                 为</a:t>
              </a: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6864350" y="2049463"/>
            <a:ext cx="3897313" cy="460375"/>
            <a:chOff x="7596552" y="1310565"/>
            <a:chExt cx="3896753" cy="461665"/>
          </a:xfrm>
        </p:grpSpPr>
        <p:graphicFrame>
          <p:nvGraphicFramePr>
            <p:cNvPr id="29809" name="Object 113"/>
            <p:cNvGraphicFramePr>
              <a:graphicFrameLocks noChangeAspect="1"/>
            </p:cNvGraphicFramePr>
            <p:nvPr/>
          </p:nvGraphicFramePr>
          <p:xfrm>
            <a:off x="8017806" y="1344254"/>
            <a:ext cx="13954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62" name="Equation" r:id="rId15" imgW="749160" imgH="228600" progId="Equation.DSMT4">
                    <p:embed/>
                  </p:oleObj>
                </mc:Choice>
                <mc:Fallback>
                  <p:oleObj name="Equation" r:id="rId15" imgW="749160" imgH="228600" progId="Equation.DSMT4">
                    <p:embed/>
                    <p:pic>
                      <p:nvPicPr>
                        <p:cNvPr id="0" name="Picture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7806" y="1344254"/>
                          <a:ext cx="139541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822" name="文本框 24"/>
            <p:cNvSpPr txBox="1">
              <a:spLocks noChangeArrowheads="1"/>
            </p:cNvSpPr>
            <p:nvPr/>
          </p:nvSpPr>
          <p:spPr bwMode="auto">
            <a:xfrm>
              <a:off x="7596552" y="1310565"/>
              <a:ext cx="389675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则                 </a:t>
              </a:r>
              <a:r>
                <a:rPr lang="zh-CN" altLang="en-US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为正交向量组</a:t>
              </a:r>
            </a:p>
          </p:txBody>
        </p:sp>
      </p:grp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6864350" y="2779713"/>
            <a:ext cx="3335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进一步单位化得：</a:t>
            </a:r>
          </a:p>
        </p:txBody>
      </p:sp>
      <p:graphicFrame>
        <p:nvGraphicFramePr>
          <p:cNvPr id="27" name="Object 114"/>
          <p:cNvGraphicFramePr>
            <a:graphicFrameLocks noChangeAspect="1"/>
          </p:cNvGraphicFramePr>
          <p:nvPr/>
        </p:nvGraphicFramePr>
        <p:xfrm>
          <a:off x="7453313" y="3382963"/>
          <a:ext cx="24574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3" name="Equation" r:id="rId17" imgW="1320480" imgH="444240" progId="Equation.DSMT4">
                  <p:embed/>
                </p:oleObj>
              </mc:Choice>
              <mc:Fallback>
                <p:oleObj name="Equation" r:id="rId17" imgW="1320480" imgH="444240" progId="Equation.DSMT4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13" y="3382963"/>
                        <a:ext cx="245745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6864350" y="4318000"/>
            <a:ext cx="4595813" cy="461963"/>
            <a:chOff x="7578169" y="1344457"/>
            <a:chExt cx="3896753" cy="461665"/>
          </a:xfrm>
        </p:grpSpPr>
        <p:graphicFrame>
          <p:nvGraphicFramePr>
            <p:cNvPr id="29811" name="Object 115"/>
            <p:cNvGraphicFramePr>
              <a:graphicFrameLocks noChangeAspect="1"/>
            </p:cNvGraphicFramePr>
            <p:nvPr/>
          </p:nvGraphicFramePr>
          <p:xfrm>
            <a:off x="8059506" y="1344457"/>
            <a:ext cx="118325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64" name="Equation" r:id="rId19" imgW="634680" imgH="228600" progId="Equation.DSMT4">
                    <p:embed/>
                  </p:oleObj>
                </mc:Choice>
                <mc:Fallback>
                  <p:oleObj name="Equation" r:id="rId19" imgW="634680" imgH="228600" progId="Equation.DSMT4">
                    <p:embed/>
                    <p:pic>
                      <p:nvPicPr>
                        <p:cNvPr id="0" name="Picture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59506" y="1344457"/>
                          <a:ext cx="118325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821" name="文本框 29"/>
            <p:cNvSpPr txBox="1">
              <a:spLocks noChangeArrowheads="1"/>
            </p:cNvSpPr>
            <p:nvPr/>
          </p:nvSpPr>
          <p:spPr bwMode="auto">
            <a:xfrm>
              <a:off x="7578169" y="1344457"/>
              <a:ext cx="389675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则                  </a:t>
              </a:r>
              <a:r>
                <a:rPr lang="zh-CN" altLang="en-US" sz="2400" b="1">
                  <a:solidFill>
                    <a:srgbClr val="004F8C"/>
                  </a:solidFill>
                  <a:latin typeface="微软雅黑" pitchFamily="34" charset="-122"/>
                  <a:ea typeface="微软雅黑" pitchFamily="34" charset="-122"/>
                </a:rPr>
                <a:t>为标准正交向量组</a:t>
              </a:r>
            </a:p>
          </p:txBody>
        </p:sp>
      </p:grpSp>
      <p:sp>
        <p:nvSpPr>
          <p:cNvPr id="29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2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73513"/>
            <a:ext cx="184150" cy="3667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7947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endParaRPr lang="zh-CN" altLang="en-US" sz="2000" b="1">
              <a:latin typeface="Verdana" pitchFamily="34" charset="0"/>
            </a:endParaRPr>
          </a:p>
        </p:txBody>
      </p:sp>
      <p:sp>
        <p:nvSpPr>
          <p:cNvPr id="37948" name="Text Box 36"/>
          <p:cNvSpPr txBox="1">
            <a:spLocks noChangeArrowheads="1"/>
          </p:cNvSpPr>
          <p:nvPr/>
        </p:nvSpPr>
        <p:spPr bwMode="auto">
          <a:xfrm>
            <a:off x="1114425" y="1355725"/>
            <a:ext cx="86629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folHlink"/>
                </a:solidFill>
              </a:rPr>
              <a:t>例</a:t>
            </a:r>
            <a:r>
              <a:rPr lang="en-US" altLang="zh-CN" b="1">
                <a:solidFill>
                  <a:schemeClr val="folHlink"/>
                </a:solidFill>
              </a:rPr>
              <a:t>3   </a:t>
            </a:r>
            <a:r>
              <a:rPr lang="zh-CN" altLang="en-US" b="1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设      的一个基为                                                             ，试求       的一个标准正交基</a:t>
            </a:r>
            <a:r>
              <a:rPr lang="en-US" altLang="zh-CN" b="1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.</a:t>
            </a:r>
          </a:p>
        </p:txBody>
      </p:sp>
      <p:sp>
        <p:nvSpPr>
          <p:cNvPr id="37949" name="Rectangle 37"/>
          <p:cNvSpPr>
            <a:spLocks noChangeArrowheads="1"/>
          </p:cNvSpPr>
          <p:nvPr/>
        </p:nvSpPr>
        <p:spPr bwMode="auto">
          <a:xfrm>
            <a:off x="2455863" y="2424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 b="1"/>
          </a:p>
        </p:txBody>
      </p:sp>
      <p:sp>
        <p:nvSpPr>
          <p:cNvPr id="37950" name="Rectangle 39"/>
          <p:cNvSpPr>
            <a:spLocks noChangeArrowheads="1"/>
          </p:cNvSpPr>
          <p:nvPr/>
        </p:nvSpPr>
        <p:spPr bwMode="auto">
          <a:xfrm>
            <a:off x="0" y="3030538"/>
            <a:ext cx="12192000" cy="4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926" name="Object 38"/>
          <p:cNvGraphicFramePr>
            <a:graphicFrameLocks noChangeAspect="1"/>
          </p:cNvGraphicFramePr>
          <p:nvPr/>
        </p:nvGraphicFramePr>
        <p:xfrm>
          <a:off x="3513138" y="1058863"/>
          <a:ext cx="306228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6" name="Equation" r:id="rId3" imgW="1981200" imgH="711200" progId="Equation.DSMT4">
                  <p:embed/>
                </p:oleObj>
              </mc:Choice>
              <mc:Fallback>
                <p:oleObj name="Equation" r:id="rId3" imgW="1981200" imgH="71120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138" y="1058863"/>
                        <a:ext cx="3062287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51" name="Rectangle 4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952" name="Rectangle 42"/>
          <p:cNvSpPr>
            <a:spLocks noChangeArrowheads="1"/>
          </p:cNvSpPr>
          <p:nvPr/>
        </p:nvSpPr>
        <p:spPr bwMode="auto">
          <a:xfrm>
            <a:off x="0" y="1905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953" name="Rectangle 44"/>
          <p:cNvSpPr>
            <a:spLocks noChangeArrowheads="1"/>
          </p:cNvSpPr>
          <p:nvPr/>
        </p:nvSpPr>
        <p:spPr bwMode="auto">
          <a:xfrm>
            <a:off x="0" y="333375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931" name="Object 43"/>
          <p:cNvGraphicFramePr>
            <a:graphicFrameLocks noChangeAspect="1"/>
          </p:cNvGraphicFramePr>
          <p:nvPr/>
        </p:nvGraphicFramePr>
        <p:xfrm>
          <a:off x="1992313" y="1392238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7" name="Equation" r:id="rId5" imgW="190417" imgH="190417" progId="Equation.DSMT4">
                  <p:embed/>
                </p:oleObj>
              </mc:Choice>
              <mc:Fallback>
                <p:oleObj name="Equation" r:id="rId5" imgW="190417" imgH="190417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392238"/>
                        <a:ext cx="2921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54" name="Rectangle 45"/>
          <p:cNvSpPr>
            <a:spLocks noChangeArrowheads="1"/>
          </p:cNvSpPr>
          <p:nvPr/>
        </p:nvSpPr>
        <p:spPr bwMode="auto">
          <a:xfrm>
            <a:off x="0" y="352425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934" name="Object 46"/>
          <p:cNvGraphicFramePr>
            <a:graphicFrameLocks noChangeAspect="1"/>
          </p:cNvGraphicFramePr>
          <p:nvPr/>
        </p:nvGraphicFramePr>
        <p:xfrm>
          <a:off x="7364413" y="1349375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8" name="Equation" r:id="rId7" imgW="190417" imgH="190417" progId="Equation.DSMT4">
                  <p:embed/>
                </p:oleObj>
              </mc:Choice>
              <mc:Fallback>
                <p:oleObj name="Equation" r:id="rId7" imgW="190417" imgH="190417" progId="Equation.DSMT4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4413" y="1349375"/>
                        <a:ext cx="2921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55" name="Text Box 47"/>
          <p:cNvSpPr txBox="1">
            <a:spLocks noChangeArrowheads="1"/>
          </p:cNvSpPr>
          <p:nvPr/>
        </p:nvSpPr>
        <p:spPr bwMode="auto">
          <a:xfrm>
            <a:off x="1184275" y="2073275"/>
            <a:ext cx="8763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解：</a:t>
            </a:r>
          </a:p>
        </p:txBody>
      </p:sp>
      <p:graphicFrame>
        <p:nvGraphicFramePr>
          <p:cNvPr id="1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177736"/>
              </p:ext>
            </p:extLst>
          </p:nvPr>
        </p:nvGraphicFramePr>
        <p:xfrm>
          <a:off x="1878013" y="1974850"/>
          <a:ext cx="182086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9" name="Equation" r:id="rId8" imgW="977760" imgH="711000" progId="Equation.DSMT4">
                  <p:embed/>
                </p:oleObj>
              </mc:Choice>
              <mc:Fallback>
                <p:oleObj name="Equation" r:id="rId8" imgW="977760" imgH="711000" progId="Equation.DSMT4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3" y="1974850"/>
                        <a:ext cx="1820863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9"/>
          <p:cNvGraphicFramePr>
            <a:graphicFrameLocks noChangeAspect="1"/>
          </p:cNvGraphicFramePr>
          <p:nvPr/>
        </p:nvGraphicFramePr>
        <p:xfrm>
          <a:off x="1074738" y="2697163"/>
          <a:ext cx="6546850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0" name="Equation" r:id="rId10" imgW="3517560" imgH="1244520" progId="Equation.DSMT4">
                  <p:embed/>
                </p:oleObj>
              </mc:Choice>
              <mc:Fallback>
                <p:oleObj name="Equation" r:id="rId10" imgW="3517560" imgH="1244520" progId="Equation.DSMT4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38" y="2697163"/>
                        <a:ext cx="6546850" cy="186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62806"/>
              </p:ext>
            </p:extLst>
          </p:nvPr>
        </p:nvGraphicFramePr>
        <p:xfrm>
          <a:off x="828676" y="4618038"/>
          <a:ext cx="8556625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1" name="Equation" r:id="rId12" imgW="4597200" imgH="711000" progId="Equation.DSMT4">
                  <p:embed/>
                </p:oleObj>
              </mc:Choice>
              <mc:Fallback>
                <p:oleObj name="Equation" r:id="rId12" imgW="4597200" imgH="711000" progId="Equation.DSMT4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6" y="4618038"/>
                        <a:ext cx="8556625" cy="1179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943499"/>
              </p:ext>
            </p:extLst>
          </p:nvPr>
        </p:nvGraphicFramePr>
        <p:xfrm>
          <a:off x="6891338" y="1701800"/>
          <a:ext cx="387985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2" name="Equation" r:id="rId14" imgW="2082600" imgH="1320480" progId="Equation.DSMT4">
                  <p:embed/>
                </p:oleObj>
              </mc:Choice>
              <mc:Fallback>
                <p:oleObj name="Equation" r:id="rId14" imgW="2082600" imgH="1320480" progId="Equation.DSMT4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8" y="1701800"/>
                        <a:ext cx="3879850" cy="1444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150514"/>
              </p:ext>
            </p:extLst>
          </p:nvPr>
        </p:nvGraphicFramePr>
        <p:xfrm>
          <a:off x="7974012" y="3124200"/>
          <a:ext cx="39465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3" name="Equation" r:id="rId16" imgW="2120760" imgH="1320480" progId="Equation.DSMT4">
                  <p:embed/>
                </p:oleObj>
              </mc:Choice>
              <mc:Fallback>
                <p:oleObj name="Equation" r:id="rId16" imgW="2120760" imgH="1320480" progId="Equation.DSMT4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4012" y="3124200"/>
                        <a:ext cx="3946525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3"/>
          <p:cNvGraphicFramePr>
            <a:graphicFrameLocks noChangeAspect="1"/>
          </p:cNvGraphicFramePr>
          <p:nvPr/>
        </p:nvGraphicFramePr>
        <p:xfrm>
          <a:off x="8053388" y="5349875"/>
          <a:ext cx="3595687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4" name="Equation" r:id="rId18" imgW="1930320" imgH="1117440" progId="Equation.DSMT4">
                  <p:embed/>
                </p:oleObj>
              </mc:Choice>
              <mc:Fallback>
                <p:oleObj name="Equation" r:id="rId18" imgW="1930320" imgH="1117440" progId="Equation.DSMT4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388" y="5349875"/>
                        <a:ext cx="3595687" cy="1304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组合 1"/>
          <p:cNvGrpSpPr>
            <a:grpSpLocks/>
          </p:cNvGrpSpPr>
          <p:nvPr/>
        </p:nvGrpSpPr>
        <p:grpSpPr bwMode="auto">
          <a:xfrm>
            <a:off x="1008063" y="981075"/>
            <a:ext cx="9312275" cy="1171575"/>
            <a:chOff x="294567" y="1068426"/>
            <a:chExt cx="6985108" cy="1171003"/>
          </a:xfrm>
        </p:grpSpPr>
        <p:sp>
          <p:nvSpPr>
            <p:cNvPr id="48131" name="Text Box 2"/>
            <p:cNvSpPr txBox="1">
              <a:spLocks noChangeArrowheads="1"/>
            </p:cNvSpPr>
            <p:nvPr/>
          </p:nvSpPr>
          <p:spPr bwMode="auto">
            <a:xfrm>
              <a:off x="294567" y="1235032"/>
              <a:ext cx="6985108" cy="701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zh-CN" altLang="en-US" sz="2000" b="1">
                  <a:solidFill>
                    <a:schemeClr val="accent2"/>
                  </a:solidFill>
                  <a:latin typeface="Verdana" pitchFamily="34" charset="0"/>
                </a:rPr>
                <a:t>例</a:t>
              </a:r>
              <a:r>
                <a:rPr lang="en-US" altLang="zh-CN" sz="2000" b="1">
                  <a:solidFill>
                    <a:schemeClr val="accent2"/>
                  </a:solidFill>
                  <a:latin typeface="Verdana" pitchFamily="34" charset="0"/>
                </a:rPr>
                <a:t>4  </a:t>
              </a:r>
              <a:r>
                <a:rPr lang="zh-CN" altLang="en-US" sz="2000" b="1">
                  <a:latin typeface="Verdana" pitchFamily="34" charset="0"/>
                </a:rPr>
                <a:t>求                                           解空间的一组标准正交基</a:t>
              </a:r>
              <a:endParaRPr lang="en-US" altLang="zh-CN" sz="2000" b="1">
                <a:latin typeface="Verdana" pitchFamily="34" charset="0"/>
              </a:endParaRPr>
            </a:p>
          </p:txBody>
        </p:sp>
        <p:graphicFrame>
          <p:nvGraphicFramePr>
            <p:cNvPr id="48132" name="Object 3"/>
            <p:cNvGraphicFramePr>
              <a:graphicFrameLocks noChangeAspect="1"/>
            </p:cNvGraphicFramePr>
            <p:nvPr/>
          </p:nvGraphicFramePr>
          <p:xfrm>
            <a:off x="1282882" y="1068426"/>
            <a:ext cx="2324211" cy="11710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46" name="Equation" r:id="rId3" imgW="1422360" imgH="711000" progId="Equation.DSMT4">
                    <p:embed/>
                  </p:oleObj>
                </mc:Choice>
                <mc:Fallback>
                  <p:oleObj name="Equation" r:id="rId3" imgW="1422360" imgH="711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2882" y="1068426"/>
                          <a:ext cx="2324211" cy="11710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33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103313" y="2208213"/>
            <a:ext cx="10248900" cy="1220787"/>
            <a:chOff x="533400" y="729316"/>
            <a:chExt cx="8235113" cy="1220787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043641"/>
              <a:ext cx="8235113" cy="482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解</a:t>
              </a: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：</a:t>
              </a:r>
              <a:endParaRPr lang="zh-CN" altLang="en-US" sz="2000" b="1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48139" name="Object 15"/>
            <p:cNvGraphicFramePr>
              <a:graphicFrameLocks noChangeAspect="1"/>
            </p:cNvGraphicFramePr>
            <p:nvPr/>
          </p:nvGraphicFramePr>
          <p:xfrm>
            <a:off x="3578279" y="1071500"/>
            <a:ext cx="195610" cy="219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47" name="Equation" r:id="rId5" imgW="114120" imgH="126720" progId="Equation.DSMT4">
                    <p:embed/>
                  </p:oleObj>
                </mc:Choice>
                <mc:Fallback>
                  <p:oleObj name="Equation" r:id="rId5" imgW="114120" imgH="12672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8279" y="1071500"/>
                          <a:ext cx="195610" cy="219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0" name="Object 15"/>
            <p:cNvGraphicFramePr>
              <a:graphicFrameLocks noChangeAspect="1"/>
            </p:cNvGraphicFramePr>
            <p:nvPr/>
          </p:nvGraphicFramePr>
          <p:xfrm>
            <a:off x="1150636" y="729316"/>
            <a:ext cx="4507546" cy="1220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48" name="Equation" r:id="rId7" imgW="2641320" imgH="711000" progId="Equation.DSMT4">
                    <p:embed/>
                  </p:oleObj>
                </mc:Choice>
                <mc:Fallback>
                  <p:oleObj name="Equation" r:id="rId7" imgW="2641320" imgH="71100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0636" y="729316"/>
                          <a:ext cx="4507546" cy="12207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8142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endParaRPr lang="zh-CN" altLang="en-US" sz="2000" b="1">
              <a:latin typeface="Verdana" pitchFamily="34" charset="0"/>
            </a:endParaRPr>
          </a:p>
        </p:txBody>
      </p:sp>
      <p:graphicFrame>
        <p:nvGraphicFramePr>
          <p:cNvPr id="29" name="Object 15"/>
          <p:cNvGraphicFramePr>
            <a:graphicFrameLocks noChangeAspect="1"/>
          </p:cNvGraphicFramePr>
          <p:nvPr/>
        </p:nvGraphicFramePr>
        <p:xfrm>
          <a:off x="7823200" y="1979613"/>
          <a:ext cx="2779713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9" name="Equation" r:id="rId9" imgW="1307880" imgH="914400" progId="Equation.DSMT4">
                  <p:embed/>
                </p:oleObj>
              </mc:Choice>
              <mc:Fallback>
                <p:oleObj name="Equation" r:id="rId9" imgW="1307880" imgH="914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200" y="1979613"/>
                        <a:ext cx="2779713" cy="156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/>
          <p:cNvGrpSpPr>
            <a:grpSpLocks/>
          </p:cNvGrpSpPr>
          <p:nvPr/>
        </p:nvGrpSpPr>
        <p:grpSpPr bwMode="auto">
          <a:xfrm>
            <a:off x="1543050" y="3600450"/>
            <a:ext cx="7642225" cy="1566863"/>
            <a:chOff x="533400" y="571259"/>
            <a:chExt cx="6141372" cy="1566861"/>
          </a:xfrm>
        </p:grpSpPr>
        <p:sp>
          <p:nvSpPr>
            <p:cNvPr id="45" name="Text Box 3"/>
            <p:cNvSpPr txBox="1">
              <a:spLocks noChangeArrowheads="1"/>
            </p:cNvSpPr>
            <p:nvPr/>
          </p:nvSpPr>
          <p:spPr bwMode="auto">
            <a:xfrm>
              <a:off x="533400" y="1044333"/>
              <a:ext cx="5881123" cy="549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 正交化为：</a:t>
              </a:r>
            </a:p>
          </p:txBody>
        </p:sp>
        <p:graphicFrame>
          <p:nvGraphicFramePr>
            <p:cNvPr id="48146" name="Object 15"/>
            <p:cNvGraphicFramePr>
              <a:graphicFrameLocks noChangeAspect="1"/>
            </p:cNvGraphicFramePr>
            <p:nvPr/>
          </p:nvGraphicFramePr>
          <p:xfrm>
            <a:off x="2099187" y="571259"/>
            <a:ext cx="4575585" cy="1566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50" name="Equation" r:id="rId11" imgW="2679480" imgH="914400" progId="Equation.DSMT4">
                    <p:embed/>
                  </p:oleObj>
                </mc:Choice>
                <mc:Fallback>
                  <p:oleObj name="Equation" r:id="rId11" imgW="2679480" imgH="914400" progId="Equation.DSMT4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9187" y="571259"/>
                          <a:ext cx="4575585" cy="15668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1466850" y="5175250"/>
            <a:ext cx="7316788" cy="1566863"/>
            <a:chOff x="533400" y="571855"/>
            <a:chExt cx="5880540" cy="1566860"/>
          </a:xfrm>
        </p:grpSpPr>
        <p:sp>
          <p:nvSpPr>
            <p:cNvPr id="47" name="Text Box 3"/>
            <p:cNvSpPr txBox="1">
              <a:spLocks noChangeArrowheads="1"/>
            </p:cNvSpPr>
            <p:nvPr/>
          </p:nvSpPr>
          <p:spPr bwMode="auto">
            <a:xfrm>
              <a:off x="533400" y="1044929"/>
              <a:ext cx="5880540" cy="554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 单位化为：</a:t>
              </a:r>
            </a:p>
          </p:txBody>
        </p:sp>
        <p:graphicFrame>
          <p:nvGraphicFramePr>
            <p:cNvPr id="48149" name="Object 15"/>
            <p:cNvGraphicFramePr>
              <a:graphicFrameLocks noChangeAspect="1"/>
            </p:cNvGraphicFramePr>
            <p:nvPr/>
          </p:nvGraphicFramePr>
          <p:xfrm>
            <a:off x="2186087" y="571855"/>
            <a:ext cx="3058328" cy="15668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51" name="Equation" r:id="rId13" imgW="1790640" imgH="914400" progId="Equation.DSMT4">
                    <p:embed/>
                  </p:oleObj>
                </mc:Choice>
                <mc:Fallback>
                  <p:oleObj name="Equation" r:id="rId13" imgW="1790640" imgH="914400" progId="Equation.DSMT4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6087" y="571855"/>
                          <a:ext cx="3058328" cy="15668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3"/>
          <p:cNvSpPr txBox="1">
            <a:spLocks noChangeArrowheads="1"/>
          </p:cNvSpPr>
          <p:nvPr/>
        </p:nvSpPr>
        <p:spPr bwMode="auto">
          <a:xfrm>
            <a:off x="7469188" y="57467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3.7 </a:t>
            </a:r>
            <a:r>
              <a:rPr lang="zh-CN" altLang="en-US" sz="2400" dirty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向量的内积与正交性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1117600" y="1557011"/>
            <a:ext cx="724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ea typeface="黑体" pitchFamily="2" charset="-122"/>
              </a:rPr>
              <a:t>例</a:t>
            </a:r>
            <a:r>
              <a:rPr lang="en-US" altLang="zh-CN" sz="2800" b="1" dirty="0" smtClean="0">
                <a:ea typeface="黑体" pitchFamily="2" charset="-122"/>
              </a:rPr>
              <a:t>5</a:t>
            </a:r>
            <a:endParaRPr lang="zh-CN" altLang="en-US" sz="2800" b="1" dirty="0">
              <a:ea typeface="黑体" pitchFamily="2" charset="-122"/>
            </a:endParaRPr>
          </a:p>
        </p:txBody>
      </p:sp>
      <p:graphicFrame>
        <p:nvGraphicFramePr>
          <p:cNvPr id="235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433678"/>
              </p:ext>
            </p:extLst>
          </p:nvPr>
        </p:nvGraphicFramePr>
        <p:xfrm>
          <a:off x="745334" y="1057881"/>
          <a:ext cx="103124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0" name="Equation" r:id="rId3" imgW="7734300" imgH="2044700" progId="Equation.DSMT4">
                  <p:embed/>
                </p:oleObj>
              </mc:Choice>
              <mc:Fallback>
                <p:oleObj name="Equation" r:id="rId3" imgW="7734300" imgH="204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4" y="1057881"/>
                        <a:ext cx="103124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1207368" y="3214033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解</a:t>
            </a:r>
          </a:p>
        </p:txBody>
      </p:sp>
      <p:graphicFrame>
        <p:nvGraphicFramePr>
          <p:cNvPr id="82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422766"/>
              </p:ext>
            </p:extLst>
          </p:nvPr>
        </p:nvGraphicFramePr>
        <p:xfrm>
          <a:off x="2118675" y="3214033"/>
          <a:ext cx="567266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1" name="Equation" r:id="rId5" imgW="4254500" imgH="977900" progId="Equation.3">
                  <p:embed/>
                </p:oleObj>
              </mc:Choice>
              <mc:Fallback>
                <p:oleObj name="Equation" r:id="rId5" imgW="42545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675" y="3214033"/>
                        <a:ext cx="567266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737854"/>
              </p:ext>
            </p:extLst>
          </p:nvPr>
        </p:nvGraphicFramePr>
        <p:xfrm>
          <a:off x="1407055" y="4235328"/>
          <a:ext cx="6062133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2" name="Equation" r:id="rId7" imgW="4546600" imgH="2070100" progId="Equation.3">
                  <p:embed/>
                </p:oleObj>
              </mc:Choice>
              <mc:Fallback>
                <p:oleObj name="Equation" r:id="rId7" imgW="4546600" imgH="207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055" y="4235328"/>
                        <a:ext cx="6062133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4.1 .2 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1" grpId="0" autoUpdateAnimBg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117598" y="1289656"/>
            <a:ext cx="63161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/>
              <a:t>把基础解系正交化，</a:t>
            </a:r>
            <a:r>
              <a:rPr lang="zh-CN" altLang="en-US" sz="2800" b="1" dirty="0" smtClean="0"/>
              <a:t>即</a:t>
            </a:r>
            <a:r>
              <a:rPr lang="zh-CN" altLang="en-US" sz="2800" b="1" dirty="0"/>
              <a:t>为</a:t>
            </a:r>
            <a:r>
              <a:rPr lang="zh-CN" altLang="en-US" sz="2800" b="1" dirty="0" smtClean="0"/>
              <a:t>所</a:t>
            </a:r>
            <a:r>
              <a:rPr lang="zh-CN" altLang="en-US" sz="2800" b="1" dirty="0"/>
              <a:t>求．亦即取</a:t>
            </a:r>
          </a:p>
        </p:txBody>
      </p:sp>
      <p:graphicFrame>
        <p:nvGraphicFramePr>
          <p:cNvPr id="839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055555"/>
              </p:ext>
            </p:extLst>
          </p:nvPr>
        </p:nvGraphicFramePr>
        <p:xfrm>
          <a:off x="2469105" y="2243776"/>
          <a:ext cx="152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7" name="Equation" r:id="rId3" imgW="1143000" imgH="444500" progId="Equation.3">
                  <p:embed/>
                </p:oleObj>
              </mc:Choice>
              <mc:Fallback>
                <p:oleObj name="Equation" r:id="rId3" imgW="1143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105" y="2243776"/>
                        <a:ext cx="1524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199701"/>
              </p:ext>
            </p:extLst>
          </p:nvPr>
        </p:nvGraphicFramePr>
        <p:xfrm>
          <a:off x="4365700" y="1956687"/>
          <a:ext cx="377613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8" name="Equation" r:id="rId5" imgW="2832100" imgH="965200" progId="Equation.3">
                  <p:embed/>
                </p:oleObj>
              </mc:Choice>
              <mc:Fallback>
                <p:oleObj name="Equation" r:id="rId5" imgW="2832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700" y="1956687"/>
                        <a:ext cx="377613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311356"/>
              </p:ext>
            </p:extLst>
          </p:nvPr>
        </p:nvGraphicFramePr>
        <p:xfrm>
          <a:off x="1462088" y="3248025"/>
          <a:ext cx="673946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9" name="Equation" r:id="rId7" imgW="5054600" imgH="457200" progId="Equation.DSMT4">
                  <p:embed/>
                </p:oleObj>
              </mc:Choice>
              <mc:Fallback>
                <p:oleObj name="Equation" r:id="rId7" imgW="5054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3248025"/>
                        <a:ext cx="673946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160934"/>
              </p:ext>
            </p:extLst>
          </p:nvPr>
        </p:nvGraphicFramePr>
        <p:xfrm>
          <a:off x="1766372" y="4093339"/>
          <a:ext cx="21505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0" name="Equation" r:id="rId9" imgW="1612900" imgH="1511300" progId="Equation.3">
                  <p:embed/>
                </p:oleObj>
              </mc:Choice>
              <mc:Fallback>
                <p:oleObj name="Equation" r:id="rId9" imgW="16129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372" y="4093339"/>
                        <a:ext cx="21505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637117"/>
              </p:ext>
            </p:extLst>
          </p:nvPr>
        </p:nvGraphicFramePr>
        <p:xfrm>
          <a:off x="4121295" y="4128778"/>
          <a:ext cx="58589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1" name="Equation" r:id="rId11" imgW="4394200" imgH="1511300" progId="Equation.3">
                  <p:embed/>
                </p:oleObj>
              </mc:Choice>
              <mc:Fallback>
                <p:oleObj name="Equation" r:id="rId11" imgW="43942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295" y="4128778"/>
                        <a:ext cx="58589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4.1 .2 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3" name="Group 23"/>
          <p:cNvGrpSpPr>
            <a:grpSpLocks/>
          </p:cNvGrpSpPr>
          <p:nvPr/>
        </p:nvGrpSpPr>
        <p:grpSpPr bwMode="auto">
          <a:xfrm>
            <a:off x="6993467" y="901700"/>
            <a:ext cx="3860800" cy="3111500"/>
            <a:chOff x="3032" y="616"/>
            <a:chExt cx="1824" cy="1960"/>
          </a:xfrm>
        </p:grpSpPr>
        <p:sp>
          <p:nvSpPr>
            <p:cNvPr id="22566" name="Line 5"/>
            <p:cNvSpPr>
              <a:spLocks noChangeShapeType="1"/>
            </p:cNvSpPr>
            <p:nvPr/>
          </p:nvSpPr>
          <p:spPr bwMode="auto">
            <a:xfrm flipH="1">
              <a:off x="3223" y="1392"/>
              <a:ext cx="665" cy="115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7" name="Line 6"/>
            <p:cNvSpPr>
              <a:spLocks noChangeShapeType="1"/>
            </p:cNvSpPr>
            <p:nvPr/>
          </p:nvSpPr>
          <p:spPr bwMode="auto">
            <a:xfrm flipH="1" flipV="1">
              <a:off x="3312" y="816"/>
              <a:ext cx="576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8" name="Line 7"/>
            <p:cNvSpPr>
              <a:spLocks noChangeShapeType="1"/>
            </p:cNvSpPr>
            <p:nvPr/>
          </p:nvSpPr>
          <p:spPr bwMode="auto">
            <a:xfrm>
              <a:off x="3888" y="1392"/>
              <a:ext cx="768" cy="76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69" name="Object 18"/>
            <p:cNvGraphicFramePr>
              <a:graphicFrameLocks noChangeAspect="1"/>
            </p:cNvGraphicFramePr>
            <p:nvPr/>
          </p:nvGraphicFramePr>
          <p:xfrm>
            <a:off x="3032" y="2344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78" name="Equation" r:id="rId3" imgW="304763" imgH="361981" progId="Equation.3">
                    <p:embed/>
                  </p:oleObj>
                </mc:Choice>
                <mc:Fallback>
                  <p:oleObj name="Equation" r:id="rId3" imgW="304763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2" y="2344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0" name="Object 21"/>
            <p:cNvGraphicFramePr>
              <a:graphicFrameLocks noChangeAspect="1"/>
            </p:cNvGraphicFramePr>
            <p:nvPr/>
          </p:nvGraphicFramePr>
          <p:xfrm>
            <a:off x="3120" y="616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79" name="Equation" r:id="rId5" imgW="333377" imgH="361981" progId="Equation.3">
                    <p:embed/>
                  </p:oleObj>
                </mc:Choice>
                <mc:Fallback>
                  <p:oleObj name="Equation" r:id="rId5" imgW="333377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616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1" name="Object 22"/>
            <p:cNvGraphicFramePr>
              <a:graphicFrameLocks noChangeAspect="1"/>
            </p:cNvGraphicFramePr>
            <p:nvPr/>
          </p:nvGraphicFramePr>
          <p:xfrm>
            <a:off x="4640" y="2064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80" name="Equation" r:id="rId7" imgW="333377" imgH="361981" progId="Equation.3">
                    <p:embed/>
                  </p:oleObj>
                </mc:Choice>
                <mc:Fallback>
                  <p:oleObj name="Equation" r:id="rId7" imgW="333377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0" y="2064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3752851" y="86381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几　何　解　释</a:t>
            </a:r>
          </a:p>
        </p:txBody>
      </p:sp>
      <p:grpSp>
        <p:nvGrpSpPr>
          <p:cNvPr id="81945" name="Group 25"/>
          <p:cNvGrpSpPr>
            <a:grpSpLocks/>
          </p:cNvGrpSpPr>
          <p:nvPr/>
        </p:nvGrpSpPr>
        <p:grpSpPr bwMode="auto">
          <a:xfrm>
            <a:off x="7399867" y="2133600"/>
            <a:ext cx="1407584" cy="1905000"/>
            <a:chOff x="3224" y="1392"/>
            <a:chExt cx="665" cy="1200"/>
          </a:xfrm>
        </p:grpSpPr>
        <p:sp>
          <p:nvSpPr>
            <p:cNvPr id="22564" name="Line 17"/>
            <p:cNvSpPr>
              <a:spLocks noChangeShapeType="1"/>
            </p:cNvSpPr>
            <p:nvPr/>
          </p:nvSpPr>
          <p:spPr bwMode="auto">
            <a:xfrm flipH="1">
              <a:off x="3224" y="1392"/>
              <a:ext cx="665" cy="11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65" name="Object 24"/>
            <p:cNvGraphicFramePr>
              <a:graphicFrameLocks noChangeAspect="1"/>
            </p:cNvGraphicFramePr>
            <p:nvPr/>
          </p:nvGraphicFramePr>
          <p:xfrm>
            <a:off x="3336" y="2360"/>
            <a:ext cx="19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81" name="Equation" r:id="rId9" imgW="295315" imgH="361981" progId="Equation.3">
                    <p:embed/>
                  </p:oleObj>
                </mc:Choice>
                <mc:Fallback>
                  <p:oleObj name="Equation" r:id="rId9" imgW="295315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6" y="2360"/>
                          <a:ext cx="192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46" name="Object 26"/>
          <p:cNvGraphicFramePr>
            <a:graphicFrameLocks noChangeAspect="1"/>
          </p:cNvGraphicFramePr>
          <p:nvPr/>
        </p:nvGraphicFramePr>
        <p:xfrm>
          <a:off x="1219200" y="774700"/>
          <a:ext cx="1473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2" name="Equation" r:id="rId11" imgW="1104900" imgH="368300" progId="Equation.3">
                  <p:embed/>
                </p:oleObj>
              </mc:Choice>
              <mc:Fallback>
                <p:oleObj name="Equation" r:id="rId11" imgW="11049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774700"/>
                        <a:ext cx="1473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7" name="Object 27"/>
          <p:cNvGraphicFramePr>
            <a:graphicFrameLocks noChangeAspect="1"/>
          </p:cNvGraphicFramePr>
          <p:nvPr/>
        </p:nvGraphicFramePr>
        <p:xfrm>
          <a:off x="1219200" y="1206500"/>
          <a:ext cx="57404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3" name="Equation" r:id="rId13" imgW="4305300" imgH="1536700" progId="Equation.3">
                  <p:embed/>
                </p:oleObj>
              </mc:Choice>
              <mc:Fallback>
                <p:oleObj name="Equation" r:id="rId13" imgW="4305300" imgH="153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06500"/>
                        <a:ext cx="57404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8" name="Object 28"/>
          <p:cNvGraphicFramePr>
            <a:graphicFrameLocks noChangeAspect="1"/>
          </p:cNvGraphicFramePr>
          <p:nvPr/>
        </p:nvGraphicFramePr>
        <p:xfrm>
          <a:off x="1286933" y="2679700"/>
          <a:ext cx="237066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4" name="Equation" r:id="rId15" imgW="1778000" imgH="368300" progId="Equation.3">
                  <p:embed/>
                </p:oleObj>
              </mc:Choice>
              <mc:Fallback>
                <p:oleObj name="Equation" r:id="rId15" imgW="17780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933" y="2679700"/>
                        <a:ext cx="237066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51" name="Group 31"/>
          <p:cNvGrpSpPr>
            <a:grpSpLocks/>
          </p:cNvGrpSpPr>
          <p:nvPr/>
        </p:nvGrpSpPr>
        <p:grpSpPr bwMode="auto">
          <a:xfrm>
            <a:off x="7890933" y="2133600"/>
            <a:ext cx="2540000" cy="1219200"/>
            <a:chOff x="3456" y="1392"/>
            <a:chExt cx="1200" cy="768"/>
          </a:xfrm>
        </p:grpSpPr>
        <p:sp>
          <p:nvSpPr>
            <p:cNvPr id="22561" name="Line 9"/>
            <p:cNvSpPr>
              <a:spLocks noChangeShapeType="1"/>
            </p:cNvSpPr>
            <p:nvPr/>
          </p:nvSpPr>
          <p:spPr bwMode="auto">
            <a:xfrm flipH="1">
              <a:off x="3456" y="2160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2" name="Line 29"/>
            <p:cNvSpPr>
              <a:spLocks noChangeShapeType="1"/>
            </p:cNvSpPr>
            <p:nvPr/>
          </p:nvSpPr>
          <p:spPr bwMode="auto">
            <a:xfrm flipH="1">
              <a:off x="3456" y="1392"/>
              <a:ext cx="432" cy="76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63" name="Object 30"/>
            <p:cNvGraphicFramePr>
              <a:graphicFrameLocks noChangeAspect="1"/>
            </p:cNvGraphicFramePr>
            <p:nvPr/>
          </p:nvGraphicFramePr>
          <p:xfrm>
            <a:off x="3552" y="1920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85" name="Equation" r:id="rId17" imgW="304763" imgH="361981" progId="Equation.3">
                    <p:embed/>
                  </p:oleObj>
                </mc:Choice>
                <mc:Fallback>
                  <p:oleObj name="Equation" r:id="rId17" imgW="304763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920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954" name="Group 34"/>
          <p:cNvGrpSpPr>
            <a:grpSpLocks/>
          </p:cNvGrpSpPr>
          <p:nvPr/>
        </p:nvGrpSpPr>
        <p:grpSpPr bwMode="auto">
          <a:xfrm>
            <a:off x="8805333" y="1676400"/>
            <a:ext cx="2573867" cy="1676400"/>
            <a:chOff x="3888" y="1104"/>
            <a:chExt cx="1216" cy="1056"/>
          </a:xfrm>
        </p:grpSpPr>
        <p:sp>
          <p:nvSpPr>
            <p:cNvPr id="22558" name="Line 8"/>
            <p:cNvSpPr>
              <a:spLocks noChangeShapeType="1"/>
            </p:cNvSpPr>
            <p:nvPr/>
          </p:nvSpPr>
          <p:spPr bwMode="auto">
            <a:xfrm flipH="1">
              <a:off x="4644" y="1392"/>
              <a:ext cx="444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9" name="Line 32"/>
            <p:cNvSpPr>
              <a:spLocks noChangeShapeType="1"/>
            </p:cNvSpPr>
            <p:nvPr/>
          </p:nvSpPr>
          <p:spPr bwMode="auto">
            <a:xfrm>
              <a:off x="3888" y="1392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60" name="Object 33"/>
            <p:cNvGraphicFramePr>
              <a:graphicFrameLocks noChangeAspect="1"/>
            </p:cNvGraphicFramePr>
            <p:nvPr/>
          </p:nvGraphicFramePr>
          <p:xfrm>
            <a:off x="4896" y="1104"/>
            <a:ext cx="20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86" name="Equation" r:id="rId19" imgW="323929" imgH="361981" progId="Equation.3">
                    <p:embed/>
                  </p:oleObj>
                </mc:Choice>
                <mc:Fallback>
                  <p:oleObj name="Equation" r:id="rId19" imgW="323929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104"/>
                          <a:ext cx="20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5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043540"/>
              </p:ext>
            </p:extLst>
          </p:nvPr>
        </p:nvGraphicFramePr>
        <p:xfrm>
          <a:off x="1178983" y="3105150"/>
          <a:ext cx="475826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7" name="Equation" r:id="rId21" imgW="3568700" imgH="952500" progId="Equation.3">
                  <p:embed/>
                </p:oleObj>
              </mc:Choice>
              <mc:Fallback>
                <p:oleObj name="Equation" r:id="rId21" imgW="3568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983" y="3105150"/>
                        <a:ext cx="475826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57" name="Group 37"/>
          <p:cNvGrpSpPr>
            <a:grpSpLocks/>
          </p:cNvGrpSpPr>
          <p:nvPr/>
        </p:nvGrpSpPr>
        <p:grpSpPr bwMode="auto">
          <a:xfrm>
            <a:off x="7179733" y="1219200"/>
            <a:ext cx="1625600" cy="1828800"/>
            <a:chOff x="3584" y="672"/>
            <a:chExt cx="768" cy="1152"/>
          </a:xfrm>
        </p:grpSpPr>
        <p:sp>
          <p:nvSpPr>
            <p:cNvPr id="22555" name="Line 12"/>
            <p:cNvSpPr>
              <a:spLocks noChangeShapeType="1"/>
            </p:cNvSpPr>
            <p:nvPr/>
          </p:nvSpPr>
          <p:spPr bwMode="auto">
            <a:xfrm flipH="1">
              <a:off x="3632" y="1248"/>
              <a:ext cx="720" cy="4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6" name="Line 15"/>
            <p:cNvSpPr>
              <a:spLocks noChangeShapeType="1"/>
            </p:cNvSpPr>
            <p:nvPr/>
          </p:nvSpPr>
          <p:spPr bwMode="auto">
            <a:xfrm flipH="1">
              <a:off x="3632" y="672"/>
              <a:ext cx="144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57" name="Object 36"/>
            <p:cNvGraphicFramePr>
              <a:graphicFrameLocks noChangeAspect="1"/>
            </p:cNvGraphicFramePr>
            <p:nvPr/>
          </p:nvGraphicFramePr>
          <p:xfrm>
            <a:off x="3584" y="1592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88" name="Equation" r:id="rId23" imgW="304763" imgH="361981" progId="Equation.3">
                    <p:embed/>
                  </p:oleObj>
                </mc:Choice>
                <mc:Fallback>
                  <p:oleObj name="Equation" r:id="rId23" imgW="304763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4" y="1592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58" name="Object 38"/>
          <p:cNvGraphicFramePr>
            <a:graphicFrameLocks noChangeAspect="1"/>
          </p:cNvGraphicFramePr>
          <p:nvPr/>
        </p:nvGraphicFramePr>
        <p:xfrm>
          <a:off x="1219200" y="4057650"/>
          <a:ext cx="92456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9" name="Equation" r:id="rId25" imgW="6934200" imgH="2082800" progId="Equation.3">
                  <p:embed/>
                </p:oleObj>
              </mc:Choice>
              <mc:Fallback>
                <p:oleObj name="Equation" r:id="rId25" imgW="6934200" imgH="208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057650"/>
                        <a:ext cx="9245600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63" name="Group 43"/>
          <p:cNvGrpSpPr>
            <a:grpSpLocks/>
          </p:cNvGrpSpPr>
          <p:nvPr/>
        </p:nvGrpSpPr>
        <p:grpSpPr bwMode="auto">
          <a:xfrm>
            <a:off x="7313084" y="1222376"/>
            <a:ext cx="1661583" cy="1711325"/>
            <a:chOff x="3511" y="624"/>
            <a:chExt cx="785" cy="1078"/>
          </a:xfrm>
        </p:grpSpPr>
        <p:sp>
          <p:nvSpPr>
            <p:cNvPr id="22547" name="Line 3"/>
            <p:cNvSpPr>
              <a:spLocks noChangeShapeType="1"/>
            </p:cNvSpPr>
            <p:nvPr/>
          </p:nvSpPr>
          <p:spPr bwMode="auto">
            <a:xfrm>
              <a:off x="3736" y="1200"/>
              <a:ext cx="480" cy="0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8" name="Line 39"/>
            <p:cNvSpPr>
              <a:spLocks noChangeShapeType="1"/>
            </p:cNvSpPr>
            <p:nvPr/>
          </p:nvSpPr>
          <p:spPr bwMode="auto">
            <a:xfrm flipH="1">
              <a:off x="3975" y="1200"/>
              <a:ext cx="249" cy="432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9" name="Line 10"/>
            <p:cNvSpPr>
              <a:spLocks noChangeShapeType="1"/>
            </p:cNvSpPr>
            <p:nvPr/>
          </p:nvSpPr>
          <p:spPr bwMode="auto">
            <a:xfrm flipH="1">
              <a:off x="3511" y="1168"/>
              <a:ext cx="249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0" name="Line 11"/>
            <p:cNvSpPr>
              <a:spLocks noChangeShapeType="1"/>
            </p:cNvSpPr>
            <p:nvPr/>
          </p:nvSpPr>
          <p:spPr bwMode="auto">
            <a:xfrm>
              <a:off x="3544" y="1608"/>
              <a:ext cx="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1" name="Line 14"/>
            <p:cNvSpPr>
              <a:spLocks noChangeShapeType="1"/>
            </p:cNvSpPr>
            <p:nvPr/>
          </p:nvSpPr>
          <p:spPr bwMode="auto">
            <a:xfrm>
              <a:off x="3640" y="624"/>
              <a:ext cx="96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2" name="Line 16"/>
            <p:cNvSpPr>
              <a:spLocks noChangeShapeType="1"/>
            </p:cNvSpPr>
            <p:nvPr/>
          </p:nvSpPr>
          <p:spPr bwMode="auto">
            <a:xfrm>
              <a:off x="3640" y="640"/>
              <a:ext cx="336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53" name="Object 40"/>
            <p:cNvGraphicFramePr>
              <a:graphicFrameLocks noChangeAspect="1"/>
            </p:cNvGraphicFramePr>
            <p:nvPr/>
          </p:nvGraphicFramePr>
          <p:xfrm>
            <a:off x="4032" y="1470"/>
            <a:ext cx="26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90" name="Equation" r:id="rId27" imgW="409500" imgH="361981" progId="Equation.3">
                    <p:embed/>
                  </p:oleObj>
                </mc:Choice>
                <mc:Fallback>
                  <p:oleObj name="Equation" r:id="rId27" imgW="409500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470"/>
                          <a:ext cx="26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41"/>
            <p:cNvGraphicFramePr>
              <a:graphicFrameLocks noChangeAspect="1"/>
            </p:cNvGraphicFramePr>
            <p:nvPr/>
          </p:nvGraphicFramePr>
          <p:xfrm>
            <a:off x="3810" y="954"/>
            <a:ext cx="26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91" name="Equation" r:id="rId29" imgW="409500" imgH="361981" progId="Equation.3">
                    <p:embed/>
                  </p:oleObj>
                </mc:Choice>
                <mc:Fallback>
                  <p:oleObj name="Equation" r:id="rId29" imgW="409500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" y="954"/>
                          <a:ext cx="26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64" name="Object 44"/>
          <p:cNvGraphicFramePr>
            <a:graphicFrameLocks noChangeAspect="1"/>
          </p:cNvGraphicFramePr>
          <p:nvPr/>
        </p:nvGraphicFramePr>
        <p:xfrm>
          <a:off x="8602133" y="5410200"/>
          <a:ext cx="237066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92" name="Equation" r:id="rId31" imgW="1778000" imgH="368300" progId="Equation.3">
                  <p:embed/>
                </p:oleObj>
              </mc:Choice>
              <mc:Fallback>
                <p:oleObj name="Equation" r:id="rId31" imgW="17780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2133" y="5410200"/>
                        <a:ext cx="237066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66" name="Group 46"/>
          <p:cNvGrpSpPr>
            <a:grpSpLocks/>
          </p:cNvGrpSpPr>
          <p:nvPr/>
        </p:nvGrpSpPr>
        <p:grpSpPr bwMode="auto">
          <a:xfrm>
            <a:off x="7636933" y="609600"/>
            <a:ext cx="1727200" cy="1524000"/>
            <a:chOff x="3664" y="240"/>
            <a:chExt cx="816" cy="960"/>
          </a:xfrm>
        </p:grpSpPr>
        <p:sp>
          <p:nvSpPr>
            <p:cNvPr id="22544" name="Line 4"/>
            <p:cNvSpPr>
              <a:spLocks noChangeShapeType="1"/>
            </p:cNvSpPr>
            <p:nvPr/>
          </p:nvSpPr>
          <p:spPr bwMode="auto">
            <a:xfrm flipV="1">
              <a:off x="4216" y="336"/>
              <a:ext cx="0" cy="8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5" name="Line 13"/>
            <p:cNvSpPr>
              <a:spLocks noChangeShapeType="1"/>
            </p:cNvSpPr>
            <p:nvPr/>
          </p:nvSpPr>
          <p:spPr bwMode="auto">
            <a:xfrm flipH="1">
              <a:off x="3664" y="344"/>
              <a:ext cx="528" cy="3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46" name="Object 45"/>
            <p:cNvGraphicFramePr>
              <a:graphicFrameLocks noChangeAspect="1"/>
            </p:cNvGraphicFramePr>
            <p:nvPr/>
          </p:nvGraphicFramePr>
          <p:xfrm>
            <a:off x="4272" y="240"/>
            <a:ext cx="20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93" name="Equation" r:id="rId33" imgW="323929" imgH="361981" progId="Equation.3">
                    <p:embed/>
                  </p:oleObj>
                </mc:Choice>
                <mc:Fallback>
                  <p:oleObj name="Equation" r:id="rId33" imgW="323929" imgH="3619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40"/>
                          <a:ext cx="20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文本框 3"/>
          <p:cNvSpPr txBox="1">
            <a:spLocks noChangeArrowheads="1"/>
          </p:cNvSpPr>
          <p:nvPr/>
        </p:nvSpPr>
        <p:spPr bwMode="auto">
          <a:xfrm>
            <a:off x="7941734" y="127140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4.1 .2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8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79561" y="1250274"/>
            <a:ext cx="3041561" cy="696036"/>
            <a:chOff x="745588" y="1310185"/>
            <a:chExt cx="18006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正交矩阵与正交变换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3209" y="216784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289603" y="2299264"/>
            <a:ext cx="29833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则称 </a:t>
            </a:r>
            <a:r>
              <a:rPr lang="en-US" altLang="zh-CN" sz="24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正交矩阵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110242" y="2278061"/>
            <a:ext cx="4276270" cy="461665"/>
            <a:chOff x="1978926" y="2277513"/>
            <a:chExt cx="4276300" cy="462959"/>
          </a:xfrm>
        </p:grpSpPr>
        <p:sp>
          <p:nvSpPr>
            <p:cNvPr id="30781" name="文本框 10"/>
            <p:cNvSpPr txBox="1">
              <a:spLocks noChangeArrowheads="1"/>
            </p:cNvSpPr>
            <p:nvPr/>
          </p:nvSpPr>
          <p:spPr bwMode="auto">
            <a:xfrm>
              <a:off x="1978926" y="2277513"/>
              <a:ext cx="4276300" cy="462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若方阵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满足            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         ，</a:t>
              </a:r>
              <a:endParaRPr lang="zh-CN" altLang="en-US" sz="2400" dirty="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30764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153847"/>
                </p:ext>
              </p:extLst>
            </p:nvPr>
          </p:nvGraphicFramePr>
          <p:xfrm>
            <a:off x="3957305" y="2298775"/>
            <a:ext cx="1868500" cy="386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0" name="Equation" r:id="rId3" imgW="1002960" imgH="190440" progId="Equation.DSMT4">
                    <p:embed/>
                  </p:oleObj>
                </mc:Choice>
                <mc:Fallback>
                  <p:oleObj name="Equation" r:id="rId3" imgW="1002960" imgH="190440" progId="Equation.DSMT4">
                    <p:embed/>
                    <p:pic>
                      <p:nvPicPr>
                        <p:cNvPr id="0" name="Picture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305" y="2298775"/>
                          <a:ext cx="1868500" cy="38627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479561" y="304075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性  质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1882775" y="3130550"/>
            <a:ext cx="8148638" cy="471488"/>
            <a:chOff x="2169993" y="3144838"/>
            <a:chExt cx="8147713" cy="471487"/>
          </a:xfrm>
        </p:grpSpPr>
        <p:sp>
          <p:nvSpPr>
            <p:cNvPr id="30780" name="文本框 17"/>
            <p:cNvSpPr txBox="1">
              <a:spLocks noChangeArrowheads="1"/>
            </p:cNvSpPr>
            <p:nvPr/>
          </p:nvSpPr>
          <p:spPr bwMode="auto">
            <a:xfrm>
              <a:off x="2169993" y="3150419"/>
              <a:ext cx="814771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）若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为正交阵，则             也是正交阵，且</a:t>
              </a:r>
            </a:p>
          </p:txBody>
        </p:sp>
        <p:graphicFrame>
          <p:nvGraphicFramePr>
            <p:cNvPr id="30765" name="Object 45"/>
            <p:cNvGraphicFramePr>
              <a:graphicFrameLocks noChangeAspect="1"/>
            </p:cNvGraphicFramePr>
            <p:nvPr/>
          </p:nvGraphicFramePr>
          <p:xfrm>
            <a:off x="5582834" y="3189432"/>
            <a:ext cx="1063625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" name="Equation" r:id="rId5" imgW="571320" imgH="190440" progId="Equation.DSMT4">
                    <p:embed/>
                  </p:oleObj>
                </mc:Choice>
                <mc:Fallback>
                  <p:oleObj name="Equation" r:id="rId5" imgW="571320" imgH="190440" progId="Equation.DSMT4">
                    <p:embed/>
                    <p:pic>
                      <p:nvPicPr>
                        <p:cNvPr id="0" name="Picture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2834" y="3189432"/>
                          <a:ext cx="1063625" cy="354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6" name="Object 46"/>
            <p:cNvGraphicFramePr>
              <a:graphicFrameLocks noChangeAspect="1"/>
            </p:cNvGraphicFramePr>
            <p:nvPr/>
          </p:nvGraphicFramePr>
          <p:xfrm>
            <a:off x="8869363" y="3144838"/>
            <a:ext cx="1017587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2" name="Equation" r:id="rId7" imgW="545760" imgH="253800" progId="Equation.DSMT4">
                    <p:embed/>
                  </p:oleObj>
                </mc:Choice>
                <mc:Fallback>
                  <p:oleObj name="Equation" r:id="rId7" imgW="545760" imgH="253800" progId="Equation.DSMT4">
                    <p:embed/>
                    <p:pic>
                      <p:nvPicPr>
                        <p:cNvPr id="0" name="Picture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9363" y="3144838"/>
                          <a:ext cx="1017587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882775" y="3922713"/>
            <a:ext cx="76565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）若 </a:t>
            </a:r>
            <a:r>
              <a:rPr lang="en-US" altLang="zh-CN" sz="2400" i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i="1">
                <a:latin typeface="Times New Roman" pitchFamily="18" charset="0"/>
                <a:ea typeface="微软雅黑" pitchFamily="34" charset="-122"/>
              </a:rPr>
              <a:t>B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为同阶正交阵，则 </a:t>
            </a:r>
            <a:r>
              <a:rPr lang="en-US" altLang="zh-CN" sz="2400" i="1">
                <a:latin typeface="Times New Roman" pitchFamily="18" charset="0"/>
                <a:ea typeface="微软雅黑" pitchFamily="34" charset="-122"/>
              </a:rPr>
              <a:t>AB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也为正交阵 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882775" y="4706938"/>
            <a:ext cx="9007475" cy="500062"/>
            <a:chOff x="1883389" y="4706400"/>
            <a:chExt cx="9007523" cy="501254"/>
          </a:xfrm>
        </p:grpSpPr>
        <p:sp>
          <p:nvSpPr>
            <p:cNvPr id="30779" name="文本框 22"/>
            <p:cNvSpPr txBox="1">
              <a:spLocks noChangeArrowheads="1"/>
            </p:cNvSpPr>
            <p:nvPr/>
          </p:nvSpPr>
          <p:spPr bwMode="auto">
            <a:xfrm>
              <a:off x="1883389" y="4706400"/>
              <a:ext cx="900752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）若 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为正交阵         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</a:rPr>
                <a:t>A</a:t>
              </a:r>
              <a:r>
                <a:rPr lang="zh-CN" altLang="en-US" sz="2400">
                  <a:latin typeface="Times New Roman" pitchFamily="18" charset="0"/>
                  <a:ea typeface="微软雅黑" pitchFamily="34" charset="-122"/>
                </a:rPr>
                <a:t>的列向量组是       的一个标准正交基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.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30767" name="Object 47"/>
            <p:cNvGraphicFramePr>
              <a:graphicFrameLocks noChangeAspect="1"/>
            </p:cNvGraphicFramePr>
            <p:nvPr/>
          </p:nvGraphicFramePr>
          <p:xfrm>
            <a:off x="3103254" y="4751064"/>
            <a:ext cx="354013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3" name="Equation" r:id="rId9" imgW="190440" imgH="228600" progId="Equation.DSMT4">
                    <p:embed/>
                  </p:oleObj>
                </mc:Choice>
                <mc:Fallback>
                  <p:oleObj name="Equation" r:id="rId9" imgW="190440" imgH="228600" progId="Equation.DSMT4">
                    <p:embed/>
                    <p:pic>
                      <p:nvPicPr>
                        <p:cNvPr id="0" name="Picture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3254" y="4751064"/>
                          <a:ext cx="354013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8" name="Object 48"/>
            <p:cNvGraphicFramePr>
              <a:graphicFrameLocks noChangeAspect="1"/>
            </p:cNvGraphicFramePr>
            <p:nvPr/>
          </p:nvGraphicFramePr>
          <p:xfrm>
            <a:off x="7726788" y="4751064"/>
            <a:ext cx="377825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4" name="Equation" r:id="rId11" imgW="203040" imgH="190440" progId="Equation.DSMT4">
                    <p:embed/>
                  </p:oleObj>
                </mc:Choice>
                <mc:Fallback>
                  <p:oleObj name="Equation" r:id="rId11" imgW="203040" imgH="190440" progId="Equation.DSMT4">
                    <p:embed/>
                    <p:pic>
                      <p:nvPicPr>
                        <p:cNvPr id="0" name="Picture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6788" y="4751064"/>
                          <a:ext cx="377825" cy="354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9" name="Object 49"/>
            <p:cNvGraphicFramePr>
              <a:graphicFrameLocks noChangeAspect="1"/>
            </p:cNvGraphicFramePr>
            <p:nvPr/>
          </p:nvGraphicFramePr>
          <p:xfrm>
            <a:off x="4857810" y="4760289"/>
            <a:ext cx="633767" cy="447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5" name="Equation" r:id="rId13" imgW="215640" imgH="152280" progId="Equation.DSMT4">
                    <p:embed/>
                  </p:oleObj>
                </mc:Choice>
                <mc:Fallback>
                  <p:oleObj name="Equation" r:id="rId13" imgW="215640" imgH="152280" progId="Equation.DSMT4">
                    <p:embed/>
                    <p:pic>
                      <p:nvPicPr>
                        <p:cNvPr id="0" name="Picture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7810" y="4760289"/>
                          <a:ext cx="633767" cy="4473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469188" y="57467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3.7 </a:t>
            </a:r>
            <a:r>
              <a:rPr lang="zh-CN" altLang="en-US" sz="2400" dirty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向量的内积与正交性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79561" y="1250274"/>
            <a:ext cx="3041561" cy="696036"/>
            <a:chOff x="745588" y="1310185"/>
            <a:chExt cx="18006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正交矩阵与正交变换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3209" y="216784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783" name="文本框 10"/>
          <p:cNvSpPr txBox="1">
            <a:spLocks noChangeArrowheads="1"/>
          </p:cNvSpPr>
          <p:nvPr/>
        </p:nvSpPr>
        <p:spPr bwMode="auto">
          <a:xfrm>
            <a:off x="1965325" y="2332038"/>
            <a:ext cx="2327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设 </a:t>
            </a:r>
            <a:r>
              <a:rPr lang="en-US" altLang="zh-CN" sz="2400" i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Y=AX</a:t>
            </a:r>
            <a:r>
              <a:rPr lang="zh-CN" altLang="en-US" sz="2400" i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</a:p>
        </p:txBody>
      </p:sp>
      <p:sp>
        <p:nvSpPr>
          <p:cNvPr id="31784" name="文本框 11"/>
          <p:cNvSpPr txBox="1">
            <a:spLocks noChangeArrowheads="1"/>
          </p:cNvSpPr>
          <p:nvPr/>
        </p:nvSpPr>
        <p:spPr bwMode="auto">
          <a:xfrm>
            <a:off x="3630613" y="2362016"/>
            <a:ext cx="3106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4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为正交阵时，</a:t>
            </a: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6163046" y="2332038"/>
            <a:ext cx="29479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称该变换为正交变换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4" name="Object 30"/>
          <p:cNvGraphicFramePr>
            <a:graphicFrameLocks noChangeAspect="1"/>
          </p:cNvGraphicFramePr>
          <p:nvPr/>
        </p:nvGraphicFramePr>
        <p:xfrm>
          <a:off x="3062288" y="3070225"/>
          <a:ext cx="14176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" name="Equation" r:id="rId3" imgW="761760" imgH="291960" progId="Equation.DSMT4">
                  <p:embed/>
                </p:oleObj>
              </mc:Choice>
              <mc:Fallback>
                <p:oleObj name="Equation" r:id="rId3" imgW="761760" imgH="29196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3070225"/>
                        <a:ext cx="141763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1"/>
          <p:cNvGraphicFramePr>
            <a:graphicFrameLocks noChangeAspect="1"/>
          </p:cNvGraphicFramePr>
          <p:nvPr/>
        </p:nvGraphicFramePr>
        <p:xfrm>
          <a:off x="4479925" y="3070225"/>
          <a:ext cx="16303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1" name="Equation" r:id="rId5" imgW="876240" imgH="241200" progId="Equation.DSMT4">
                  <p:embed/>
                </p:oleObj>
              </mc:Choice>
              <mc:Fallback>
                <p:oleObj name="Equation" r:id="rId5" imgW="876240" imgH="2412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5" y="3070225"/>
                        <a:ext cx="163036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2"/>
          <p:cNvGraphicFramePr>
            <a:graphicFrameLocks noChangeAspect="1"/>
          </p:cNvGraphicFramePr>
          <p:nvPr/>
        </p:nvGraphicFramePr>
        <p:xfrm>
          <a:off x="6110288" y="3041650"/>
          <a:ext cx="11350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2" name="Equation" r:id="rId7" imgW="609480" imgH="241200" progId="Equation.DSMT4">
                  <p:embed/>
                </p:oleObj>
              </mc:Choice>
              <mc:Fallback>
                <p:oleObj name="Equation" r:id="rId7" imgW="609480" imgH="24120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288" y="3041650"/>
                        <a:ext cx="1135062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3"/>
          <p:cNvGraphicFramePr>
            <a:graphicFrameLocks noChangeAspect="1"/>
          </p:cNvGraphicFramePr>
          <p:nvPr/>
        </p:nvGraphicFramePr>
        <p:xfrm>
          <a:off x="7245350" y="3106738"/>
          <a:ext cx="8032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3" name="Equation" r:id="rId9" imgW="431640" imgH="253800" progId="Equation.DSMT4">
                  <p:embed/>
                </p:oleObj>
              </mc:Choice>
              <mc:Fallback>
                <p:oleObj name="Equation" r:id="rId9" imgW="431640" imgH="25380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0" y="3106738"/>
                        <a:ext cx="80327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2344738" y="5256213"/>
            <a:ext cx="7010400" cy="788987"/>
            <a:chOff x="1343985" y="5650173"/>
            <a:chExt cx="5901673" cy="789039"/>
          </a:xfrm>
        </p:grpSpPr>
        <p:grpSp>
          <p:nvGrpSpPr>
            <p:cNvPr id="31791" name="组合 22"/>
            <p:cNvGrpSpPr>
              <a:grpSpLocks/>
            </p:cNvGrpSpPr>
            <p:nvPr/>
          </p:nvGrpSpPr>
          <p:grpSpPr bwMode="auto">
            <a:xfrm>
              <a:off x="1343985" y="5650173"/>
              <a:ext cx="5901673" cy="789039"/>
              <a:chOff x="9108039" y="4200269"/>
              <a:chExt cx="2210944" cy="575398"/>
            </a:xfrm>
          </p:grpSpPr>
          <p:sp>
            <p:nvSpPr>
              <p:cNvPr id="24" name="圆角矩形 23"/>
              <p:cNvSpPr/>
              <p:nvPr/>
            </p:nvSpPr>
            <p:spPr>
              <a:xfrm>
                <a:off x="9108039" y="4200269"/>
                <a:ext cx="2210944" cy="575398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1793" name="文本框 24"/>
              <p:cNvSpPr txBox="1">
                <a:spLocks noChangeArrowheads="1"/>
              </p:cNvSpPr>
              <p:nvPr/>
            </p:nvSpPr>
            <p:spPr bwMode="auto">
              <a:xfrm>
                <a:off x="9108039" y="4349618"/>
                <a:ext cx="2210944" cy="3334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当             时，二类刚性变换，以反射变换为代表</a:t>
                </a:r>
              </a:p>
            </p:txBody>
          </p:sp>
        </p:grpSp>
        <p:graphicFrame>
          <p:nvGraphicFramePr>
            <p:cNvPr id="31778" name="Object 34"/>
            <p:cNvGraphicFramePr>
              <a:graphicFrameLocks noChangeAspect="1"/>
            </p:cNvGraphicFramePr>
            <p:nvPr/>
          </p:nvGraphicFramePr>
          <p:xfrm>
            <a:off x="1798171" y="5855859"/>
            <a:ext cx="922337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4" name="Equation" r:id="rId11" imgW="495000" imgH="253800" progId="Equation.DSMT4">
                    <p:embed/>
                  </p:oleObj>
                </mc:Choice>
                <mc:Fallback>
                  <p:oleObj name="Equation" r:id="rId11" imgW="495000" imgH="253800" progId="Equation.DSMT4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8171" y="5855859"/>
                          <a:ext cx="922337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2365375" y="4064000"/>
            <a:ext cx="6978650" cy="788988"/>
            <a:chOff x="1343985" y="5650173"/>
            <a:chExt cx="5901673" cy="789039"/>
          </a:xfrm>
        </p:grpSpPr>
        <p:grpSp>
          <p:nvGrpSpPr>
            <p:cNvPr id="31788" name="组合 32"/>
            <p:cNvGrpSpPr>
              <a:grpSpLocks/>
            </p:cNvGrpSpPr>
            <p:nvPr/>
          </p:nvGrpSpPr>
          <p:grpSpPr bwMode="auto">
            <a:xfrm>
              <a:off x="1343985" y="5650173"/>
              <a:ext cx="5901673" cy="789039"/>
              <a:chOff x="9108039" y="4200269"/>
              <a:chExt cx="2210944" cy="575398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9108039" y="4200269"/>
                <a:ext cx="2210944" cy="575398"/>
              </a:xfrm>
              <a:prstGeom prst="roundRect">
                <a:avLst/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1790" name="文本框 35"/>
              <p:cNvSpPr txBox="1">
                <a:spLocks noChangeArrowheads="1"/>
              </p:cNvSpPr>
              <p:nvPr/>
            </p:nvSpPr>
            <p:spPr bwMode="auto">
              <a:xfrm>
                <a:off x="9108039" y="4349618"/>
                <a:ext cx="2210944" cy="3334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当           时，一类刚性变换，以旋转变换为代表</a:t>
                </a:r>
              </a:p>
            </p:txBody>
          </p:sp>
        </p:grpSp>
        <p:graphicFrame>
          <p:nvGraphicFramePr>
            <p:cNvPr id="31779" name="Object 35"/>
            <p:cNvGraphicFramePr>
              <a:graphicFrameLocks noChangeAspect="1"/>
            </p:cNvGraphicFramePr>
            <p:nvPr/>
          </p:nvGraphicFramePr>
          <p:xfrm>
            <a:off x="1891731" y="5855503"/>
            <a:ext cx="733425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5" name="Equation" r:id="rId13" imgW="393480" imgH="253800" progId="Equation.DSMT4">
                    <p:embed/>
                  </p:oleObj>
                </mc:Choice>
                <mc:Fallback>
                  <p:oleObj name="Equation" r:id="rId13" imgW="393480" imgH="253800" progId="Equation.DSMT4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731" y="5855503"/>
                          <a:ext cx="733425" cy="471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783" grpId="0"/>
      <p:bldP spid="31784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838200" y="1516063"/>
            <a:ext cx="11141075" cy="344782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zh-CN" altLang="en-US" sz="2400" b="1" dirty="0" smtClean="0">
                <a:solidFill>
                  <a:srgbClr val="C48170"/>
                </a:solidFill>
              </a:rPr>
              <a:t>例</a:t>
            </a:r>
            <a:r>
              <a:rPr lang="en-US" altLang="zh-CN" sz="2400" b="1" dirty="0" smtClean="0">
                <a:solidFill>
                  <a:srgbClr val="C48170"/>
                </a:solidFill>
              </a:rPr>
              <a:t>6</a:t>
            </a:r>
            <a:r>
              <a:rPr lang="en-US" altLang="zh-CN" sz="2400" dirty="0" smtClean="0"/>
              <a:t>  </a:t>
            </a:r>
            <a:r>
              <a:rPr lang="zh-CN" altLang="en-US" sz="2400" dirty="0" smtClean="0"/>
              <a:t>设       是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维向量，且                    令                               试证明</a:t>
            </a:r>
            <a:r>
              <a:rPr lang="en-US" altLang="zh-CN" sz="2400" dirty="0" smtClean="0"/>
              <a:t>H</a:t>
            </a:r>
            <a:r>
              <a:rPr lang="zh-CN" altLang="en-US" sz="2400" dirty="0" smtClean="0"/>
              <a:t>是对称的正交矩阵</a:t>
            </a:r>
            <a:r>
              <a:rPr lang="en-US" altLang="zh-CN" sz="2400" dirty="0" smtClean="0"/>
              <a:t>.</a:t>
            </a:r>
          </a:p>
          <a:p>
            <a:pPr eaLnBrk="1" hangingPunct="1">
              <a:buFont typeface="Arial" charset="0"/>
              <a:buNone/>
            </a:pPr>
            <a:endParaRPr lang="en-US" altLang="zh-CN" sz="2400" dirty="0" smtClean="0"/>
          </a:p>
          <a:p>
            <a:pPr eaLnBrk="1" hangingPunct="1">
              <a:buFont typeface="Arial" charset="0"/>
              <a:buNone/>
            </a:pPr>
            <a:r>
              <a:rPr lang="zh-CN" altLang="en-US" sz="2400" dirty="0" smtClean="0"/>
              <a:t>证明：</a:t>
            </a:r>
          </a:p>
          <a:p>
            <a:pPr eaLnBrk="1" hangingPunct="1">
              <a:buFont typeface="Arial" charset="0"/>
              <a:buNone/>
            </a:pPr>
            <a:endParaRPr lang="zh-CN" altLang="en-US" sz="2400" dirty="0" smtClean="0"/>
          </a:p>
          <a:p>
            <a:pPr eaLnBrk="1" hangingPunct="1">
              <a:buFont typeface="Arial" charset="0"/>
              <a:buNone/>
            </a:pPr>
            <a:endParaRPr lang="zh-CN" altLang="en-US" sz="2400" dirty="0" smtClean="0"/>
          </a:p>
          <a:p>
            <a:pPr eaLnBrk="1" hangingPunct="1">
              <a:buFont typeface="Arial" charset="0"/>
              <a:buNone/>
            </a:pPr>
            <a:endParaRPr lang="en-US" altLang="zh-CN" sz="2400" dirty="0"/>
          </a:p>
          <a:p>
            <a:pPr eaLnBrk="1" hangingPunct="1">
              <a:buFont typeface="Arial" charset="0"/>
              <a:buNone/>
            </a:pPr>
            <a:r>
              <a:rPr lang="zh-CN" altLang="en-US" sz="2400" dirty="0" smtClean="0"/>
              <a:t>从而，</a:t>
            </a:r>
            <a:r>
              <a:rPr lang="en-US" altLang="zh-CN" sz="2400" dirty="0" smtClean="0"/>
              <a:t>H</a:t>
            </a:r>
            <a:r>
              <a:rPr lang="zh-CN" altLang="en-US" sz="2400" dirty="0" smtClean="0"/>
              <a:t>为对称的正交矩阵</a:t>
            </a:r>
            <a:r>
              <a:rPr lang="en-US" altLang="zh-CN" sz="2400" dirty="0" smtClean="0"/>
              <a:t>.</a:t>
            </a:r>
          </a:p>
        </p:txBody>
      </p:sp>
      <p:graphicFrame>
        <p:nvGraphicFramePr>
          <p:cNvPr id="41991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56037576"/>
              </p:ext>
            </p:extLst>
          </p:nvPr>
        </p:nvGraphicFramePr>
        <p:xfrm>
          <a:off x="4451350" y="1490663"/>
          <a:ext cx="10699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5" name="Equation" r:id="rId3" imgW="609480" imgH="228600" progId="Equation.DSMT4">
                  <p:embed/>
                </p:oleObj>
              </mc:Choice>
              <mc:Fallback>
                <p:oleObj name="Equation" r:id="rId3" imgW="609480" imgH="2286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350" y="1490663"/>
                        <a:ext cx="1069975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891901756"/>
              </p:ext>
            </p:extLst>
          </p:nvPr>
        </p:nvGraphicFramePr>
        <p:xfrm>
          <a:off x="6000812" y="1500950"/>
          <a:ext cx="19970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6" name="Equation" r:id="rId5" imgW="990360" imgH="228600" progId="Equation.DSMT4">
                  <p:embed/>
                </p:oleObj>
              </mc:Choice>
              <mc:Fallback>
                <p:oleObj name="Equation" r:id="rId5" imgW="990360" imgH="2286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812" y="1500950"/>
                        <a:ext cx="1997075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082716"/>
              </p:ext>
            </p:extLst>
          </p:nvPr>
        </p:nvGraphicFramePr>
        <p:xfrm>
          <a:off x="1922463" y="1531917"/>
          <a:ext cx="331787" cy="33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7" name="Equation" r:id="rId7" imgW="177480" imgH="164880" progId="Equation.DSMT4">
                  <p:embed/>
                </p:oleObj>
              </mc:Choice>
              <mc:Fallback>
                <p:oleObj name="Equation" r:id="rId7" imgW="177480" imgH="16488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1531917"/>
                        <a:ext cx="331787" cy="3333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855667"/>
              </p:ext>
            </p:extLst>
          </p:nvPr>
        </p:nvGraphicFramePr>
        <p:xfrm>
          <a:off x="2000312" y="2364159"/>
          <a:ext cx="9199562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8" name="Equation" r:id="rId9" imgW="4305240" imgH="304560" progId="Equation.DSMT4">
                  <p:embed/>
                </p:oleObj>
              </mc:Choice>
              <mc:Fallback>
                <p:oleObj name="Equation" r:id="rId9" imgW="4305240" imgH="30456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312" y="2364159"/>
                        <a:ext cx="9199562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781917"/>
              </p:ext>
            </p:extLst>
          </p:nvPr>
        </p:nvGraphicFramePr>
        <p:xfrm>
          <a:off x="1447429" y="3341668"/>
          <a:ext cx="96202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9" name="Equation" r:id="rId11" imgW="4584600" imgH="279360" progId="Equation.DSMT4">
                  <p:embed/>
                </p:oleObj>
              </mc:Choice>
              <mc:Fallback>
                <p:oleObj name="Equation" r:id="rId11" imgW="4584600" imgH="27936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429" y="3341668"/>
                        <a:ext cx="9620250" cy="70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7469188" y="574674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4.1.2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554183" y="1141084"/>
            <a:ext cx="59554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sz="2800" b="1" dirty="0" smtClean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 smtClean="0">
                <a:solidFill>
                  <a:schemeClr val="bg2"/>
                </a:solidFill>
              </a:rPr>
              <a:t>  </a:t>
            </a:r>
            <a:r>
              <a:rPr lang="zh-CN" altLang="en-US" sz="2800" b="1" dirty="0"/>
              <a:t>判别下列矩阵是否为正交阵．</a:t>
            </a:r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98801"/>
              </p:ext>
            </p:extLst>
          </p:nvPr>
        </p:nvGraphicFramePr>
        <p:xfrm>
          <a:off x="910443" y="1664304"/>
          <a:ext cx="47244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0" name="Equation" r:id="rId3" imgW="3543300" imgH="1511300" progId="Equation.3">
                  <p:embed/>
                </p:oleObj>
              </mc:Choice>
              <mc:Fallback>
                <p:oleObj name="Equation" r:id="rId3" imgW="35433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443" y="1664304"/>
                        <a:ext cx="47244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718593"/>
              </p:ext>
            </p:extLst>
          </p:nvPr>
        </p:nvGraphicFramePr>
        <p:xfrm>
          <a:off x="6197965" y="1141084"/>
          <a:ext cx="3875616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1" name="Equation" r:id="rId5" imgW="3098800" imgH="2578100" progId="Equation.3">
                  <p:embed/>
                </p:oleObj>
              </mc:Choice>
              <mc:Fallback>
                <p:oleObj name="Equation" r:id="rId5" imgW="3098800" imgH="257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965" y="1141084"/>
                        <a:ext cx="3875616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4.1 .2 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975493" y="3196303"/>
            <a:ext cx="57743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）考察</a:t>
            </a:r>
            <a:r>
              <a:rPr lang="zh-CN" altLang="en-US" sz="2800" b="1" dirty="0"/>
              <a:t>矩阵的第一列和第二列，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30151" y="3157796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黑体" pitchFamily="2" charset="-122"/>
              </a:rPr>
              <a:t>解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1139077" y="3845885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/>
              <a:t>由于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666309"/>
              </p:ext>
            </p:extLst>
          </p:nvPr>
        </p:nvGraphicFramePr>
        <p:xfrm>
          <a:off x="2073275" y="3692525"/>
          <a:ext cx="56705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2" name="Equation" r:id="rId7" imgW="4749800" imgH="901700" progId="Equation.3">
                  <p:embed/>
                </p:oleObj>
              </mc:Choice>
              <mc:Fallback>
                <p:oleObj name="Equation" r:id="rId7" imgW="4749800" imgH="901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3692525"/>
                        <a:ext cx="56705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829077" y="3785919"/>
            <a:ext cx="37914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/>
              <a:t>所以它不是正交矩阵．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383106"/>
              </p:ext>
            </p:extLst>
          </p:nvPr>
        </p:nvGraphicFramePr>
        <p:xfrm>
          <a:off x="1139825" y="4548188"/>
          <a:ext cx="3130550" cy="213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3" name="Equation" r:id="rId9" imgW="2501900" imgH="2578100" progId="Equation.DSMT4">
                  <p:embed/>
                </p:oleObj>
              </mc:Choice>
              <mc:Fallback>
                <p:oleObj name="Equation" r:id="rId9" imgW="2501900" imgH="2578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4548188"/>
                        <a:ext cx="3130550" cy="213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028187"/>
              </p:ext>
            </p:extLst>
          </p:nvPr>
        </p:nvGraphicFramePr>
        <p:xfrm>
          <a:off x="4319115" y="4532849"/>
          <a:ext cx="3509962" cy="219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4" name="Equation" r:id="rId11" imgW="2806700" imgH="2654300" progId="Equation.3">
                  <p:embed/>
                </p:oleObj>
              </mc:Choice>
              <mc:Fallback>
                <p:oleObj name="Equation" r:id="rId11" imgW="2806700" imgH="2654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115" y="4532849"/>
                        <a:ext cx="3509962" cy="219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421189"/>
              </p:ext>
            </p:extLst>
          </p:nvPr>
        </p:nvGraphicFramePr>
        <p:xfrm>
          <a:off x="7592291" y="5006810"/>
          <a:ext cx="23368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5" name="Equation" r:id="rId13" imgW="1866900" imgH="1511300" progId="Equation.3">
                  <p:embed/>
                </p:oleObj>
              </mc:Choice>
              <mc:Fallback>
                <p:oleObj name="Equation" r:id="rId13" imgW="1866900" imgH="151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2291" y="5006810"/>
                        <a:ext cx="23368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81512" y="4865863"/>
            <a:ext cx="10855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ea typeface="黑体" pitchFamily="2" charset="-122"/>
              </a:rPr>
              <a:t>（</a:t>
            </a:r>
            <a:r>
              <a:rPr lang="en-US" altLang="zh-CN" sz="2800" b="1" dirty="0" smtClean="0">
                <a:ea typeface="黑体" pitchFamily="2" charset="-122"/>
              </a:rPr>
              <a:t>2</a:t>
            </a:r>
            <a:r>
              <a:rPr lang="zh-CN" altLang="en-US" sz="2800" b="1" dirty="0" smtClean="0">
                <a:ea typeface="黑体" pitchFamily="2" charset="-122"/>
              </a:rPr>
              <a:t>）</a:t>
            </a:r>
            <a:endParaRPr lang="zh-CN" altLang="en-US" sz="2800" b="1" dirty="0">
              <a:ea typeface="黑体" pitchFamily="2" charset="-122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7829077" y="6334780"/>
            <a:ext cx="34307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/>
              <a:t>所以它是正交矩阵．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7" grpId="0" autoUpdateAnimBg="0"/>
      <p:bldP spid="5" grpId="0"/>
      <p:bldP spid="6" grpId="0" autoUpdateAnimBg="0"/>
      <p:bldP spid="7" grpId="0"/>
      <p:bldP spid="8" grpId="0" autoUpdateAnimBg="0"/>
      <p:bldP spid="10" grpId="0" autoUpdateAnimBg="0"/>
      <p:bldP spid="14" grpId="0"/>
      <p:bldP spid="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1117599" y="1703901"/>
            <a:ext cx="995020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宋体" charset="-122"/>
              </a:rPr>
              <a:t>1</a:t>
            </a:r>
            <a:r>
              <a:rPr lang="zh-CN" altLang="en-US" sz="2800" b="1" dirty="0">
                <a:latin typeface="宋体" charset="-122"/>
              </a:rPr>
              <a:t>．将一组基规范正交化的方法</a:t>
            </a:r>
            <a:r>
              <a:rPr lang="zh-CN" altLang="en-US" sz="2800" b="1" dirty="0" smtClean="0">
                <a:latin typeface="宋体" charset="-122"/>
              </a:rPr>
              <a:t>：先</a:t>
            </a:r>
            <a:r>
              <a:rPr lang="zh-CN" altLang="en-US" sz="2800" b="1" dirty="0">
                <a:latin typeface="宋体" charset="-122"/>
              </a:rPr>
              <a:t>用施密特正交化方法将基正交化，然后再</a:t>
            </a:r>
            <a:r>
              <a:rPr lang="zh-CN" altLang="en-US" sz="2800" b="1" dirty="0" smtClean="0">
                <a:latin typeface="宋体" charset="-122"/>
              </a:rPr>
              <a:t>将其单位化</a:t>
            </a:r>
            <a:r>
              <a:rPr lang="zh-CN" altLang="en-US" sz="2800" b="1" dirty="0">
                <a:latin typeface="宋体" charset="-122"/>
              </a:rPr>
              <a:t>．</a:t>
            </a:r>
            <a:endParaRPr lang="zh-CN" altLang="en-US" sz="2800" b="1" u="sng" dirty="0">
              <a:latin typeface="宋体" charset="-122"/>
            </a:endParaRPr>
          </a:p>
        </p:txBody>
      </p:sp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1854200" y="3505200"/>
          <a:ext cx="2590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0" name="Equation" r:id="rId3" imgW="1943100" imgH="469900" progId="Equation.3">
                  <p:embed/>
                </p:oleObj>
              </mc:Choice>
              <mc:Fallback>
                <p:oleObj name="Equation" r:id="rId3" imgW="1943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3505200"/>
                        <a:ext cx="2590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/>
          <p:cNvGraphicFramePr>
            <a:graphicFrameLocks noChangeAspect="1"/>
          </p:cNvGraphicFramePr>
          <p:nvPr/>
        </p:nvGraphicFramePr>
        <p:xfrm>
          <a:off x="1854200" y="4038600"/>
          <a:ext cx="262466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1" name="Equation" r:id="rId5" imgW="1968500" imgH="469900" progId="Equation.3">
                  <p:embed/>
                </p:oleObj>
              </mc:Choice>
              <mc:Fallback>
                <p:oleObj name="Equation" r:id="rId5" imgW="1968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4038600"/>
                        <a:ext cx="262466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430442"/>
              </p:ext>
            </p:extLst>
          </p:nvPr>
        </p:nvGraphicFramePr>
        <p:xfrm>
          <a:off x="1854200" y="4648201"/>
          <a:ext cx="792691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2" name="Equation" r:id="rId7" imgW="5943600" imgH="431800" progId="Equation.DSMT4">
                  <p:embed/>
                </p:oleObj>
              </mc:Choice>
              <mc:Fallback>
                <p:oleObj name="Equation" r:id="rId7" imgW="5943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4648201"/>
                        <a:ext cx="792691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1862667" y="5257801"/>
          <a:ext cx="7909984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3" name="Equation" r:id="rId9" imgW="5930900" imgH="431800" progId="Equation.3">
                  <p:embed/>
                </p:oleObj>
              </mc:Choice>
              <mc:Fallback>
                <p:oleObj name="Equation" r:id="rId9" imgW="5930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667" y="5257801"/>
                        <a:ext cx="7909984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1" name="Rectangle 17"/>
          <p:cNvSpPr>
            <a:spLocks noGrp="1" noChangeArrowheads="1"/>
          </p:cNvSpPr>
          <p:nvPr>
            <p:ph type="title"/>
          </p:nvPr>
        </p:nvSpPr>
        <p:spPr>
          <a:xfrm>
            <a:off x="547419" y="657224"/>
            <a:ext cx="10515600" cy="1325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</a:rPr>
              <a:t>小结</a:t>
            </a:r>
          </a:p>
        </p:txBody>
      </p:sp>
      <p:grpSp>
        <p:nvGrpSpPr>
          <p:cNvPr id="57363" name="Group 19"/>
          <p:cNvGrpSpPr>
            <a:grpSpLocks/>
          </p:cNvGrpSpPr>
          <p:nvPr/>
        </p:nvGrpSpPr>
        <p:grpSpPr bwMode="auto">
          <a:xfrm>
            <a:off x="1117600" y="2949579"/>
            <a:ext cx="8301567" cy="523876"/>
            <a:chOff x="528" y="1858"/>
            <a:chExt cx="3922" cy="330"/>
          </a:xfrm>
        </p:grpSpPr>
        <p:sp>
          <p:nvSpPr>
            <p:cNvPr id="31753" name="Rectangle 5"/>
            <p:cNvSpPr>
              <a:spLocks noChangeArrowheads="1"/>
            </p:cNvSpPr>
            <p:nvPr/>
          </p:nvSpPr>
          <p:spPr bwMode="auto">
            <a:xfrm>
              <a:off x="528" y="1858"/>
              <a:ext cx="392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b="1" dirty="0">
                  <a:latin typeface="宋体" charset="-122"/>
                </a:rPr>
                <a:t>2</a:t>
              </a:r>
              <a:r>
                <a:rPr lang="zh-CN" altLang="en-US" sz="2800" b="1" dirty="0">
                  <a:latin typeface="宋体" charset="-122"/>
                </a:rPr>
                <a:t>．  为正交矩阵的充要条件是下列条件之一成立：</a:t>
              </a:r>
            </a:p>
          </p:txBody>
        </p:sp>
        <p:graphicFrame>
          <p:nvGraphicFramePr>
            <p:cNvPr id="3175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2865050"/>
                </p:ext>
              </p:extLst>
            </p:nvPr>
          </p:nvGraphicFramePr>
          <p:xfrm>
            <a:off x="799" y="1949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34" name="Equation" r:id="rId11" imgW="291973" imgH="304668" progId="Equation.3">
                    <p:embed/>
                  </p:oleObj>
                </mc:Choice>
                <mc:Fallback>
                  <p:oleObj name="Equation" r:id="rId11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" y="1949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4.1 .2 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/>
                <a:ea typeface="华文行楷"/>
                <a:cs typeface="华文行楷"/>
              </a:rPr>
              <a:t>欧式空间</a:t>
            </a:r>
            <a:endParaRPr lang="zh-CN" altLang="en-US" sz="2400" dirty="0">
              <a:solidFill>
                <a:srgbClr val="C00000"/>
              </a:solidFill>
              <a:latin typeface="华文行楷"/>
              <a:ea typeface="华文行楷"/>
              <a:cs typeface="华文行楷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utoUpdateAnimBg="0"/>
      <p:bldP spid="1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660</Words>
  <Application>Microsoft Office PowerPoint</Application>
  <PresentationFormat>自定义</PresentationFormat>
  <Paragraphs>132</Paragraphs>
  <Slides>19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Office 主题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182</cp:revision>
  <dcterms:created xsi:type="dcterms:W3CDTF">2016-07-04T12:59:51Z</dcterms:created>
  <dcterms:modified xsi:type="dcterms:W3CDTF">2018-04-10T09:56:56Z</dcterms:modified>
</cp:coreProperties>
</file>
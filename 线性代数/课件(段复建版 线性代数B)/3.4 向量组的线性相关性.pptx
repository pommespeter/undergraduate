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82" r:id="rId2"/>
    <p:sldId id="272" r:id="rId3"/>
    <p:sldId id="274" r:id="rId4"/>
    <p:sldId id="275" r:id="rId5"/>
    <p:sldId id="276" r:id="rId6"/>
    <p:sldId id="277" r:id="rId7"/>
    <p:sldId id="278" r:id="rId8"/>
    <p:sldId id="285" r:id="rId9"/>
    <p:sldId id="284" r:id="rId10"/>
    <p:sldId id="298" r:id="rId11"/>
    <p:sldId id="280" r:id="rId12"/>
    <p:sldId id="281" r:id="rId13"/>
    <p:sldId id="286" r:id="rId14"/>
    <p:sldId id="299" r:id="rId15"/>
    <p:sldId id="287" r:id="rId16"/>
    <p:sldId id="288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FABAB"/>
    <a:srgbClr val="ED7D31"/>
    <a:srgbClr val="004F8C"/>
    <a:srgbClr val="0070C0"/>
    <a:srgbClr val="00B0F0"/>
    <a:srgbClr val="A5A5A5"/>
    <a:srgbClr val="C48170"/>
    <a:srgbClr val="1F4E79"/>
    <a:srgbClr val="9DC3E6"/>
    <a:srgbClr val="2E75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986" autoAdjust="0"/>
  </p:normalViewPr>
  <p:slideViewPr>
    <p:cSldViewPr snapToGrid="0">
      <p:cViewPr>
        <p:scale>
          <a:sx n="91" d="100"/>
          <a:sy n="91" d="100"/>
        </p:scale>
        <p:origin x="-72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7" d="100"/>
          <a:sy n="57" d="100"/>
        </p:scale>
        <p:origin x="2808" y="3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7F27DA7-906E-44DA-9D1C-2990AB37BBC1}" type="doc">
      <dgm:prSet loTypeId="urn:microsoft.com/office/officeart/2005/8/layout/chevron1" loCatId="process" qsTypeId="urn:microsoft.com/office/officeart/2005/8/quickstyle/simple1" qsCatId="simple" csTypeId="urn:microsoft.com/office/officeart/2005/8/colors/colorful2" csCatId="colorful" phldr="1"/>
      <dgm:spPr/>
    </dgm:pt>
    <dgm:pt modelId="{1B14F906-20EF-4F42-BD73-CD7B0B1ABAA2}">
      <dgm:prSet phldrT="[文本]" custT="1"/>
      <dgm:spPr>
        <a:solidFill>
          <a:schemeClr val="bg2">
            <a:lumMod val="50000"/>
          </a:schemeClr>
        </a:solidFill>
      </dgm:spPr>
      <dgm:t>
        <a:bodyPr/>
        <a:lstStyle/>
        <a:p>
          <a:r>
            <a: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自反性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5F9417BF-96BF-441B-91ED-F4FC02B58A5C}" type="parTrans" cxnId="{57497C62-7575-4478-8C2B-C58C7BE7743A}">
      <dgm:prSet/>
      <dgm:spPr/>
      <dgm:t>
        <a:bodyPr/>
        <a:lstStyle/>
        <a:p>
          <a:endParaRPr lang="zh-CN" altLang="en-US"/>
        </a:p>
      </dgm:t>
    </dgm:pt>
    <dgm:pt modelId="{7B8E7A26-AAC1-4941-89B1-A4390F4A1E13}" type="sibTrans" cxnId="{57497C62-7575-4478-8C2B-C58C7BE7743A}">
      <dgm:prSet/>
      <dgm:spPr/>
      <dgm:t>
        <a:bodyPr/>
        <a:lstStyle/>
        <a:p>
          <a:endParaRPr lang="zh-CN" altLang="en-US"/>
        </a:p>
      </dgm:t>
    </dgm:pt>
    <dgm:pt modelId="{9D0408B4-939C-47A9-8511-F4824D7A3334}">
      <dgm:prSet phldrT="[文本]" custT="1"/>
      <dgm:spPr/>
      <dgm:t>
        <a:bodyPr/>
        <a:lstStyle/>
        <a:p>
          <a:r>
            <a:rPr lang="zh-CN" altLang="en-US" sz="2400" b="1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对称性</a:t>
          </a:r>
          <a:endParaRPr lang="zh-CN" altLang="en-US" sz="2400" b="1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CE99F61A-462A-41A2-BB18-95529A104C10}" type="parTrans" cxnId="{DE230CBE-DAC0-4539-BE02-35E258BDE89D}">
      <dgm:prSet/>
      <dgm:spPr/>
      <dgm:t>
        <a:bodyPr/>
        <a:lstStyle/>
        <a:p>
          <a:endParaRPr lang="zh-CN" altLang="en-US"/>
        </a:p>
      </dgm:t>
    </dgm:pt>
    <dgm:pt modelId="{93EB67E6-2009-4A1A-A112-7F132590CF96}" type="sibTrans" cxnId="{DE230CBE-DAC0-4539-BE02-35E258BDE89D}">
      <dgm:prSet/>
      <dgm:spPr/>
      <dgm:t>
        <a:bodyPr/>
        <a:lstStyle/>
        <a:p>
          <a:endParaRPr lang="zh-CN" altLang="en-US"/>
        </a:p>
      </dgm:t>
    </dgm:pt>
    <dgm:pt modelId="{27768665-BB69-493A-9EDD-F1D6BAA24CA8}">
      <dgm:prSet phldrT="[文本]" custT="1"/>
      <dgm:spPr>
        <a:solidFill>
          <a:srgbClr val="0070C0"/>
        </a:solidFill>
      </dgm:spPr>
      <dgm:t>
        <a:bodyPr/>
        <a:lstStyle/>
        <a:p>
          <a:r>
            <a:rPr lang="zh-CN" altLang="en-US" sz="2400" b="1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传递性</a:t>
          </a:r>
          <a:endParaRPr lang="zh-CN" altLang="en-US" sz="2400" b="1" dirty="0"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E456F464-639A-46C2-B8FE-5A3661169461}" type="parTrans" cxnId="{04C077DA-30CD-4FCE-BB4C-3E2D1AC90201}">
      <dgm:prSet/>
      <dgm:spPr/>
      <dgm:t>
        <a:bodyPr/>
        <a:lstStyle/>
        <a:p>
          <a:endParaRPr lang="zh-CN" altLang="en-US"/>
        </a:p>
      </dgm:t>
    </dgm:pt>
    <dgm:pt modelId="{FE0E0E93-E9C0-46AE-82EB-B3E759AED74F}" type="sibTrans" cxnId="{04C077DA-30CD-4FCE-BB4C-3E2D1AC90201}">
      <dgm:prSet/>
      <dgm:spPr/>
      <dgm:t>
        <a:bodyPr/>
        <a:lstStyle/>
        <a:p>
          <a:endParaRPr lang="zh-CN" altLang="en-US"/>
        </a:p>
      </dgm:t>
    </dgm:pt>
    <dgm:pt modelId="{5061B148-DA44-4323-A9DE-732D14E05812}" type="pres">
      <dgm:prSet presAssocID="{77F27DA7-906E-44DA-9D1C-2990AB37BBC1}" presName="Name0" presStyleCnt="0">
        <dgm:presLayoutVars>
          <dgm:dir/>
          <dgm:animLvl val="lvl"/>
          <dgm:resizeHandles val="exact"/>
        </dgm:presLayoutVars>
      </dgm:prSet>
      <dgm:spPr/>
    </dgm:pt>
    <dgm:pt modelId="{E3F9066F-C3E7-43CE-BF3A-04A28D8E9622}" type="pres">
      <dgm:prSet presAssocID="{1B14F906-20EF-4F42-BD73-CD7B0B1ABAA2}" presName="parTxOnly" presStyleLbl="node1" presStyleIdx="0" presStyleCnt="3" custLinFactX="-40464" custLinFactNeighborX="-100000" custLinFactNeighborY="6670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ED1A89-4546-4F73-8A42-96789069754A}" type="pres">
      <dgm:prSet presAssocID="{7B8E7A26-AAC1-4941-89B1-A4390F4A1E13}" presName="parTxOnlySpace" presStyleCnt="0"/>
      <dgm:spPr/>
    </dgm:pt>
    <dgm:pt modelId="{8F2F2C37-588A-4DF0-8D9B-8DB93F95166D}" type="pres">
      <dgm:prSet presAssocID="{9D0408B4-939C-47A9-8511-F4824D7A3334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C873C83-3A12-4EA5-BAB5-C420FA9E49C3}" type="pres">
      <dgm:prSet presAssocID="{93EB67E6-2009-4A1A-A112-7F132590CF96}" presName="parTxOnlySpace" presStyleCnt="0"/>
      <dgm:spPr/>
    </dgm:pt>
    <dgm:pt modelId="{E0FDD116-36E1-44C6-BD66-FC477437E515}" type="pres">
      <dgm:prSet presAssocID="{27768665-BB69-493A-9EDD-F1D6BAA24CA8}" presName="parTxOnly" presStyleLbl="node1" presStyleIdx="2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45C23908-87E2-4DA5-9155-E93DF7B6D308}" type="presOf" srcId="{77F27DA7-906E-44DA-9D1C-2990AB37BBC1}" destId="{5061B148-DA44-4323-A9DE-732D14E05812}" srcOrd="0" destOrd="0" presId="urn:microsoft.com/office/officeart/2005/8/layout/chevron1"/>
    <dgm:cxn modelId="{04C077DA-30CD-4FCE-BB4C-3E2D1AC90201}" srcId="{77F27DA7-906E-44DA-9D1C-2990AB37BBC1}" destId="{27768665-BB69-493A-9EDD-F1D6BAA24CA8}" srcOrd="2" destOrd="0" parTransId="{E456F464-639A-46C2-B8FE-5A3661169461}" sibTransId="{FE0E0E93-E9C0-46AE-82EB-B3E759AED74F}"/>
    <dgm:cxn modelId="{B9B525B5-C009-41FB-9D4B-B868057A3FDC}" type="presOf" srcId="{9D0408B4-939C-47A9-8511-F4824D7A3334}" destId="{8F2F2C37-588A-4DF0-8D9B-8DB93F95166D}" srcOrd="0" destOrd="0" presId="urn:microsoft.com/office/officeart/2005/8/layout/chevron1"/>
    <dgm:cxn modelId="{DE230CBE-DAC0-4539-BE02-35E258BDE89D}" srcId="{77F27DA7-906E-44DA-9D1C-2990AB37BBC1}" destId="{9D0408B4-939C-47A9-8511-F4824D7A3334}" srcOrd="1" destOrd="0" parTransId="{CE99F61A-462A-41A2-BB18-95529A104C10}" sibTransId="{93EB67E6-2009-4A1A-A112-7F132590CF96}"/>
    <dgm:cxn modelId="{3F0883B0-D7AF-4517-8387-7CC6C63FE069}" type="presOf" srcId="{1B14F906-20EF-4F42-BD73-CD7B0B1ABAA2}" destId="{E3F9066F-C3E7-43CE-BF3A-04A28D8E9622}" srcOrd="0" destOrd="0" presId="urn:microsoft.com/office/officeart/2005/8/layout/chevron1"/>
    <dgm:cxn modelId="{CF826EEA-8335-47A5-892D-39C041F06F29}" type="presOf" srcId="{27768665-BB69-493A-9EDD-F1D6BAA24CA8}" destId="{E0FDD116-36E1-44C6-BD66-FC477437E515}" srcOrd="0" destOrd="0" presId="urn:microsoft.com/office/officeart/2005/8/layout/chevron1"/>
    <dgm:cxn modelId="{57497C62-7575-4478-8C2B-C58C7BE7743A}" srcId="{77F27DA7-906E-44DA-9D1C-2990AB37BBC1}" destId="{1B14F906-20EF-4F42-BD73-CD7B0B1ABAA2}" srcOrd="0" destOrd="0" parTransId="{5F9417BF-96BF-441B-91ED-F4FC02B58A5C}" sibTransId="{7B8E7A26-AAC1-4941-89B1-A4390F4A1E13}"/>
    <dgm:cxn modelId="{59495607-5BE4-4D1E-9155-CA6A499E3CCD}" type="presParOf" srcId="{5061B148-DA44-4323-A9DE-732D14E05812}" destId="{E3F9066F-C3E7-43CE-BF3A-04A28D8E9622}" srcOrd="0" destOrd="0" presId="urn:microsoft.com/office/officeart/2005/8/layout/chevron1"/>
    <dgm:cxn modelId="{EB5E07A2-B4D8-44A7-8704-905A1B9465F6}" type="presParOf" srcId="{5061B148-DA44-4323-A9DE-732D14E05812}" destId="{D2ED1A89-4546-4F73-8A42-96789069754A}" srcOrd="1" destOrd="0" presId="urn:microsoft.com/office/officeart/2005/8/layout/chevron1"/>
    <dgm:cxn modelId="{85F18A5F-641B-46F4-880E-C573840BBC83}" type="presParOf" srcId="{5061B148-DA44-4323-A9DE-732D14E05812}" destId="{8F2F2C37-588A-4DF0-8D9B-8DB93F95166D}" srcOrd="2" destOrd="0" presId="urn:microsoft.com/office/officeart/2005/8/layout/chevron1"/>
    <dgm:cxn modelId="{70BE78C6-999C-4A5C-9D9E-5D2091E8A5E5}" type="presParOf" srcId="{5061B148-DA44-4323-A9DE-732D14E05812}" destId="{0C873C83-3A12-4EA5-BAB5-C420FA9E49C3}" srcOrd="3" destOrd="0" presId="urn:microsoft.com/office/officeart/2005/8/layout/chevron1"/>
    <dgm:cxn modelId="{37D6EE24-BD07-42A9-A53A-0FDB6EB28AC8}" type="presParOf" srcId="{5061B148-DA44-4323-A9DE-732D14E05812}" destId="{E0FDD116-36E1-44C6-BD66-FC477437E51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3F9066F-C3E7-43CE-BF3A-04A28D8E9622}">
      <dsp:nvSpPr>
        <dsp:cNvPr id="0" name=""/>
        <dsp:cNvSpPr/>
      </dsp:nvSpPr>
      <dsp:spPr>
        <a:xfrm>
          <a:off x="0" y="0"/>
          <a:ext cx="2041101" cy="787789"/>
        </a:xfrm>
        <a:prstGeom prst="chevron">
          <a:avLst/>
        </a:prstGeom>
        <a:solidFill>
          <a:schemeClr val="bg2">
            <a:lumMod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自反性</a:t>
          </a:r>
          <a:endParaRPr lang="zh-CN" altLang="en-US" sz="2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393895" y="0"/>
        <a:ext cx="1253312" cy="787789"/>
      </dsp:txXfrm>
    </dsp:sp>
    <dsp:sp modelId="{8F2F2C37-588A-4DF0-8D9B-8DB93F95166D}">
      <dsp:nvSpPr>
        <dsp:cNvPr id="0" name=""/>
        <dsp:cNvSpPr/>
      </dsp:nvSpPr>
      <dsp:spPr>
        <a:xfrm>
          <a:off x="1838666" y="0"/>
          <a:ext cx="2041101" cy="787789"/>
        </a:xfrm>
        <a:prstGeom prst="chevron">
          <a:avLst/>
        </a:prstGeom>
        <a:solidFill>
          <a:schemeClr val="accent2">
            <a:hueOff val="-8103780"/>
            <a:satOff val="16667"/>
            <a:lumOff val="-127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对称性</a:t>
          </a:r>
          <a:endParaRPr lang="zh-CN" altLang="en-US" sz="2400" b="1" kern="1200" dirty="0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2232561" y="0"/>
        <a:ext cx="1253312" cy="787789"/>
      </dsp:txXfrm>
    </dsp:sp>
    <dsp:sp modelId="{E0FDD116-36E1-44C6-BD66-FC477437E515}">
      <dsp:nvSpPr>
        <dsp:cNvPr id="0" name=""/>
        <dsp:cNvSpPr/>
      </dsp:nvSpPr>
      <dsp:spPr>
        <a:xfrm>
          <a:off x="3675658" y="0"/>
          <a:ext cx="2041101" cy="787789"/>
        </a:xfrm>
        <a:prstGeom prst="chevron">
          <a:avLst/>
        </a:prstGeom>
        <a:solidFill>
          <a:srgbClr val="0070C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b="1" kern="1200" dirty="0" smtClean="0">
              <a:latin typeface="微软雅黑" panose="020B0503020204020204" pitchFamily="34" charset="-122"/>
              <a:ea typeface="微软雅黑" panose="020B0503020204020204" pitchFamily="34" charset="-122"/>
            </a:rPr>
            <a:t>传递性</a:t>
          </a:r>
          <a:endParaRPr lang="zh-CN" altLang="en-US" sz="2400" b="1" kern="1200" dirty="0">
            <a:latin typeface="微软雅黑" panose="020B0503020204020204" pitchFamily="34" charset="-122"/>
            <a:ea typeface="微软雅黑" panose="020B0503020204020204" pitchFamily="34" charset="-122"/>
          </a:endParaRPr>
        </a:p>
      </dsp:txBody>
      <dsp:txXfrm>
        <a:off x="4069553" y="0"/>
        <a:ext cx="1253312" cy="787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Relationship Id="rId4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7" Type="http://schemas.openxmlformats.org/officeDocument/2006/relationships/image" Target="../media/image14.wmf"/><Relationship Id="rId2" Type="http://schemas.openxmlformats.org/officeDocument/2006/relationships/image" Target="../media/image9.wmf"/><Relationship Id="rId1" Type="http://schemas.openxmlformats.org/officeDocument/2006/relationships/image" Target="../media/image8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image" Target="../media/image25.wmf"/><Relationship Id="rId3" Type="http://schemas.openxmlformats.org/officeDocument/2006/relationships/image" Target="../media/image15.wmf"/><Relationship Id="rId7" Type="http://schemas.openxmlformats.org/officeDocument/2006/relationships/image" Target="../media/image19.wmf"/><Relationship Id="rId12" Type="http://schemas.openxmlformats.org/officeDocument/2006/relationships/image" Target="../media/image24.wmf"/><Relationship Id="rId2" Type="http://schemas.openxmlformats.org/officeDocument/2006/relationships/image" Target="../media/image12.wmf"/><Relationship Id="rId1" Type="http://schemas.openxmlformats.org/officeDocument/2006/relationships/image" Target="../media/image8.wmf"/><Relationship Id="rId6" Type="http://schemas.openxmlformats.org/officeDocument/2006/relationships/image" Target="../media/image18.wmf"/><Relationship Id="rId11" Type="http://schemas.openxmlformats.org/officeDocument/2006/relationships/image" Target="../media/image23.wmf"/><Relationship Id="rId5" Type="http://schemas.openxmlformats.org/officeDocument/2006/relationships/image" Target="../media/image17.wmf"/><Relationship Id="rId10" Type="http://schemas.openxmlformats.org/officeDocument/2006/relationships/image" Target="../media/image22.wmf"/><Relationship Id="rId4" Type="http://schemas.openxmlformats.org/officeDocument/2006/relationships/image" Target="../media/image16.wmf"/><Relationship Id="rId9" Type="http://schemas.openxmlformats.org/officeDocument/2006/relationships/image" Target="../media/image21.wmf"/><Relationship Id="rId14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18.wmf"/><Relationship Id="rId7" Type="http://schemas.openxmlformats.org/officeDocument/2006/relationships/image" Target="../media/image33.wmf"/><Relationship Id="rId2" Type="http://schemas.openxmlformats.org/officeDocument/2006/relationships/image" Target="../media/image29.wmf"/><Relationship Id="rId1" Type="http://schemas.openxmlformats.org/officeDocument/2006/relationships/image" Target="../media/image16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3" Type="http://schemas.openxmlformats.org/officeDocument/2006/relationships/image" Target="../media/image38.wmf"/><Relationship Id="rId7" Type="http://schemas.openxmlformats.org/officeDocument/2006/relationships/image" Target="../media/image42.wmf"/><Relationship Id="rId2" Type="http://schemas.openxmlformats.org/officeDocument/2006/relationships/image" Target="../media/image37.wmf"/><Relationship Id="rId1" Type="http://schemas.openxmlformats.org/officeDocument/2006/relationships/image" Target="../media/image8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5" Type="http://schemas.openxmlformats.org/officeDocument/2006/relationships/image" Target="../media/image40.wmf"/><Relationship Id="rId10" Type="http://schemas.openxmlformats.org/officeDocument/2006/relationships/image" Target="../media/image45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13" Type="http://schemas.openxmlformats.org/officeDocument/2006/relationships/image" Target="../media/image59.wmf"/><Relationship Id="rId3" Type="http://schemas.openxmlformats.org/officeDocument/2006/relationships/image" Target="../media/image49.wmf"/><Relationship Id="rId7" Type="http://schemas.openxmlformats.org/officeDocument/2006/relationships/image" Target="../media/image53.wmf"/><Relationship Id="rId12" Type="http://schemas.openxmlformats.org/officeDocument/2006/relationships/image" Target="../media/image58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Relationship Id="rId6" Type="http://schemas.openxmlformats.org/officeDocument/2006/relationships/image" Target="../media/image52.wmf"/><Relationship Id="rId11" Type="http://schemas.openxmlformats.org/officeDocument/2006/relationships/image" Target="../media/image57.wmf"/><Relationship Id="rId5" Type="http://schemas.openxmlformats.org/officeDocument/2006/relationships/image" Target="../media/image51.wmf"/><Relationship Id="rId10" Type="http://schemas.openxmlformats.org/officeDocument/2006/relationships/image" Target="../media/image56.wmf"/><Relationship Id="rId4" Type="http://schemas.openxmlformats.org/officeDocument/2006/relationships/image" Target="../media/image50.wmf"/><Relationship Id="rId9" Type="http://schemas.openxmlformats.org/officeDocument/2006/relationships/image" Target="../media/image55.wmf"/></Relationships>
</file>

<file path=ppt/drawings/_rels/vmlDrawing8.v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image" Target="../media/image61.wmf"/><Relationship Id="rId7" Type="http://schemas.openxmlformats.org/officeDocument/2006/relationships/image" Target="../media/image64.wmf"/><Relationship Id="rId2" Type="http://schemas.openxmlformats.org/officeDocument/2006/relationships/image" Target="../media/image60.wmf"/><Relationship Id="rId1" Type="http://schemas.openxmlformats.org/officeDocument/2006/relationships/image" Target="../media/image50.wmf"/><Relationship Id="rId6" Type="http://schemas.openxmlformats.org/officeDocument/2006/relationships/image" Target="../media/image63.wmf"/><Relationship Id="rId5" Type="http://schemas.openxmlformats.org/officeDocument/2006/relationships/image" Target="../media/image27.wmf"/><Relationship Id="rId4" Type="http://schemas.openxmlformats.org/officeDocument/2006/relationships/image" Target="../media/image62.w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71.wmf"/><Relationship Id="rId3" Type="http://schemas.openxmlformats.org/officeDocument/2006/relationships/image" Target="../media/image66.wmf"/><Relationship Id="rId7" Type="http://schemas.openxmlformats.org/officeDocument/2006/relationships/image" Target="../media/image70.wmf"/><Relationship Id="rId2" Type="http://schemas.openxmlformats.org/officeDocument/2006/relationships/image" Target="../media/image27.wmf"/><Relationship Id="rId1" Type="http://schemas.openxmlformats.org/officeDocument/2006/relationships/image" Target="../media/image62.wmf"/><Relationship Id="rId6" Type="http://schemas.openxmlformats.org/officeDocument/2006/relationships/image" Target="../media/image69.wmf"/><Relationship Id="rId5" Type="http://schemas.openxmlformats.org/officeDocument/2006/relationships/image" Target="../media/image68.wmf"/><Relationship Id="rId4" Type="http://schemas.openxmlformats.org/officeDocument/2006/relationships/image" Target="../media/image67.wmf"/><Relationship Id="rId9" Type="http://schemas.openxmlformats.org/officeDocument/2006/relationships/image" Target="../media/image72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Relationship Id="rId4" Type="http://schemas.openxmlformats.org/officeDocument/2006/relationships/image" Target="../media/image76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5" Type="http://schemas.openxmlformats.org/officeDocument/2006/relationships/image" Target="../media/image80.wmf"/><Relationship Id="rId4" Type="http://schemas.openxmlformats.org/officeDocument/2006/relationships/image" Target="../media/image34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7" Type="http://schemas.openxmlformats.org/officeDocument/2006/relationships/image" Target="../media/image87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6" Type="http://schemas.openxmlformats.org/officeDocument/2006/relationships/image" Target="../media/image86.wmf"/><Relationship Id="rId5" Type="http://schemas.openxmlformats.org/officeDocument/2006/relationships/image" Target="../media/image85.wmf"/><Relationship Id="rId4" Type="http://schemas.openxmlformats.org/officeDocument/2006/relationships/image" Target="../media/image84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6" Type="http://schemas.openxmlformats.org/officeDocument/2006/relationships/image" Target="../media/image91.wmf"/><Relationship Id="rId5" Type="http://schemas.openxmlformats.org/officeDocument/2006/relationships/image" Target="../media/image90.wmf"/><Relationship Id="rId4" Type="http://schemas.openxmlformats.org/officeDocument/2006/relationships/image" Target="../media/image84.wmf"/></Relationships>
</file>

<file path=ppt/drawings/_rels/vmlDrawing14.v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94.wmf"/><Relationship Id="rId7" Type="http://schemas.openxmlformats.org/officeDocument/2006/relationships/image" Target="../media/image97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Relationship Id="rId6" Type="http://schemas.openxmlformats.org/officeDocument/2006/relationships/image" Target="../media/image96.wmf"/><Relationship Id="rId5" Type="http://schemas.openxmlformats.org/officeDocument/2006/relationships/image" Target="../media/image83.wmf"/><Relationship Id="rId4" Type="http://schemas.openxmlformats.org/officeDocument/2006/relationships/image" Target="../media/image95.wmf"/><Relationship Id="rId9" Type="http://schemas.openxmlformats.org/officeDocument/2006/relationships/image" Target="../media/image99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486544-89DB-4F59-AE96-0B8884400075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4E83B-27F3-424E-AED7-48AFCC04AB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34000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549425-5B4D-4CD0-A343-4AD6AB6D14A8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FC55D1-65C3-462C-93C2-C4E0CEB6652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1414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C55D1-65C3-462C-93C2-C4E0CEB6652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44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C55D1-65C3-462C-93C2-C4E0CEB6652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870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C55D1-65C3-462C-93C2-C4E0CEB6652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870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FC55D1-65C3-462C-93C2-C4E0CEB6652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87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 smtClean="0"/>
              <a:t>线性代数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4454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61806" y="161741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525195" y="915711"/>
            <a:ext cx="11133406" cy="140677"/>
            <a:chOff x="478302" y="1098594"/>
            <a:chExt cx="11133406" cy="140677"/>
          </a:xfrm>
        </p:grpSpPr>
        <p:cxnSp>
          <p:nvCxnSpPr>
            <p:cNvPr id="12" name="直接连接符 11"/>
            <p:cNvCxnSpPr/>
            <p:nvPr userDrawn="1"/>
          </p:nvCxnSpPr>
          <p:spPr>
            <a:xfrm>
              <a:off x="478302" y="1098594"/>
              <a:ext cx="11133406" cy="0"/>
            </a:xfrm>
            <a:prstGeom prst="line">
              <a:avLst/>
            </a:prstGeom>
            <a:ln w="38100">
              <a:solidFill>
                <a:srgbClr val="004F8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矩形 12"/>
            <p:cNvSpPr/>
            <p:nvPr userDrawn="1"/>
          </p:nvSpPr>
          <p:spPr>
            <a:xfrm>
              <a:off x="478302" y="1098594"/>
              <a:ext cx="6386732" cy="140677"/>
            </a:xfrm>
            <a:prstGeom prst="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top_img[1]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306"/>
          <a:stretch>
            <a:fillRect/>
          </a:stretch>
        </p:blipFill>
        <p:spPr bwMode="auto">
          <a:xfrm>
            <a:off x="525195" y="0"/>
            <a:ext cx="3649955" cy="8872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138556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5463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9852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2539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9905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498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707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3395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198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8675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7" descr="4校标"/>
          <p:cNvPicPr>
            <a:picLocks noChangeAspect="1"/>
          </p:cNvPicPr>
          <p:nvPr userDrawn="1"/>
        </p:nvPicPr>
        <p:blipFill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500"/>
                    </a14:imgEffect>
                    <a14:imgEffect>
                      <a14:saturation sat="156000"/>
                    </a14:imgEffect>
                    <a14:imgEffect>
                      <a14:brightnessContrast bright="-1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98" y="36776"/>
            <a:ext cx="6718242" cy="66913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11298" y="2181443"/>
            <a:ext cx="12192000" cy="2690766"/>
            <a:chOff x="0" y="1966958"/>
            <a:chExt cx="12192000" cy="2690766"/>
          </a:xfrm>
        </p:grpSpPr>
        <p:sp>
          <p:nvSpPr>
            <p:cNvPr id="8" name="矩形 7"/>
            <p:cNvSpPr/>
            <p:nvPr/>
          </p:nvSpPr>
          <p:spPr bwMode="auto">
            <a:xfrm>
              <a:off x="0" y="1966958"/>
              <a:ext cx="12192000" cy="2690766"/>
            </a:xfrm>
            <a:prstGeom prst="rect">
              <a:avLst/>
            </a:prstGeom>
            <a:solidFill>
              <a:srgbClr val="2847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latin typeface="Arial" pitchFamily="34" charset="0"/>
                <a:ea typeface="微软雅黑" pitchFamily="34" charset="-122"/>
                <a:sym typeface="Arial" pitchFamily="34" charset="0"/>
              </a:endParaRPr>
            </a:p>
          </p:txBody>
        </p:sp>
        <p:pic>
          <p:nvPicPr>
            <p:cNvPr id="9" name="图片 17" descr="4校标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5932" y="2159818"/>
              <a:ext cx="2112433" cy="2103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10" name="直接连接符 9"/>
            <p:cNvCxnSpPr/>
            <p:nvPr userDrawn="1"/>
          </p:nvCxnSpPr>
          <p:spPr>
            <a:xfrm>
              <a:off x="3016249" y="3182938"/>
              <a:ext cx="9144000" cy="0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文本框 6"/>
          <p:cNvSpPr txBox="1">
            <a:spLocks noChangeArrowheads="1"/>
          </p:cNvSpPr>
          <p:nvPr userDrawn="1"/>
        </p:nvSpPr>
        <p:spPr bwMode="auto">
          <a:xfrm>
            <a:off x="2779663" y="2548386"/>
            <a:ext cx="9652000" cy="719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线性代数 </a:t>
            </a:r>
            <a:r>
              <a:rPr lang="en-US" altLang="zh-CN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—— </a:t>
            </a:r>
            <a:r>
              <a:rPr lang="zh-CN" altLang="en-US" sz="4000" b="1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第三章 线性方程组</a:t>
            </a:r>
            <a:endParaRPr lang="en-US" altLang="zh-CN" sz="4000" b="1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  <p:sp>
        <p:nvSpPr>
          <p:cNvPr id="12" name="文本框 32"/>
          <p:cNvSpPr txBox="1">
            <a:spLocks noChangeArrowheads="1"/>
          </p:cNvSpPr>
          <p:nvPr userDrawn="1"/>
        </p:nvSpPr>
        <p:spPr bwMode="auto">
          <a:xfrm>
            <a:off x="2333567" y="3526826"/>
            <a:ext cx="9652000" cy="60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ea typeface="宋体" pitchFamily="2" charset="-122"/>
              </a:defRPr>
            </a:lvl9pPr>
          </a:lstStyle>
          <a:p>
            <a:pPr algn="ctr"/>
            <a:r>
              <a:rPr lang="zh-CN" altLang="en-US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      </a:t>
            </a:r>
            <a:r>
              <a:rPr lang="en-US" altLang="zh-CN" sz="320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3.4</a:t>
            </a:r>
            <a:r>
              <a:rPr lang="en-US" altLang="zh-CN" sz="3200" baseline="0" dirty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  </a:t>
            </a:r>
            <a:r>
              <a:rPr lang="zh-CN" altLang="en-US" sz="3200" baseline="0" smtClean="0">
                <a:solidFill>
                  <a:schemeClr val="bg1"/>
                </a:solidFill>
                <a:latin typeface="Arial" pitchFamily="34" charset="0"/>
                <a:ea typeface="微软雅黑" pitchFamily="34" charset="-122"/>
                <a:sym typeface="Arial" pitchFamily="34" charset="0"/>
              </a:rPr>
              <a:t>向量组的线性相关性</a:t>
            </a:r>
            <a:endParaRPr lang="zh-CN" altLang="en-US" sz="3200" dirty="0">
              <a:solidFill>
                <a:schemeClr val="bg1"/>
              </a:solidFill>
              <a:latin typeface="Arial" pitchFamily="34" charset="0"/>
              <a:ea typeface="微软雅黑" pitchFamily="34" charset="-122"/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220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333375"/>
            <a:ext cx="10972800" cy="57927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317D10-EB71-441F-A43C-BAC0998201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42531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150789-27F0-408F-9528-9DD877FE9CA3}" type="datetimeFigureOut">
              <a:rPr lang="zh-CN" altLang="en-US" smtClean="0"/>
              <a:t>2018/10/12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3AD9F8-D2C4-4F87-9821-C522EA28B02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722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image" Target="../media/image12.wmf"/><Relationship Id="rId18" Type="http://schemas.openxmlformats.org/officeDocument/2006/relationships/image" Target="../media/image14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oleObject" Target="../embeddings/oleObject10.bin"/><Relationship Id="rId1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2.bin"/><Relationship Id="rId1" Type="http://schemas.openxmlformats.org/officeDocument/2006/relationships/vmlDrawing" Target="../drawings/vmlDrawing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5" Type="http://schemas.openxmlformats.org/officeDocument/2006/relationships/image" Target="../media/image13.wmf"/><Relationship Id="rId10" Type="http://schemas.openxmlformats.org/officeDocument/2006/relationships/image" Target="../media/image11.wmf"/><Relationship Id="rId4" Type="http://schemas.openxmlformats.org/officeDocument/2006/relationships/image" Target="../media/image8.wmf"/><Relationship Id="rId9" Type="http://schemas.openxmlformats.org/officeDocument/2006/relationships/oleObject" Target="../embeddings/oleObject8.bin"/><Relationship Id="rId14" Type="http://schemas.openxmlformats.org/officeDocument/2006/relationships/oleObject" Target="../embeddings/oleObject1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0.wmf"/><Relationship Id="rId26" Type="http://schemas.openxmlformats.org/officeDocument/2006/relationships/image" Target="../media/image24.wmf"/><Relationship Id="rId3" Type="http://schemas.openxmlformats.org/officeDocument/2006/relationships/oleObject" Target="../embeddings/oleObject14.bin"/><Relationship Id="rId21" Type="http://schemas.openxmlformats.org/officeDocument/2006/relationships/oleObject" Target="../embeddings/oleObject23.bin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17.wmf"/><Relationship Id="rId17" Type="http://schemas.openxmlformats.org/officeDocument/2006/relationships/oleObject" Target="../embeddings/oleObject21.bin"/><Relationship Id="rId25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9.wmf"/><Relationship Id="rId20" Type="http://schemas.openxmlformats.org/officeDocument/2006/relationships/image" Target="../media/image21.wmf"/><Relationship Id="rId29" Type="http://schemas.openxmlformats.org/officeDocument/2006/relationships/oleObject" Target="../embeddings/oleObject27.bin"/><Relationship Id="rId1" Type="http://schemas.openxmlformats.org/officeDocument/2006/relationships/vmlDrawing" Target="../drawings/vmlDrawing3.vml"/><Relationship Id="rId6" Type="http://schemas.openxmlformats.org/officeDocument/2006/relationships/image" Target="../media/image12.wmf"/><Relationship Id="rId11" Type="http://schemas.openxmlformats.org/officeDocument/2006/relationships/oleObject" Target="../embeddings/oleObject18.bin"/><Relationship Id="rId24" Type="http://schemas.openxmlformats.org/officeDocument/2006/relationships/image" Target="../media/image23.wmf"/><Relationship Id="rId32" Type="http://schemas.openxmlformats.org/officeDocument/2006/relationships/image" Target="../media/image26.wmf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oleObject" Target="../embeddings/oleObject24.bin"/><Relationship Id="rId28" Type="http://schemas.openxmlformats.org/officeDocument/2006/relationships/image" Target="../media/image25.wmf"/><Relationship Id="rId10" Type="http://schemas.openxmlformats.org/officeDocument/2006/relationships/image" Target="../media/image16.wmf"/><Relationship Id="rId19" Type="http://schemas.openxmlformats.org/officeDocument/2006/relationships/oleObject" Target="../embeddings/oleObject22.bin"/><Relationship Id="rId31" Type="http://schemas.openxmlformats.org/officeDocument/2006/relationships/oleObject" Target="../embeddings/oleObject29.bin"/><Relationship Id="rId4" Type="http://schemas.openxmlformats.org/officeDocument/2006/relationships/image" Target="../media/image8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18.wmf"/><Relationship Id="rId22" Type="http://schemas.openxmlformats.org/officeDocument/2006/relationships/image" Target="../media/image22.wmf"/><Relationship Id="rId27" Type="http://schemas.openxmlformats.org/officeDocument/2006/relationships/oleObject" Target="../embeddings/oleObject26.bin"/><Relationship Id="rId30" Type="http://schemas.openxmlformats.org/officeDocument/2006/relationships/oleObject" Target="../embeddings/oleObject28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microsoft.com/office/2007/relationships/diagramDrawing" Target="../diagrams/drawing1.xml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12" Type="http://schemas.openxmlformats.org/officeDocument/2006/relationships/diagramColors" Target="../diagrams/colors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7.wmf"/><Relationship Id="rId11" Type="http://schemas.openxmlformats.org/officeDocument/2006/relationships/diagramQuickStyle" Target="../diagrams/quickStyle1.xml"/><Relationship Id="rId5" Type="http://schemas.openxmlformats.org/officeDocument/2006/relationships/oleObject" Target="../embeddings/oleObject31.bin"/><Relationship Id="rId10" Type="http://schemas.openxmlformats.org/officeDocument/2006/relationships/diagramLayout" Target="../diagrams/layout1.xml"/><Relationship Id="rId4" Type="http://schemas.openxmlformats.org/officeDocument/2006/relationships/image" Target="../media/image8.wmf"/><Relationship Id="rId9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39.bin"/><Relationship Id="rId18" Type="http://schemas.openxmlformats.org/officeDocument/2006/relationships/image" Target="../media/image33.wmf"/><Relationship Id="rId3" Type="http://schemas.openxmlformats.org/officeDocument/2006/relationships/oleObject" Target="../embeddings/oleObject33.bin"/><Relationship Id="rId21" Type="http://schemas.openxmlformats.org/officeDocument/2006/relationships/oleObject" Target="../embeddings/oleObject43.bin"/><Relationship Id="rId7" Type="http://schemas.openxmlformats.org/officeDocument/2006/relationships/oleObject" Target="../embeddings/oleObject35.bin"/><Relationship Id="rId12" Type="http://schemas.openxmlformats.org/officeDocument/2006/relationships/oleObject" Target="../embeddings/oleObject38.bin"/><Relationship Id="rId17" Type="http://schemas.openxmlformats.org/officeDocument/2006/relationships/oleObject" Target="../embeddings/oleObject41.bin"/><Relationship Id="rId25" Type="http://schemas.openxmlformats.org/officeDocument/2006/relationships/oleObject" Target="../embeddings/oleObject45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20" Type="http://schemas.openxmlformats.org/officeDocument/2006/relationships/image" Target="../media/image34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7.bin"/><Relationship Id="rId24" Type="http://schemas.openxmlformats.org/officeDocument/2006/relationships/image" Target="../media/image36.wmf"/><Relationship Id="rId5" Type="http://schemas.openxmlformats.org/officeDocument/2006/relationships/oleObject" Target="../embeddings/oleObject34.bin"/><Relationship Id="rId15" Type="http://schemas.openxmlformats.org/officeDocument/2006/relationships/oleObject" Target="../embeddings/oleObject40.bin"/><Relationship Id="rId23" Type="http://schemas.openxmlformats.org/officeDocument/2006/relationships/oleObject" Target="../embeddings/oleObject44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42.bin"/><Relationship Id="rId4" Type="http://schemas.openxmlformats.org/officeDocument/2006/relationships/image" Target="../media/image16.wmf"/><Relationship Id="rId9" Type="http://schemas.openxmlformats.org/officeDocument/2006/relationships/oleObject" Target="../embeddings/oleObject36.bin"/><Relationship Id="rId14" Type="http://schemas.openxmlformats.org/officeDocument/2006/relationships/image" Target="../media/image31.wmf"/><Relationship Id="rId22" Type="http://schemas.openxmlformats.org/officeDocument/2006/relationships/image" Target="../media/image35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53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44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50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52.bin"/><Relationship Id="rId20" Type="http://schemas.openxmlformats.org/officeDocument/2006/relationships/oleObject" Target="../embeddings/oleObject54.bin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47.bin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56.bin"/><Relationship Id="rId5" Type="http://schemas.openxmlformats.org/officeDocument/2006/relationships/image" Target="../media/image8.wmf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46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51.bin"/><Relationship Id="rId22" Type="http://schemas.openxmlformats.org/officeDocument/2006/relationships/oleObject" Target="../embeddings/oleObject5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9.bin"/><Relationship Id="rId13" Type="http://schemas.openxmlformats.org/officeDocument/2006/relationships/image" Target="../media/image51.wmf"/><Relationship Id="rId18" Type="http://schemas.openxmlformats.org/officeDocument/2006/relationships/image" Target="../media/image53.wmf"/><Relationship Id="rId26" Type="http://schemas.openxmlformats.org/officeDocument/2006/relationships/image" Target="../media/image57.wmf"/><Relationship Id="rId3" Type="http://schemas.openxmlformats.org/officeDocument/2006/relationships/notesSlide" Target="../notesSlides/notesSlide2.xml"/><Relationship Id="rId21" Type="http://schemas.openxmlformats.org/officeDocument/2006/relationships/oleObject" Target="../embeddings/oleObject66.bin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61.bin"/><Relationship Id="rId17" Type="http://schemas.openxmlformats.org/officeDocument/2006/relationships/oleObject" Target="../embeddings/oleObject64.bin"/><Relationship Id="rId25" Type="http://schemas.openxmlformats.org/officeDocument/2006/relationships/oleObject" Target="../embeddings/oleObject68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3.bin"/><Relationship Id="rId20" Type="http://schemas.openxmlformats.org/officeDocument/2006/relationships/image" Target="../media/image54.wmf"/><Relationship Id="rId29" Type="http://schemas.openxmlformats.org/officeDocument/2006/relationships/oleObject" Target="../embeddings/oleObject70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58.bin"/><Relationship Id="rId11" Type="http://schemas.openxmlformats.org/officeDocument/2006/relationships/image" Target="../media/image50.wmf"/><Relationship Id="rId24" Type="http://schemas.openxmlformats.org/officeDocument/2006/relationships/image" Target="../media/image56.wmf"/><Relationship Id="rId32" Type="http://schemas.openxmlformats.org/officeDocument/2006/relationships/oleObject" Target="../embeddings/oleObject72.bin"/><Relationship Id="rId5" Type="http://schemas.openxmlformats.org/officeDocument/2006/relationships/image" Target="../media/image47.wmf"/><Relationship Id="rId15" Type="http://schemas.openxmlformats.org/officeDocument/2006/relationships/image" Target="../media/image52.wmf"/><Relationship Id="rId23" Type="http://schemas.openxmlformats.org/officeDocument/2006/relationships/oleObject" Target="../embeddings/oleObject67.bin"/><Relationship Id="rId28" Type="http://schemas.openxmlformats.org/officeDocument/2006/relationships/image" Target="../media/image58.wmf"/><Relationship Id="rId10" Type="http://schemas.openxmlformats.org/officeDocument/2006/relationships/oleObject" Target="../embeddings/oleObject60.bin"/><Relationship Id="rId19" Type="http://schemas.openxmlformats.org/officeDocument/2006/relationships/oleObject" Target="../embeddings/oleObject65.bin"/><Relationship Id="rId31" Type="http://schemas.openxmlformats.org/officeDocument/2006/relationships/image" Target="../media/image59.wmf"/><Relationship Id="rId4" Type="http://schemas.openxmlformats.org/officeDocument/2006/relationships/oleObject" Target="../embeddings/oleObject57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62.bin"/><Relationship Id="rId22" Type="http://schemas.openxmlformats.org/officeDocument/2006/relationships/image" Target="../media/image55.wmf"/><Relationship Id="rId27" Type="http://schemas.openxmlformats.org/officeDocument/2006/relationships/oleObject" Target="../embeddings/oleObject69.bin"/><Relationship Id="rId30" Type="http://schemas.openxmlformats.org/officeDocument/2006/relationships/oleObject" Target="../embeddings/oleObject71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5.bin"/><Relationship Id="rId13" Type="http://schemas.openxmlformats.org/officeDocument/2006/relationships/image" Target="../media/image27.wmf"/><Relationship Id="rId18" Type="http://schemas.openxmlformats.org/officeDocument/2006/relationships/oleObject" Target="../embeddings/oleObject80.bin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77.bin"/><Relationship Id="rId17" Type="http://schemas.openxmlformats.org/officeDocument/2006/relationships/image" Target="../media/image64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9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74.bin"/><Relationship Id="rId11" Type="http://schemas.openxmlformats.org/officeDocument/2006/relationships/image" Target="../media/image62.wmf"/><Relationship Id="rId5" Type="http://schemas.openxmlformats.org/officeDocument/2006/relationships/image" Target="../media/image50.wmf"/><Relationship Id="rId15" Type="http://schemas.openxmlformats.org/officeDocument/2006/relationships/image" Target="../media/image63.wmf"/><Relationship Id="rId10" Type="http://schemas.openxmlformats.org/officeDocument/2006/relationships/oleObject" Target="../embeddings/oleObject76.bin"/><Relationship Id="rId19" Type="http://schemas.openxmlformats.org/officeDocument/2006/relationships/image" Target="../media/image65.wmf"/><Relationship Id="rId4" Type="http://schemas.openxmlformats.org/officeDocument/2006/relationships/oleObject" Target="../embeddings/oleObject73.bin"/><Relationship Id="rId9" Type="http://schemas.openxmlformats.org/officeDocument/2006/relationships/image" Target="../media/image61.wmf"/><Relationship Id="rId14" Type="http://schemas.openxmlformats.org/officeDocument/2006/relationships/oleObject" Target="../embeddings/oleObject78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68.wmf"/><Relationship Id="rId18" Type="http://schemas.openxmlformats.org/officeDocument/2006/relationships/oleObject" Target="../embeddings/oleObject88.bin"/><Relationship Id="rId3" Type="http://schemas.openxmlformats.org/officeDocument/2006/relationships/notesSlide" Target="../notesSlides/notesSlide4.xml"/><Relationship Id="rId21" Type="http://schemas.openxmlformats.org/officeDocument/2006/relationships/image" Target="../media/image72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70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67.wmf"/><Relationship Id="rId5" Type="http://schemas.openxmlformats.org/officeDocument/2006/relationships/image" Target="../media/image62.wmf"/><Relationship Id="rId15" Type="http://schemas.openxmlformats.org/officeDocument/2006/relationships/image" Target="../media/image69.wmf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71.w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66.wmf"/><Relationship Id="rId14" Type="http://schemas.openxmlformats.org/officeDocument/2006/relationships/oleObject" Target="../embeddings/oleObject8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wmf"/><Relationship Id="rId3" Type="http://schemas.openxmlformats.org/officeDocument/2006/relationships/oleObject" Target="../embeddings/oleObject90.bin"/><Relationship Id="rId7" Type="http://schemas.openxmlformats.org/officeDocument/2006/relationships/oleObject" Target="../embeddings/oleObject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91.bin"/><Relationship Id="rId10" Type="http://schemas.openxmlformats.org/officeDocument/2006/relationships/image" Target="../media/image76.wmf"/><Relationship Id="rId4" Type="http://schemas.openxmlformats.org/officeDocument/2006/relationships/image" Target="../media/image73.wmf"/><Relationship Id="rId9" Type="http://schemas.openxmlformats.org/officeDocument/2006/relationships/oleObject" Target="../embeddings/oleObject9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8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0" Type="http://schemas.openxmlformats.org/officeDocument/2006/relationships/image" Target="../media/image34.wmf"/><Relationship Id="rId4" Type="http://schemas.openxmlformats.org/officeDocument/2006/relationships/image" Target="../media/image77.wmf"/><Relationship Id="rId9" Type="http://schemas.openxmlformats.org/officeDocument/2006/relationships/oleObject" Target="../embeddings/oleObject9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104.bin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12" Type="http://schemas.openxmlformats.org/officeDocument/2006/relationships/image" Target="../media/image85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7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82.wmf"/><Relationship Id="rId11" Type="http://schemas.openxmlformats.org/officeDocument/2006/relationships/oleObject" Target="../embeddings/oleObject103.bin"/><Relationship Id="rId5" Type="http://schemas.openxmlformats.org/officeDocument/2006/relationships/oleObject" Target="../embeddings/oleObject100.bin"/><Relationship Id="rId15" Type="http://schemas.openxmlformats.org/officeDocument/2006/relationships/oleObject" Target="../embeddings/oleObject105.bin"/><Relationship Id="rId10" Type="http://schemas.openxmlformats.org/officeDocument/2006/relationships/image" Target="../media/image84.wmf"/><Relationship Id="rId4" Type="http://schemas.openxmlformats.org/officeDocument/2006/relationships/image" Target="../media/image81.wmf"/><Relationship Id="rId9" Type="http://schemas.openxmlformats.org/officeDocument/2006/relationships/oleObject" Target="../embeddings/oleObject102.bin"/><Relationship Id="rId14" Type="http://schemas.openxmlformats.org/officeDocument/2006/relationships/image" Target="../media/image8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wmf"/><Relationship Id="rId13" Type="http://schemas.openxmlformats.org/officeDocument/2006/relationships/oleObject" Target="../embeddings/oleObject111.bin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12" Type="http://schemas.openxmlformats.org/officeDocument/2006/relationships/image" Target="../media/image9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9.wmf"/><Relationship Id="rId11" Type="http://schemas.openxmlformats.org/officeDocument/2006/relationships/oleObject" Target="../embeddings/oleObject110.bin"/><Relationship Id="rId5" Type="http://schemas.openxmlformats.org/officeDocument/2006/relationships/oleObject" Target="../embeddings/oleObject107.bin"/><Relationship Id="rId10" Type="http://schemas.openxmlformats.org/officeDocument/2006/relationships/image" Target="../media/image84.wmf"/><Relationship Id="rId4" Type="http://schemas.openxmlformats.org/officeDocument/2006/relationships/image" Target="../media/image88.wmf"/><Relationship Id="rId9" Type="http://schemas.openxmlformats.org/officeDocument/2006/relationships/oleObject" Target="../embeddings/oleObject109.bin"/><Relationship Id="rId14" Type="http://schemas.openxmlformats.org/officeDocument/2006/relationships/image" Target="../media/image91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13" Type="http://schemas.openxmlformats.org/officeDocument/2006/relationships/oleObject" Target="../embeddings/oleObject117.bin"/><Relationship Id="rId18" Type="http://schemas.openxmlformats.org/officeDocument/2006/relationships/image" Target="../media/image98.wmf"/><Relationship Id="rId3" Type="http://schemas.openxmlformats.org/officeDocument/2006/relationships/oleObject" Target="../embeddings/oleObject112.bin"/><Relationship Id="rId21" Type="http://schemas.openxmlformats.org/officeDocument/2006/relationships/image" Target="../media/image99.wmf"/><Relationship Id="rId7" Type="http://schemas.openxmlformats.org/officeDocument/2006/relationships/oleObject" Target="../embeddings/oleObject114.bin"/><Relationship Id="rId12" Type="http://schemas.openxmlformats.org/officeDocument/2006/relationships/image" Target="../media/image83.wmf"/><Relationship Id="rId17" Type="http://schemas.openxmlformats.org/officeDocument/2006/relationships/oleObject" Target="../embeddings/oleObject11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7.wmf"/><Relationship Id="rId20" Type="http://schemas.openxmlformats.org/officeDocument/2006/relationships/oleObject" Target="../embeddings/oleObject121.bin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3.wmf"/><Relationship Id="rId11" Type="http://schemas.openxmlformats.org/officeDocument/2006/relationships/oleObject" Target="../embeddings/oleObject116.bin"/><Relationship Id="rId5" Type="http://schemas.openxmlformats.org/officeDocument/2006/relationships/oleObject" Target="../embeddings/oleObject113.bin"/><Relationship Id="rId15" Type="http://schemas.openxmlformats.org/officeDocument/2006/relationships/oleObject" Target="../embeddings/oleObject118.bin"/><Relationship Id="rId10" Type="http://schemas.openxmlformats.org/officeDocument/2006/relationships/image" Target="../media/image95.wmf"/><Relationship Id="rId19" Type="http://schemas.openxmlformats.org/officeDocument/2006/relationships/oleObject" Target="../embeddings/oleObject120.bin"/><Relationship Id="rId4" Type="http://schemas.openxmlformats.org/officeDocument/2006/relationships/image" Target="../media/image92.wmf"/><Relationship Id="rId9" Type="http://schemas.openxmlformats.org/officeDocument/2006/relationships/oleObject" Target="../embeddings/oleObject115.bin"/><Relationship Id="rId14" Type="http://schemas.openxmlformats.org/officeDocument/2006/relationships/image" Target="../media/image96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4189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7" y="1157980"/>
            <a:ext cx="4501872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向量组的线性组合与线性表示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365716"/>
            <a:ext cx="1581250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维向量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1128828"/>
              </p:ext>
            </p:extLst>
          </p:nvPr>
        </p:nvGraphicFramePr>
        <p:xfrm>
          <a:off x="2346870" y="1924754"/>
          <a:ext cx="3308350" cy="174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1" name="Equation" r:id="rId3" imgW="1777680" imgH="939600" progId="Equation.DSMT4">
                  <p:embed/>
                </p:oleObj>
              </mc:Choice>
              <mc:Fallback>
                <p:oleObj name="Equation" r:id="rId3" imgW="1777680" imgH="93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346870" y="1924754"/>
                        <a:ext cx="3308350" cy="174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组合 11"/>
          <p:cNvGrpSpPr/>
          <p:nvPr/>
        </p:nvGrpSpPr>
        <p:grpSpPr>
          <a:xfrm>
            <a:off x="547709" y="3774558"/>
            <a:ext cx="1581250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3" name="圆角矩形 12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向量组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2346870" y="3755521"/>
            <a:ext cx="65099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由维数相同的一些向量构成的集合称为向量组，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8701023" y="3724807"/>
            <a:ext cx="27955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当向量个数有限时，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2346870" y="4378223"/>
            <a:ext cx="2552133" cy="461665"/>
            <a:chOff x="2346870" y="4378223"/>
            <a:chExt cx="2552133" cy="461665"/>
          </a:xfrm>
        </p:grpSpPr>
        <p:sp>
          <p:nvSpPr>
            <p:cNvPr id="17" name="文本框 16"/>
            <p:cNvSpPr txBox="1"/>
            <p:nvPr/>
          </p:nvSpPr>
          <p:spPr>
            <a:xfrm>
              <a:off x="2346870" y="4378223"/>
              <a:ext cx="9508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记为</a:t>
              </a:r>
            </a:p>
          </p:txBody>
        </p:sp>
        <p:graphicFrame>
          <p:nvGraphicFramePr>
            <p:cNvPr id="18" name="对象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459672"/>
                </p:ext>
              </p:extLst>
            </p:nvPr>
          </p:nvGraphicFramePr>
          <p:xfrm>
            <a:off x="3149578" y="4396330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2932" name="Equation" r:id="rId5" imgW="939600" imgH="228600" progId="Equation.DSMT4">
                    <p:embed/>
                  </p:oleObj>
                </mc:Choice>
                <mc:Fallback>
                  <p:oleObj name="Equation" r:id="rId5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3149578" y="4396330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45817234"/>
              </p:ext>
            </p:extLst>
          </p:nvPr>
        </p:nvGraphicFramePr>
        <p:xfrm>
          <a:off x="547164" y="5167003"/>
          <a:ext cx="3640138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3" name="Equation" r:id="rId7" imgW="1955520" imgH="457200" progId="Equation.DSMT4">
                  <p:embed/>
                </p:oleObj>
              </mc:Choice>
              <mc:Fallback>
                <p:oleObj name="Equation" r:id="rId7" imgW="19555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47164" y="5167003"/>
                        <a:ext cx="3640138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0060672"/>
              </p:ext>
            </p:extLst>
          </p:nvPr>
        </p:nvGraphicFramePr>
        <p:xfrm>
          <a:off x="6242538" y="5167003"/>
          <a:ext cx="179546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34" name="Equation" r:id="rId9" imgW="965160" imgH="457200" progId="Equation.DSMT4">
                  <p:embed/>
                </p:oleObj>
              </mc:Choice>
              <mc:Fallback>
                <p:oleObj name="Equation" r:id="rId9" imgW="96516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6242538" y="5167003"/>
                        <a:ext cx="1795463" cy="850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组合 25"/>
          <p:cNvGrpSpPr/>
          <p:nvPr/>
        </p:nvGrpSpPr>
        <p:grpSpPr>
          <a:xfrm>
            <a:off x="4312693" y="5167003"/>
            <a:ext cx="1929845" cy="461665"/>
            <a:chOff x="4312693" y="5167003"/>
            <a:chExt cx="1929845" cy="461665"/>
          </a:xfrm>
        </p:grpSpPr>
        <p:cxnSp>
          <p:nvCxnSpPr>
            <p:cNvPr id="22" name="直接箭头连接符 21"/>
            <p:cNvCxnSpPr/>
            <p:nvPr/>
          </p:nvCxnSpPr>
          <p:spPr>
            <a:xfrm>
              <a:off x="4312693" y="5592453"/>
              <a:ext cx="1929845" cy="0"/>
            </a:xfrm>
            <a:prstGeom prst="straightConnector1">
              <a:avLst/>
            </a:prstGeom>
            <a:ln w="38100">
              <a:solidFill>
                <a:srgbClr val="1F4E79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4572000" y="5167003"/>
              <a:ext cx="167053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一一对应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164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7" y="1157980"/>
            <a:ext cx="4501872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向量组的线性组合与线性表示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33842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923790" y="2448085"/>
            <a:ext cx="2271973" cy="461665"/>
            <a:chOff x="2346870" y="4378223"/>
            <a:chExt cx="2271973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2346870" y="4378223"/>
              <a:ext cx="9508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55147552"/>
                </p:ext>
              </p:extLst>
            </p:nvPr>
          </p:nvGraphicFramePr>
          <p:xfrm>
            <a:off x="2775755" y="4396734"/>
            <a:ext cx="18430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3" name="Equation" r:id="rId3" imgW="990360" imgH="228600" progId="Equation.DSMT4">
                    <p:embed/>
                  </p:oleObj>
                </mc:Choice>
                <mc:Fallback>
                  <p:oleObj name="Equation" r:id="rId3" imgW="990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5755" y="4396734"/>
                          <a:ext cx="1843088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4326340" y="2466596"/>
            <a:ext cx="3480179" cy="461665"/>
            <a:chOff x="4326340" y="2289175"/>
            <a:chExt cx="3480179" cy="461665"/>
          </a:xfrm>
        </p:grpSpPr>
        <p:sp>
          <p:nvSpPr>
            <p:cNvPr id="14" name="文本框 13"/>
            <p:cNvSpPr txBox="1"/>
            <p:nvPr/>
          </p:nvSpPr>
          <p:spPr>
            <a:xfrm>
              <a:off x="4326340" y="2289175"/>
              <a:ext cx="3480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有一组数：</a:t>
              </a: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9209676"/>
                </p:ext>
              </p:extLst>
            </p:nvPr>
          </p:nvGraphicFramePr>
          <p:xfrm>
            <a:off x="5871618" y="2325390"/>
            <a:ext cx="13700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4" name="Equation" r:id="rId5" imgW="736560" imgH="228600" progId="Equation.DSMT4">
                    <p:embed/>
                  </p:oleObj>
                </mc:Choice>
                <mc:Fallback>
                  <p:oleObj name="Equation" r:id="rId5" imgW="736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71618" y="2325390"/>
                          <a:ext cx="1370013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" name="组合 17"/>
          <p:cNvGrpSpPr/>
          <p:nvPr/>
        </p:nvGrpSpPr>
        <p:grpSpPr>
          <a:xfrm>
            <a:off x="7241631" y="2448085"/>
            <a:ext cx="3802358" cy="461665"/>
            <a:chOff x="7241631" y="2217017"/>
            <a:chExt cx="3802358" cy="461665"/>
          </a:xfrm>
        </p:grpSpPr>
        <p:sp>
          <p:nvSpPr>
            <p:cNvPr id="16" name="文本框 15"/>
            <p:cNvSpPr txBox="1"/>
            <p:nvPr/>
          </p:nvSpPr>
          <p:spPr>
            <a:xfrm>
              <a:off x="7241631" y="2217017"/>
              <a:ext cx="3480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表达式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：</a:t>
              </a:r>
            </a:p>
          </p:txBody>
        </p:sp>
        <p:graphicFrame>
          <p:nvGraphicFramePr>
            <p:cNvPr id="17" name="对象 1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98446840"/>
                </p:ext>
              </p:extLst>
            </p:nvPr>
          </p:nvGraphicFramePr>
          <p:xfrm>
            <a:off x="8562727" y="2235124"/>
            <a:ext cx="248126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5" name="Equation" r:id="rId7" imgW="1333440" imgH="228600" progId="Equation.DSMT4">
                    <p:embed/>
                  </p:oleObj>
                </mc:Choice>
                <mc:Fallback>
                  <p:oleObj name="Equation" r:id="rId7" imgW="1333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562727" y="2235124"/>
                          <a:ext cx="248126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2060812" y="3152633"/>
            <a:ext cx="40056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称为 </a:t>
            </a:r>
            <a:r>
              <a:rPr lang="en-US" altLang="zh-CN" sz="2400" i="1" dirty="0" smtClean="0">
                <a:solidFill>
                  <a:srgbClr val="1F4E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的一个线性组合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5580063" y="3134929"/>
            <a:ext cx="3782301" cy="461967"/>
            <a:chOff x="5580063" y="2957508"/>
            <a:chExt cx="3782301" cy="461967"/>
          </a:xfrm>
        </p:grpSpPr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5223173"/>
                </p:ext>
              </p:extLst>
            </p:nvPr>
          </p:nvGraphicFramePr>
          <p:xfrm>
            <a:off x="5580063" y="2994025"/>
            <a:ext cx="127476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6" name="Equation" r:id="rId9" imgW="685800" imgH="228600" progId="Equation.DSMT4">
                    <p:embed/>
                  </p:oleObj>
                </mc:Choice>
                <mc:Fallback>
                  <p:oleObj name="Equation" r:id="rId9" imgW="6858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80063" y="2994025"/>
                          <a:ext cx="127476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" name="文本框 20"/>
            <p:cNvSpPr txBox="1"/>
            <p:nvPr/>
          </p:nvSpPr>
          <p:spPr>
            <a:xfrm>
              <a:off x="6782937" y="2957508"/>
              <a:ext cx="2579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为组合系数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37837" y="4047707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5" name="圆角矩形 24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组合 26"/>
          <p:cNvGrpSpPr/>
          <p:nvPr/>
        </p:nvGrpSpPr>
        <p:grpSpPr>
          <a:xfrm>
            <a:off x="1954770" y="4157372"/>
            <a:ext cx="2271973" cy="461665"/>
            <a:chOff x="2346870" y="4378223"/>
            <a:chExt cx="2271973" cy="461665"/>
          </a:xfrm>
        </p:grpSpPr>
        <p:sp>
          <p:nvSpPr>
            <p:cNvPr id="28" name="文本框 27"/>
            <p:cNvSpPr txBox="1"/>
            <p:nvPr/>
          </p:nvSpPr>
          <p:spPr>
            <a:xfrm>
              <a:off x="2346870" y="4378223"/>
              <a:ext cx="9508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9" name="对象 2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1799356"/>
                </p:ext>
              </p:extLst>
            </p:nvPr>
          </p:nvGraphicFramePr>
          <p:xfrm>
            <a:off x="2775755" y="4396734"/>
            <a:ext cx="18430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7" name="Equation" r:id="rId11" imgW="990360" imgH="228600" progId="Equation.DSMT4">
                    <p:embed/>
                  </p:oleObj>
                </mc:Choice>
                <mc:Fallback>
                  <p:oleObj name="Equation" r:id="rId11" imgW="990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775755" y="4396734"/>
                          <a:ext cx="1843088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0" name="组合 29"/>
          <p:cNvGrpSpPr/>
          <p:nvPr/>
        </p:nvGrpSpPr>
        <p:grpSpPr>
          <a:xfrm>
            <a:off x="4357320" y="4175883"/>
            <a:ext cx="1222743" cy="461665"/>
            <a:chOff x="4326340" y="2289175"/>
            <a:chExt cx="1703846" cy="461665"/>
          </a:xfrm>
        </p:grpSpPr>
        <p:sp>
          <p:nvSpPr>
            <p:cNvPr id="31" name="文本框 30"/>
            <p:cNvSpPr txBox="1"/>
            <p:nvPr/>
          </p:nvSpPr>
          <p:spPr>
            <a:xfrm>
              <a:off x="4326340" y="2289175"/>
              <a:ext cx="17038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2" name="对象 3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22640693"/>
                </p:ext>
              </p:extLst>
            </p:nvPr>
          </p:nvGraphicFramePr>
          <p:xfrm>
            <a:off x="5391670" y="2331094"/>
            <a:ext cx="35401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8" name="Equation" r:id="rId12" imgW="190440" imgH="203040" progId="Equation.DSMT4">
                    <p:embed/>
                  </p:oleObj>
                </mc:Choice>
                <mc:Fallback>
                  <p:oleObj name="Equation" r:id="rId12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391670" y="2331094"/>
                          <a:ext cx="354013" cy="377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3" name="组合 32"/>
          <p:cNvGrpSpPr/>
          <p:nvPr/>
        </p:nvGrpSpPr>
        <p:grpSpPr>
          <a:xfrm>
            <a:off x="5526017" y="4169977"/>
            <a:ext cx="3480179" cy="461665"/>
            <a:chOff x="7241631" y="2217017"/>
            <a:chExt cx="3480179" cy="461665"/>
          </a:xfrm>
        </p:grpSpPr>
        <p:sp>
          <p:nvSpPr>
            <p:cNvPr id="34" name="文本框 33"/>
            <p:cNvSpPr txBox="1"/>
            <p:nvPr/>
          </p:nvSpPr>
          <p:spPr>
            <a:xfrm>
              <a:off x="7241631" y="2217017"/>
              <a:ext cx="348017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2179171"/>
                </p:ext>
              </p:extLst>
            </p:nvPr>
          </p:nvGraphicFramePr>
          <p:xfrm>
            <a:off x="7662389" y="2248774"/>
            <a:ext cx="30464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59" name="Equation" r:id="rId14" imgW="1638000" imgH="228600" progId="Equation.DSMT4">
                    <p:embed/>
                  </p:oleObj>
                </mc:Choice>
                <mc:Fallback>
                  <p:oleObj name="Equation" r:id="rId14" imgW="16380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662389" y="2248774"/>
                          <a:ext cx="3046413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6939509" y="4852362"/>
            <a:ext cx="3782301" cy="461967"/>
            <a:chOff x="5580063" y="2957508"/>
            <a:chExt cx="3782301" cy="461967"/>
          </a:xfrm>
        </p:grpSpPr>
        <p:graphicFrame>
          <p:nvGraphicFramePr>
            <p:cNvPr id="38" name="对象 3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796329"/>
                </p:ext>
              </p:extLst>
            </p:nvPr>
          </p:nvGraphicFramePr>
          <p:xfrm>
            <a:off x="5580063" y="2994025"/>
            <a:ext cx="127476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60" name="Equation" r:id="rId16" imgW="685800" imgH="228600" progId="Equation.DSMT4">
                    <p:embed/>
                  </p:oleObj>
                </mc:Choice>
                <mc:Fallback>
                  <p:oleObj name="Equation" r:id="rId16" imgW="6858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5580063" y="2994025"/>
                          <a:ext cx="127476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文本框 38"/>
            <p:cNvSpPr txBox="1"/>
            <p:nvPr/>
          </p:nvSpPr>
          <p:spPr>
            <a:xfrm>
              <a:off x="6782937" y="2957508"/>
              <a:ext cx="25794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为表示系数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1" name="组合 40"/>
          <p:cNvGrpSpPr/>
          <p:nvPr/>
        </p:nvGrpSpPr>
        <p:grpSpPr>
          <a:xfrm>
            <a:off x="1954770" y="4844215"/>
            <a:ext cx="4984739" cy="461665"/>
            <a:chOff x="1954770" y="4666794"/>
            <a:chExt cx="5515174" cy="461665"/>
          </a:xfrm>
        </p:grpSpPr>
        <p:sp>
          <p:nvSpPr>
            <p:cNvPr id="36" name="文本框 35"/>
            <p:cNvSpPr txBox="1"/>
            <p:nvPr/>
          </p:nvSpPr>
          <p:spPr>
            <a:xfrm>
              <a:off x="1954770" y="4666794"/>
              <a:ext cx="5515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则称</a:t>
              </a:r>
              <a:r>
                <a:rPr lang="zh-CN" altLang="en-US" sz="2400" b="1" dirty="0" smtClean="0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</a:t>
              </a:r>
              <a:r>
                <a:rPr lang="zh-CN" altLang="en-US" sz="2400" b="1" dirty="0" smtClean="0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可由向量组 </a:t>
              </a:r>
              <a:r>
                <a:rPr lang="en-US" altLang="zh-CN" sz="2400" i="1" dirty="0" smtClean="0">
                  <a:solidFill>
                    <a:srgbClr val="1F4E79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dirty="0" smtClean="0">
                  <a:solidFill>
                    <a:srgbClr val="1F4E7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线性表示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,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0" name="对象 3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000303979"/>
                </p:ext>
              </p:extLst>
            </p:nvPr>
          </p:nvGraphicFramePr>
          <p:xfrm>
            <a:off x="3448901" y="4747176"/>
            <a:ext cx="299300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5461" name="Equation" r:id="rId17" imgW="152280" imgH="203040" progId="Equation.DSMT4">
                    <p:embed/>
                  </p:oleObj>
                </mc:Choice>
                <mc:Fallback>
                  <p:oleObj name="Equation" r:id="rId17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3448901" y="4747176"/>
                          <a:ext cx="299300" cy="3540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659006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7" y="1157980"/>
            <a:ext cx="4501872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向量组的线性组合与线性表示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137021"/>
            <a:ext cx="1763377" cy="940662"/>
            <a:chOff x="506043" y="2137359"/>
            <a:chExt cx="1209620" cy="940662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判定定理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706723" y="1960813"/>
            <a:ext cx="2415926" cy="830997"/>
            <a:chOff x="2346870" y="4378223"/>
            <a:chExt cx="2415926" cy="830997"/>
          </a:xfrm>
        </p:grpSpPr>
        <p:sp>
          <p:nvSpPr>
            <p:cNvPr id="12" name="文本框 11"/>
            <p:cNvSpPr txBox="1"/>
            <p:nvPr/>
          </p:nvSpPr>
          <p:spPr>
            <a:xfrm>
              <a:off x="2346870" y="4378223"/>
              <a:ext cx="95087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  设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95375403"/>
                </p:ext>
              </p:extLst>
            </p:nvPr>
          </p:nvGraphicFramePr>
          <p:xfrm>
            <a:off x="2919708" y="4776544"/>
            <a:ext cx="18430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0" name="Equation" r:id="rId3" imgW="990360" imgH="228600" progId="Equation.DSMT4">
                    <p:embed/>
                  </p:oleObj>
                </mc:Choice>
                <mc:Fallback>
                  <p:oleObj name="Equation" r:id="rId3" imgW="990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2919708" y="4776544"/>
                          <a:ext cx="1843088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组合 13"/>
          <p:cNvGrpSpPr/>
          <p:nvPr/>
        </p:nvGrpSpPr>
        <p:grpSpPr>
          <a:xfrm>
            <a:off x="5061093" y="2330145"/>
            <a:ext cx="1222743" cy="461665"/>
            <a:chOff x="4232849" y="2354123"/>
            <a:chExt cx="1703846" cy="461665"/>
          </a:xfrm>
        </p:grpSpPr>
        <p:sp>
          <p:nvSpPr>
            <p:cNvPr id="15" name="文本框 14"/>
            <p:cNvSpPr txBox="1"/>
            <p:nvPr/>
          </p:nvSpPr>
          <p:spPr>
            <a:xfrm>
              <a:off x="4232849" y="2354123"/>
              <a:ext cx="170384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向量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17840700"/>
                </p:ext>
              </p:extLst>
            </p:nvPr>
          </p:nvGraphicFramePr>
          <p:xfrm>
            <a:off x="5582682" y="2392617"/>
            <a:ext cx="35401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1" name="Equation" r:id="rId5" imgW="190440" imgH="203040" progId="Equation.DSMT4">
                    <p:embed/>
                  </p:oleObj>
                </mc:Choice>
                <mc:Fallback>
                  <p:oleObj name="Equation" r:id="rId5" imgW="19044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582682" y="2392617"/>
                          <a:ext cx="354013" cy="377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3" name="组合 22"/>
          <p:cNvGrpSpPr/>
          <p:nvPr/>
        </p:nvGrpSpPr>
        <p:grpSpPr>
          <a:xfrm>
            <a:off x="1833970" y="2888699"/>
            <a:ext cx="4984739" cy="461665"/>
            <a:chOff x="1954770" y="4666794"/>
            <a:chExt cx="5515174" cy="461665"/>
          </a:xfrm>
        </p:grpSpPr>
        <p:sp>
          <p:nvSpPr>
            <p:cNvPr id="24" name="文本框 23"/>
            <p:cNvSpPr txBox="1"/>
            <p:nvPr/>
          </p:nvSpPr>
          <p:spPr>
            <a:xfrm>
              <a:off x="1954770" y="4666794"/>
              <a:ext cx="551517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   可由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线性表示</a:t>
              </a: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7420644"/>
                </p:ext>
              </p:extLst>
            </p:nvPr>
          </p:nvGraphicFramePr>
          <p:xfrm>
            <a:off x="2054148" y="4728420"/>
            <a:ext cx="348677" cy="3540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2" name="Equation" r:id="rId7" imgW="152280" imgH="203040" progId="Equation.DSMT4">
                    <p:embed/>
                  </p:oleObj>
                </mc:Choice>
                <mc:Fallback>
                  <p:oleObj name="Equation" r:id="rId7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2054148" y="4728420"/>
                          <a:ext cx="348677" cy="3540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9211700"/>
              </p:ext>
            </p:extLst>
          </p:nvPr>
        </p:nvGraphicFramePr>
        <p:xfrm>
          <a:off x="4473645" y="2907957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03" name="Equation" r:id="rId9" imgW="215640" imgH="152280" progId="Equation.DSMT4">
                  <p:embed/>
                </p:oleObj>
              </mc:Choice>
              <mc:Fallback>
                <p:oleObj name="Equation" r:id="rId9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73645" y="2907957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9" name="组合 28"/>
          <p:cNvGrpSpPr/>
          <p:nvPr/>
        </p:nvGrpSpPr>
        <p:grpSpPr>
          <a:xfrm>
            <a:off x="5130444" y="2895054"/>
            <a:ext cx="3046180" cy="473821"/>
            <a:chOff x="5130444" y="2895054"/>
            <a:chExt cx="3046180" cy="473821"/>
          </a:xfrm>
        </p:grpSpPr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21440315"/>
                </p:ext>
              </p:extLst>
            </p:nvPr>
          </p:nvGraphicFramePr>
          <p:xfrm>
            <a:off x="5130444" y="2895054"/>
            <a:ext cx="2290762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4" name="Equation" r:id="rId11" imgW="1231560" imgH="253800" progId="Equation.DSMT4">
                    <p:embed/>
                  </p:oleObj>
                </mc:Choice>
                <mc:Fallback>
                  <p:oleObj name="Equation" r:id="rId11" imgW="123156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5130444" y="2895054"/>
                          <a:ext cx="2290762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文本框 27"/>
            <p:cNvSpPr txBox="1"/>
            <p:nvPr/>
          </p:nvSpPr>
          <p:spPr>
            <a:xfrm>
              <a:off x="7365157" y="2907210"/>
              <a:ext cx="811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有解</a:t>
              </a:r>
            </a:p>
          </p:txBody>
        </p:sp>
      </p:grpSp>
      <p:graphicFrame>
        <p:nvGraphicFramePr>
          <p:cNvPr id="30" name="对象 2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573628"/>
              </p:ext>
            </p:extLst>
          </p:nvPr>
        </p:nvGraphicFramePr>
        <p:xfrm>
          <a:off x="8098904" y="2909951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05" name="Equation" r:id="rId13" imgW="215640" imgH="152280" progId="Equation.DSMT4">
                  <p:embed/>
                </p:oleObj>
              </mc:Choice>
              <mc:Fallback>
                <p:oleObj name="Equation" r:id="rId13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098904" y="2909951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0483613"/>
              </p:ext>
            </p:extLst>
          </p:nvPr>
        </p:nvGraphicFramePr>
        <p:xfrm>
          <a:off x="8756188" y="2895054"/>
          <a:ext cx="2006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506" name="Equation" r:id="rId15" imgW="1079280" imgH="253800" progId="Equation.DSMT4">
                  <p:embed/>
                </p:oleObj>
              </mc:Choice>
              <mc:Fallback>
                <p:oleObj name="Equation" r:id="rId15" imgW="1079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8756188" y="2895054"/>
                        <a:ext cx="20066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7" name="组合 46"/>
          <p:cNvGrpSpPr/>
          <p:nvPr/>
        </p:nvGrpSpPr>
        <p:grpSpPr>
          <a:xfrm>
            <a:off x="1923790" y="3616163"/>
            <a:ext cx="6620349" cy="859809"/>
            <a:chOff x="1923790" y="3616163"/>
            <a:chExt cx="6620349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38" name="组合 37"/>
            <p:cNvGrpSpPr/>
            <p:nvPr/>
          </p:nvGrpSpPr>
          <p:grpSpPr>
            <a:xfrm>
              <a:off x="1923790" y="3616163"/>
              <a:ext cx="6620349" cy="859809"/>
              <a:chOff x="7797419" y="3330054"/>
              <a:chExt cx="5427712" cy="859809"/>
            </a:xfrm>
          </p:grpSpPr>
          <p:sp>
            <p:nvSpPr>
              <p:cNvPr id="39" name="圆角矩形 38"/>
              <p:cNvSpPr/>
              <p:nvPr/>
            </p:nvSpPr>
            <p:spPr>
              <a:xfrm>
                <a:off x="7797419" y="3330054"/>
                <a:ext cx="5427712" cy="859809"/>
              </a:xfrm>
              <a:prstGeom prst="roundRect">
                <a:avLst/>
              </a:prstGeom>
              <a:solidFill>
                <a:srgbClr val="8A8A8A"/>
              </a:solidFill>
              <a:ln>
                <a:solidFill>
                  <a:srgbClr val="8A8A8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矩形 39"/>
              <p:cNvSpPr/>
              <p:nvPr/>
            </p:nvSpPr>
            <p:spPr>
              <a:xfrm>
                <a:off x="8219647" y="3529125"/>
                <a:ext cx="220490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不可由 </a:t>
                </a:r>
                <a:r>
                  <a:rPr lang="en-US" altLang="zh-CN" sz="2400" i="1" dirty="0" smtClean="0">
                    <a:solidFill>
                      <a:schemeClr val="bg1"/>
                    </a:solidFill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A </a:t>
                </a:r>
                <a:r>
                  <a:rPr lang="zh-CN" altLang="en-US" sz="24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线性表示</a:t>
                </a:r>
                <a:endPara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01168797"/>
                </p:ext>
              </p:extLst>
            </p:nvPr>
          </p:nvGraphicFramePr>
          <p:xfrm>
            <a:off x="2148859" y="3834728"/>
            <a:ext cx="393620" cy="442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7" name="Equation" r:id="rId17" imgW="152280" imgH="203040" progId="Equation.DSMT4">
                    <p:embed/>
                  </p:oleObj>
                </mc:Choice>
                <mc:Fallback>
                  <p:oleObj name="Equation" r:id="rId17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2148859" y="3834728"/>
                          <a:ext cx="393620" cy="4421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80527902"/>
                </p:ext>
              </p:extLst>
            </p:nvPr>
          </p:nvGraphicFramePr>
          <p:xfrm>
            <a:off x="5032117" y="3808308"/>
            <a:ext cx="656799" cy="460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8" name="Equation" r:id="rId19" imgW="215640" imgH="152280" progId="Equation.DSMT4">
                    <p:embed/>
                  </p:oleObj>
                </mc:Choice>
                <mc:Fallback>
                  <p:oleObj name="Equation" r:id="rId19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5032117" y="3808308"/>
                          <a:ext cx="656799" cy="4601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45146143"/>
                </p:ext>
              </p:extLst>
            </p:nvPr>
          </p:nvGraphicFramePr>
          <p:xfrm>
            <a:off x="5773134" y="3809528"/>
            <a:ext cx="2006600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09" name="Equation" r:id="rId21" imgW="1079280" imgH="253800" progId="Equation.DSMT4">
                    <p:embed/>
                  </p:oleObj>
                </mc:Choice>
                <mc:Fallback>
                  <p:oleObj name="Equation" r:id="rId21" imgW="10792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773134" y="3809528"/>
                          <a:ext cx="2006600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2" name="组合 51"/>
          <p:cNvGrpSpPr/>
          <p:nvPr/>
        </p:nvGrpSpPr>
        <p:grpSpPr>
          <a:xfrm>
            <a:off x="1923793" y="4631466"/>
            <a:ext cx="6620349" cy="859809"/>
            <a:chOff x="1923793" y="4631466"/>
            <a:chExt cx="6620349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圆角矩形 35"/>
            <p:cNvSpPr/>
            <p:nvPr/>
          </p:nvSpPr>
          <p:spPr>
            <a:xfrm>
              <a:off x="1923793" y="4631466"/>
              <a:ext cx="6620349" cy="85980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2481070" y="4819582"/>
              <a:ext cx="300338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可由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唯一线性表示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9" name="对象 4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2319585"/>
                </p:ext>
              </p:extLst>
            </p:nvPr>
          </p:nvGraphicFramePr>
          <p:xfrm>
            <a:off x="2191134" y="4839076"/>
            <a:ext cx="393620" cy="442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0" name="Equation" r:id="rId23" imgW="152280" imgH="203040" progId="Equation.DSMT4">
                    <p:embed/>
                  </p:oleObj>
                </mc:Choice>
                <mc:Fallback>
                  <p:oleObj name="Equation" r:id="rId23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191134" y="4839076"/>
                          <a:ext cx="393620" cy="4421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0" name="对象 4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84185388"/>
                </p:ext>
              </p:extLst>
            </p:nvPr>
          </p:nvGraphicFramePr>
          <p:xfrm>
            <a:off x="5344913" y="4830075"/>
            <a:ext cx="656799" cy="460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1" name="Equation" r:id="rId25" imgW="215640" imgH="152280" progId="Equation.DSMT4">
                    <p:embed/>
                  </p:oleObj>
                </mc:Choice>
                <mc:Fallback>
                  <p:oleObj name="Equation" r:id="rId25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44913" y="4830075"/>
                          <a:ext cx="656799" cy="4601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" name="对象 5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81777002"/>
                </p:ext>
              </p:extLst>
            </p:nvPr>
          </p:nvGraphicFramePr>
          <p:xfrm>
            <a:off x="5960290" y="4839076"/>
            <a:ext cx="2382837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2" name="Equation" r:id="rId27" imgW="1282680" imgH="253800" progId="Equation.DSMT4">
                    <p:embed/>
                  </p:oleObj>
                </mc:Choice>
                <mc:Fallback>
                  <p:oleObj name="Equation" r:id="rId27" imgW="12826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8"/>
                        <a:stretch>
                          <a:fillRect/>
                        </a:stretch>
                      </p:blipFill>
                      <p:spPr>
                        <a:xfrm>
                          <a:off x="5960290" y="4839076"/>
                          <a:ext cx="2382837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57" name="组合 56"/>
          <p:cNvGrpSpPr/>
          <p:nvPr/>
        </p:nvGrpSpPr>
        <p:grpSpPr>
          <a:xfrm>
            <a:off x="1923790" y="5646769"/>
            <a:ext cx="6625431" cy="859809"/>
            <a:chOff x="1923790" y="5646769"/>
            <a:chExt cx="6625431" cy="8598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3" name="圆角矩形 32"/>
            <p:cNvSpPr/>
            <p:nvPr/>
          </p:nvSpPr>
          <p:spPr>
            <a:xfrm>
              <a:off x="1923790" y="5646769"/>
              <a:ext cx="6625431" cy="859809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2518232" y="5831791"/>
              <a:ext cx="3003386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可由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多种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线性表示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4" name="对象 5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35914640"/>
                </p:ext>
              </p:extLst>
            </p:nvPr>
          </p:nvGraphicFramePr>
          <p:xfrm>
            <a:off x="2228296" y="5851285"/>
            <a:ext cx="393620" cy="4421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3" name="Equation" r:id="rId29" imgW="152280" imgH="203040" progId="Equation.DSMT4">
                    <p:embed/>
                  </p:oleObj>
                </mc:Choice>
                <mc:Fallback>
                  <p:oleObj name="Equation" r:id="rId29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2228296" y="5851285"/>
                          <a:ext cx="393620" cy="44217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5" name="对象 5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63060866"/>
                </p:ext>
              </p:extLst>
            </p:nvPr>
          </p:nvGraphicFramePr>
          <p:xfrm>
            <a:off x="5382075" y="5842284"/>
            <a:ext cx="656799" cy="460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4" name="Equation" r:id="rId30" imgW="215640" imgH="152280" progId="Equation.DSMT4">
                    <p:embed/>
                  </p:oleObj>
                </mc:Choice>
                <mc:Fallback>
                  <p:oleObj name="Equation" r:id="rId30" imgW="215640" imgH="1522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6"/>
                        <a:stretch>
                          <a:fillRect/>
                        </a:stretch>
                      </p:blipFill>
                      <p:spPr>
                        <a:xfrm>
                          <a:off x="5382075" y="5842284"/>
                          <a:ext cx="656799" cy="46017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6" name="对象 5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984540721"/>
                </p:ext>
              </p:extLst>
            </p:nvPr>
          </p:nvGraphicFramePr>
          <p:xfrm>
            <a:off x="5997452" y="5851285"/>
            <a:ext cx="2382837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5515" name="Equation" r:id="rId31" imgW="1282680" imgH="253800" progId="Equation.DSMT4">
                    <p:embed/>
                  </p:oleObj>
                </mc:Choice>
                <mc:Fallback>
                  <p:oleObj name="Equation" r:id="rId31" imgW="128268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2"/>
                        <a:stretch>
                          <a:fillRect/>
                        </a:stretch>
                      </p:blipFill>
                      <p:spPr>
                        <a:xfrm>
                          <a:off x="5997452" y="5851285"/>
                          <a:ext cx="2382837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062483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7" y="1157980"/>
            <a:ext cx="2277286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向量组的等价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13702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1923790" y="2246686"/>
            <a:ext cx="5036829" cy="854335"/>
            <a:chOff x="1923790" y="2246686"/>
            <a:chExt cx="5036829" cy="854335"/>
          </a:xfrm>
        </p:grpSpPr>
        <p:grpSp>
          <p:nvGrpSpPr>
            <p:cNvPr id="11" name="组合 10"/>
            <p:cNvGrpSpPr/>
            <p:nvPr/>
          </p:nvGrpSpPr>
          <p:grpSpPr>
            <a:xfrm>
              <a:off x="1923790" y="2246686"/>
              <a:ext cx="4824105" cy="461665"/>
              <a:chOff x="2346870" y="4378223"/>
              <a:chExt cx="4824105" cy="461665"/>
            </a:xfrm>
          </p:grpSpPr>
          <p:sp>
            <p:nvSpPr>
              <p:cNvPr id="12" name="文本框 11"/>
              <p:cNvSpPr txBox="1"/>
              <p:nvPr/>
            </p:nvSpPr>
            <p:spPr>
              <a:xfrm>
                <a:off x="2346870" y="4378223"/>
                <a:ext cx="35489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设有两个同维向量组</a:t>
                </a:r>
              </a:p>
            </p:txBody>
          </p:sp>
          <p:graphicFrame>
            <p:nvGraphicFramePr>
              <p:cNvPr id="13" name="对象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33425763"/>
                  </p:ext>
                </p:extLst>
              </p:nvPr>
            </p:nvGraphicFramePr>
            <p:xfrm>
              <a:off x="5327887" y="4396330"/>
              <a:ext cx="1843088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6896" name="Equation" r:id="rId3" imgW="990360" imgH="228600" progId="Equation.DSMT4">
                      <p:embed/>
                    </p:oleObj>
                  </mc:Choice>
                  <mc:Fallback>
                    <p:oleObj name="Equation" r:id="rId3" imgW="9903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5327887" y="4396330"/>
                            <a:ext cx="1843088" cy="425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97428438"/>
                </p:ext>
              </p:extLst>
            </p:nvPr>
          </p:nvGraphicFramePr>
          <p:xfrm>
            <a:off x="4904807" y="2675571"/>
            <a:ext cx="20558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97" name="Equation" r:id="rId5" imgW="1104840" imgH="228600" progId="Equation.DSMT4">
                    <p:embed/>
                  </p:oleObj>
                </mc:Choice>
                <mc:Fallback>
                  <p:oleObj name="Equation" r:id="rId5" imgW="1104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904807" y="2675571"/>
                          <a:ext cx="205581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6960619" y="2264793"/>
            <a:ext cx="4659295" cy="461665"/>
            <a:chOff x="6960619" y="2264793"/>
            <a:chExt cx="4659295" cy="461665"/>
          </a:xfrm>
        </p:grpSpPr>
        <p:sp>
          <p:nvSpPr>
            <p:cNvPr id="15" name="文本框 14"/>
            <p:cNvSpPr txBox="1"/>
            <p:nvPr/>
          </p:nvSpPr>
          <p:spPr>
            <a:xfrm>
              <a:off x="6960619" y="2264793"/>
              <a:ext cx="46592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中每个    均可由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线性表示，</a:t>
              </a: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32035993"/>
                </p:ext>
              </p:extLst>
            </p:nvPr>
          </p:nvGraphicFramePr>
          <p:xfrm>
            <a:off x="8649719" y="2282900"/>
            <a:ext cx="3079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6898" name="Equation" r:id="rId7" imgW="164880" imgH="228600" progId="Equation.DSMT4">
                    <p:embed/>
                  </p:oleObj>
                </mc:Choice>
                <mc:Fallback>
                  <p:oleObj name="Equation" r:id="rId7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8649719" y="2282900"/>
                          <a:ext cx="30797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文本框 16"/>
          <p:cNvSpPr txBox="1"/>
          <p:nvPr/>
        </p:nvSpPr>
        <p:spPr>
          <a:xfrm>
            <a:off x="788275" y="3460570"/>
            <a:ext cx="3411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en-US" altLang="zh-CN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可由</a:t>
            </a:r>
            <a:r>
              <a:rPr lang="en-US" altLang="zh-CN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线性表示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88275" y="3411940"/>
            <a:ext cx="957445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可以相互线性表示，则称</a:t>
            </a:r>
            <a:r>
              <a:rPr lang="en-US" altLang="zh-CN" sz="2400" i="1" dirty="0" smtClean="0">
                <a:solidFill>
                  <a:srgbClr val="1F4E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en-US" altLang="zh-CN" sz="2400" i="1" dirty="0" smtClean="0">
                <a:solidFill>
                  <a:srgbClr val="1F4E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9" name="图示 18"/>
          <p:cNvGraphicFramePr/>
          <p:nvPr>
            <p:extLst>
              <p:ext uri="{D42A27DB-BD31-4B8C-83A1-F6EECF244321}">
                <p14:modId xmlns:p14="http://schemas.microsoft.com/office/powerpoint/2010/main" val="4205344376"/>
              </p:ext>
            </p:extLst>
          </p:nvPr>
        </p:nvGraphicFramePr>
        <p:xfrm>
          <a:off x="2732476" y="5051920"/>
          <a:ext cx="5718435" cy="7877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  <p:extLst>
      <p:ext uri="{BB962C8B-B14F-4D97-AF65-F5344CB8AC3E}">
        <p14:creationId xmlns:p14="http://schemas.microsoft.com/office/powerpoint/2010/main" val="114059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7" grpId="0"/>
      <p:bldP spid="18" grpId="0"/>
      <p:bldGraphic spid="19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7" y="1157980"/>
            <a:ext cx="2277286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向量组的等价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09902" y="2137021"/>
            <a:ext cx="1786759" cy="651368"/>
            <a:chOff x="408239" y="2137359"/>
            <a:chExt cx="1802415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619793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408239" y="2247024"/>
              <a:ext cx="180241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判定定理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2360611" y="2234055"/>
            <a:ext cx="463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向量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可由向量组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线性表示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9234186"/>
              </p:ext>
            </p:extLst>
          </p:nvPr>
        </p:nvGraphicFramePr>
        <p:xfrm>
          <a:off x="6991582" y="2232619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5" name="Equation" r:id="rId3" imgW="215640" imgH="152280" progId="Equation.DSMT4">
                  <p:embed/>
                </p:oleObj>
              </mc:Choice>
              <mc:Fallback>
                <p:oleObj name="Equation" r:id="rId3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991582" y="2232619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7580313" y="2234055"/>
            <a:ext cx="1794761" cy="461665"/>
            <a:chOff x="5825393" y="2879958"/>
            <a:chExt cx="1794761" cy="461665"/>
          </a:xfrm>
        </p:grpSpPr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70512323"/>
                </p:ext>
              </p:extLst>
            </p:nvPr>
          </p:nvGraphicFramePr>
          <p:xfrm>
            <a:off x="5825393" y="2922378"/>
            <a:ext cx="1157287" cy="3667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16" name="Equation" r:id="rId5" imgW="520560" imgH="164880" progId="Equation.DSMT4">
                    <p:embed/>
                  </p:oleObj>
                </mc:Choice>
                <mc:Fallback>
                  <p:oleObj name="Equation" r:id="rId5" imgW="520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5825393" y="2922378"/>
                          <a:ext cx="1157287" cy="3667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文本框 16"/>
            <p:cNvSpPr txBox="1"/>
            <p:nvPr/>
          </p:nvSpPr>
          <p:spPr>
            <a:xfrm>
              <a:off x="6808687" y="2879958"/>
              <a:ext cx="81146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有解</a:t>
              </a:r>
            </a:p>
          </p:txBody>
        </p:sp>
      </p:grpSp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911879"/>
              </p:ext>
            </p:extLst>
          </p:nvPr>
        </p:nvGraphicFramePr>
        <p:xfrm>
          <a:off x="9375074" y="2248179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7" name="Equation" r:id="rId7" imgW="215640" imgH="152280" progId="Equation.DSMT4">
                  <p:embed/>
                </p:oleObj>
              </mc:Choice>
              <mc:Fallback>
                <p:oleObj name="Equation" r:id="rId7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9375074" y="2248179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084169"/>
              </p:ext>
            </p:extLst>
          </p:nvPr>
        </p:nvGraphicFramePr>
        <p:xfrm>
          <a:off x="10065292" y="2222645"/>
          <a:ext cx="20066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8" name="Equation" r:id="rId9" imgW="1079280" imgH="253800" progId="Equation.DSMT4">
                  <p:embed/>
                </p:oleObj>
              </mc:Choice>
              <mc:Fallback>
                <p:oleObj name="Equation" r:id="rId9" imgW="10792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0065292" y="2222645"/>
                        <a:ext cx="20066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1862106" y="3084852"/>
            <a:ext cx="1891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与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等价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92723"/>
              </p:ext>
            </p:extLst>
          </p:nvPr>
        </p:nvGraphicFramePr>
        <p:xfrm>
          <a:off x="3698827" y="3083359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19" name="Equation" r:id="rId11" imgW="215640" imgH="152280" progId="Equation.DSMT4">
                  <p:embed/>
                </p:oleObj>
              </mc:Choice>
              <mc:Fallback>
                <p:oleObj name="Equation" r:id="rId11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698827" y="3083359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7221639"/>
              </p:ext>
            </p:extLst>
          </p:nvPr>
        </p:nvGraphicFramePr>
        <p:xfrm>
          <a:off x="8297840" y="3096262"/>
          <a:ext cx="656799" cy="460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0" name="Equation" r:id="rId12" imgW="215640" imgH="152280" progId="Equation.DSMT4">
                  <p:embed/>
                </p:oleObj>
              </mc:Choice>
              <mc:Fallback>
                <p:oleObj name="Equation" r:id="rId12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8297840" y="3096262"/>
                        <a:ext cx="656799" cy="4601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698087"/>
              </p:ext>
            </p:extLst>
          </p:nvPr>
        </p:nvGraphicFramePr>
        <p:xfrm>
          <a:off x="8961458" y="3083359"/>
          <a:ext cx="29273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21" name="Equation" r:id="rId13" imgW="1574640" imgH="253800" progId="Equation.DSMT4">
                  <p:embed/>
                </p:oleObj>
              </mc:Choice>
              <mc:Fallback>
                <p:oleObj name="Equation" r:id="rId13" imgW="157464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961458" y="3083359"/>
                        <a:ext cx="292735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8" name="组合 27"/>
          <p:cNvGrpSpPr/>
          <p:nvPr/>
        </p:nvGrpSpPr>
        <p:grpSpPr>
          <a:xfrm>
            <a:off x="4246562" y="3098198"/>
            <a:ext cx="4051277" cy="461665"/>
            <a:chOff x="4246562" y="3098198"/>
            <a:chExt cx="4051277" cy="461665"/>
          </a:xfrm>
        </p:grpSpPr>
        <p:grpSp>
          <p:nvGrpSpPr>
            <p:cNvPr id="22" name="组合 21"/>
            <p:cNvGrpSpPr/>
            <p:nvPr/>
          </p:nvGrpSpPr>
          <p:grpSpPr>
            <a:xfrm>
              <a:off x="4246562" y="3098198"/>
              <a:ext cx="4051277" cy="461665"/>
              <a:chOff x="4869813" y="2891246"/>
              <a:chExt cx="3395799" cy="461665"/>
            </a:xfrm>
          </p:grpSpPr>
          <p:graphicFrame>
            <p:nvGraphicFramePr>
              <p:cNvPr id="23" name="对象 2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9743882"/>
                  </p:ext>
                </p:extLst>
              </p:nvPr>
            </p:nvGraphicFramePr>
            <p:xfrm>
              <a:off x="4869813" y="2922011"/>
              <a:ext cx="1156334" cy="3683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8222" name="Equation" r:id="rId15" imgW="520560" imgH="164880" progId="Equation.DSMT4">
                      <p:embed/>
                    </p:oleObj>
                  </mc:Choice>
                  <mc:Fallback>
                    <p:oleObj name="Equation" r:id="rId15" imgW="520560" imgH="1648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6"/>
                          <a:stretch>
                            <a:fillRect/>
                          </a:stretch>
                        </p:blipFill>
                        <p:spPr>
                          <a:xfrm>
                            <a:off x="4869813" y="2922011"/>
                            <a:ext cx="1156334" cy="3683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4" name="文本框 23"/>
              <p:cNvSpPr txBox="1"/>
              <p:nvPr/>
            </p:nvSpPr>
            <p:spPr>
              <a:xfrm>
                <a:off x="5857108" y="2891246"/>
                <a:ext cx="240850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与            同时有解</a:t>
                </a:r>
              </a:p>
            </p:txBody>
          </p:sp>
        </p:grpSp>
        <p:graphicFrame>
          <p:nvGraphicFramePr>
            <p:cNvPr id="27" name="对象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91947558"/>
                </p:ext>
              </p:extLst>
            </p:nvPr>
          </p:nvGraphicFramePr>
          <p:xfrm>
            <a:off x="5784850" y="3144838"/>
            <a:ext cx="1157288" cy="368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3" name="Equation" r:id="rId17" imgW="520560" imgH="164880" progId="Equation.DSMT4">
                    <p:embed/>
                  </p:oleObj>
                </mc:Choice>
                <mc:Fallback>
                  <p:oleObj name="Equation" r:id="rId17" imgW="52056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8"/>
                        <a:stretch>
                          <a:fillRect/>
                        </a:stretch>
                      </p:blipFill>
                      <p:spPr>
                        <a:xfrm>
                          <a:off x="5784850" y="3144838"/>
                          <a:ext cx="1157288" cy="3683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9" name="组合 28"/>
          <p:cNvGrpSpPr/>
          <p:nvPr/>
        </p:nvGrpSpPr>
        <p:grpSpPr>
          <a:xfrm>
            <a:off x="506856" y="4063630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0" name="圆角矩形 29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结 论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2" name="组合 31"/>
          <p:cNvGrpSpPr/>
          <p:nvPr/>
        </p:nvGrpSpPr>
        <p:grpSpPr>
          <a:xfrm>
            <a:off x="1862109" y="4019369"/>
            <a:ext cx="5480387" cy="695629"/>
            <a:chOff x="1923793" y="4631466"/>
            <a:chExt cx="5480387" cy="69562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3" name="圆角矩形 32"/>
            <p:cNvSpPr/>
            <p:nvPr/>
          </p:nvSpPr>
          <p:spPr>
            <a:xfrm>
              <a:off x="1923793" y="4631466"/>
              <a:ext cx="5480387" cy="695629"/>
            </a:xfrm>
            <a:prstGeom prst="roundRect">
              <a:avLst/>
            </a:prstGeom>
            <a:solidFill>
              <a:srgbClr val="F17623"/>
            </a:solidFill>
            <a:ln>
              <a:solidFill>
                <a:srgbClr val="F1762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 33"/>
            <p:cNvSpPr/>
            <p:nvPr/>
          </p:nvSpPr>
          <p:spPr>
            <a:xfrm>
              <a:off x="2481069" y="4727993"/>
              <a:ext cx="35163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可由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线性表示，则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5" name="对象 3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332755"/>
                </p:ext>
              </p:extLst>
            </p:nvPr>
          </p:nvGraphicFramePr>
          <p:xfrm>
            <a:off x="2190522" y="4789296"/>
            <a:ext cx="3937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4" name="Equation" r:id="rId19" imgW="152280" imgH="164880" progId="Equation.DSMT4">
                    <p:embed/>
                  </p:oleObj>
                </mc:Choice>
                <mc:Fallback>
                  <p:oleObj name="Equation" r:id="rId19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90522" y="4789296"/>
                          <a:ext cx="393700" cy="358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对象 3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56102043"/>
                </p:ext>
              </p:extLst>
            </p:nvPr>
          </p:nvGraphicFramePr>
          <p:xfrm>
            <a:off x="5451247" y="4761822"/>
            <a:ext cx="1698625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5" name="Equation" r:id="rId21" imgW="914400" imgH="253800" progId="Equation.DSMT4">
                    <p:embed/>
                  </p:oleObj>
                </mc:Choice>
                <mc:Fallback>
                  <p:oleObj name="Equation" r:id="rId21" imgW="9144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5451247" y="4761822"/>
                          <a:ext cx="1698625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7" name="组合 46"/>
          <p:cNvGrpSpPr/>
          <p:nvPr/>
        </p:nvGrpSpPr>
        <p:grpSpPr>
          <a:xfrm>
            <a:off x="1862106" y="5000346"/>
            <a:ext cx="5480390" cy="707090"/>
            <a:chOff x="1862106" y="5000346"/>
            <a:chExt cx="5480390" cy="707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圆角矩形 38"/>
            <p:cNvSpPr/>
            <p:nvPr/>
          </p:nvSpPr>
          <p:spPr>
            <a:xfrm>
              <a:off x="1862106" y="5000346"/>
              <a:ext cx="5480390" cy="707090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矩形 43"/>
            <p:cNvSpPr/>
            <p:nvPr/>
          </p:nvSpPr>
          <p:spPr>
            <a:xfrm>
              <a:off x="2432405" y="5123058"/>
              <a:ext cx="351638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等价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45" name="对象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65631406"/>
                </p:ext>
              </p:extLst>
            </p:nvPr>
          </p:nvGraphicFramePr>
          <p:xfrm>
            <a:off x="4516897" y="5136404"/>
            <a:ext cx="1722438" cy="4730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6" name="Equation" r:id="rId23" imgW="927000" imgH="253800" progId="Equation.DSMT4">
                    <p:embed/>
                  </p:oleObj>
                </mc:Choice>
                <mc:Fallback>
                  <p:oleObj name="Equation" r:id="rId23" imgW="92700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4516897" y="5136404"/>
                          <a:ext cx="1722438" cy="4730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6" name="对象 4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9381022"/>
                </p:ext>
              </p:extLst>
            </p:nvPr>
          </p:nvGraphicFramePr>
          <p:xfrm>
            <a:off x="2141858" y="5165030"/>
            <a:ext cx="3937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8227" name="Equation" r:id="rId25" imgW="152280" imgH="164880" progId="Equation.DSMT4">
                    <p:embed/>
                  </p:oleObj>
                </mc:Choice>
                <mc:Fallback>
                  <p:oleObj name="Equation" r:id="rId25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0"/>
                        <a:stretch>
                          <a:fillRect/>
                        </a:stretch>
                      </p:blipFill>
                      <p:spPr>
                        <a:xfrm>
                          <a:off x="2141858" y="5165030"/>
                          <a:ext cx="393700" cy="358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187578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2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6" y="1157980"/>
            <a:ext cx="3096153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向量组的线性相关性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13702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923790" y="2246686"/>
            <a:ext cx="3548962" cy="461665"/>
            <a:chOff x="2346870" y="4378223"/>
            <a:chExt cx="3548962" cy="461665"/>
          </a:xfrm>
        </p:grpSpPr>
        <p:sp>
          <p:nvSpPr>
            <p:cNvPr id="14" name="文本框 13"/>
            <p:cNvSpPr txBox="1"/>
            <p:nvPr/>
          </p:nvSpPr>
          <p:spPr>
            <a:xfrm>
              <a:off x="2346870" y="4378223"/>
              <a:ext cx="35489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设向量组</a:t>
              </a:r>
            </a:p>
          </p:txBody>
        </p:sp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86589782"/>
                </p:ext>
              </p:extLst>
            </p:nvPr>
          </p:nvGraphicFramePr>
          <p:xfrm>
            <a:off x="3752492" y="4414437"/>
            <a:ext cx="1843088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94" name="Equation" r:id="rId4" imgW="990360" imgH="228600" progId="Equation.DSMT4">
                    <p:embed/>
                  </p:oleObj>
                </mc:Choice>
                <mc:Fallback>
                  <p:oleObj name="Equation" r:id="rId4" imgW="9903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752492" y="4414437"/>
                          <a:ext cx="1843088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" name="文本框 18"/>
          <p:cNvSpPr txBox="1"/>
          <p:nvPr/>
        </p:nvSpPr>
        <p:spPr>
          <a:xfrm>
            <a:off x="2060812" y="3411940"/>
            <a:ext cx="34119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则称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向量组 </a:t>
            </a:r>
            <a:r>
              <a:rPr lang="en-US" altLang="zh-CN" sz="2400" i="1" dirty="0" smtClean="0">
                <a:solidFill>
                  <a:srgbClr val="1F4E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线性相关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72752" y="3411939"/>
            <a:ext cx="61414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否则称向量组 </a:t>
            </a:r>
            <a:r>
              <a:rPr lang="en-US" altLang="zh-CN" sz="2400" i="1" dirty="0" smtClean="0">
                <a:solidFill>
                  <a:srgbClr val="1F4E7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b="1" dirty="0" smtClean="0">
                <a:solidFill>
                  <a:srgbClr val="1F4E7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线性无关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72500" y="2246686"/>
            <a:ext cx="4306413" cy="461665"/>
            <a:chOff x="5172500" y="2246686"/>
            <a:chExt cx="4306413" cy="461665"/>
          </a:xfrm>
        </p:grpSpPr>
        <p:sp>
          <p:nvSpPr>
            <p:cNvPr id="17" name="文本框 16"/>
            <p:cNvSpPr txBox="1"/>
            <p:nvPr/>
          </p:nvSpPr>
          <p:spPr>
            <a:xfrm>
              <a:off x="5172500" y="2246686"/>
              <a:ext cx="29888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若存在不全为零的数</a:t>
              </a: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2417357"/>
                </p:ext>
              </p:extLst>
            </p:nvPr>
          </p:nvGraphicFramePr>
          <p:xfrm>
            <a:off x="8107313" y="2282900"/>
            <a:ext cx="1371600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95" name="Equation" r:id="rId6" imgW="736560" imgH="228600" progId="Equation.DSMT4">
                    <p:embed/>
                  </p:oleObj>
                </mc:Choice>
                <mc:Fallback>
                  <p:oleObj name="Equation" r:id="rId6" imgW="73656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8107313" y="2282900"/>
                          <a:ext cx="1371600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文本框 1"/>
          <p:cNvSpPr txBox="1"/>
          <p:nvPr/>
        </p:nvSpPr>
        <p:spPr>
          <a:xfrm>
            <a:off x="9544929" y="2264793"/>
            <a:ext cx="1277746" cy="461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使得</a:t>
            </a: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14554778"/>
              </p:ext>
            </p:extLst>
          </p:nvPr>
        </p:nvGraphicFramePr>
        <p:xfrm>
          <a:off x="4137025" y="2887663"/>
          <a:ext cx="2932113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6" name="Equation" r:id="rId8" imgW="1574640" imgH="228600" progId="Equation.DSMT4">
                  <p:embed/>
                </p:oleObj>
              </mc:Choice>
              <mc:Fallback>
                <p:oleObj name="Equation" r:id="rId8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137025" y="2887663"/>
                        <a:ext cx="2932113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0" name="组合 59"/>
          <p:cNvGrpSpPr/>
          <p:nvPr/>
        </p:nvGrpSpPr>
        <p:grpSpPr>
          <a:xfrm>
            <a:off x="537836" y="4107921"/>
            <a:ext cx="2847600" cy="2533876"/>
            <a:chOff x="537836" y="4107921"/>
            <a:chExt cx="2847600" cy="25338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5" name="圆角矩形 34"/>
            <p:cNvSpPr/>
            <p:nvPr/>
          </p:nvSpPr>
          <p:spPr>
            <a:xfrm>
              <a:off x="537836" y="4107921"/>
              <a:ext cx="2847600" cy="2533876"/>
            </a:xfrm>
            <a:prstGeom prst="roundRect">
              <a:avLst/>
            </a:pr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01646633"/>
                </p:ext>
              </p:extLst>
            </p:nvPr>
          </p:nvGraphicFramePr>
          <p:xfrm>
            <a:off x="1534422" y="4378589"/>
            <a:ext cx="854428" cy="4420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497" name="Equation" r:id="rId10" imgW="342720" imgH="177480" progId="Equation.DSMT4">
                    <p:embed/>
                  </p:oleObj>
                </mc:Choice>
                <mc:Fallback>
                  <p:oleObj name="Equation" r:id="rId10" imgW="342720" imgH="1774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1534422" y="4378589"/>
                          <a:ext cx="854428" cy="44209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1" name="对象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089204"/>
              </p:ext>
            </p:extLst>
          </p:nvPr>
        </p:nvGraphicFramePr>
        <p:xfrm>
          <a:off x="1051653" y="5032270"/>
          <a:ext cx="10112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8" name="Equation" r:id="rId12" imgW="406080" imgH="203040" progId="Equation.DSMT4">
                  <p:embed/>
                </p:oleObj>
              </mc:Choice>
              <mc:Fallback>
                <p:oleObj name="Equation" r:id="rId12" imgW="4060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051653" y="5032270"/>
                        <a:ext cx="1011237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文本框 31"/>
          <p:cNvSpPr txBox="1"/>
          <p:nvPr/>
        </p:nvSpPr>
        <p:spPr>
          <a:xfrm>
            <a:off x="2172319" y="5099222"/>
            <a:ext cx="8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045176"/>
              </p:ext>
            </p:extLst>
          </p:nvPr>
        </p:nvGraphicFramePr>
        <p:xfrm>
          <a:off x="1061178" y="5665682"/>
          <a:ext cx="1042987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9" name="Equation" r:id="rId14" imgW="419040" imgH="203040" progId="Equation.DSMT4">
                  <p:embed/>
                </p:oleObj>
              </mc:Choice>
              <mc:Fallback>
                <p:oleObj name="Equation" r:id="rId14" imgW="41904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1178" y="5665682"/>
                        <a:ext cx="1042987" cy="503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文本框 33"/>
          <p:cNvSpPr txBox="1"/>
          <p:nvPr/>
        </p:nvSpPr>
        <p:spPr>
          <a:xfrm>
            <a:off x="2140688" y="5730497"/>
            <a:ext cx="8512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</a:p>
        </p:txBody>
      </p:sp>
      <p:grpSp>
        <p:nvGrpSpPr>
          <p:cNvPr id="63" name="组合 62"/>
          <p:cNvGrpSpPr/>
          <p:nvPr/>
        </p:nvGrpSpPr>
        <p:grpSpPr>
          <a:xfrm>
            <a:off x="3385436" y="4111376"/>
            <a:ext cx="2846393" cy="2533876"/>
            <a:chOff x="3385436" y="4111376"/>
            <a:chExt cx="2846393" cy="25338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6" name="圆角矩形 35"/>
            <p:cNvSpPr/>
            <p:nvPr/>
          </p:nvSpPr>
          <p:spPr>
            <a:xfrm>
              <a:off x="3385436" y="4111376"/>
              <a:ext cx="2846393" cy="2533876"/>
            </a:xfrm>
            <a:prstGeom prst="roundRect">
              <a:avLst/>
            </a:prstGeom>
            <a:solidFill>
              <a:srgbClr val="A5A5A5"/>
            </a:solidFill>
            <a:ln>
              <a:solidFill>
                <a:srgbClr val="A5A5A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9" name="对象 3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4566748"/>
                </p:ext>
              </p:extLst>
            </p:nvPr>
          </p:nvGraphicFramePr>
          <p:xfrm>
            <a:off x="3907110" y="4323451"/>
            <a:ext cx="1422400" cy="5699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00" name="Equation" r:id="rId16" imgW="571320" imgH="228600" progId="Equation.DSMT4">
                    <p:embed/>
                  </p:oleObj>
                </mc:Choice>
                <mc:Fallback>
                  <p:oleObj name="Equation" r:id="rId16" imgW="5713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3907110" y="4323451"/>
                          <a:ext cx="1422400" cy="5699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0" name="文本框 39"/>
          <p:cNvSpPr txBox="1"/>
          <p:nvPr/>
        </p:nvSpPr>
        <p:spPr>
          <a:xfrm>
            <a:off x="3531819" y="5162739"/>
            <a:ext cx="1797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分量对应成比例，</a:t>
            </a:r>
          </a:p>
        </p:txBody>
      </p:sp>
      <p:sp>
        <p:nvSpPr>
          <p:cNvPr id="41" name="文本框 40"/>
          <p:cNvSpPr txBox="1"/>
          <p:nvPr/>
        </p:nvSpPr>
        <p:spPr>
          <a:xfrm>
            <a:off x="3483998" y="5827282"/>
            <a:ext cx="21736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分量对应不成比例，</a:t>
            </a:r>
          </a:p>
        </p:txBody>
      </p:sp>
      <p:grpSp>
        <p:nvGrpSpPr>
          <p:cNvPr id="64" name="组合 63"/>
          <p:cNvGrpSpPr/>
          <p:nvPr/>
        </p:nvGrpSpPr>
        <p:grpSpPr>
          <a:xfrm>
            <a:off x="6230373" y="4080467"/>
            <a:ext cx="2847600" cy="2533876"/>
            <a:chOff x="6253769" y="4107921"/>
            <a:chExt cx="2847600" cy="25338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7" name="圆角矩形 36"/>
            <p:cNvSpPr/>
            <p:nvPr/>
          </p:nvSpPr>
          <p:spPr>
            <a:xfrm>
              <a:off x="6253769" y="4107921"/>
              <a:ext cx="2847600" cy="2533876"/>
            </a:xfrm>
            <a:prstGeom prst="roundRect">
              <a:avLst/>
            </a:prstGeom>
            <a:solidFill>
              <a:srgbClr val="C48170"/>
            </a:solidFill>
            <a:ln>
              <a:solidFill>
                <a:srgbClr val="C4817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42" name="对象 4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62347775"/>
                </p:ext>
              </p:extLst>
            </p:nvPr>
          </p:nvGraphicFramePr>
          <p:xfrm>
            <a:off x="6449739" y="4347689"/>
            <a:ext cx="2528888" cy="5699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01" name="Equation" r:id="rId18" imgW="1015920" imgH="228600" progId="Equation.DSMT4">
                    <p:embed/>
                  </p:oleObj>
                </mc:Choice>
                <mc:Fallback>
                  <p:oleObj name="Equation" r:id="rId18" imgW="101592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6449739" y="4347689"/>
                          <a:ext cx="2528888" cy="569913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5" name="组合 64"/>
          <p:cNvGrpSpPr/>
          <p:nvPr/>
        </p:nvGrpSpPr>
        <p:grpSpPr>
          <a:xfrm>
            <a:off x="6555542" y="5099222"/>
            <a:ext cx="2417379" cy="651774"/>
            <a:chOff x="7482115" y="5911358"/>
            <a:chExt cx="1028133" cy="566885"/>
          </a:xfrm>
        </p:grpSpPr>
        <p:graphicFrame>
          <p:nvGraphicFramePr>
            <p:cNvPr id="43" name="对象 4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34813753"/>
                </p:ext>
              </p:extLst>
            </p:nvPr>
          </p:nvGraphicFramePr>
          <p:xfrm>
            <a:off x="7604386" y="6154511"/>
            <a:ext cx="298734" cy="3237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9502" name="Equation" r:id="rId20" imgW="152280" imgH="164880" progId="Equation.DSMT4">
                    <p:embed/>
                  </p:oleObj>
                </mc:Choice>
                <mc:Fallback>
                  <p:oleObj name="Equation" r:id="rId20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1"/>
                        <a:stretch>
                          <a:fillRect/>
                        </a:stretch>
                      </p:blipFill>
                      <p:spPr>
                        <a:xfrm>
                          <a:off x="7604386" y="6154511"/>
                          <a:ext cx="298734" cy="32373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文本框 43"/>
            <p:cNvSpPr txBox="1"/>
            <p:nvPr/>
          </p:nvSpPr>
          <p:spPr>
            <a:xfrm>
              <a:off x="7482115" y="5911358"/>
              <a:ext cx="1028133" cy="5621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含 有 </a:t>
              </a:r>
              <a:r>
                <a:rPr lang="zh-CN" altLang="en-US" b="1" dirty="0" smtClean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零向量</a:t>
              </a:r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的向量组       必线 性相关。</a:t>
              </a:r>
            </a:p>
          </p:txBody>
        </p:sp>
      </p:grpSp>
      <p:grpSp>
        <p:nvGrpSpPr>
          <p:cNvPr id="66" name="组合 65"/>
          <p:cNvGrpSpPr/>
          <p:nvPr/>
        </p:nvGrpSpPr>
        <p:grpSpPr>
          <a:xfrm>
            <a:off x="9077973" y="4085739"/>
            <a:ext cx="2847600" cy="2533876"/>
            <a:chOff x="9100162" y="4110846"/>
            <a:chExt cx="2847600" cy="253387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8" name="圆角矩形 37"/>
            <p:cNvSpPr/>
            <p:nvPr/>
          </p:nvSpPr>
          <p:spPr>
            <a:xfrm>
              <a:off x="9100162" y="4110846"/>
              <a:ext cx="2847600" cy="2533876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9275109" y="4447979"/>
              <a:ext cx="14057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部分组相关</a:t>
              </a:r>
            </a:p>
          </p:txBody>
        </p:sp>
      </p:grpSp>
      <p:graphicFrame>
        <p:nvGraphicFramePr>
          <p:cNvPr id="46" name="对象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5327735"/>
              </p:ext>
            </p:extLst>
          </p:nvPr>
        </p:nvGraphicFramePr>
        <p:xfrm>
          <a:off x="9614377" y="4946838"/>
          <a:ext cx="569425" cy="8011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3" name="Equation" r:id="rId22" imgW="139680" imgH="203040" progId="Equation.DSMT4">
                  <p:embed/>
                </p:oleObj>
              </mc:Choice>
              <mc:Fallback>
                <p:oleObj name="Equation" r:id="rId22" imgW="13968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9614377" y="4946838"/>
                        <a:ext cx="569425" cy="80113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/>
          <p:cNvSpPr txBox="1"/>
          <p:nvPr/>
        </p:nvSpPr>
        <p:spPr>
          <a:xfrm>
            <a:off x="9398320" y="5829518"/>
            <a:ext cx="157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组相关</a:t>
            </a:r>
          </a:p>
        </p:txBody>
      </p:sp>
      <p:sp>
        <p:nvSpPr>
          <p:cNvPr id="61" name="文本框 60"/>
          <p:cNvSpPr txBox="1"/>
          <p:nvPr/>
        </p:nvSpPr>
        <p:spPr>
          <a:xfrm>
            <a:off x="5384866" y="5160994"/>
            <a:ext cx="66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</a:t>
            </a:r>
          </a:p>
        </p:txBody>
      </p:sp>
      <p:sp>
        <p:nvSpPr>
          <p:cNvPr id="62" name="文本框 61"/>
          <p:cNvSpPr txBox="1"/>
          <p:nvPr/>
        </p:nvSpPr>
        <p:spPr>
          <a:xfrm>
            <a:off x="5507375" y="5825537"/>
            <a:ext cx="661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</a:p>
        </p:txBody>
      </p:sp>
      <p:sp>
        <p:nvSpPr>
          <p:cNvPr id="48" name="文本框 44"/>
          <p:cNvSpPr txBox="1"/>
          <p:nvPr/>
        </p:nvSpPr>
        <p:spPr>
          <a:xfrm>
            <a:off x="10500566" y="4492582"/>
            <a:ext cx="1405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整体组</a:t>
            </a:r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</a:t>
            </a: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0351538"/>
              </p:ext>
            </p:extLst>
          </p:nvPr>
        </p:nvGraphicFramePr>
        <p:xfrm>
          <a:off x="10822675" y="4924798"/>
          <a:ext cx="569913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04" name="Equation" r:id="rId24" imgW="139680" imgH="203040" progId="Equation.DSMT4">
                  <p:embed/>
                </p:oleObj>
              </mc:Choice>
              <mc:Fallback>
                <p:oleObj name="Equation" r:id="rId24" imgW="139680" imgH="203040" progId="Equation.DSMT4">
                  <p:embed/>
                  <p:pic>
                    <p:nvPicPr>
                      <p:cNvPr id="0" name="对象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22675" y="4924798"/>
                        <a:ext cx="569913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文本框 46"/>
          <p:cNvSpPr txBox="1"/>
          <p:nvPr/>
        </p:nvSpPr>
        <p:spPr>
          <a:xfrm>
            <a:off x="10621037" y="5829518"/>
            <a:ext cx="1570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</a:t>
            </a:r>
            <a:r>
              <a:rPr lang="zh-CN" altLang="en-US" b="1" dirty="0" smtClean="0">
                <a:solidFill>
                  <a:srgbClr val="FFFF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分组无关</a:t>
            </a:r>
          </a:p>
        </p:txBody>
      </p:sp>
    </p:spTree>
    <p:extLst>
      <p:ext uri="{BB962C8B-B14F-4D97-AF65-F5344CB8AC3E}">
        <p14:creationId xmlns:p14="http://schemas.microsoft.com/office/powerpoint/2010/main" val="208119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9" grpId="0"/>
      <p:bldP spid="20" grpId="0"/>
      <p:bldP spid="2" grpId="0"/>
      <p:bldP spid="32" grpId="0"/>
      <p:bldP spid="34" grpId="0"/>
      <p:bldP spid="40" grpId="0"/>
      <p:bldP spid="41" grpId="0"/>
      <p:bldP spid="47" grpId="0"/>
      <p:bldP spid="61" grpId="0"/>
      <p:bldP spid="62" grpId="0"/>
      <p:bldP spid="48" grpId="0"/>
      <p:bldP spid="4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25827" y="1040794"/>
            <a:ext cx="3034288" cy="696036"/>
            <a:chOff x="756877" y="1192999"/>
            <a:chExt cx="1805651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56877" y="1192999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75931" y="1310184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向量组的线性相关性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44795" y="1943734"/>
            <a:ext cx="1693986" cy="696036"/>
            <a:chOff x="357644" y="2872687"/>
            <a:chExt cx="1517749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477351" y="2872687"/>
              <a:ext cx="1379311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57644" y="2975711"/>
              <a:ext cx="151774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判定定理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147938" y="2059448"/>
            <a:ext cx="4513957" cy="464607"/>
            <a:chOff x="3548164" y="2894731"/>
            <a:chExt cx="4513957" cy="464607"/>
          </a:xfrm>
        </p:grpSpPr>
        <p:sp>
          <p:nvSpPr>
            <p:cNvPr id="11" name="文本框 10"/>
            <p:cNvSpPr txBox="1"/>
            <p:nvPr/>
          </p:nvSpPr>
          <p:spPr>
            <a:xfrm>
              <a:off x="3548164" y="2894731"/>
              <a:ext cx="4513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线性相关</a:t>
              </a:r>
            </a:p>
          </p:txBody>
        </p:sp>
        <p:graphicFrame>
          <p:nvGraphicFramePr>
            <p:cNvPr id="12" name="对象 1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44059165"/>
                </p:ext>
              </p:extLst>
            </p:nvPr>
          </p:nvGraphicFramePr>
          <p:xfrm>
            <a:off x="4609333" y="2933888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4" name="Equation" r:id="rId4" imgW="939600" imgH="228600" progId="Equation.DSMT4">
                    <p:embed/>
                  </p:oleObj>
                </mc:Choice>
                <mc:Fallback>
                  <p:oleObj name="Equation" r:id="rId4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609333" y="2933888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6865301"/>
              </p:ext>
            </p:extLst>
          </p:nvPr>
        </p:nvGraphicFramePr>
        <p:xfrm>
          <a:off x="6210313" y="2042957"/>
          <a:ext cx="700747" cy="49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5" name="Equation" r:id="rId6" imgW="215640" imgH="152280" progId="Equation.DSMT4">
                  <p:embed/>
                </p:oleObj>
              </mc:Choice>
              <mc:Fallback>
                <p:oleObj name="Equation" r:id="rId6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210313" y="2042957"/>
                        <a:ext cx="700747" cy="49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组合 33"/>
          <p:cNvGrpSpPr/>
          <p:nvPr/>
        </p:nvGrpSpPr>
        <p:grpSpPr>
          <a:xfrm>
            <a:off x="6661895" y="2060919"/>
            <a:ext cx="5289452" cy="461665"/>
            <a:chOff x="6764595" y="2291752"/>
            <a:chExt cx="5289452" cy="461665"/>
          </a:xfrm>
        </p:grpSpPr>
        <p:sp>
          <p:nvSpPr>
            <p:cNvPr id="15" name="文本框 14"/>
            <p:cNvSpPr txBox="1"/>
            <p:nvPr/>
          </p:nvSpPr>
          <p:spPr>
            <a:xfrm>
              <a:off x="6764595" y="2291752"/>
              <a:ext cx="528945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至少有一个    可由其余向量线性表示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6" name="对象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1878226"/>
                </p:ext>
              </p:extLst>
            </p:nvPr>
          </p:nvGraphicFramePr>
          <p:xfrm>
            <a:off x="8417102" y="2291752"/>
            <a:ext cx="306387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6" name="Equation" r:id="rId8" imgW="164880" imgH="228600" progId="Equation.DSMT4">
                    <p:embed/>
                  </p:oleObj>
                </mc:Choice>
                <mc:Fallback>
                  <p:oleObj name="Equation" r:id="rId8" imgW="1648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8417102" y="2291752"/>
                          <a:ext cx="306387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组合 16"/>
          <p:cNvGrpSpPr/>
          <p:nvPr/>
        </p:nvGrpSpPr>
        <p:grpSpPr>
          <a:xfrm>
            <a:off x="289008" y="2737645"/>
            <a:ext cx="1749772" cy="696036"/>
            <a:chOff x="335481" y="2137359"/>
            <a:chExt cx="1748815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圆角矩形 17"/>
            <p:cNvSpPr/>
            <p:nvPr/>
          </p:nvSpPr>
          <p:spPr>
            <a:xfrm>
              <a:off x="506041" y="2137359"/>
              <a:ext cx="1578255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335481" y="2266231"/>
              <a:ext cx="1727922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判定定理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147936" y="2890241"/>
            <a:ext cx="4513957" cy="463318"/>
            <a:chOff x="3485204" y="1997637"/>
            <a:chExt cx="4513957" cy="463318"/>
          </a:xfrm>
        </p:grpSpPr>
        <p:sp>
          <p:nvSpPr>
            <p:cNvPr id="21" name="文本框 20"/>
            <p:cNvSpPr txBox="1"/>
            <p:nvPr/>
          </p:nvSpPr>
          <p:spPr>
            <a:xfrm>
              <a:off x="3485204" y="1999290"/>
              <a:ext cx="4513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线性相关</a:t>
              </a:r>
            </a:p>
          </p:txBody>
        </p:sp>
        <p:graphicFrame>
          <p:nvGraphicFramePr>
            <p:cNvPr id="22" name="对象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38032702"/>
                </p:ext>
              </p:extLst>
            </p:nvPr>
          </p:nvGraphicFramePr>
          <p:xfrm>
            <a:off x="4595204" y="1997637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37" name="Equation" r:id="rId10" imgW="939600" imgH="228600" progId="Equation.DSMT4">
                    <p:embed/>
                  </p:oleObj>
                </mc:Choice>
                <mc:Fallback>
                  <p:oleObj name="Equation" r:id="rId10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595204" y="1997637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6967313"/>
              </p:ext>
            </p:extLst>
          </p:nvPr>
        </p:nvGraphicFramePr>
        <p:xfrm>
          <a:off x="6156182" y="2894248"/>
          <a:ext cx="700747" cy="4946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8" name="Equation" r:id="rId12" imgW="215640" imgH="152280" progId="Equation.DSMT4">
                  <p:embed/>
                </p:oleObj>
              </mc:Choice>
              <mc:Fallback>
                <p:oleObj name="Equation" r:id="rId12" imgW="215640" imgH="1522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156182" y="2894248"/>
                        <a:ext cx="700747" cy="4946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对象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658772"/>
              </p:ext>
            </p:extLst>
          </p:nvPr>
        </p:nvGraphicFramePr>
        <p:xfrm>
          <a:off x="9660542" y="3707777"/>
          <a:ext cx="11350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39" name="Equation" r:id="rId14" imgW="609480" imgH="253800" progId="Equation.DSMT4">
                  <p:embed/>
                </p:oleObj>
              </mc:Choice>
              <mc:Fallback>
                <p:oleObj name="Equation" r:id="rId14" imgW="60948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9660542" y="3707777"/>
                        <a:ext cx="1135063" cy="4714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组合 24"/>
          <p:cNvGrpSpPr/>
          <p:nvPr/>
        </p:nvGrpSpPr>
        <p:grpSpPr>
          <a:xfrm>
            <a:off x="597020" y="4683085"/>
            <a:ext cx="1302236" cy="696036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37294" y="2247024"/>
              <a:ext cx="1135504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推论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073555" y="3828994"/>
            <a:ext cx="4662721" cy="501246"/>
            <a:chOff x="3406722" y="2247113"/>
            <a:chExt cx="4870905" cy="501246"/>
          </a:xfrm>
        </p:grpSpPr>
        <p:sp>
          <p:nvSpPr>
            <p:cNvPr id="29" name="文本框 28"/>
            <p:cNvSpPr txBox="1"/>
            <p:nvPr/>
          </p:nvSpPr>
          <p:spPr>
            <a:xfrm>
              <a:off x="3406722" y="2247113"/>
              <a:ext cx="487090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向量组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线性无关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8775813"/>
                </p:ext>
              </p:extLst>
            </p:nvPr>
          </p:nvGraphicFramePr>
          <p:xfrm>
            <a:off x="4750603" y="2322909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40" name="Equation" r:id="rId16" imgW="939600" imgH="228600" progId="Equation.DSMT4">
                    <p:embed/>
                  </p:oleObj>
                </mc:Choice>
                <mc:Fallback>
                  <p:oleObj name="Equation" r:id="rId16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4750603" y="2322909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637657" y="5515178"/>
            <a:ext cx="1350078" cy="578851"/>
            <a:chOff x="741331" y="217859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圆角矩形 38"/>
            <p:cNvSpPr/>
            <p:nvPr/>
          </p:nvSpPr>
          <p:spPr>
            <a:xfrm>
              <a:off x="741331" y="217859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775796" y="2247024"/>
              <a:ext cx="990163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推论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008741"/>
              </p:ext>
            </p:extLst>
          </p:nvPr>
        </p:nvGraphicFramePr>
        <p:xfrm>
          <a:off x="6533766" y="3771323"/>
          <a:ext cx="700087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1" name="Equation" r:id="rId17" imgW="215640" imgH="152280" progId="Equation.DSMT4">
                  <p:embed/>
                </p:oleObj>
              </mc:Choice>
              <mc:Fallback>
                <p:oleObj name="Equation" r:id="rId17" imgW="215640" imgH="152280" progId="Equation.DSMT4">
                  <p:embed/>
                  <p:pic>
                    <p:nvPicPr>
                      <p:cNvPr id="0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33766" y="3771323"/>
                        <a:ext cx="700087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8527037"/>
              </p:ext>
            </p:extLst>
          </p:nvPr>
        </p:nvGraphicFramePr>
        <p:xfrm>
          <a:off x="9313702" y="2908457"/>
          <a:ext cx="1135063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2" name="Equation" r:id="rId19" imgW="609480" imgH="253800" progId="Equation.DSMT4">
                  <p:embed/>
                </p:oleObj>
              </mc:Choice>
              <mc:Fallback>
                <p:oleObj name="Equation" r:id="rId19" imgW="609480" imgH="253800" progId="Equation.DSMT4">
                  <p:embed/>
                  <p:pic>
                    <p:nvPicPr>
                      <p:cNvPr id="0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3702" y="2908457"/>
                        <a:ext cx="1135063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组合 50"/>
          <p:cNvGrpSpPr/>
          <p:nvPr/>
        </p:nvGrpSpPr>
        <p:grpSpPr>
          <a:xfrm>
            <a:off x="557846" y="3784151"/>
            <a:ext cx="1372858" cy="696036"/>
            <a:chOff x="537294" y="1811675"/>
            <a:chExt cx="123003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52" name="圆角矩形 51"/>
            <p:cNvSpPr/>
            <p:nvPr/>
          </p:nvSpPr>
          <p:spPr>
            <a:xfrm>
              <a:off x="557704" y="1811675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文本框 26"/>
            <p:cNvSpPr txBox="1"/>
            <p:nvPr/>
          </p:nvSpPr>
          <p:spPr>
            <a:xfrm>
              <a:off x="537294" y="1924713"/>
              <a:ext cx="117836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 推论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8" name="文本框 14"/>
          <p:cNvSpPr txBox="1"/>
          <p:nvPr/>
        </p:nvSpPr>
        <p:spPr>
          <a:xfrm>
            <a:off x="2169060" y="4540686"/>
            <a:ext cx="8229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线性无关组的延长组线性无关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即短无关，则长无关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grpSp>
        <p:nvGrpSpPr>
          <p:cNvPr id="32" name="组合 31"/>
          <p:cNvGrpSpPr/>
          <p:nvPr/>
        </p:nvGrpSpPr>
        <p:grpSpPr>
          <a:xfrm>
            <a:off x="2011405" y="5632364"/>
            <a:ext cx="8545105" cy="461665"/>
            <a:chOff x="2354123" y="5632364"/>
            <a:chExt cx="8545105" cy="461665"/>
          </a:xfrm>
        </p:grpSpPr>
        <p:grpSp>
          <p:nvGrpSpPr>
            <p:cNvPr id="31" name="组合 30"/>
            <p:cNvGrpSpPr/>
            <p:nvPr/>
          </p:nvGrpSpPr>
          <p:grpSpPr>
            <a:xfrm>
              <a:off x="2354123" y="5632364"/>
              <a:ext cx="8545105" cy="461665"/>
              <a:chOff x="2354123" y="5632364"/>
              <a:chExt cx="8545105" cy="461665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2354123" y="5632364"/>
                <a:ext cx="854510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个    维向量构成的向量组，当        时，向量组线性相关</a:t>
                </a:r>
                <a:r>
                  <a:rPr lang="en-US" altLang="zh-CN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.</a:t>
                </a:r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47" name="对象 4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48499459"/>
                  </p:ext>
                </p:extLst>
              </p:nvPr>
            </p:nvGraphicFramePr>
            <p:xfrm>
              <a:off x="2463618" y="5718175"/>
              <a:ext cx="307975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43" name="Equation" r:id="rId21" imgW="164880" imgH="139680" progId="Equation.DSMT4">
                      <p:embed/>
                    </p:oleObj>
                  </mc:Choice>
                  <mc:Fallback>
                    <p:oleObj name="Equation" r:id="rId21" imgW="16488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2"/>
                          <a:stretch>
                            <a:fillRect/>
                          </a:stretch>
                        </p:blipFill>
                        <p:spPr>
                          <a:xfrm>
                            <a:off x="2463618" y="5718175"/>
                            <a:ext cx="307975" cy="2603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对象 5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87735604"/>
                  </p:ext>
                </p:extLst>
              </p:nvPr>
            </p:nvGraphicFramePr>
            <p:xfrm>
              <a:off x="3315198" y="5705294"/>
              <a:ext cx="236537" cy="2603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3744" name="Equation" r:id="rId23" imgW="126720" imgH="139680" progId="Equation.DSMT4">
                      <p:embed/>
                    </p:oleObj>
                  </mc:Choice>
                  <mc:Fallback>
                    <p:oleObj name="Equation" r:id="rId23" imgW="126720" imgH="13968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24"/>
                          <a:stretch>
                            <a:fillRect/>
                          </a:stretch>
                        </p:blipFill>
                        <p:spPr>
                          <a:xfrm>
                            <a:off x="3315198" y="5705294"/>
                            <a:ext cx="236537" cy="2603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60" name="对象 5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754916200"/>
                </p:ext>
              </p:extLst>
            </p:nvPr>
          </p:nvGraphicFramePr>
          <p:xfrm>
            <a:off x="6884806" y="5734050"/>
            <a:ext cx="733425" cy="25876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745" name="Equation" r:id="rId25" imgW="393480" imgH="139680" progId="Equation.DSMT4">
                    <p:embed/>
                  </p:oleObj>
                </mc:Choice>
                <mc:Fallback>
                  <p:oleObj name="Equation" r:id="rId25" imgW="393480" imgH="139680" progId="Equation.DSMT4">
                    <p:embed/>
                    <p:pic>
                      <p:nvPicPr>
                        <p:cNvPr id="0" name="对象 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84806" y="5734050"/>
                          <a:ext cx="733425" cy="25876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1" name="对象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9577217"/>
              </p:ext>
            </p:extLst>
          </p:nvPr>
        </p:nvGraphicFramePr>
        <p:xfrm>
          <a:off x="6764595" y="2908457"/>
          <a:ext cx="1965325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6" name="Equation" r:id="rId27" imgW="1054080" imgH="203040" progId="Equation.DSMT4">
                  <p:embed/>
                </p:oleObj>
              </mc:Choice>
              <mc:Fallback>
                <p:oleObj name="Equation" r:id="rId27" imgW="10540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64595" y="2908457"/>
                        <a:ext cx="1965325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对象 6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4140565"/>
              </p:ext>
            </p:extLst>
          </p:nvPr>
        </p:nvGraphicFramePr>
        <p:xfrm>
          <a:off x="8709233" y="2891639"/>
          <a:ext cx="700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7" name="Equation" r:id="rId29" imgW="215713" imgH="152268" progId="Equation.DSMT4">
                  <p:embed/>
                </p:oleObj>
              </mc:Choice>
              <mc:Fallback>
                <p:oleObj name="Equation" r:id="rId29" imgW="215713" imgH="152268" progId="Equation.DSMT4">
                  <p:embed/>
                  <p:pic>
                    <p:nvPicPr>
                      <p:cNvPr id="0" name="对象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09233" y="2891639"/>
                        <a:ext cx="7000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980909"/>
              </p:ext>
            </p:extLst>
          </p:nvPr>
        </p:nvGraphicFramePr>
        <p:xfrm>
          <a:off x="7100614" y="3804958"/>
          <a:ext cx="194151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8" name="Equation" r:id="rId30" imgW="1041120" imgH="203040" progId="Equation.DSMT4">
                  <p:embed/>
                </p:oleObj>
              </mc:Choice>
              <mc:Fallback>
                <p:oleObj name="Equation" r:id="rId30" imgW="1041120" imgH="203040" progId="Equation.DSMT4">
                  <p:embed/>
                  <p:pic>
                    <p:nvPicPr>
                      <p:cNvPr id="0" name="对象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614" y="3804958"/>
                        <a:ext cx="194151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对象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2947936"/>
              </p:ext>
            </p:extLst>
          </p:nvPr>
        </p:nvGraphicFramePr>
        <p:xfrm>
          <a:off x="9059277" y="3707777"/>
          <a:ext cx="700088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749" name="Equation" r:id="rId32" imgW="215713" imgH="152268" progId="Equation.DSMT4">
                  <p:embed/>
                </p:oleObj>
              </mc:Choice>
              <mc:Fallback>
                <p:oleObj name="Equation" r:id="rId32" imgW="215713" imgH="152268" progId="Equation.DSMT4">
                  <p:embed/>
                  <p:pic>
                    <p:nvPicPr>
                      <p:cNvPr id="0" name="对象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9277" y="3707777"/>
                        <a:ext cx="700088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文本框 14"/>
          <p:cNvSpPr txBox="1"/>
          <p:nvPr/>
        </p:nvSpPr>
        <p:spPr>
          <a:xfrm>
            <a:off x="2194208" y="5005553"/>
            <a:ext cx="7809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线性相关组的缩短组线性相关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 </a:t>
            </a:r>
            <a:r>
              <a:rPr lang="zh-CN" altLang="en-US" sz="24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即长相关，则短相关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58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2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8" grpId="0"/>
      <p:bldP spid="4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443269" y="1128291"/>
            <a:ext cx="2887984" cy="696036"/>
            <a:chOff x="745588" y="1310185"/>
            <a:chExt cx="1883611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8277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两 个 重 要 定 理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04610" y="2017945"/>
            <a:ext cx="1350078" cy="696036"/>
            <a:chOff x="560706" y="1596648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560706" y="1596648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91957" y="1706313"/>
              <a:ext cx="117836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2101874" y="2135130"/>
            <a:ext cx="4513957" cy="461665"/>
            <a:chOff x="3579947" y="1090044"/>
            <a:chExt cx="4513957" cy="461665"/>
          </a:xfrm>
        </p:grpSpPr>
        <p:sp>
          <p:nvSpPr>
            <p:cNvPr id="29" name="文本框 28"/>
            <p:cNvSpPr txBox="1"/>
            <p:nvPr/>
          </p:nvSpPr>
          <p:spPr>
            <a:xfrm>
              <a:off x="3579947" y="1090044"/>
              <a:ext cx="4513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线性无关，</a:t>
              </a:r>
            </a:p>
          </p:txBody>
        </p:sp>
        <p:graphicFrame>
          <p:nvGraphicFramePr>
            <p:cNvPr id="30" name="对象 2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00746347"/>
                </p:ext>
              </p:extLst>
            </p:nvPr>
          </p:nvGraphicFramePr>
          <p:xfrm>
            <a:off x="4745737" y="1108152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8" name="Equation" r:id="rId4" imgW="939600" imgH="228600" progId="Equation.DSMT4">
                    <p:embed/>
                  </p:oleObj>
                </mc:Choice>
                <mc:Fallback>
                  <p:oleObj name="Equation" r:id="rId4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45737" y="1108152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1" name="组合 30"/>
          <p:cNvGrpSpPr/>
          <p:nvPr/>
        </p:nvGrpSpPr>
        <p:grpSpPr>
          <a:xfrm>
            <a:off x="6429338" y="2135129"/>
            <a:ext cx="5372569" cy="461665"/>
            <a:chOff x="3170397" y="1758517"/>
            <a:chExt cx="5372569" cy="461665"/>
          </a:xfrm>
        </p:grpSpPr>
        <p:sp>
          <p:nvSpPr>
            <p:cNvPr id="32" name="文本框 31"/>
            <p:cNvSpPr txBox="1"/>
            <p:nvPr/>
          </p:nvSpPr>
          <p:spPr>
            <a:xfrm>
              <a:off x="4029009" y="1758517"/>
              <a:ext cx="451395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线性相关，</a:t>
              </a:r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55077870"/>
                </p:ext>
              </p:extLst>
            </p:nvPr>
          </p:nvGraphicFramePr>
          <p:xfrm>
            <a:off x="3170397" y="1758518"/>
            <a:ext cx="20812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79" name="Equation" r:id="rId6" imgW="1117440" imgH="228600" progId="Equation.DSMT4">
                    <p:embed/>
                  </p:oleObj>
                </mc:Choice>
                <mc:Fallback>
                  <p:oleObj name="Equation" r:id="rId6" imgW="1117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170397" y="1758518"/>
                          <a:ext cx="208121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7" name="组合 36"/>
          <p:cNvGrpSpPr/>
          <p:nvPr/>
        </p:nvGrpSpPr>
        <p:grpSpPr>
          <a:xfrm>
            <a:off x="2175446" y="2713981"/>
            <a:ext cx="3783403" cy="461665"/>
            <a:chOff x="2175446" y="2718046"/>
            <a:chExt cx="3783403" cy="461665"/>
          </a:xfrm>
        </p:grpSpPr>
        <p:sp>
          <p:nvSpPr>
            <p:cNvPr id="35" name="文本框 34"/>
            <p:cNvSpPr txBox="1"/>
            <p:nvPr/>
          </p:nvSpPr>
          <p:spPr>
            <a:xfrm>
              <a:off x="2175446" y="2718046"/>
              <a:ext cx="378340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     可由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唯一线性表示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6" name="对象 3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95272272"/>
                </p:ext>
              </p:extLst>
            </p:nvPr>
          </p:nvGraphicFramePr>
          <p:xfrm>
            <a:off x="2655657" y="2801886"/>
            <a:ext cx="284163" cy="377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80" name="Equation" r:id="rId8" imgW="152280" imgH="203040" progId="Equation.DSMT4">
                    <p:embed/>
                  </p:oleObj>
                </mc:Choice>
                <mc:Fallback>
                  <p:oleObj name="Equation" r:id="rId8" imgW="152280" imgH="20304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9"/>
                        <a:stretch>
                          <a:fillRect/>
                        </a:stretch>
                      </p:blipFill>
                      <p:spPr>
                        <a:xfrm>
                          <a:off x="2655657" y="2801886"/>
                          <a:ext cx="284163" cy="3778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组合 37"/>
          <p:cNvGrpSpPr/>
          <p:nvPr/>
        </p:nvGrpSpPr>
        <p:grpSpPr>
          <a:xfrm>
            <a:off x="643600" y="3470925"/>
            <a:ext cx="1376209" cy="696036"/>
            <a:chOff x="612935" y="917714"/>
            <a:chExt cx="1233032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圆角矩形 38"/>
            <p:cNvSpPr/>
            <p:nvPr/>
          </p:nvSpPr>
          <p:spPr>
            <a:xfrm>
              <a:off x="612935" y="917714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67598" y="1027380"/>
              <a:ext cx="117836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080658" y="3588111"/>
            <a:ext cx="5046557" cy="461665"/>
            <a:chOff x="2080658" y="3588111"/>
            <a:chExt cx="5046557" cy="461665"/>
          </a:xfrm>
        </p:grpSpPr>
        <p:grpSp>
          <p:nvGrpSpPr>
            <p:cNvPr id="41" name="组合 40"/>
            <p:cNvGrpSpPr/>
            <p:nvPr/>
          </p:nvGrpSpPr>
          <p:grpSpPr>
            <a:xfrm>
              <a:off x="2080658" y="3588111"/>
              <a:ext cx="3315253" cy="461665"/>
              <a:chOff x="3511546" y="1047800"/>
              <a:chExt cx="3315253" cy="461665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3511546" y="1047800"/>
                <a:ext cx="3315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向量组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43" name="对象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805165145"/>
                  </p:ext>
                </p:extLst>
              </p:nvPr>
            </p:nvGraphicFramePr>
            <p:xfrm>
              <a:off x="4576491" y="1084015"/>
              <a:ext cx="1843088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34281" name="Equation" r:id="rId10" imgW="990360" imgH="228600" progId="Equation.DSMT4">
                      <p:embed/>
                    </p:oleObj>
                  </mc:Choice>
                  <mc:Fallback>
                    <p:oleObj name="Equation" r:id="rId10" imgW="9903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4576491" y="1084015"/>
                            <a:ext cx="1843088" cy="425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1078733"/>
                </p:ext>
              </p:extLst>
            </p:nvPr>
          </p:nvGraphicFramePr>
          <p:xfrm>
            <a:off x="5071403" y="3606218"/>
            <a:ext cx="2055812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82" name="Equation" r:id="rId12" imgW="1104840" imgH="228600" progId="Equation.DSMT4">
                    <p:embed/>
                  </p:oleObj>
                </mc:Choice>
                <mc:Fallback>
                  <p:oleObj name="Equation" r:id="rId12" imgW="1104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071403" y="3606218"/>
                          <a:ext cx="2055812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5" name="文本框 44"/>
          <p:cNvSpPr txBox="1"/>
          <p:nvPr/>
        </p:nvSpPr>
        <p:spPr>
          <a:xfrm>
            <a:off x="7268131" y="3588111"/>
            <a:ext cx="3538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若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可由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线性表示，</a:t>
            </a:r>
          </a:p>
        </p:txBody>
      </p:sp>
      <p:grpSp>
        <p:nvGrpSpPr>
          <p:cNvPr id="50" name="组合 49"/>
          <p:cNvGrpSpPr/>
          <p:nvPr/>
        </p:nvGrpSpPr>
        <p:grpSpPr>
          <a:xfrm>
            <a:off x="2229050" y="4166961"/>
            <a:ext cx="6223656" cy="461665"/>
            <a:chOff x="2229050" y="4166961"/>
            <a:chExt cx="6223656" cy="461665"/>
          </a:xfrm>
        </p:grpSpPr>
        <p:sp>
          <p:nvSpPr>
            <p:cNvPr id="46" name="文本框 45"/>
            <p:cNvSpPr txBox="1"/>
            <p:nvPr/>
          </p:nvSpPr>
          <p:spPr>
            <a:xfrm>
              <a:off x="2229050" y="4166961"/>
              <a:ext cx="23315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则当        时，</a:t>
              </a:r>
            </a:p>
          </p:txBody>
        </p:sp>
        <p:graphicFrame>
          <p:nvGraphicFramePr>
            <p:cNvPr id="47" name="对象 4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82941629"/>
                </p:ext>
              </p:extLst>
            </p:nvPr>
          </p:nvGraphicFramePr>
          <p:xfrm>
            <a:off x="2960484" y="4267618"/>
            <a:ext cx="614362" cy="26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4283" name="Equation" r:id="rId14" imgW="330120" imgH="139680" progId="Equation.DSMT4">
                    <p:embed/>
                  </p:oleObj>
                </mc:Choice>
                <mc:Fallback>
                  <p:oleObj name="Equation" r:id="rId14" imgW="330120" imgH="1396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960484" y="4267618"/>
                          <a:ext cx="614362" cy="2603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8" name="文本框 47"/>
            <p:cNvSpPr txBox="1"/>
            <p:nvPr/>
          </p:nvSpPr>
          <p:spPr>
            <a:xfrm>
              <a:off x="4190729" y="4166961"/>
              <a:ext cx="42619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线性相关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副标题 2"/>
          <p:cNvSpPr>
            <a:spLocks noGrp="1"/>
          </p:cNvSpPr>
          <p:nvPr>
            <p:ph idx="1"/>
          </p:nvPr>
        </p:nvSpPr>
        <p:spPr>
          <a:xfrm>
            <a:off x="616173" y="4628626"/>
            <a:ext cx="10710200" cy="1331694"/>
          </a:xfrm>
        </p:spPr>
        <p:txBody>
          <a:bodyPr>
            <a:normAutofit fontScale="92500" lnSpcReduction="10000"/>
          </a:bodyPr>
          <a:lstStyle/>
          <a:p>
            <a:pPr algn="l"/>
            <a:endParaRPr lang="en-US" altLang="zh-CN" dirty="0" smtClean="0"/>
          </a:p>
          <a:p>
            <a:pPr algn="l"/>
            <a:r>
              <a:rPr lang="zh-CN" altLang="en-US" dirty="0" smtClean="0"/>
              <a:t>推论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：向量组</a:t>
            </a:r>
            <a:r>
              <a:rPr lang="en-US" altLang="zh-CN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可由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向量组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线性表示，且</a:t>
            </a:r>
            <a:r>
              <a:rPr lang="en-US" altLang="zh-CN" i="1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B 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线性无关，则</a:t>
            </a:r>
            <a:endParaRPr lang="en-US" altLang="zh-CN" dirty="0" smtClean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algn="l"/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推论</a:t>
            </a:r>
            <a:r>
              <a:rPr lang="en-US" altLang="zh-CN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dirty="0"/>
              <a:t>向量组</a:t>
            </a:r>
            <a:r>
              <a:rPr lang="en-US" altLang="zh-CN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与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</a:rPr>
              <a:t>向量</a:t>
            </a:r>
            <a:r>
              <a:rPr lang="zh-CN" altLang="en-US" dirty="0">
                <a:latin typeface="宋体" pitchFamily="2" charset="-122"/>
                <a:ea typeface="宋体" pitchFamily="2" charset="-122"/>
              </a:rPr>
              <a:t>组</a:t>
            </a:r>
            <a:r>
              <a:rPr lang="en-US" altLang="zh-CN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等价</a:t>
            </a:r>
            <a:r>
              <a:rPr lang="zh-CN" altLang="en-US" dirty="0" smtClean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，且均为线性无关</a:t>
            </a:r>
            <a:r>
              <a:rPr lang="zh-CN" altLang="en-US" dirty="0">
                <a:latin typeface="宋体" pitchFamily="2" charset="-122"/>
                <a:ea typeface="宋体" pitchFamily="2" charset="-122"/>
                <a:cs typeface="Times New Roman" panose="02020603050405020304" pitchFamily="18" charset="0"/>
              </a:rPr>
              <a:t>，则</a:t>
            </a:r>
            <a:endParaRPr lang="en-US" altLang="zh-CN" dirty="0">
              <a:latin typeface="宋体" pitchFamily="2" charset="-122"/>
              <a:ea typeface="宋体" pitchFamily="2" charset="-122"/>
              <a:cs typeface="Times New Roman" panose="02020603050405020304" pitchFamily="18" charset="0"/>
            </a:endParaRPr>
          </a:p>
          <a:p>
            <a:pPr algn="l"/>
            <a:endParaRPr lang="zh-CN" altLang="en-US" dirty="0">
              <a:latin typeface="宋体" pitchFamily="2" charset="-122"/>
              <a:ea typeface="宋体" pitchFamily="2" charset="-122"/>
            </a:endParaRPr>
          </a:p>
        </p:txBody>
      </p:sp>
      <p:graphicFrame>
        <p:nvGraphicFramePr>
          <p:cNvPr id="52" name="对象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190953"/>
              </p:ext>
            </p:extLst>
          </p:nvPr>
        </p:nvGraphicFramePr>
        <p:xfrm>
          <a:off x="9544929" y="5070059"/>
          <a:ext cx="935914" cy="3322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4" name="Equation" r:id="rId16" imgW="355320" imgH="164880" progId="Equation.DSMT4">
                  <p:embed/>
                </p:oleObj>
              </mc:Choice>
              <mc:Fallback>
                <p:oleObj name="Equation" r:id="rId16" imgW="355320" imgH="1648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9544929" y="5070059"/>
                        <a:ext cx="935914" cy="3322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对象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879536"/>
              </p:ext>
            </p:extLst>
          </p:nvPr>
        </p:nvGraphicFramePr>
        <p:xfrm>
          <a:off x="9037528" y="5593639"/>
          <a:ext cx="935038" cy="280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285" name="Equation" r:id="rId18" imgW="355320" imgH="139680" progId="Equation.DSMT4">
                  <p:embed/>
                </p:oleObj>
              </mc:Choice>
              <mc:Fallback>
                <p:oleObj name="Equation" r:id="rId18" imgW="355320" imgH="139680" progId="Equation.DSMT4">
                  <p:embed/>
                  <p:pic>
                    <p:nvPicPr>
                      <p:cNvPr id="0" name="对象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37528" y="5593639"/>
                        <a:ext cx="935038" cy="280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898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5" grpId="0"/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610694" y="1128289"/>
            <a:ext cx="4707540" cy="696036"/>
            <a:chOff x="745587" y="1310185"/>
            <a:chExt cx="3070368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7" y="1310185"/>
              <a:ext cx="3070368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30144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关于线性相关证明的重 要 定 理</a:t>
              </a: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04610" y="2017945"/>
            <a:ext cx="1350078" cy="696036"/>
            <a:chOff x="560706" y="1596648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560706" y="1596648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591957" y="1706313"/>
              <a:ext cx="117836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7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文本框 34"/>
          <p:cNvSpPr txBox="1"/>
          <p:nvPr/>
        </p:nvSpPr>
        <p:spPr>
          <a:xfrm>
            <a:off x="696355" y="2991541"/>
            <a:ext cx="3783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则有下列结论成立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78479" y="4304913"/>
            <a:ext cx="1376209" cy="696036"/>
            <a:chOff x="612935" y="917714"/>
            <a:chExt cx="1233032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9" name="圆角矩形 38"/>
            <p:cNvSpPr/>
            <p:nvPr/>
          </p:nvSpPr>
          <p:spPr>
            <a:xfrm>
              <a:off x="612935" y="917714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667598" y="1027380"/>
              <a:ext cx="1178369" cy="4320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定理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8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2221573" y="4482009"/>
            <a:ext cx="8110096" cy="461665"/>
            <a:chOff x="2080658" y="3588111"/>
            <a:chExt cx="3315253" cy="461665"/>
          </a:xfrm>
        </p:grpSpPr>
        <p:grpSp>
          <p:nvGrpSpPr>
            <p:cNvPr id="41" name="组合 40"/>
            <p:cNvGrpSpPr/>
            <p:nvPr/>
          </p:nvGrpSpPr>
          <p:grpSpPr>
            <a:xfrm>
              <a:off x="2080658" y="3588111"/>
              <a:ext cx="3315253" cy="461665"/>
              <a:chOff x="3511546" y="1047800"/>
              <a:chExt cx="3315253" cy="461665"/>
            </a:xfrm>
          </p:grpSpPr>
          <p:sp>
            <p:nvSpPr>
              <p:cNvPr id="42" name="文本框 41"/>
              <p:cNvSpPr txBox="1"/>
              <p:nvPr/>
            </p:nvSpPr>
            <p:spPr>
              <a:xfrm>
                <a:off x="3511546" y="1047800"/>
                <a:ext cx="33152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给定向量组                                                         满足 </a:t>
                </a:r>
                <a:r>
                  <a:rPr lang="en-US" altLang="zh-CN" sz="2400" i="1" dirty="0" smtClean="0">
                    <a:latin typeface="Times New Roman" panose="02020603050405020304" pitchFamily="18" charset="0"/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                        </a:t>
                </a:r>
                <a:endPara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aphicFrame>
            <p:nvGraphicFramePr>
              <p:cNvPr id="43" name="对象 4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88394835"/>
                  </p:ext>
                </p:extLst>
              </p:nvPr>
            </p:nvGraphicFramePr>
            <p:xfrm>
              <a:off x="4198767" y="1085072"/>
              <a:ext cx="1157271" cy="38711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277" name="Equation" r:id="rId4" imgW="990360" imgH="228600" progId="Equation.DSMT4">
                      <p:embed/>
                    </p:oleObj>
                  </mc:Choice>
                  <mc:Fallback>
                    <p:oleObj name="Equation" r:id="rId4" imgW="99036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4198767" y="1085072"/>
                            <a:ext cx="1157271" cy="38711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44" name="对象 4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49378938"/>
                </p:ext>
              </p:extLst>
            </p:nvPr>
          </p:nvGraphicFramePr>
          <p:xfrm>
            <a:off x="3973799" y="3618065"/>
            <a:ext cx="802700" cy="401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78" name="Equation" r:id="rId6" imgW="1104840" imgH="228600" progId="Equation.DSMT4">
                    <p:embed/>
                  </p:oleObj>
                </mc:Choice>
                <mc:Fallback>
                  <p:oleObj name="Equation" r:id="rId6" imgW="1104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7"/>
                        <a:stretch>
                          <a:fillRect/>
                        </a:stretch>
                      </p:blipFill>
                      <p:spPr>
                        <a:xfrm>
                          <a:off x="3973799" y="3618065"/>
                          <a:ext cx="802700" cy="40175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组合 10"/>
          <p:cNvGrpSpPr/>
          <p:nvPr/>
        </p:nvGrpSpPr>
        <p:grpSpPr>
          <a:xfrm>
            <a:off x="2054688" y="2065898"/>
            <a:ext cx="8434636" cy="851927"/>
            <a:chOff x="2054688" y="2065898"/>
            <a:chExt cx="7372958" cy="851927"/>
          </a:xfrm>
        </p:grpSpPr>
        <p:grpSp>
          <p:nvGrpSpPr>
            <p:cNvPr id="28" name="组合 27"/>
            <p:cNvGrpSpPr/>
            <p:nvPr/>
          </p:nvGrpSpPr>
          <p:grpSpPr>
            <a:xfrm>
              <a:off x="2054688" y="2065898"/>
              <a:ext cx="7372958" cy="830997"/>
              <a:chOff x="3579947" y="1090044"/>
              <a:chExt cx="4638155" cy="830997"/>
            </a:xfrm>
          </p:grpSpPr>
          <p:sp>
            <p:nvSpPr>
              <p:cNvPr id="29" name="文本框 28"/>
              <p:cNvSpPr txBox="1"/>
              <p:nvPr/>
            </p:nvSpPr>
            <p:spPr>
              <a:xfrm>
                <a:off x="3579947" y="1090044"/>
                <a:ext cx="463815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给定向量组                                                             满足                                                                                                        </a:t>
                </a:r>
              </a:p>
            </p:txBody>
          </p:sp>
          <p:graphicFrame>
            <p:nvGraphicFramePr>
              <p:cNvPr id="30" name="对象 2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272732131"/>
                  </p:ext>
                </p:extLst>
              </p:nvPr>
            </p:nvGraphicFramePr>
            <p:xfrm>
              <a:off x="4474757" y="1149901"/>
              <a:ext cx="2951543" cy="4254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46279" name="Equation" r:id="rId8" imgW="1942920" imgH="228600" progId="Equation.DSMT4">
                      <p:embed/>
                    </p:oleObj>
                  </mc:Choice>
                  <mc:Fallback>
                    <p:oleObj name="Equation" r:id="rId8" imgW="1942920" imgH="2286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4474757" y="1149901"/>
                            <a:ext cx="2951543" cy="42545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34" name="对象 3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06385021"/>
                </p:ext>
              </p:extLst>
            </p:nvPr>
          </p:nvGraphicFramePr>
          <p:xfrm>
            <a:off x="2876550" y="2492375"/>
            <a:ext cx="60102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0" name="Equation" r:id="rId10" imgW="2031840" imgH="228600" progId="Equation.DSMT4">
                    <p:embed/>
                  </p:oleObj>
                </mc:Choice>
                <mc:Fallback>
                  <p:oleObj name="Equation" r:id="rId10" imgW="20318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1"/>
                        <a:stretch>
                          <a:fillRect/>
                        </a:stretch>
                      </p:blipFill>
                      <p:spPr>
                        <a:xfrm>
                          <a:off x="2876550" y="2492375"/>
                          <a:ext cx="601027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组合 11"/>
          <p:cNvGrpSpPr/>
          <p:nvPr/>
        </p:nvGrpSpPr>
        <p:grpSpPr>
          <a:xfrm>
            <a:off x="1868576" y="3453207"/>
            <a:ext cx="8938349" cy="461665"/>
            <a:chOff x="1868576" y="3453207"/>
            <a:chExt cx="8938349" cy="461665"/>
          </a:xfrm>
        </p:grpSpPr>
        <p:sp>
          <p:nvSpPr>
            <p:cNvPr id="32" name="文本框 31"/>
            <p:cNvSpPr txBox="1"/>
            <p:nvPr/>
          </p:nvSpPr>
          <p:spPr>
            <a:xfrm>
              <a:off x="1868576" y="3453207"/>
              <a:ext cx="8938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）若向量组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线性无关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，且      可逆，则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向量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也线性无关。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9" name="对象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87015775"/>
                </p:ext>
              </p:extLst>
            </p:nvPr>
          </p:nvGraphicFramePr>
          <p:xfrm>
            <a:off x="6147355" y="3518145"/>
            <a:ext cx="401638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1" name="Equation" r:id="rId12" imgW="152280" imgH="164880" progId="Equation.DSMT4">
                    <p:embed/>
                  </p:oleObj>
                </mc:Choice>
                <mc:Fallback>
                  <p:oleObj name="Equation" r:id="rId12" imgW="152280" imgH="164880" progId="Equation.DSMT4">
                    <p:embed/>
                    <p:pic>
                      <p:nvPicPr>
                        <p:cNvPr id="0" name="对象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7355" y="3518145"/>
                          <a:ext cx="401638" cy="331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组合 12"/>
          <p:cNvGrpSpPr/>
          <p:nvPr/>
        </p:nvGrpSpPr>
        <p:grpSpPr>
          <a:xfrm>
            <a:off x="1868575" y="3947197"/>
            <a:ext cx="8938349" cy="461665"/>
            <a:chOff x="1868575" y="3947197"/>
            <a:chExt cx="8938349" cy="461665"/>
          </a:xfrm>
        </p:grpSpPr>
        <p:sp>
          <p:nvSpPr>
            <p:cNvPr id="51" name="文本框 31"/>
            <p:cNvSpPr txBox="1"/>
            <p:nvPr/>
          </p:nvSpPr>
          <p:spPr>
            <a:xfrm>
              <a:off x="1868575" y="3947197"/>
              <a:ext cx="8938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）若      不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可逆，则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向量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线性相关。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0" name="对象 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72102954"/>
                </p:ext>
              </p:extLst>
            </p:nvPr>
          </p:nvGraphicFramePr>
          <p:xfrm>
            <a:off x="3093545" y="4012135"/>
            <a:ext cx="401638" cy="331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2" name="Equation" r:id="rId14" imgW="152280" imgH="164880" progId="Equation.DSMT4">
                    <p:embed/>
                  </p:oleObj>
                </mc:Choice>
                <mc:Fallback>
                  <p:oleObj name="Equation" r:id="rId14" imgW="152280" imgH="164880" progId="Equation.DSMT4">
                    <p:embed/>
                    <p:pic>
                      <p:nvPicPr>
                        <p:cNvPr id="0" name="对象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3545" y="4012135"/>
                          <a:ext cx="401638" cy="3317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4" name="对象 5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100850"/>
              </p:ext>
            </p:extLst>
          </p:nvPr>
        </p:nvGraphicFramePr>
        <p:xfrm>
          <a:off x="3007294" y="4936768"/>
          <a:ext cx="5338762" cy="376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3" name="Equation" r:id="rId16" imgW="2044440" imgH="228600" progId="Equation.DSMT4">
                  <p:embed/>
                </p:oleObj>
              </mc:Choice>
              <mc:Fallback>
                <p:oleObj name="Equation" r:id="rId16" imgW="2044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3007294" y="4936768"/>
                        <a:ext cx="5338762" cy="376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5" name="组合 14"/>
          <p:cNvGrpSpPr/>
          <p:nvPr/>
        </p:nvGrpSpPr>
        <p:grpSpPr>
          <a:xfrm>
            <a:off x="849059" y="5312983"/>
            <a:ext cx="10249865" cy="461665"/>
            <a:chOff x="849059" y="5312983"/>
            <a:chExt cx="10249865" cy="461665"/>
          </a:xfrm>
        </p:grpSpPr>
        <p:sp>
          <p:nvSpPr>
            <p:cNvPr id="56" name="文本框 31"/>
            <p:cNvSpPr txBox="1"/>
            <p:nvPr/>
          </p:nvSpPr>
          <p:spPr>
            <a:xfrm>
              <a:off x="849059" y="5312983"/>
              <a:ext cx="1024986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）若向量组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线性无关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，且                  ，则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向量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也线性无关。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58" name="对象 5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73896175"/>
                </p:ext>
              </p:extLst>
            </p:nvPr>
          </p:nvGraphicFramePr>
          <p:xfrm>
            <a:off x="4970436" y="5366660"/>
            <a:ext cx="1541462" cy="407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4" name="Equation" r:id="rId18" imgW="583920" imgH="203040" progId="Equation.DSMT4">
                    <p:embed/>
                  </p:oleObj>
                </mc:Choice>
                <mc:Fallback>
                  <p:oleObj name="Equation" r:id="rId18" imgW="583920" imgH="2030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0436" y="5366660"/>
                          <a:ext cx="1541462" cy="40798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6" name="组合 15"/>
          <p:cNvGrpSpPr/>
          <p:nvPr/>
        </p:nvGrpSpPr>
        <p:grpSpPr>
          <a:xfrm>
            <a:off x="849059" y="5811207"/>
            <a:ext cx="8938349" cy="461665"/>
            <a:chOff x="849059" y="5811207"/>
            <a:chExt cx="8938349" cy="461665"/>
          </a:xfrm>
        </p:grpSpPr>
        <p:sp>
          <p:nvSpPr>
            <p:cNvPr id="57" name="文本框 31"/>
            <p:cNvSpPr txBox="1"/>
            <p:nvPr/>
          </p:nvSpPr>
          <p:spPr>
            <a:xfrm>
              <a:off x="849059" y="5811207"/>
              <a:ext cx="893834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（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）若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，则</a:t>
              </a:r>
              <a:r>
                <a:rPr lang="zh-CN" altLang="en-US" sz="2400" dirty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向量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组</a:t>
              </a:r>
              <a:r>
                <a:rPr lang="en-US" altLang="zh-CN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B</a:t>
              </a:r>
              <a:r>
                <a:rPr lang="zh-CN" altLang="en-US" sz="2400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线性相关。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75346432"/>
                </p:ext>
              </p:extLst>
            </p:nvPr>
          </p:nvGraphicFramePr>
          <p:xfrm>
            <a:off x="2028557" y="5838045"/>
            <a:ext cx="1508125" cy="4079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285" name="Equation" r:id="rId20" imgW="571320" imgH="203040" progId="Equation.DSMT4">
                    <p:embed/>
                  </p:oleObj>
                </mc:Choice>
                <mc:Fallback>
                  <p:oleObj name="Equation" r:id="rId20" imgW="571320" imgH="203040" progId="Equation.DSMT4">
                    <p:embed/>
                    <p:pic>
                      <p:nvPicPr>
                        <p:cNvPr id="0" name="对象 5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28557" y="5838045"/>
                          <a:ext cx="1508125" cy="4079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537221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6" y="1157980"/>
            <a:ext cx="3801908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大无关组与秩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13702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051785" y="2246686"/>
            <a:ext cx="5210661" cy="461665"/>
            <a:chOff x="3532762" y="2246686"/>
            <a:chExt cx="5210661" cy="461665"/>
          </a:xfrm>
        </p:grpSpPr>
        <p:sp>
          <p:nvSpPr>
            <p:cNvPr id="12" name="文本框 11"/>
            <p:cNvSpPr txBox="1"/>
            <p:nvPr/>
          </p:nvSpPr>
          <p:spPr>
            <a:xfrm>
              <a:off x="3532762" y="2246686"/>
              <a:ext cx="521066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设向量组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               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的一个部分组                     </a:t>
              </a:r>
            </a:p>
          </p:txBody>
        </p:sp>
        <p:graphicFrame>
          <p:nvGraphicFramePr>
            <p:cNvPr id="13" name="对象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52420621"/>
                </p:ext>
              </p:extLst>
            </p:nvPr>
          </p:nvGraphicFramePr>
          <p:xfrm>
            <a:off x="4915028" y="2282901"/>
            <a:ext cx="174942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8" name="Equation" r:id="rId3" imgW="939600" imgH="228600" progId="Equation.DSMT4">
                    <p:embed/>
                  </p:oleObj>
                </mc:Choice>
                <mc:Fallback>
                  <p:oleObj name="Equation" r:id="rId3" imgW="93960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15028" y="2282901"/>
                          <a:ext cx="174942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5" name="文本框 14"/>
          <p:cNvSpPr txBox="1"/>
          <p:nvPr/>
        </p:nvSpPr>
        <p:spPr>
          <a:xfrm>
            <a:off x="3666658" y="2858661"/>
            <a:ext cx="24398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线性无关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632399" y="3409468"/>
            <a:ext cx="5417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可以表示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中所有向量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3666659" y="3943828"/>
            <a:ext cx="55972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添加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中任意向量均线性相关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24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左大括号 20"/>
          <p:cNvSpPr/>
          <p:nvPr/>
        </p:nvSpPr>
        <p:spPr>
          <a:xfrm>
            <a:off x="3556379" y="2981055"/>
            <a:ext cx="110279" cy="1288473"/>
          </a:xfrm>
          <a:prstGeom prst="leftBrac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3" name="组合 22"/>
          <p:cNvGrpSpPr/>
          <p:nvPr/>
        </p:nvGrpSpPr>
        <p:grpSpPr>
          <a:xfrm>
            <a:off x="465138" y="3341688"/>
            <a:ext cx="3337427" cy="472897"/>
            <a:chOff x="478435" y="3110857"/>
            <a:chExt cx="3337427" cy="472897"/>
          </a:xfrm>
        </p:grpSpPr>
        <p:graphicFrame>
          <p:nvGraphicFramePr>
            <p:cNvPr id="14" name="对象 1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69711923"/>
                </p:ext>
              </p:extLst>
            </p:nvPr>
          </p:nvGraphicFramePr>
          <p:xfrm>
            <a:off x="478435" y="3110857"/>
            <a:ext cx="1963737" cy="4492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59" name="Equation" r:id="rId5" imgW="1054080" imgH="241200" progId="Equation.DSMT4">
                    <p:embed/>
                  </p:oleObj>
                </mc:Choice>
                <mc:Fallback>
                  <p:oleObj name="Equation" r:id="rId5" imgW="1054080" imgH="2412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78435" y="3110857"/>
                          <a:ext cx="1963737" cy="44926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文本框 21"/>
            <p:cNvSpPr txBox="1"/>
            <p:nvPr/>
          </p:nvSpPr>
          <p:spPr>
            <a:xfrm>
              <a:off x="2465452" y="3122089"/>
              <a:ext cx="135041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满足：</a:t>
              </a: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442380" y="4783015"/>
            <a:ext cx="5800158" cy="494259"/>
            <a:chOff x="442380" y="4783015"/>
            <a:chExt cx="5800158" cy="494259"/>
          </a:xfrm>
        </p:grpSpPr>
        <p:sp>
          <p:nvSpPr>
            <p:cNvPr id="24" name="文本框 23"/>
            <p:cNvSpPr txBox="1"/>
            <p:nvPr/>
          </p:nvSpPr>
          <p:spPr>
            <a:xfrm>
              <a:off x="442380" y="4783015"/>
              <a:ext cx="58001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则称    为 </a:t>
              </a:r>
              <a:r>
                <a:rPr lang="en-US" altLang="zh-CN" sz="2400" i="1" dirty="0" smtClean="0"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的一个</a:t>
              </a:r>
              <a:r>
                <a:rPr lang="zh-CN" altLang="en-US" sz="2400" b="1" dirty="0" smtClean="0">
                  <a:solidFill>
                    <a:srgbClr val="004F8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极大无关组</a:t>
              </a:r>
              <a:r>
                <a:rPr lang="en-US" altLang="zh-CN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93739561"/>
                </p:ext>
              </p:extLst>
            </p:nvPr>
          </p:nvGraphicFramePr>
          <p:xfrm>
            <a:off x="1121903" y="4851824"/>
            <a:ext cx="354013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60" name="Equation" r:id="rId7" imgW="190440" imgH="228600" progId="Equation.DSMT4">
                    <p:embed/>
                  </p:oleObj>
                </mc:Choice>
                <mc:Fallback>
                  <p:oleObj name="Equation" r:id="rId7" imgW="19044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1121903" y="4851824"/>
                          <a:ext cx="354013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组合 27"/>
          <p:cNvGrpSpPr/>
          <p:nvPr/>
        </p:nvGrpSpPr>
        <p:grpSpPr>
          <a:xfrm>
            <a:off x="7994839" y="1610551"/>
            <a:ext cx="3453701" cy="2204034"/>
            <a:chOff x="7848421" y="2604682"/>
            <a:chExt cx="2944535" cy="1198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6" name="圆角矩形 25"/>
            <p:cNvSpPr/>
            <p:nvPr/>
          </p:nvSpPr>
          <p:spPr>
            <a:xfrm>
              <a:off x="7848421" y="2604682"/>
              <a:ext cx="2847600" cy="1198800"/>
            </a:xfrm>
            <a:prstGeom prst="roundRect">
              <a:avLst/>
            </a:prstGeom>
            <a:solidFill>
              <a:srgbClr val="ED7D3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7891494" y="2667385"/>
              <a:ext cx="2901462" cy="251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Wingdings" panose="05000000000000000000" pitchFamily="2" charset="2"/>
                <a:buChar char="l"/>
              </a:pP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大无关组不唯一</a:t>
              </a: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081306" y="3911694"/>
            <a:ext cx="3783996" cy="1198800"/>
            <a:chOff x="8438180" y="3700331"/>
            <a:chExt cx="3783996" cy="11988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9" name="圆角矩形 28"/>
            <p:cNvSpPr/>
            <p:nvPr/>
          </p:nvSpPr>
          <p:spPr>
            <a:xfrm>
              <a:off x="8438180" y="3700331"/>
              <a:ext cx="3625075" cy="11988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AFAB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文本框 29"/>
            <p:cNvSpPr txBox="1"/>
            <p:nvPr/>
          </p:nvSpPr>
          <p:spPr>
            <a:xfrm>
              <a:off x="8860395" y="4085127"/>
              <a:ext cx="336178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大无关组与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等价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8069791" y="5244679"/>
            <a:ext cx="4029475" cy="1450015"/>
            <a:chOff x="7629531" y="5613685"/>
            <a:chExt cx="4385496" cy="114353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7629531" y="5613685"/>
              <a:ext cx="4385496" cy="1143537"/>
            </a:xfrm>
            <a:prstGeom prst="round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7930314" y="5613685"/>
              <a:ext cx="4015386" cy="9466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任意极大无关组之间等价，  且所含向量个数相同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</a:p>
          </p:txBody>
        </p:sp>
      </p:grp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6391799"/>
              </p:ext>
            </p:extLst>
          </p:nvPr>
        </p:nvGraphicFramePr>
        <p:xfrm>
          <a:off x="1214768" y="5294551"/>
          <a:ext cx="3640137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1" name="Equation" r:id="rId9" imgW="1955520" imgH="457200" progId="Equation.DSMT4">
                  <p:embed/>
                </p:oleObj>
              </mc:Choice>
              <mc:Fallback>
                <p:oleObj name="Equation" r:id="rId9" imgW="1955520" imgH="457200" progId="Equation.DSMT4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68" y="5294551"/>
                        <a:ext cx="3640137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文本框 26"/>
          <p:cNvSpPr txBox="1"/>
          <p:nvPr/>
        </p:nvSpPr>
        <p:spPr>
          <a:xfrm>
            <a:off x="8037000" y="2259037"/>
            <a:ext cx="3178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</a:t>
            </a: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有零向量的向量组无极大无关组。</a:t>
            </a:r>
          </a:p>
        </p:txBody>
      </p:sp>
      <p:sp>
        <p:nvSpPr>
          <p:cNvPr id="37" name="文本框 26"/>
          <p:cNvSpPr txBox="1"/>
          <p:nvPr/>
        </p:nvSpPr>
        <p:spPr>
          <a:xfrm>
            <a:off x="8075433" y="3044704"/>
            <a:ext cx="3531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线性无关的向量组的极大无关组是其本身。</a:t>
            </a:r>
          </a:p>
        </p:txBody>
      </p:sp>
    </p:spTree>
    <p:extLst>
      <p:ext uri="{BB962C8B-B14F-4D97-AF65-F5344CB8AC3E}">
        <p14:creationId xmlns:p14="http://schemas.microsoft.com/office/powerpoint/2010/main" val="317548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5" grpId="0"/>
      <p:bldP spid="19" grpId="0"/>
      <p:bldP spid="20" grpId="0"/>
      <p:bldP spid="2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7469944" y="492369"/>
            <a:ext cx="41499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2400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endParaRPr lang="zh-CN" altLang="en-US" sz="2400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06856" y="1157980"/>
            <a:ext cx="3801908" cy="696036"/>
            <a:chOff x="745588" y="1310185"/>
            <a:chExt cx="1842466" cy="6960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6" name="圆角矩形 5"/>
            <p:cNvSpPr/>
            <p:nvPr/>
          </p:nvSpPr>
          <p:spPr>
            <a:xfrm>
              <a:off x="745588" y="1310185"/>
              <a:ext cx="1800664" cy="696036"/>
            </a:xfrm>
            <a:prstGeom prst="round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801457" y="1427370"/>
              <a:ext cx="17865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向量组的</a:t>
              </a:r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极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大无关组与秩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506857" y="2137021"/>
            <a:ext cx="1199113" cy="651368"/>
            <a:chOff x="506043" y="2137359"/>
            <a:chExt cx="1209620" cy="65136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9" name="圆角矩形 8"/>
            <p:cNvSpPr/>
            <p:nvPr/>
          </p:nvSpPr>
          <p:spPr>
            <a:xfrm>
              <a:off x="506043" y="2137359"/>
              <a:ext cx="1209620" cy="651368"/>
            </a:xfrm>
            <a:prstGeom prst="roundRect">
              <a:avLst/>
            </a:prstGeom>
            <a:solidFill>
              <a:srgbClr val="004F8C"/>
            </a:solidFill>
            <a:ln>
              <a:solidFill>
                <a:srgbClr val="004F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37294" y="2247024"/>
              <a:ext cx="11783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定义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6 </a:t>
              </a:r>
              <a:endParaRPr lang="zh-CN" altLang="en-US" sz="2400" b="1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736950" y="1971201"/>
            <a:ext cx="1005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向量组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的一个极大无关组所含向量的个数 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en-US" altLang="zh-CN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 b="1" dirty="0" smtClean="0">
                <a:solidFill>
                  <a:srgbClr val="004F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向量组 </a:t>
            </a:r>
            <a:r>
              <a:rPr lang="en-US" altLang="zh-CN" sz="2400" b="1" i="1" dirty="0" smtClean="0">
                <a:solidFill>
                  <a:srgbClr val="004F8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dirty="0" smtClean="0">
                <a:solidFill>
                  <a:srgbClr val="004F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b="1" dirty="0" smtClean="0">
                <a:solidFill>
                  <a:srgbClr val="004F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的秩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，记作</a:t>
            </a:r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9790604"/>
              </p:ext>
            </p:extLst>
          </p:nvPr>
        </p:nvGraphicFramePr>
        <p:xfrm>
          <a:off x="4543425" y="2708275"/>
          <a:ext cx="305117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3" name="Equation" r:id="rId3" imgW="1638000" imgH="253800" progId="Equation.DSMT4">
                  <p:embed/>
                </p:oleObj>
              </mc:Choice>
              <mc:Fallback>
                <p:oleObj name="Equation" r:id="rId3" imgW="16380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43425" y="2708275"/>
                        <a:ext cx="3051175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52407535"/>
              </p:ext>
            </p:extLst>
          </p:nvPr>
        </p:nvGraphicFramePr>
        <p:xfrm>
          <a:off x="836613" y="3348038"/>
          <a:ext cx="2009775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084" name="Equation" r:id="rId5" imgW="1079280" imgH="228600" progId="Equation.DSMT4">
                  <p:embed/>
                </p:oleObj>
              </mc:Choice>
              <mc:Fallback>
                <p:oleObj name="Equation" r:id="rId5" imgW="1079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36613" y="3348038"/>
                        <a:ext cx="2009775" cy="425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组合 17"/>
          <p:cNvGrpSpPr/>
          <p:nvPr/>
        </p:nvGrpSpPr>
        <p:grpSpPr>
          <a:xfrm>
            <a:off x="3169830" y="3146254"/>
            <a:ext cx="1608193" cy="467370"/>
            <a:chOff x="3209599" y="3801562"/>
            <a:chExt cx="1608193" cy="467370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3209599" y="4268932"/>
              <a:ext cx="1528656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3305515" y="3801562"/>
              <a:ext cx="15122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行变换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4834171" y="3377086"/>
            <a:ext cx="4988198" cy="461665"/>
            <a:chOff x="4834171" y="3377086"/>
            <a:chExt cx="4988198" cy="461665"/>
          </a:xfrm>
        </p:grpSpPr>
        <p:sp>
          <p:nvSpPr>
            <p:cNvPr id="19" name="文本框 18"/>
            <p:cNvSpPr txBox="1"/>
            <p:nvPr/>
          </p:nvSpPr>
          <p:spPr>
            <a:xfrm>
              <a:off x="4834171" y="3377086"/>
              <a:ext cx="30696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（最简行阶梯</a:t>
              </a:r>
              <a:r>
                <a:rPr lang="zh-CN" altLang="en-US" sz="24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形）</a:t>
              </a:r>
              <a:r>
                <a:rPr lang="en-US" altLang="zh-CN" sz="24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0" name="对象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98280014"/>
                </p:ext>
              </p:extLst>
            </p:nvPr>
          </p:nvGraphicFramePr>
          <p:xfrm>
            <a:off x="7812594" y="3400899"/>
            <a:ext cx="2009775" cy="425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5" name="Equation" r:id="rId7" imgW="1079280" imgH="228600" progId="Equation.DSMT4">
                    <p:embed/>
                  </p:oleObj>
                </mc:Choice>
                <mc:Fallback>
                  <p:oleObj name="Equation" r:id="rId7" imgW="1079280" imgH="2286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7812594" y="3400899"/>
                          <a:ext cx="2009775" cy="425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组合 20"/>
          <p:cNvGrpSpPr/>
          <p:nvPr/>
        </p:nvGrpSpPr>
        <p:grpSpPr>
          <a:xfrm>
            <a:off x="561090" y="3872755"/>
            <a:ext cx="5892709" cy="707090"/>
            <a:chOff x="1862105" y="5000346"/>
            <a:chExt cx="5892709" cy="707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2" name="圆角矩形 21"/>
            <p:cNvSpPr/>
            <p:nvPr/>
          </p:nvSpPr>
          <p:spPr>
            <a:xfrm>
              <a:off x="1862105" y="5000346"/>
              <a:ext cx="5892709" cy="707090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2432405" y="5123058"/>
              <a:ext cx="51898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与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的列向量组具有相同的线性关系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25" name="对象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5906223"/>
                </p:ext>
              </p:extLst>
            </p:nvPr>
          </p:nvGraphicFramePr>
          <p:xfrm>
            <a:off x="2141858" y="5165030"/>
            <a:ext cx="393700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6" name="Equation" r:id="rId9" imgW="152280" imgH="164880" progId="Equation.DSMT4">
                    <p:embed/>
                  </p:oleObj>
                </mc:Choice>
                <mc:Fallback>
                  <p:oleObj name="Equation" r:id="rId9" imgW="15228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2141858" y="5165030"/>
                          <a:ext cx="393700" cy="3587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右箭头 25"/>
          <p:cNvSpPr/>
          <p:nvPr/>
        </p:nvSpPr>
        <p:spPr>
          <a:xfrm>
            <a:off x="6489624" y="4098357"/>
            <a:ext cx="695350" cy="358775"/>
          </a:xfrm>
          <a:prstGeom prst="rightArrow">
            <a:avLst/>
          </a:prstGeom>
          <a:solidFill>
            <a:srgbClr val="ED7D31"/>
          </a:solidFill>
          <a:ln>
            <a:solidFill>
              <a:srgbClr val="ED7D3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" name="组合 29"/>
          <p:cNvGrpSpPr/>
          <p:nvPr/>
        </p:nvGrpSpPr>
        <p:grpSpPr>
          <a:xfrm>
            <a:off x="7184974" y="3924199"/>
            <a:ext cx="2637395" cy="707090"/>
            <a:chOff x="1862105" y="5000346"/>
            <a:chExt cx="2637395" cy="707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31" name="圆角矩形 30"/>
            <p:cNvSpPr/>
            <p:nvPr/>
          </p:nvSpPr>
          <p:spPr>
            <a:xfrm>
              <a:off x="1862105" y="5000346"/>
              <a:ext cx="2637395" cy="70709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solidFill>
                <a:srgbClr val="AFABA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33" name="对象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14373056"/>
                </p:ext>
              </p:extLst>
            </p:nvPr>
          </p:nvGraphicFramePr>
          <p:xfrm>
            <a:off x="2048914" y="5077666"/>
            <a:ext cx="2263775" cy="5524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2087" name="Equation" r:id="rId11" imgW="876240" imgH="253800" progId="Equation.DSMT4">
                    <p:embed/>
                  </p:oleObj>
                </mc:Choice>
                <mc:Fallback>
                  <p:oleObj name="Equation" r:id="rId11" imgW="876240" imgH="2538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2"/>
                        <a:stretch>
                          <a:fillRect/>
                        </a:stretch>
                      </p:blipFill>
                      <p:spPr>
                        <a:xfrm>
                          <a:off x="2048914" y="5077666"/>
                          <a:ext cx="2263775" cy="55245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7" name="组合 26"/>
          <p:cNvGrpSpPr/>
          <p:nvPr/>
        </p:nvGrpSpPr>
        <p:grpSpPr>
          <a:xfrm>
            <a:off x="2364681" y="5714587"/>
            <a:ext cx="6322828" cy="707090"/>
            <a:chOff x="1862105" y="5000346"/>
            <a:chExt cx="6322828" cy="70709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8" name="圆角矩形 27"/>
            <p:cNvSpPr/>
            <p:nvPr/>
          </p:nvSpPr>
          <p:spPr>
            <a:xfrm>
              <a:off x="1862105" y="5000346"/>
              <a:ext cx="6322828" cy="707090"/>
            </a:xfrm>
            <a:prstGeom prst="roundRect">
              <a:avLst/>
            </a:prstGeom>
            <a:solidFill>
              <a:srgbClr val="4876CA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矩形 28"/>
            <p:cNvSpPr/>
            <p:nvPr/>
          </p:nvSpPr>
          <p:spPr>
            <a:xfrm>
              <a:off x="1925190" y="5151363"/>
              <a:ext cx="625974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/>
              <a:r>
                <a:rPr lang="zh-CN" altLang="en-US" sz="2400" b="1" dirty="0" smtClean="0">
                  <a:solidFill>
                    <a:srgbClr val="FFFF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三秩相等定理：  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的秩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b="1" i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的行秩</a:t>
              </a:r>
              <a:r>
                <a:rPr lang="en-US" altLang="zh-CN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altLang="zh-CN" sz="2400" b="1" i="1" dirty="0" smtClean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 </a:t>
              </a:r>
              <a:r>
                <a:rPr lang="zh-CN" altLang="en-US" sz="2400" b="1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的列秩</a:t>
              </a:r>
              <a:endParaRPr lang="zh-CN" altLang="en-US" sz="2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5" name="圆角矩形 34"/>
          <p:cNvSpPr/>
          <p:nvPr/>
        </p:nvSpPr>
        <p:spPr>
          <a:xfrm>
            <a:off x="466845" y="4837313"/>
            <a:ext cx="1199113" cy="651368"/>
          </a:xfrm>
          <a:prstGeom prst="roundRect">
            <a:avLst/>
          </a:prstGeom>
          <a:solidFill>
            <a:srgbClr val="004F8C"/>
          </a:solidFill>
          <a:ln>
            <a:solidFill>
              <a:srgbClr val="004F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10"/>
          <p:cNvSpPr txBox="1"/>
          <p:nvPr/>
        </p:nvSpPr>
        <p:spPr>
          <a:xfrm>
            <a:off x="1810665" y="4675527"/>
            <a:ext cx="10053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4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矩阵</a:t>
            </a:r>
            <a:r>
              <a:rPr lang="en-US" altLang="zh-CN" sz="2400" i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列（</a:t>
            </a:r>
            <a:r>
              <a:rPr lang="zh-CN" altLang="en-US" sz="24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24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b="1" dirty="0" smtClean="0">
                <a:solidFill>
                  <a:srgbClr val="004F8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向量组的秩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，称为</a:t>
            </a:r>
            <a:r>
              <a:rPr lang="en-US" altLang="zh-CN" sz="2400" i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 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的列（或</a:t>
            </a:r>
            <a:r>
              <a:rPr lang="zh-CN" altLang="en-US" sz="2400" b="1" dirty="0" smtClean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24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）秩。</a:t>
            </a:r>
          </a:p>
        </p:txBody>
      </p:sp>
    </p:spTree>
    <p:extLst>
      <p:ext uri="{BB962C8B-B14F-4D97-AF65-F5344CB8AC3E}">
        <p14:creationId xmlns:p14="http://schemas.microsoft.com/office/powerpoint/2010/main" val="2961892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26" grpId="0" animBg="1"/>
      <p:bldP spid="35" grpId="0" animBg="1"/>
      <p:bldP spid="3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>
            <a:grpSpLocks/>
          </p:cNvGrpSpPr>
          <p:nvPr/>
        </p:nvGrpSpPr>
        <p:grpSpPr bwMode="auto">
          <a:xfrm>
            <a:off x="859366" y="1128713"/>
            <a:ext cx="10435167" cy="2030073"/>
            <a:chOff x="582613" y="981059"/>
            <a:chExt cx="7826747" cy="2031116"/>
          </a:xfrm>
        </p:grpSpPr>
        <p:sp>
          <p:nvSpPr>
            <p:cNvPr id="8216" name="Text Box 2"/>
            <p:cNvSpPr txBox="1">
              <a:spLocks noChangeArrowheads="1"/>
            </p:cNvSpPr>
            <p:nvPr/>
          </p:nvSpPr>
          <p:spPr bwMode="auto">
            <a:xfrm>
              <a:off x="582613" y="1441709"/>
              <a:ext cx="7826747" cy="15704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0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000" dirty="0">
                  <a:solidFill>
                    <a:schemeClr val="accent2"/>
                  </a:solidFill>
                </a:rPr>
                <a:t>1  </a:t>
              </a:r>
              <a:r>
                <a:rPr lang="en-US" altLang="zh-CN" sz="2000" dirty="0"/>
                <a:t> </a:t>
              </a:r>
              <a:r>
                <a:rPr lang="zh-CN" altLang="en-US" sz="2000" dirty="0"/>
                <a:t>求向量</a:t>
              </a:r>
              <a:r>
                <a:rPr lang="zh-CN" altLang="en-US" sz="2000" dirty="0" smtClean="0"/>
                <a:t>组                                                                                的</a:t>
              </a:r>
              <a:endParaRPr lang="en-US" altLang="zh-CN" sz="2000" dirty="0" smtClean="0"/>
            </a:p>
            <a:p>
              <a:pPr algn="just" eaLnBrk="1" hangingPunct="1">
                <a:lnSpc>
                  <a:spcPct val="120000"/>
                </a:lnSpc>
              </a:pPr>
              <a:endParaRPr lang="en-US" altLang="zh-CN" sz="2000" dirty="0"/>
            </a:p>
            <a:p>
              <a:pPr algn="just" eaLnBrk="1" hangingPunct="1">
                <a:lnSpc>
                  <a:spcPct val="120000"/>
                </a:lnSpc>
              </a:pPr>
              <a:endParaRPr lang="en-US" altLang="zh-CN" sz="2000" dirty="0"/>
            </a:p>
            <a:p>
              <a:pPr algn="just" eaLnBrk="1" hangingPunct="1">
                <a:lnSpc>
                  <a:spcPct val="120000"/>
                </a:lnSpc>
              </a:pPr>
              <a:r>
                <a:rPr lang="zh-CN" altLang="en-US" sz="2000" dirty="0"/>
                <a:t>极大无关</a:t>
              </a:r>
              <a:r>
                <a:rPr lang="zh-CN" altLang="en-US" sz="2000" dirty="0" smtClean="0"/>
                <a:t>组与秩，</a:t>
              </a:r>
              <a:r>
                <a:rPr lang="zh-CN" altLang="en-US" sz="2000" dirty="0"/>
                <a:t>并用该极大无关组线性表示其余</a:t>
              </a:r>
              <a:r>
                <a:rPr lang="zh-CN" altLang="en-US" sz="2000" dirty="0" smtClean="0"/>
                <a:t>向量</a:t>
              </a:r>
              <a:r>
                <a:rPr lang="en-US" altLang="zh-CN" sz="2000" dirty="0" smtClean="0"/>
                <a:t>.</a:t>
              </a:r>
              <a:endParaRPr lang="zh-CN" altLang="en-US" sz="2000" dirty="0"/>
            </a:p>
          </p:txBody>
        </p:sp>
        <p:graphicFrame>
          <p:nvGraphicFramePr>
            <p:cNvPr id="821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8455856"/>
                </p:ext>
              </p:extLst>
            </p:nvPr>
          </p:nvGraphicFramePr>
          <p:xfrm>
            <a:off x="1907446" y="981059"/>
            <a:ext cx="5314628" cy="1504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1" name="Equation" r:id="rId3" imgW="3288960" imgH="914400" progId="Equation.DSMT4">
                    <p:embed/>
                  </p:oleObj>
                </mc:Choice>
                <mc:Fallback>
                  <p:oleObj name="Equation" r:id="rId3" imgW="328896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7446" y="981059"/>
                          <a:ext cx="5314628" cy="150413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5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3944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767255" y="3232942"/>
            <a:ext cx="11158538" cy="2815364"/>
            <a:chOff x="-180294" y="-1417365"/>
            <a:chExt cx="9367450" cy="2937399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19924"/>
              <a:ext cx="9557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821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78189116"/>
                </p:ext>
              </p:extLst>
            </p:nvPr>
          </p:nvGraphicFramePr>
          <p:xfrm>
            <a:off x="-180294" y="-1417365"/>
            <a:ext cx="9367450" cy="1568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2" name="Equation" r:id="rId5" imgW="5486400" imgH="914400" progId="Equation.DSMT4">
                    <p:embed/>
                  </p:oleObj>
                </mc:Choice>
                <mc:Fallback>
                  <p:oleObj name="Equation" r:id="rId5" imgW="548640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80294" y="-1417365"/>
                          <a:ext cx="9367450" cy="1568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64077985"/>
                </p:ext>
              </p:extLst>
            </p:nvPr>
          </p:nvGraphicFramePr>
          <p:xfrm>
            <a:off x="4709185" y="-958868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3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09185" y="-958868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aphicFrame>
        <p:nvGraphicFramePr>
          <p:cNvPr id="1231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7437587"/>
              </p:ext>
            </p:extLst>
          </p:nvPr>
        </p:nvGraphicFramePr>
        <p:xfrm>
          <a:off x="4590832" y="5028804"/>
          <a:ext cx="168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4" name="Equation" r:id="rId9" imgW="774364" imgH="253890" progId="Equation.DSMT4">
                  <p:embed/>
                </p:oleObj>
              </mc:Choice>
              <mc:Fallback>
                <p:oleObj name="Equation" r:id="rId9" imgW="774364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832" y="5028804"/>
                        <a:ext cx="1689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767255" y="4845049"/>
            <a:ext cx="5901559" cy="528640"/>
            <a:chOff x="-4014404" y="4097826"/>
            <a:chExt cx="4425481" cy="528714"/>
          </a:xfrm>
        </p:grpSpPr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-4014404" y="4097826"/>
              <a:ext cx="4425481" cy="5281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 </a:t>
              </a:r>
              <a:r>
                <a:rPr lang="en-US" altLang="zh-CN" sz="2000" i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A</a:t>
              </a: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的极大无关组为</a:t>
              </a:r>
            </a:p>
          </p:txBody>
        </p:sp>
        <p:graphicFrame>
          <p:nvGraphicFramePr>
            <p:cNvPr id="821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57563460"/>
                </p:ext>
              </p:extLst>
            </p:nvPr>
          </p:nvGraphicFramePr>
          <p:xfrm>
            <a:off x="-2391013" y="4235960"/>
            <a:ext cx="1178535" cy="390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5145" name="Equation" r:id="rId11" imgW="583920" imgH="228600" progId="Equation.DSMT4">
                    <p:embed/>
                  </p:oleObj>
                </mc:Choice>
                <mc:Fallback>
                  <p:oleObj name="Equation" r:id="rId11" imgW="58392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391013" y="4235960"/>
                          <a:ext cx="1178535" cy="390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8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8152861"/>
              </p:ext>
            </p:extLst>
          </p:nvPr>
        </p:nvGraphicFramePr>
        <p:xfrm>
          <a:off x="6485375" y="5017973"/>
          <a:ext cx="13557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6" name="Equation" r:id="rId13" imgW="622080" imgH="228600" progId="Equation.DSMT4">
                  <p:embed/>
                </p:oleObj>
              </mc:Choice>
              <mc:Fallback>
                <p:oleObj name="Equation" r:id="rId13" imgW="6220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5375" y="5017973"/>
                        <a:ext cx="13557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432024"/>
              </p:ext>
            </p:extLst>
          </p:nvPr>
        </p:nvGraphicFramePr>
        <p:xfrm>
          <a:off x="8017671" y="4984142"/>
          <a:ext cx="2409825" cy="388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147" name="Equation" r:id="rId15" imgW="1104840" imgH="228600" progId="Equation.DSMT4">
                  <p:embed/>
                </p:oleObj>
              </mc:Choice>
              <mc:Fallback>
                <p:oleObj name="Equation" r:id="rId15" imgW="1104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17671" y="4984142"/>
                        <a:ext cx="2409825" cy="3889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8017671" y="39584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6972738" y="3124200"/>
            <a:ext cx="381000" cy="1720849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8017671" y="3124200"/>
            <a:ext cx="381000" cy="175543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8471806" y="3116316"/>
            <a:ext cx="381000" cy="1720849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7" name="Rectangle 12"/>
          <p:cNvSpPr>
            <a:spLocks noChangeArrowheads="1"/>
          </p:cNvSpPr>
          <p:nvPr/>
        </p:nvSpPr>
        <p:spPr bwMode="auto">
          <a:xfrm>
            <a:off x="7504386" y="3161157"/>
            <a:ext cx="399394" cy="1128784"/>
          </a:xfrm>
          <a:prstGeom prst="rect">
            <a:avLst/>
          </a:prstGeom>
          <a:noFill/>
          <a:ln w="38100">
            <a:solidFill>
              <a:srgbClr val="99CC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8941676" y="3158786"/>
            <a:ext cx="381000" cy="1168671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956440" y="5786696"/>
            <a:ext cx="7985236" cy="523220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矩阵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的初等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变换不改变</a:t>
            </a:r>
            <a:r>
              <a:rPr lang="zh-CN" altLang="en-US" sz="28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列向量组</a:t>
            </a:r>
            <a:r>
              <a:rPr lang="zh-CN" altLang="en-US" sz="28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的线性相关性。</a:t>
            </a:r>
          </a:p>
        </p:txBody>
      </p:sp>
    </p:spTree>
    <p:extLst>
      <p:ext uri="{BB962C8B-B14F-4D97-AF65-F5344CB8AC3E}">
        <p14:creationId xmlns:p14="http://schemas.microsoft.com/office/powerpoint/2010/main" val="1068071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  <p:bldP spid="35" grpId="0" animBg="1"/>
      <p:bldP spid="37" grpId="0" animBg="1"/>
      <p:bldP spid="3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94" name="组合 1"/>
          <p:cNvGrpSpPr>
            <a:grpSpLocks/>
          </p:cNvGrpSpPr>
          <p:nvPr/>
        </p:nvGrpSpPr>
        <p:grpSpPr bwMode="auto">
          <a:xfrm>
            <a:off x="859366" y="1056344"/>
            <a:ext cx="10435167" cy="2102440"/>
            <a:chOff x="582613" y="908655"/>
            <a:chExt cx="7826747" cy="2103521"/>
          </a:xfrm>
        </p:grpSpPr>
        <p:sp>
          <p:nvSpPr>
            <p:cNvPr id="8216" name="Text Box 2"/>
            <p:cNvSpPr txBox="1">
              <a:spLocks noChangeArrowheads="1"/>
            </p:cNvSpPr>
            <p:nvPr/>
          </p:nvSpPr>
          <p:spPr bwMode="auto">
            <a:xfrm>
              <a:off x="582613" y="1441709"/>
              <a:ext cx="7826747" cy="157046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20000"/>
                </a:lnSpc>
              </a:pPr>
              <a:r>
                <a:rPr lang="zh-CN" altLang="en-US" sz="2000" dirty="0">
                  <a:solidFill>
                    <a:srgbClr val="FF0000"/>
                  </a:solidFill>
                </a:rPr>
                <a:t>课堂</a:t>
              </a:r>
              <a:r>
                <a:rPr lang="zh-CN" altLang="en-US" sz="2000" dirty="0" smtClean="0">
                  <a:solidFill>
                    <a:srgbClr val="FF0000"/>
                  </a:solidFill>
                </a:rPr>
                <a:t>练习：</a:t>
              </a:r>
              <a:r>
                <a:rPr lang="zh-CN" altLang="en-US" sz="2000" dirty="0" smtClean="0"/>
                <a:t>求</a:t>
              </a:r>
              <a:r>
                <a:rPr lang="zh-CN" altLang="en-US" sz="2000" dirty="0"/>
                <a:t>向量</a:t>
              </a:r>
              <a:r>
                <a:rPr lang="zh-CN" altLang="en-US" sz="2000" dirty="0" smtClean="0"/>
                <a:t>组                                                             的极</a:t>
              </a:r>
              <a:r>
                <a:rPr lang="zh-CN" altLang="en-US" sz="2000" dirty="0"/>
                <a:t>大无关</a:t>
              </a:r>
              <a:r>
                <a:rPr lang="zh-CN" altLang="en-US" sz="2000" dirty="0" smtClean="0"/>
                <a:t>组与秩，并</a:t>
              </a:r>
              <a:endParaRPr lang="en-US" altLang="zh-CN" sz="2000" dirty="0" smtClean="0"/>
            </a:p>
            <a:p>
              <a:pPr algn="just" eaLnBrk="1" hangingPunct="1">
                <a:lnSpc>
                  <a:spcPct val="120000"/>
                </a:lnSpc>
              </a:pPr>
              <a:endParaRPr lang="en-US" altLang="zh-CN" sz="2000" dirty="0"/>
            </a:p>
            <a:p>
              <a:pPr algn="just" eaLnBrk="1" hangingPunct="1">
                <a:lnSpc>
                  <a:spcPct val="120000"/>
                </a:lnSpc>
              </a:pPr>
              <a:endParaRPr lang="en-US" altLang="zh-CN" sz="2000" dirty="0" smtClean="0"/>
            </a:p>
            <a:p>
              <a:pPr algn="just" eaLnBrk="1" hangingPunct="1">
                <a:lnSpc>
                  <a:spcPct val="120000"/>
                </a:lnSpc>
              </a:pPr>
              <a:r>
                <a:rPr lang="zh-CN" altLang="en-US" sz="2000" dirty="0" smtClean="0"/>
                <a:t>用</a:t>
              </a:r>
              <a:r>
                <a:rPr lang="zh-CN" altLang="en-US" sz="2000" dirty="0"/>
                <a:t>该极大无关组线性表示其余</a:t>
              </a:r>
              <a:r>
                <a:rPr lang="zh-CN" altLang="en-US" sz="2000" dirty="0" smtClean="0"/>
                <a:t>向量</a:t>
              </a:r>
              <a:r>
                <a:rPr lang="en-US" altLang="zh-CN" sz="2000" dirty="0" smtClean="0"/>
                <a:t>.</a:t>
              </a:r>
              <a:endParaRPr lang="zh-CN" altLang="en-US" sz="2000" dirty="0"/>
            </a:p>
          </p:txBody>
        </p:sp>
        <p:graphicFrame>
          <p:nvGraphicFramePr>
            <p:cNvPr id="8217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85197880"/>
                </p:ext>
              </p:extLst>
            </p:nvPr>
          </p:nvGraphicFramePr>
          <p:xfrm>
            <a:off x="2460085" y="908655"/>
            <a:ext cx="3898291" cy="1504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2" name="Equation" r:id="rId3" imgW="2412720" imgH="914400" progId="Equation.DSMT4">
                    <p:embed/>
                  </p:oleObj>
                </mc:Choice>
                <mc:Fallback>
                  <p:oleObj name="Equation" r:id="rId3" imgW="241272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60085" y="908655"/>
                          <a:ext cx="3898291" cy="15041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195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3944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9" name="Rectangle 18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730907" y="3232150"/>
            <a:ext cx="11287125" cy="2816156"/>
            <a:chOff x="-234014" y="-1418191"/>
            <a:chExt cx="9475397" cy="2938225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19924"/>
              <a:ext cx="955750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8214" name="Object 1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23504126"/>
                </p:ext>
              </p:extLst>
            </p:nvPr>
          </p:nvGraphicFramePr>
          <p:xfrm>
            <a:off x="-234014" y="-1418191"/>
            <a:ext cx="9475397" cy="1568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3" name="Equation" r:id="rId5" imgW="5549760" imgH="914400" progId="Equation.DSMT4">
                    <p:embed/>
                  </p:oleObj>
                </mc:Choice>
                <mc:Fallback>
                  <p:oleObj name="Equation" r:id="rId5" imgW="5549760" imgH="9144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34014" y="-1418191"/>
                          <a:ext cx="9475397" cy="1568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215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157529"/>
                </p:ext>
              </p:extLst>
            </p:nvPr>
          </p:nvGraphicFramePr>
          <p:xfrm>
            <a:off x="3661448" y="-891977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4" name="Equation" r:id="rId7" imgW="114102" imgH="126780" progId="Equation.DSMT4">
                    <p:embed/>
                  </p:oleObj>
                </mc:Choice>
                <mc:Fallback>
                  <p:oleObj name="Equation" r:id="rId7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61448" y="-891977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aphicFrame>
        <p:nvGraphicFramePr>
          <p:cNvPr id="12311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8470314"/>
              </p:ext>
            </p:extLst>
          </p:nvPr>
        </p:nvGraphicFramePr>
        <p:xfrm>
          <a:off x="4590832" y="5028804"/>
          <a:ext cx="1689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5" name="Equation" r:id="rId9" imgW="774364" imgH="253890" progId="Equation.DSMT4">
                  <p:embed/>
                </p:oleObj>
              </mc:Choice>
              <mc:Fallback>
                <p:oleObj name="Equation" r:id="rId9" imgW="774364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832" y="5028804"/>
                        <a:ext cx="1689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767255" y="4845048"/>
            <a:ext cx="5901559" cy="528030"/>
            <a:chOff x="-4014404" y="4097826"/>
            <a:chExt cx="4425481" cy="528104"/>
          </a:xfrm>
        </p:grpSpPr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-4014404" y="4097826"/>
              <a:ext cx="4425481" cy="5281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 </a:t>
              </a:r>
              <a:r>
                <a:rPr lang="en-US" altLang="zh-CN" sz="2000" i="1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A</a:t>
              </a: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的极大无关组为</a:t>
              </a:r>
            </a:p>
          </p:txBody>
        </p:sp>
        <p:graphicFrame>
          <p:nvGraphicFramePr>
            <p:cNvPr id="8212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41143299"/>
                </p:ext>
              </p:extLst>
            </p:nvPr>
          </p:nvGraphicFramePr>
          <p:xfrm>
            <a:off x="-2317411" y="4235350"/>
            <a:ext cx="1204725" cy="3905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7176" name="Equation" r:id="rId11" imgW="596880" imgH="228600" progId="Equation.DSMT4">
                    <p:embed/>
                  </p:oleObj>
                </mc:Choice>
                <mc:Fallback>
                  <p:oleObj name="Equation" r:id="rId11" imgW="59688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2317411" y="4235350"/>
                          <a:ext cx="1204725" cy="3905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328391"/>
              </p:ext>
            </p:extLst>
          </p:nvPr>
        </p:nvGraphicFramePr>
        <p:xfrm>
          <a:off x="6417551" y="4984140"/>
          <a:ext cx="2714625" cy="388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7" name="Equation" r:id="rId13" imgW="1244520" imgH="228600" progId="Equation.DSMT4">
                  <p:embed/>
                </p:oleObj>
              </mc:Choice>
              <mc:Fallback>
                <p:oleObj name="Equation" r:id="rId13" imgW="12445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17551" y="4984140"/>
                        <a:ext cx="2714625" cy="388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0" name="Rectangle 13"/>
          <p:cNvSpPr>
            <a:spLocks noChangeArrowheads="1"/>
          </p:cNvSpPr>
          <p:nvPr/>
        </p:nvSpPr>
        <p:spPr bwMode="auto">
          <a:xfrm>
            <a:off x="5547784" y="260351"/>
            <a:ext cx="5746749" cy="50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8017671" y="395844"/>
            <a:ext cx="26100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</a:p>
        </p:txBody>
      </p:sp>
      <p:sp>
        <p:nvSpPr>
          <p:cNvPr id="27" name="Rectangle 27"/>
          <p:cNvSpPr>
            <a:spLocks noChangeArrowheads="1"/>
          </p:cNvSpPr>
          <p:nvPr/>
        </p:nvSpPr>
        <p:spPr bwMode="auto">
          <a:xfrm>
            <a:off x="9480330" y="3141492"/>
            <a:ext cx="301297" cy="1720849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3" name="Rectangle 27"/>
          <p:cNvSpPr>
            <a:spLocks noChangeArrowheads="1"/>
          </p:cNvSpPr>
          <p:nvPr/>
        </p:nvSpPr>
        <p:spPr bwMode="auto">
          <a:xfrm>
            <a:off x="8124496" y="3124200"/>
            <a:ext cx="296661" cy="1755435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5" name="Rectangle 27"/>
          <p:cNvSpPr>
            <a:spLocks noChangeArrowheads="1"/>
          </p:cNvSpPr>
          <p:nvPr/>
        </p:nvSpPr>
        <p:spPr bwMode="auto">
          <a:xfrm>
            <a:off x="8555420" y="3116316"/>
            <a:ext cx="297385" cy="1720849"/>
          </a:xfrm>
          <a:prstGeom prst="rect">
            <a:avLst/>
          </a:prstGeom>
          <a:noFill/>
          <a:ln w="38100">
            <a:solidFill>
              <a:srgbClr val="FF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Rectangle 12"/>
          <p:cNvSpPr>
            <a:spLocks noChangeArrowheads="1"/>
          </p:cNvSpPr>
          <p:nvPr/>
        </p:nvSpPr>
        <p:spPr bwMode="auto">
          <a:xfrm>
            <a:off x="8941676" y="3158786"/>
            <a:ext cx="381000" cy="1168671"/>
          </a:xfrm>
          <a:prstGeom prst="rect">
            <a:avLst/>
          </a:prstGeom>
          <a:noFill/>
          <a:ln w="38100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584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3" grpId="0" animBg="1"/>
      <p:bldP spid="35" grpId="0" animBg="1"/>
      <p:bldP spid="3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组合 1"/>
          <p:cNvGrpSpPr>
            <a:grpSpLocks/>
          </p:cNvGrpSpPr>
          <p:nvPr/>
        </p:nvGrpSpPr>
        <p:grpSpPr bwMode="auto">
          <a:xfrm>
            <a:off x="859367" y="1180279"/>
            <a:ext cx="10435167" cy="1700419"/>
            <a:chOff x="582613" y="1136762"/>
            <a:chExt cx="7826747" cy="1700194"/>
          </a:xfrm>
        </p:grpSpPr>
        <p:sp>
          <p:nvSpPr>
            <p:cNvPr id="9238" name="Text Box 2"/>
            <p:cNvSpPr txBox="1">
              <a:spLocks noChangeArrowheads="1"/>
            </p:cNvSpPr>
            <p:nvPr/>
          </p:nvSpPr>
          <p:spPr bwMode="auto">
            <a:xfrm>
              <a:off x="582613" y="1359822"/>
              <a:ext cx="7826747" cy="14771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Verdana" pitchFamily="34" charset="0"/>
                  <a:ea typeface="宋体" charset="-122"/>
                </a:defRPr>
              </a:lvl9pPr>
            </a:lstStyle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>
                  <a:solidFill>
                    <a:schemeClr val="accent2"/>
                  </a:solidFill>
                </a:rPr>
                <a:t>例</a:t>
              </a:r>
              <a:r>
                <a:rPr lang="en-US" altLang="zh-CN" sz="2000" dirty="0">
                  <a:solidFill>
                    <a:schemeClr val="accent2"/>
                  </a:solidFill>
                </a:rPr>
                <a:t>2  </a:t>
              </a:r>
              <a:r>
                <a:rPr lang="en-US" altLang="zh-CN" sz="2000" dirty="0"/>
                <a:t> </a:t>
              </a:r>
              <a:r>
                <a:rPr lang="zh-CN" altLang="en-US" sz="2000" dirty="0"/>
                <a:t>记</a:t>
              </a:r>
              <a:r>
                <a:rPr lang="zh-CN" altLang="en-US" sz="2000" dirty="0" smtClean="0"/>
                <a:t>齐次线性方程组                                     </a:t>
              </a:r>
              <a:r>
                <a:rPr lang="zh-CN" altLang="en-US" sz="2000" dirty="0"/>
                <a:t>全体解向量构成</a:t>
              </a:r>
              <a:r>
                <a:rPr lang="zh-CN" altLang="en-US" sz="2000" dirty="0" smtClean="0"/>
                <a:t>集合为   </a:t>
              </a:r>
              <a:r>
                <a:rPr lang="zh-CN" altLang="en-US" sz="2000" dirty="0"/>
                <a:t>，</a:t>
              </a:r>
              <a:r>
                <a:rPr lang="zh-CN" altLang="en-US" sz="2000" dirty="0" smtClean="0"/>
                <a:t>求     的一</a:t>
              </a:r>
              <a:endParaRPr lang="en-US" altLang="zh-CN" sz="2000" dirty="0" smtClean="0"/>
            </a:p>
            <a:p>
              <a:pPr algn="just" eaLnBrk="1" hangingPunct="1">
                <a:lnSpc>
                  <a:spcPct val="150000"/>
                </a:lnSpc>
              </a:pPr>
              <a:endParaRPr lang="en-US" altLang="zh-CN" sz="2000" dirty="0"/>
            </a:p>
            <a:p>
              <a:pPr algn="just" eaLnBrk="1" hangingPunct="1">
                <a:lnSpc>
                  <a:spcPct val="150000"/>
                </a:lnSpc>
              </a:pPr>
              <a:r>
                <a:rPr lang="zh-CN" altLang="en-US" sz="2000" dirty="0" smtClean="0"/>
                <a:t>个极大无关组及                                              </a:t>
              </a:r>
              <a:endParaRPr lang="en-US" altLang="zh-CN" sz="2000" dirty="0" smtClean="0"/>
            </a:p>
          </p:txBody>
        </p:sp>
        <p:graphicFrame>
          <p:nvGraphicFramePr>
            <p:cNvPr id="9239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892649498"/>
                </p:ext>
              </p:extLst>
            </p:nvPr>
          </p:nvGraphicFramePr>
          <p:xfrm>
            <a:off x="2753003" y="1136762"/>
            <a:ext cx="2347853" cy="11703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5" name="Equation" r:id="rId3" imgW="1435100" imgH="711200" progId="Equation.DSMT4">
                    <p:embed/>
                  </p:oleObj>
                </mc:Choice>
                <mc:Fallback>
                  <p:oleObj name="Equation" r:id="rId3" imgW="14351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3003" y="1136762"/>
                          <a:ext cx="2347853" cy="11703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0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48514058"/>
                </p:ext>
              </p:extLst>
            </p:nvPr>
          </p:nvGraphicFramePr>
          <p:xfrm>
            <a:off x="7709248" y="1543435"/>
            <a:ext cx="228594" cy="292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6" name="Equation" r:id="rId5" imgW="139579" imgH="177646" progId="Equation.DSMT4">
                    <p:embed/>
                  </p:oleObj>
                </mc:Choice>
                <mc:Fallback>
                  <p:oleObj name="Equation" r:id="rId5" imgW="139579" imgH="177646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709248" y="1543435"/>
                          <a:ext cx="228594" cy="29219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4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83203463"/>
                </p:ext>
              </p:extLst>
            </p:nvPr>
          </p:nvGraphicFramePr>
          <p:xfrm>
            <a:off x="2033108" y="2419314"/>
            <a:ext cx="623871" cy="4176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7" name="Equation" r:id="rId7" imgW="380835" imgH="253890" progId="Equation.DSMT4">
                    <p:embed/>
                  </p:oleObj>
                </mc:Choice>
                <mc:Fallback>
                  <p:oleObj name="Equation" r:id="rId7" imgW="380835" imgH="25389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33108" y="2419314"/>
                          <a:ext cx="623871" cy="4176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219" name="Rectangle 7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0" y="39444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1" name="Rectangle 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2" name="Rectangle 7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3" name="Rectangle 8"/>
          <p:cNvSpPr>
            <a:spLocks noChangeArrowheads="1"/>
          </p:cNvSpPr>
          <p:nvPr/>
        </p:nvSpPr>
        <p:spPr bwMode="auto">
          <a:xfrm>
            <a:off x="0" y="39539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4" name="Rectangle 11"/>
          <p:cNvSpPr>
            <a:spLocks noChangeArrowheads="1"/>
          </p:cNvSpPr>
          <p:nvPr/>
        </p:nvSpPr>
        <p:spPr bwMode="auto">
          <a:xfrm>
            <a:off x="0" y="393489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0" y="3920609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0" name="组合 29"/>
          <p:cNvGrpSpPr>
            <a:grpSpLocks/>
          </p:cNvGrpSpPr>
          <p:nvPr/>
        </p:nvGrpSpPr>
        <p:grpSpPr bwMode="auto">
          <a:xfrm>
            <a:off x="1157677" y="2962275"/>
            <a:ext cx="6788151" cy="1220788"/>
            <a:chOff x="533400" y="726864"/>
            <a:chExt cx="5090974" cy="1220787"/>
          </a:xfrm>
        </p:grpSpPr>
        <p:sp>
          <p:nvSpPr>
            <p:cNvPr id="31" name="Text Box 3"/>
            <p:cNvSpPr txBox="1">
              <a:spLocks noChangeArrowheads="1"/>
            </p:cNvSpPr>
            <p:nvPr/>
          </p:nvSpPr>
          <p:spPr bwMode="auto">
            <a:xfrm>
              <a:off x="533400" y="1120564"/>
              <a:ext cx="955649" cy="706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解：</a:t>
              </a:r>
            </a:p>
            <a:p>
              <a:pPr algn="just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000" kern="0" dirty="0" smtClean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graphicFrame>
          <p:nvGraphicFramePr>
            <p:cNvPr id="9236" name="Object 15"/>
            <p:cNvGraphicFramePr>
              <a:graphicFrameLocks noChangeAspect="1"/>
            </p:cNvGraphicFramePr>
            <p:nvPr/>
          </p:nvGraphicFramePr>
          <p:xfrm>
            <a:off x="1071242" y="726864"/>
            <a:ext cx="4553132" cy="12207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8" name="Equation" r:id="rId9" imgW="2667000" imgH="711200" progId="Equation.DSMT4">
                    <p:embed/>
                  </p:oleObj>
                </mc:Choice>
                <mc:Fallback>
                  <p:oleObj name="Equation" r:id="rId9" imgW="2667000" imgH="711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1242" y="726864"/>
                          <a:ext cx="4553132" cy="12207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37" name="Object 17"/>
            <p:cNvGraphicFramePr>
              <a:graphicFrameLocks noChangeAspect="1"/>
            </p:cNvGraphicFramePr>
            <p:nvPr/>
          </p:nvGraphicFramePr>
          <p:xfrm>
            <a:off x="3547641" y="1107647"/>
            <a:ext cx="171450" cy="192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39" name="Equation" r:id="rId11" imgW="114102" imgH="126780" progId="Equation.DSMT4">
                    <p:embed/>
                  </p:oleObj>
                </mc:Choice>
                <mc:Fallback>
                  <p:oleObj name="Equation" r:id="rId11" imgW="114102" imgH="1267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7641" y="1107647"/>
                          <a:ext cx="171450" cy="1920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4" name="Rectangle 20"/>
          <p:cNvSpPr>
            <a:spLocks noChangeArrowheads="1"/>
          </p:cNvSpPr>
          <p:nvPr/>
        </p:nvSpPr>
        <p:spPr bwMode="auto">
          <a:xfrm>
            <a:off x="0" y="3677722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l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0" kern="0" smtClean="0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32" name="组合 31"/>
          <p:cNvGrpSpPr>
            <a:grpSpLocks/>
          </p:cNvGrpSpPr>
          <p:nvPr/>
        </p:nvGrpSpPr>
        <p:grpSpPr bwMode="auto">
          <a:xfrm>
            <a:off x="6343870" y="4589408"/>
            <a:ext cx="3203916" cy="615950"/>
            <a:chOff x="-1801388" y="4003173"/>
            <a:chExt cx="2874728" cy="616348"/>
          </a:xfrm>
        </p:grpSpPr>
        <p:sp>
          <p:nvSpPr>
            <p:cNvPr id="36" name="Text Box 24"/>
            <p:cNvSpPr txBox="1">
              <a:spLocks noChangeArrowheads="1"/>
            </p:cNvSpPr>
            <p:nvPr/>
          </p:nvSpPr>
          <p:spPr bwMode="auto">
            <a:xfrm>
              <a:off x="-1801388" y="4003173"/>
              <a:ext cx="2874728" cy="6163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  极大无关组为      </a:t>
              </a:r>
            </a:p>
          </p:txBody>
        </p:sp>
        <p:graphicFrame>
          <p:nvGraphicFramePr>
            <p:cNvPr id="9234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78015958"/>
                </p:ext>
              </p:extLst>
            </p:nvPr>
          </p:nvGraphicFramePr>
          <p:xfrm>
            <a:off x="-14355" y="4211281"/>
            <a:ext cx="690507" cy="3894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40" name="Equation" r:id="rId13" imgW="342751" imgH="228501" progId="Equation.DSMT4">
                    <p:embed/>
                  </p:oleObj>
                </mc:Choice>
                <mc:Fallback>
                  <p:oleObj name="Equation" r:id="rId13" imgW="342751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4355" y="4211281"/>
                          <a:ext cx="690507" cy="3894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2979380"/>
              </p:ext>
            </p:extLst>
          </p:nvPr>
        </p:nvGraphicFramePr>
        <p:xfrm>
          <a:off x="1259417" y="4202223"/>
          <a:ext cx="4817533" cy="155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1" name="Equation" r:id="rId15" imgW="2209800" imgH="914400" progId="Equation.DSMT4">
                  <p:embed/>
                </p:oleObj>
              </mc:Choice>
              <mc:Fallback>
                <p:oleObj name="Equation" r:id="rId15" imgW="2209800" imgH="914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417" y="4202223"/>
                        <a:ext cx="4817533" cy="1555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7076426"/>
              </p:ext>
            </p:extLst>
          </p:nvPr>
        </p:nvGraphicFramePr>
        <p:xfrm>
          <a:off x="9210202" y="4741589"/>
          <a:ext cx="132926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2" name="Equation" r:id="rId17" imgW="609336" imgH="253890" progId="Equation.DSMT4">
                  <p:embed/>
                </p:oleObj>
              </mc:Choice>
              <mc:Fallback>
                <p:oleObj name="Equation" r:id="rId17" imgW="609336" imgH="25389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10202" y="4741589"/>
                        <a:ext cx="132926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8007160" y="438072"/>
            <a:ext cx="308125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</a:p>
        </p:txBody>
      </p:sp>
      <p:graphicFrame>
        <p:nvGraphicFramePr>
          <p:cNvPr id="26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292058"/>
              </p:ext>
            </p:extLst>
          </p:nvPr>
        </p:nvGraphicFramePr>
        <p:xfrm>
          <a:off x="9472972" y="1550220"/>
          <a:ext cx="304778" cy="2922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243" name="Equation" r:id="rId19" imgW="139579" imgH="177646" progId="Equation.DSMT4">
                  <p:embed/>
                </p:oleObj>
              </mc:Choice>
              <mc:Fallback>
                <p:oleObj name="Equation" r:id="rId19" imgW="139579" imgH="177646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72972" y="1550220"/>
                        <a:ext cx="304778" cy="2922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组合 26"/>
          <p:cNvGrpSpPr>
            <a:grpSpLocks/>
          </p:cNvGrpSpPr>
          <p:nvPr/>
        </p:nvGrpSpPr>
        <p:grpSpPr bwMode="auto">
          <a:xfrm>
            <a:off x="8196346" y="3035025"/>
            <a:ext cx="2419102" cy="1012029"/>
            <a:chOff x="-1801388" y="4003173"/>
            <a:chExt cx="2874728" cy="1012683"/>
          </a:xfrm>
        </p:grpSpPr>
        <p:sp>
          <p:nvSpPr>
            <p:cNvPr id="29" name="Text Box 24"/>
            <p:cNvSpPr txBox="1">
              <a:spLocks noChangeArrowheads="1"/>
            </p:cNvSpPr>
            <p:nvPr/>
          </p:nvSpPr>
          <p:spPr bwMode="auto">
            <a:xfrm>
              <a:off x="-1801388" y="4003173"/>
              <a:ext cx="2874728" cy="6159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just" eaLnBrk="1" fontAlgn="auto" hangingPunct="1">
                <a:lnSpc>
                  <a:spcPct val="17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000" b="1" kern="0" dirty="0" smtClean="0">
                  <a:solidFill>
                    <a:srgbClr val="FF0000"/>
                  </a:solidFill>
                  <a:latin typeface="+mj-ea"/>
                  <a:ea typeface="+mj-ea"/>
                </a:rPr>
                <a:t>取自由未知量</a:t>
              </a:r>
              <a:r>
                <a:rPr lang="zh-CN" altLang="en-US" sz="2000" kern="0" dirty="0" smtClean="0">
                  <a:solidFill>
                    <a:srgbClr val="000000"/>
                  </a:solidFill>
                  <a:latin typeface="+mj-ea"/>
                  <a:ea typeface="+mj-ea"/>
                </a:rPr>
                <a:t>为</a:t>
              </a:r>
            </a:p>
          </p:txBody>
        </p:sp>
        <p:graphicFrame>
          <p:nvGraphicFramePr>
            <p:cNvPr id="35" name="Object 2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579830865"/>
                </p:ext>
              </p:extLst>
            </p:nvPr>
          </p:nvGraphicFramePr>
          <p:xfrm>
            <a:off x="-1703131" y="4626667"/>
            <a:ext cx="1787611" cy="3891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6244" name="Equation" r:id="rId20" imgW="888840" imgH="228600" progId="Equation.DSMT4">
                    <p:embed/>
                  </p:oleObj>
                </mc:Choice>
                <mc:Fallback>
                  <p:oleObj name="Equation" r:id="rId20" imgW="888840" imgH="2286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1703131" y="4626667"/>
                          <a:ext cx="1787611" cy="3891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3888935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2634" y="662152"/>
            <a:ext cx="5644772" cy="262758"/>
          </a:xfrm>
        </p:spPr>
        <p:txBody>
          <a:bodyPr>
            <a:noAutofit/>
          </a:bodyPr>
          <a:lstStyle/>
          <a:p>
            <a:r>
              <a:rPr lang="en-US" altLang="zh-CN" sz="32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3.4 </a:t>
            </a:r>
            <a:r>
              <a:rPr lang="zh-CN" altLang="en-US" sz="32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向量组的线性相关性</a:t>
            </a:r>
            <a:br>
              <a:rPr lang="zh-CN" altLang="en-US" sz="3200" dirty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</a:b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9524" y="1240221"/>
            <a:ext cx="10515600" cy="4737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小结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:</a:t>
            </a:r>
          </a:p>
          <a:p>
            <a:pPr marL="0" indent="0">
              <a:buNone/>
            </a:pPr>
            <a:r>
              <a:rPr lang="en-US" altLang="zh-CN" sz="36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1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）向量组的线性组合与线性表示</a:t>
            </a:r>
            <a:endParaRPr lang="en-US" altLang="zh-CN" sz="3600" dirty="0" smtClean="0">
              <a:latin typeface="华文新魏" pitchFamily="2" charset="-122"/>
              <a:ea typeface="华文新魏" pitchFamily="2" charset="-122"/>
            </a:endParaRPr>
          </a:p>
          <a:p>
            <a:pPr marL="0" indent="0">
              <a:buNone/>
            </a:pPr>
            <a:r>
              <a:rPr lang="en-US" altLang="zh-CN" sz="36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2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）向量组的等价</a:t>
            </a:r>
            <a:endParaRPr lang="en-US" altLang="zh-CN" sz="3600" dirty="0" smtClean="0">
              <a:latin typeface="华文新魏" pitchFamily="2" charset="-122"/>
              <a:ea typeface="华文新魏" pitchFamily="2" charset="-122"/>
            </a:endParaRPr>
          </a:p>
          <a:p>
            <a:pPr marL="0" indent="0">
              <a:buNone/>
            </a:pPr>
            <a:r>
              <a:rPr lang="en-US" altLang="zh-CN" sz="36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3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）向量组的线性相关性</a:t>
            </a:r>
            <a:endParaRPr lang="en-US" altLang="zh-CN" sz="3600" dirty="0" smtClean="0">
              <a:latin typeface="华文新魏" pitchFamily="2" charset="-122"/>
              <a:ea typeface="华文新魏" pitchFamily="2" charset="-122"/>
            </a:endParaRPr>
          </a:p>
          <a:p>
            <a:pPr marL="0" indent="0">
              <a:buNone/>
            </a:pPr>
            <a:r>
              <a:rPr lang="en-US" altLang="zh-CN" sz="3600" dirty="0">
                <a:latin typeface="华文新魏" pitchFamily="2" charset="-122"/>
                <a:ea typeface="华文新魏" pitchFamily="2" charset="-122"/>
              </a:rPr>
              <a:t> 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      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（</a:t>
            </a:r>
            <a:r>
              <a:rPr lang="en-US" altLang="zh-CN" sz="3600" dirty="0" smtClean="0">
                <a:latin typeface="华文新魏" pitchFamily="2" charset="-122"/>
                <a:ea typeface="华文新魏" pitchFamily="2" charset="-122"/>
              </a:rPr>
              <a:t>4</a:t>
            </a: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）向量组的极大无关组与秩</a:t>
            </a:r>
            <a:endParaRPr lang="zh-CN" altLang="en-US" sz="3600" dirty="0">
              <a:latin typeface="华文新魏" pitchFamily="2" charset="-122"/>
              <a:ea typeface="华文新魏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8436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4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1421</TotalTime>
  <Words>1006</Words>
  <Application>Microsoft Office PowerPoint</Application>
  <PresentationFormat>自定义</PresentationFormat>
  <Paragraphs>166</Paragraphs>
  <Slides>16</Slides>
  <Notes>4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Office 主题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向量组的线性相关性 </vt:lpstr>
    </vt:vector>
  </TitlesOfParts>
  <Company>Sky123.Org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2.3 可逆矩阵</dc:title>
  <dc:creator>Sky123.Org</dc:creator>
  <cp:lastModifiedBy>LSG</cp:lastModifiedBy>
  <cp:revision>223</cp:revision>
  <dcterms:created xsi:type="dcterms:W3CDTF">2016-07-04T12:59:51Z</dcterms:created>
  <dcterms:modified xsi:type="dcterms:W3CDTF">2018-10-12T11:59:25Z</dcterms:modified>
</cp:coreProperties>
</file>
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sldIdLst>
    <p:sldId id="272" r:id="rId3"/>
    <p:sldId id="275" r:id="rId4"/>
    <p:sldId id="276" r:id="rId5"/>
    <p:sldId id="277" r:id="rId6"/>
    <p:sldId id="273" r:id="rId7"/>
    <p:sldId id="274" r:id="rId8"/>
    <p:sldId id="278" r:id="rId9"/>
    <p:sldId id="279" r:id="rId10"/>
    <p:sldId id="280" r:id="rId11"/>
    <p:sldId id="27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C3E6"/>
    <a:srgbClr val="2E75B6"/>
    <a:srgbClr val="1F4E79"/>
    <a:srgbClr val="FFFFFF"/>
    <a:srgbClr val="548235"/>
    <a:srgbClr val="385723"/>
    <a:srgbClr val="3B3838"/>
    <a:srgbClr val="A6A6A6"/>
    <a:srgbClr val="D9D9D9"/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>
      <p:cViewPr>
        <p:scale>
          <a:sx n="91" d="100"/>
          <a:sy n="91" d="100"/>
        </p:scale>
        <p:origin x="246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5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9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第三章 线性方程组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3.3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线性方程组解的判定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31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2CFD51-8C1E-4FC8-B02C-7684CBC3AE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6816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387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98607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2275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1166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1409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437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954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2435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931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760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5018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第三章 线性方程组</a:t>
            </a:r>
            <a:endParaRPr lang="en-US" altLang="zh-CN" sz="4000" b="1" dirty="0">
              <a:solidFill>
                <a:prstClr val="white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3.1  </a:t>
            </a:r>
            <a:r>
              <a:rPr lang="zh-CN" altLang="en-US" sz="3200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高斯消元法与矩阵的初等变换</a:t>
            </a:r>
            <a:endParaRPr lang="zh-CN" altLang="en-US" sz="3200" dirty="0">
              <a:solidFill>
                <a:prstClr val="white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13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0045D-9BCB-433D-9DB8-47BFF3AA1E82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413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135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5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13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5.wmf"/><Relationship Id="rId2" Type="http://schemas.openxmlformats.org/officeDocument/2006/relationships/slideLayout" Target="../slideLayouts/slideLayout15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9.bin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1.bin"/><Relationship Id="rId14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18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34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wmf"/><Relationship Id="rId11" Type="http://schemas.openxmlformats.org/officeDocument/2006/relationships/image" Target="../media/image33.wmf"/><Relationship Id="rId5" Type="http://schemas.openxmlformats.org/officeDocument/2006/relationships/oleObject" Target="../embeddings/oleObject33.bin"/><Relationship Id="rId15" Type="http://schemas.openxmlformats.org/officeDocument/2006/relationships/image" Target="../media/image35.wmf"/><Relationship Id="rId10" Type="http://schemas.openxmlformats.org/officeDocument/2006/relationships/oleObject" Target="../embeddings/oleObject36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5.bin"/><Relationship Id="rId14" Type="http://schemas.openxmlformats.org/officeDocument/2006/relationships/oleObject" Target="../embeddings/oleObject38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45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20" Type="http://schemas.openxmlformats.org/officeDocument/2006/relationships/image" Target="../media/image46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41.wmf"/><Relationship Id="rId19" Type="http://schemas.openxmlformats.org/officeDocument/2006/relationships/oleObject" Target="../embeddings/oleObject49.bin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51.bin"/><Relationship Id="rId10" Type="http://schemas.openxmlformats.org/officeDocument/2006/relationships/oleObject" Target="../embeddings/oleObject55.bin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34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组合 1"/>
          <p:cNvGrpSpPr>
            <a:grpSpLocks/>
          </p:cNvGrpSpPr>
          <p:nvPr/>
        </p:nvGrpSpPr>
        <p:grpSpPr bwMode="auto">
          <a:xfrm>
            <a:off x="776818" y="1149350"/>
            <a:ext cx="10517716" cy="1416050"/>
            <a:chOff x="582613" y="1012260"/>
            <a:chExt cx="7888287" cy="1416113"/>
          </a:xfrm>
        </p:grpSpPr>
        <p:sp>
          <p:nvSpPr>
            <p:cNvPr id="6157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7888287" cy="646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>
                  <a:solidFill>
                    <a:schemeClr val="accent2"/>
                  </a:solidFill>
                </a:rPr>
                <a:t>例</a:t>
              </a:r>
              <a:r>
                <a:rPr lang="en-US" altLang="zh-CN" sz="2400">
                  <a:solidFill>
                    <a:schemeClr val="accent2"/>
                  </a:solidFill>
                </a:rPr>
                <a:t>1   </a:t>
              </a:r>
              <a:r>
                <a:rPr lang="zh-CN" altLang="en-US" sz="2400"/>
                <a:t>解线性方程组</a:t>
              </a:r>
            </a:p>
          </p:txBody>
        </p:sp>
        <p:graphicFrame>
          <p:nvGraphicFramePr>
            <p:cNvPr id="6158" name="Object 3"/>
            <p:cNvGraphicFramePr>
              <a:graphicFrameLocks noChangeAspect="1"/>
            </p:cNvGraphicFramePr>
            <p:nvPr/>
          </p:nvGraphicFramePr>
          <p:xfrm>
            <a:off x="3419872" y="1012260"/>
            <a:ext cx="2840038" cy="1416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43" name="Equation" r:id="rId3" imgW="1435100" imgH="711200" progId="Equation.DSMT4">
                    <p:embed/>
                  </p:oleObj>
                </mc:Choice>
                <mc:Fallback>
                  <p:oleObj name="Equation" r:id="rId3" imgW="14351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872" y="1012260"/>
                          <a:ext cx="2840038" cy="1416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999066" y="2414205"/>
            <a:ext cx="8344631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200000"/>
              </a:lnSpc>
            </a:pPr>
            <a:r>
              <a:rPr lang="zh-CN" altLang="en-US" sz="2400" dirty="0"/>
              <a:t>解</a:t>
            </a:r>
            <a:r>
              <a:rPr lang="zh-CN" altLang="en-US" sz="2400" dirty="0" smtClean="0"/>
              <a:t>：</a:t>
            </a:r>
            <a:r>
              <a:rPr lang="zh-CN" altLang="en-US" sz="2000" b="0" dirty="0" smtClean="0"/>
              <a:t>对方程组的增广矩阵施以行的初等变换得                                       </a:t>
            </a:r>
            <a:endParaRPr lang="zh-CN" altLang="en-US" sz="2000" b="0" dirty="0"/>
          </a:p>
          <a:p>
            <a:pPr algn="just" eaLnBrk="1" hangingPunct="1">
              <a:lnSpc>
                <a:spcPct val="200000"/>
              </a:lnSpc>
            </a:pPr>
            <a:endParaRPr lang="zh-CN" altLang="en-US" sz="2400" dirty="0"/>
          </a:p>
        </p:txBody>
      </p:sp>
      <p:sp>
        <p:nvSpPr>
          <p:cNvPr id="6148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19252" y="3021343"/>
            <a:ext cx="9675283" cy="1416050"/>
            <a:chOff x="-369892" y="3477080"/>
            <a:chExt cx="7257231" cy="1416050"/>
          </a:xfrm>
        </p:grpSpPr>
        <p:graphicFrame>
          <p:nvGraphicFramePr>
            <p:cNvPr id="615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0251616"/>
                </p:ext>
              </p:extLst>
            </p:nvPr>
          </p:nvGraphicFramePr>
          <p:xfrm>
            <a:off x="-369892" y="3477080"/>
            <a:ext cx="7257231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44" name="Equation" r:id="rId5" imgW="4267200" imgH="711200" progId="Equation.DSMT4">
                    <p:embed/>
                  </p:oleObj>
                </mc:Choice>
                <mc:Fallback>
                  <p:oleObj name="Equation" r:id="rId5" imgW="42672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69892" y="3477080"/>
                          <a:ext cx="7257231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8547372"/>
                </p:ext>
              </p:extLst>
            </p:nvPr>
          </p:nvGraphicFramePr>
          <p:xfrm>
            <a:off x="2821211" y="3891926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45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1211" y="3891926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6219220"/>
                </p:ext>
              </p:extLst>
            </p:nvPr>
          </p:nvGraphicFramePr>
          <p:xfrm>
            <a:off x="4927759" y="3847134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46" name="Equation" r:id="rId9" imgW="114102" imgH="126780" progId="Equation.DSMT4">
                    <p:embed/>
                  </p:oleObj>
                </mc:Choice>
                <mc:Fallback>
                  <p:oleObj name="Equation" r:id="rId9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7759" y="3847134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3.3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线性方程组解的判定</a:t>
            </a:r>
            <a:endParaRPr lang="zh-CN" altLang="en-US" sz="2000" dirty="0"/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858415"/>
              </p:ext>
            </p:extLst>
          </p:nvPr>
        </p:nvGraphicFramePr>
        <p:xfrm>
          <a:off x="5171381" y="5282325"/>
          <a:ext cx="2002987" cy="133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47" name="Equation" r:id="rId10" imgW="799920" imgH="711000" progId="Equation.DSMT4">
                  <p:embed/>
                </p:oleObj>
              </mc:Choice>
              <mc:Fallback>
                <p:oleObj name="Equation" r:id="rId10" imgW="7999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1381" y="5282325"/>
                        <a:ext cx="2002987" cy="1339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97672"/>
              </p:ext>
            </p:extLst>
          </p:nvPr>
        </p:nvGraphicFramePr>
        <p:xfrm>
          <a:off x="1755228" y="5328472"/>
          <a:ext cx="3005959" cy="1156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48" name="Equation" r:id="rId12" imgW="1562040" imgH="711000" progId="Equation.DSMT4">
                  <p:embed/>
                </p:oleObj>
              </mc:Choice>
              <mc:Fallback>
                <p:oleObj name="Equation" r:id="rId12" imgW="156204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228" y="5328472"/>
                        <a:ext cx="3005959" cy="1156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圆角矩形 1"/>
          <p:cNvSpPr/>
          <p:nvPr/>
        </p:nvSpPr>
        <p:spPr>
          <a:xfrm>
            <a:off x="5873605" y="4437393"/>
            <a:ext cx="3732850" cy="71913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 smtClean="0"/>
              <a:t>   </a:t>
            </a:r>
            <a:r>
              <a:rPr lang="zh-CN" altLang="en-US" sz="3200" dirty="0" smtClean="0"/>
              <a:t>方程组有唯一解。</a:t>
            </a:r>
            <a:endParaRPr lang="zh-CN" altLang="en-US" sz="32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657008"/>
              </p:ext>
            </p:extLst>
          </p:nvPr>
        </p:nvGraphicFramePr>
        <p:xfrm>
          <a:off x="1541991" y="4551776"/>
          <a:ext cx="4235450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49" name="Equation" r:id="rId14" imgW="1434960" imgH="203040" progId="Equation.DSMT4">
                  <p:embed/>
                </p:oleObj>
              </mc:Choice>
              <mc:Fallback>
                <p:oleObj name="Equation" r:id="rId14" imgW="1434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41991" y="4551776"/>
                        <a:ext cx="4235450" cy="598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587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组合 1"/>
          <p:cNvGrpSpPr>
            <a:grpSpLocks/>
          </p:cNvGrpSpPr>
          <p:nvPr/>
        </p:nvGrpSpPr>
        <p:grpSpPr bwMode="auto">
          <a:xfrm>
            <a:off x="587632" y="998483"/>
            <a:ext cx="10517716" cy="1731034"/>
            <a:chOff x="582613" y="629440"/>
            <a:chExt cx="7888287" cy="1870158"/>
          </a:xfrm>
        </p:grpSpPr>
        <p:sp>
          <p:nvSpPr>
            <p:cNvPr id="7183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7888287" cy="646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>
                  <a:solidFill>
                    <a:srgbClr val="ED7D31"/>
                  </a:solidFill>
                </a:rPr>
                <a:t>例</a:t>
              </a:r>
              <a:r>
                <a:rPr lang="en-US" altLang="zh-CN" sz="2400">
                  <a:solidFill>
                    <a:srgbClr val="ED7D31"/>
                  </a:solidFill>
                </a:rPr>
                <a:t>2   </a:t>
              </a:r>
              <a:r>
                <a:rPr lang="zh-CN" altLang="en-US" sz="2400">
                  <a:solidFill>
                    <a:prstClr val="black"/>
                  </a:solidFill>
                </a:rPr>
                <a:t>解线性方程组</a:t>
              </a:r>
            </a:p>
          </p:txBody>
        </p:sp>
        <p:graphicFrame>
          <p:nvGraphicFramePr>
            <p:cNvPr id="718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9154422"/>
                </p:ext>
              </p:extLst>
            </p:nvPr>
          </p:nvGraphicFramePr>
          <p:xfrm>
            <a:off x="3300904" y="629440"/>
            <a:ext cx="2965450" cy="1870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09" name="Equation" r:id="rId3" imgW="1498600" imgH="939800" progId="Equation.DSMT4">
                    <p:embed/>
                  </p:oleObj>
                </mc:Choice>
                <mc:Fallback>
                  <p:oleObj name="Equation" r:id="rId3" imgW="1498600" imgH="93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0904" y="629440"/>
                          <a:ext cx="2965450" cy="1870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76818" y="2288744"/>
            <a:ext cx="6675016" cy="881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200000"/>
              </a:lnSpc>
            </a:pPr>
            <a:r>
              <a:rPr lang="zh-CN" altLang="en-US" sz="2400" dirty="0">
                <a:solidFill>
                  <a:prstClr val="black"/>
                </a:solidFill>
              </a:rPr>
              <a:t>解</a:t>
            </a:r>
            <a:r>
              <a:rPr lang="zh-CN" altLang="en-US" sz="2400" dirty="0" smtClean="0">
                <a:solidFill>
                  <a:prstClr val="black"/>
                </a:solidFill>
              </a:rPr>
              <a:t>：</a:t>
            </a:r>
            <a:r>
              <a:rPr lang="zh-CN" altLang="en-US" sz="1800" dirty="0">
                <a:solidFill>
                  <a:prstClr val="black"/>
                </a:solidFill>
                <a:latin typeface="Calibri"/>
                <a:ea typeface="宋体"/>
              </a:rPr>
              <a:t>对方程组的增广矩阵施以行的初等变换得</a:t>
            </a:r>
            <a:r>
              <a:rPr lang="zh-CN" altLang="en-US" sz="1800" dirty="0" smtClean="0">
                <a:solidFill>
                  <a:prstClr val="black"/>
                </a:solidFill>
              </a:rPr>
              <a:t>                                       </a:t>
            </a:r>
            <a:endParaRPr lang="zh-CN" altLang="en-US" sz="1800" dirty="0">
              <a:solidFill>
                <a:prstClr val="black"/>
              </a:solidFill>
            </a:endParaRPr>
          </a:p>
          <a:p>
            <a:pPr algn="just" eaLnBrk="1" hangingPunct="1">
              <a:lnSpc>
                <a:spcPct val="200000"/>
              </a:lnSpc>
            </a:pPr>
            <a:endParaRPr lang="zh-CN" altLang="en-US" sz="2400" dirty="0">
              <a:solidFill>
                <a:prstClr val="black"/>
              </a:solidFill>
            </a:endParaRPr>
          </a:p>
        </p:txBody>
      </p:sp>
      <p:sp>
        <p:nvSpPr>
          <p:cNvPr id="7172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957792" y="3013513"/>
            <a:ext cx="10155767" cy="1820861"/>
            <a:chOff x="-618360" y="3002674"/>
            <a:chExt cx="7286706" cy="1820863"/>
          </a:xfrm>
        </p:grpSpPr>
        <p:graphicFrame>
          <p:nvGraphicFramePr>
            <p:cNvPr id="718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7962787"/>
                </p:ext>
              </p:extLst>
            </p:nvPr>
          </p:nvGraphicFramePr>
          <p:xfrm>
            <a:off x="-618360" y="3002674"/>
            <a:ext cx="7286706" cy="1820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10" name="Equation" r:id="rId5" imgW="5080000" imgH="914400" progId="Equation.DSMT4">
                    <p:embed/>
                  </p:oleObj>
                </mc:Choice>
                <mc:Fallback>
                  <p:oleObj name="Equation" r:id="rId5" imgW="508000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618360" y="3002674"/>
                          <a:ext cx="7286706" cy="1820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4815595"/>
                </p:ext>
              </p:extLst>
            </p:nvPr>
          </p:nvGraphicFramePr>
          <p:xfrm>
            <a:off x="2240454" y="3624790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11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0454" y="3624790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2547968"/>
                </p:ext>
              </p:extLst>
            </p:nvPr>
          </p:nvGraphicFramePr>
          <p:xfrm>
            <a:off x="4623056" y="3625249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12" name="Equation" r:id="rId9" imgW="114102" imgH="126780" progId="Equation.DSMT4">
                    <p:embed/>
                  </p:oleObj>
                </mc:Choice>
                <mc:Fallback>
                  <p:oleObj name="Equation" r:id="rId9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3056" y="3625249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4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3.3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线性方程组解的判定</a:t>
            </a:r>
            <a:endParaRPr lang="zh-CN" altLang="en-US" sz="2000" dirty="0"/>
          </a:p>
        </p:txBody>
      </p:sp>
      <p:sp>
        <p:nvSpPr>
          <p:cNvPr id="2" name="圆角矩形 1"/>
          <p:cNvSpPr/>
          <p:nvPr/>
        </p:nvSpPr>
        <p:spPr>
          <a:xfrm>
            <a:off x="8671034" y="4864368"/>
            <a:ext cx="3321854" cy="71913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 smtClean="0">
                <a:solidFill>
                  <a:prstClr val="black"/>
                </a:solidFill>
              </a:rPr>
              <a:t>方程组有无穷多解</a:t>
            </a:r>
            <a:r>
              <a:rPr lang="zh-CN" altLang="en-US" sz="2400" dirty="0">
                <a:solidFill>
                  <a:prstClr val="black"/>
                </a:solidFill>
              </a:rPr>
              <a:t>。</a:t>
            </a: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661204" y="5286704"/>
            <a:ext cx="4190578" cy="1416050"/>
            <a:chOff x="279578" y="5364534"/>
            <a:chExt cx="3143593" cy="1416050"/>
          </a:xfrm>
        </p:grpSpPr>
        <p:sp>
          <p:nvSpPr>
            <p:cNvPr id="7178" name="Text Box 4"/>
            <p:cNvSpPr txBox="1">
              <a:spLocks noChangeArrowheads="1"/>
            </p:cNvSpPr>
            <p:nvPr/>
          </p:nvSpPr>
          <p:spPr bwMode="auto">
            <a:xfrm>
              <a:off x="279578" y="5661336"/>
              <a:ext cx="2064672" cy="7850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000" dirty="0">
                  <a:solidFill>
                    <a:prstClr val="black"/>
                  </a:solidFill>
                </a:rPr>
                <a:t>还原</a:t>
              </a:r>
              <a:r>
                <a:rPr lang="zh-CN" altLang="en-US" sz="2000" dirty="0" smtClean="0">
                  <a:solidFill>
                    <a:prstClr val="black"/>
                  </a:solidFill>
                </a:rPr>
                <a:t>方程组为                                       </a:t>
              </a:r>
              <a:endParaRPr lang="zh-CN" altLang="en-US" sz="2000" dirty="0">
                <a:solidFill>
                  <a:prstClr val="black"/>
                </a:solidFill>
              </a:endParaRP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 dirty="0">
                <a:solidFill>
                  <a:prstClr val="black"/>
                </a:solidFill>
              </a:endParaRPr>
            </a:p>
          </p:txBody>
        </p:sp>
        <p:graphicFrame>
          <p:nvGraphicFramePr>
            <p:cNvPr id="717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2576555"/>
                </p:ext>
              </p:extLst>
            </p:nvPr>
          </p:nvGraphicFramePr>
          <p:xfrm>
            <a:off x="1639240" y="5364534"/>
            <a:ext cx="1783931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13" name="Equation" r:id="rId10" imgW="888840" imgH="711000" progId="Equation.DSMT4">
                    <p:embed/>
                  </p:oleObj>
                </mc:Choice>
                <mc:Fallback>
                  <p:oleObj name="Equation" r:id="rId10" imgW="88884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9240" y="5364534"/>
                          <a:ext cx="1783931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320498" y="4803599"/>
            <a:ext cx="33505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 dirty="0" smtClean="0">
                <a:solidFill>
                  <a:prstClr val="black"/>
                </a:solidFill>
              </a:rPr>
              <a:t>有 </a:t>
            </a:r>
            <a:r>
              <a:rPr lang="en-US" altLang="zh-CN" sz="2400" dirty="0" smtClean="0">
                <a:solidFill>
                  <a:srgbClr val="0070C0"/>
                </a:solidFill>
              </a:rPr>
              <a:t>4-3=1</a:t>
            </a:r>
            <a:r>
              <a:rPr lang="en-US" altLang="zh-CN" sz="2400" dirty="0" smtClean="0">
                <a:solidFill>
                  <a:prstClr val="black"/>
                </a:solidFill>
              </a:rPr>
              <a:t> </a:t>
            </a:r>
            <a:r>
              <a:rPr lang="zh-CN" altLang="en-US" sz="2400" dirty="0" smtClean="0">
                <a:solidFill>
                  <a:prstClr val="black"/>
                </a:solidFill>
              </a:rPr>
              <a:t>个</a:t>
            </a:r>
            <a:r>
              <a:rPr lang="zh-CN" altLang="en-US" sz="2400" dirty="0" smtClean="0">
                <a:solidFill>
                  <a:srgbClr val="FF0000"/>
                </a:solidFill>
              </a:rPr>
              <a:t>自由变量，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728647"/>
              </p:ext>
            </p:extLst>
          </p:nvPr>
        </p:nvGraphicFramePr>
        <p:xfrm>
          <a:off x="776819" y="4813715"/>
          <a:ext cx="4163044" cy="449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4" name="Equation" r:id="rId12" imgW="1879560" imgH="203040" progId="Equation.DSMT4">
                  <p:embed/>
                </p:oleObj>
              </mc:Choice>
              <mc:Fallback>
                <p:oleObj name="Equation" r:id="rId12" imgW="1879560" imgH="20304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819" y="4813715"/>
                        <a:ext cx="4163044" cy="449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768458"/>
              </p:ext>
            </p:extLst>
          </p:nvPr>
        </p:nvGraphicFramePr>
        <p:xfrm>
          <a:off x="4622800" y="27813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5" name="Equation" r:id="rId14" imgW="914400" imgH="198720" progId="Equation.DSMT4">
                  <p:embed/>
                </p:oleObj>
              </mc:Choice>
              <mc:Fallback>
                <p:oleObj name="Equation" r:id="rId1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22800" y="27813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50722" y="5763897"/>
            <a:ext cx="2965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为任意常数。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180040"/>
              </p:ext>
            </p:extLst>
          </p:nvPr>
        </p:nvGraphicFramePr>
        <p:xfrm>
          <a:off x="5320498" y="5126761"/>
          <a:ext cx="2318202" cy="1735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6" name="Equation" r:id="rId16" imgW="761760" imgH="939600" progId="Equation.DSMT4">
                  <p:embed/>
                </p:oleObj>
              </mc:Choice>
              <mc:Fallback>
                <p:oleObj name="Equation" r:id="rId16" imgW="761760" imgH="939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0498" y="5126761"/>
                        <a:ext cx="2318202" cy="1735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387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组合 1"/>
          <p:cNvGrpSpPr>
            <a:grpSpLocks/>
          </p:cNvGrpSpPr>
          <p:nvPr/>
        </p:nvGrpSpPr>
        <p:grpSpPr bwMode="auto">
          <a:xfrm>
            <a:off x="776818" y="1052513"/>
            <a:ext cx="10517716" cy="2057400"/>
            <a:chOff x="582613" y="692226"/>
            <a:chExt cx="7888287" cy="2057174"/>
          </a:xfrm>
        </p:grpSpPr>
        <p:sp>
          <p:nvSpPr>
            <p:cNvPr id="8206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7888287" cy="646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>
                  <a:solidFill>
                    <a:srgbClr val="ED7D31"/>
                  </a:solidFill>
                </a:rPr>
                <a:t>例</a:t>
              </a:r>
              <a:r>
                <a:rPr lang="en-US" altLang="zh-CN" sz="2400" dirty="0">
                  <a:solidFill>
                    <a:srgbClr val="ED7D31"/>
                  </a:solidFill>
                </a:rPr>
                <a:t>3   </a:t>
              </a:r>
              <a:r>
                <a:rPr lang="zh-CN" altLang="en-US" sz="2400" dirty="0">
                  <a:solidFill>
                    <a:prstClr val="black"/>
                  </a:solidFill>
                </a:rPr>
                <a:t>解线性方程组</a:t>
              </a:r>
            </a:p>
          </p:txBody>
        </p:sp>
        <p:graphicFrame>
          <p:nvGraphicFramePr>
            <p:cNvPr id="8207" name="Object 3"/>
            <p:cNvGraphicFramePr>
              <a:graphicFrameLocks noChangeAspect="1"/>
            </p:cNvGraphicFramePr>
            <p:nvPr/>
          </p:nvGraphicFramePr>
          <p:xfrm>
            <a:off x="3442305" y="692226"/>
            <a:ext cx="3289935" cy="2057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75" name="Equation" r:id="rId3" imgW="1511300" imgH="939800" progId="Equation.DSMT4">
                    <p:embed/>
                  </p:oleObj>
                </mc:Choice>
                <mc:Fallback>
                  <p:oleObj name="Equation" r:id="rId3" imgW="1511300" imgH="93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2305" y="692226"/>
                          <a:ext cx="3289935" cy="2057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965202" y="2788636"/>
            <a:ext cx="6518164" cy="78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200000"/>
              </a:lnSpc>
            </a:pPr>
            <a:r>
              <a:rPr lang="zh-CN" altLang="en-US" sz="2400" dirty="0">
                <a:solidFill>
                  <a:prstClr val="black"/>
                </a:solidFill>
              </a:rPr>
              <a:t>解</a:t>
            </a:r>
            <a:r>
              <a:rPr lang="zh-CN" altLang="en-US" sz="2400" dirty="0" smtClean="0">
                <a:solidFill>
                  <a:prstClr val="black"/>
                </a:solidFill>
              </a:rPr>
              <a:t>：</a:t>
            </a:r>
            <a:r>
              <a:rPr lang="zh-CN" altLang="en-US" sz="2000" b="0" dirty="0">
                <a:solidFill>
                  <a:prstClr val="black"/>
                </a:solidFill>
                <a:latin typeface="Calibri"/>
                <a:ea typeface="宋体"/>
              </a:rPr>
              <a:t>对方程组的增广矩阵施以行的初等变换得</a:t>
            </a:r>
            <a:r>
              <a:rPr lang="zh-CN" altLang="en-US" sz="2000" dirty="0" smtClean="0">
                <a:solidFill>
                  <a:prstClr val="black"/>
                </a:solidFill>
              </a:rPr>
              <a:t>                                       </a:t>
            </a:r>
            <a:endParaRPr lang="zh-CN" altLang="en-US" sz="2000" dirty="0">
              <a:solidFill>
                <a:prstClr val="black"/>
              </a:solidFill>
            </a:endParaRPr>
          </a:p>
          <a:p>
            <a:pPr algn="just" eaLnBrk="1" hangingPunct="1">
              <a:lnSpc>
                <a:spcPct val="200000"/>
              </a:lnSpc>
            </a:pPr>
            <a:endParaRPr lang="zh-CN" altLang="en-US" sz="2400" dirty="0">
              <a:solidFill>
                <a:prstClr val="black"/>
              </a:solidFill>
            </a:endParaRPr>
          </a:p>
        </p:txBody>
      </p:sp>
      <p:sp>
        <p:nvSpPr>
          <p:cNvPr id="8196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744646" y="3510263"/>
            <a:ext cx="7429500" cy="1820862"/>
            <a:chOff x="-208871" y="3374203"/>
            <a:chExt cx="5572125" cy="1820862"/>
          </a:xfrm>
        </p:grpSpPr>
        <p:graphicFrame>
          <p:nvGraphicFramePr>
            <p:cNvPr id="8204" name="Object 3"/>
            <p:cNvGraphicFramePr>
              <a:graphicFrameLocks noChangeAspect="1"/>
            </p:cNvGraphicFramePr>
            <p:nvPr/>
          </p:nvGraphicFramePr>
          <p:xfrm>
            <a:off x="-208871" y="3374203"/>
            <a:ext cx="5572125" cy="1820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76" name="Equation" r:id="rId5" imgW="3276600" imgH="914400" progId="Equation.DSMT4">
                    <p:embed/>
                  </p:oleObj>
                </mc:Choice>
                <mc:Fallback>
                  <p:oleObj name="Equation" r:id="rId5" imgW="327660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08871" y="3374203"/>
                          <a:ext cx="5572125" cy="1820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5" name="Object 3"/>
            <p:cNvGraphicFramePr>
              <a:graphicFrameLocks noChangeAspect="1"/>
            </p:cNvGraphicFramePr>
            <p:nvPr/>
          </p:nvGraphicFramePr>
          <p:xfrm>
            <a:off x="3033507" y="3990852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77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3507" y="3990852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圆角矩形 1"/>
          <p:cNvSpPr/>
          <p:nvPr/>
        </p:nvSpPr>
        <p:spPr>
          <a:xfrm>
            <a:off x="7714593" y="5396212"/>
            <a:ext cx="2066960" cy="7207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b="1" dirty="0">
                <a:solidFill>
                  <a:prstClr val="black"/>
                </a:solidFill>
              </a:rPr>
              <a:t>方程组</a:t>
            </a:r>
            <a:r>
              <a:rPr lang="zh-CN" altLang="en-US" sz="2400" b="1" dirty="0" smtClean="0">
                <a:solidFill>
                  <a:prstClr val="black"/>
                </a:solidFill>
              </a:rPr>
              <a:t>无解</a:t>
            </a:r>
            <a:r>
              <a:rPr lang="zh-CN" altLang="en-US" sz="2400" dirty="0" smtClean="0">
                <a:solidFill>
                  <a:prstClr val="black"/>
                </a:solidFill>
              </a:rPr>
              <a:t>。</a:t>
            </a:r>
            <a:endParaRPr lang="zh-CN" altLang="en-US" sz="2400" dirty="0">
              <a:solidFill>
                <a:prstClr val="black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88392" y="4878717"/>
            <a:ext cx="2851151" cy="3603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202" name="Text Box 4"/>
          <p:cNvSpPr txBox="1">
            <a:spLocks noChangeArrowheads="1"/>
          </p:cNvSpPr>
          <p:nvPr/>
        </p:nvSpPr>
        <p:spPr bwMode="auto">
          <a:xfrm>
            <a:off x="4333328" y="5222355"/>
            <a:ext cx="2550948" cy="605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200000"/>
              </a:lnSpc>
            </a:pPr>
            <a:r>
              <a:rPr lang="zh-CN" altLang="en-US" sz="2400" dirty="0" smtClean="0">
                <a:solidFill>
                  <a:prstClr val="black"/>
                </a:solidFill>
              </a:rPr>
              <a:t>导致</a:t>
            </a:r>
            <a:r>
              <a:rPr lang="zh-CN" altLang="en-US" sz="2400" dirty="0" smtClean="0">
                <a:solidFill>
                  <a:srgbClr val="0000FF"/>
                </a:solidFill>
              </a:rPr>
              <a:t>矛盾方程，                              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algn="just" eaLnBrk="1" hangingPunct="1">
              <a:lnSpc>
                <a:spcPct val="200000"/>
              </a:lnSpc>
            </a:pPr>
            <a:endParaRPr lang="zh-CN" altLang="en-US" sz="2400" dirty="0">
              <a:solidFill>
                <a:prstClr val="black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504480"/>
              </p:ext>
            </p:extLst>
          </p:nvPr>
        </p:nvGraphicFramePr>
        <p:xfrm>
          <a:off x="1242412" y="5525170"/>
          <a:ext cx="3090916" cy="439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8" name="Equation" r:id="rId9" imgW="1422360" imgH="203040" progId="Equation.DSMT4">
                  <p:embed/>
                </p:oleObj>
              </mc:Choice>
              <mc:Fallback>
                <p:oleObj name="Equation" r:id="rId9" imgW="1422360" imgH="20304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2412" y="5525170"/>
                        <a:ext cx="3090916" cy="439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163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20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lvl="0"/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                     3.3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线性方程组解的判定</a:t>
            </a:r>
          </a:p>
        </p:txBody>
      </p:sp>
      <p:sp>
        <p:nvSpPr>
          <p:cNvPr id="9219" name="Text Box 6"/>
          <p:cNvSpPr txBox="1">
            <a:spLocks noChangeArrowheads="1"/>
          </p:cNvSpPr>
          <p:nvPr/>
        </p:nvSpPr>
        <p:spPr bwMode="auto">
          <a:xfrm>
            <a:off x="827618" y="841375"/>
            <a:ext cx="3481916" cy="80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0" indent="0" algn="l" eaLnBrk="1" hangingPunct="1">
              <a:lnSpc>
                <a:spcPct val="170000"/>
              </a:lnSpc>
              <a:buClr>
                <a:schemeClr val="accent2"/>
              </a:buClr>
            </a:pPr>
            <a:r>
              <a:rPr lang="zh-CN" altLang="en-US" sz="3200" dirty="0" smtClean="0"/>
              <a:t>  </a:t>
            </a:r>
            <a:r>
              <a:rPr lang="en-US" altLang="zh-CN" sz="3200" dirty="0" smtClean="0"/>
              <a:t>1</a:t>
            </a:r>
            <a:endParaRPr lang="zh-CN" altLang="en-US" sz="3200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879601" y="1139825"/>
            <a:ext cx="652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FF"/>
                </a:solidFill>
              </a:rPr>
              <a:t>非齐次线性方程组解的判定定理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856317" y="1741488"/>
          <a:ext cx="433493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4" name="Equation" r:id="rId3" imgW="1562100" imgH="215900" progId="Equation.DSMT4">
                  <p:embed/>
                </p:oleObj>
              </mc:Choice>
              <mc:Fallback>
                <p:oleObj name="Equation" r:id="rId3" imgW="1562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317" y="1741488"/>
                        <a:ext cx="433493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557206"/>
              </p:ext>
            </p:extLst>
          </p:nvPr>
        </p:nvGraphicFramePr>
        <p:xfrm>
          <a:off x="1422839" y="2561405"/>
          <a:ext cx="744132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5" name="Equation" r:id="rId5" imgW="1905000" imgH="254000" progId="Equation.DSMT4">
                  <p:embed/>
                </p:oleObj>
              </mc:Choice>
              <mc:Fallback>
                <p:oleObj name="Equation" r:id="rId5" imgW="19050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839" y="2561405"/>
                        <a:ext cx="744132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037902"/>
              </p:ext>
            </p:extLst>
          </p:nvPr>
        </p:nvGraphicFramePr>
        <p:xfrm>
          <a:off x="1449954" y="3215482"/>
          <a:ext cx="7550151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6" name="Equation" r:id="rId7" imgW="2133600" imgH="254000" progId="Equation.DSMT4">
                  <p:embed/>
                </p:oleObj>
              </mc:Choice>
              <mc:Fallback>
                <p:oleObj name="Equation" r:id="rId7" imgW="21336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954" y="3215482"/>
                        <a:ext cx="7550151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723567"/>
              </p:ext>
            </p:extLst>
          </p:nvPr>
        </p:nvGraphicFramePr>
        <p:xfrm>
          <a:off x="1671949" y="4080140"/>
          <a:ext cx="216323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7" name="Equation" r:id="rId9" imgW="647419" imgH="177723" progId="Equation.DSMT4">
                  <p:embed/>
                </p:oleObj>
              </mc:Choice>
              <mc:Fallback>
                <p:oleObj name="Equation" r:id="rId9" imgW="647419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949" y="4080140"/>
                        <a:ext cx="216323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056324"/>
              </p:ext>
            </p:extLst>
          </p:nvPr>
        </p:nvGraphicFramePr>
        <p:xfrm>
          <a:off x="1730778" y="5575464"/>
          <a:ext cx="220133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8" name="Equation" r:id="rId11" imgW="634449" imgH="177646" progId="Equation.DSMT4">
                  <p:embed/>
                </p:oleObj>
              </mc:Choice>
              <mc:Fallback>
                <p:oleObj name="Equation" r:id="rId11" imgW="634449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778" y="5575464"/>
                        <a:ext cx="2201333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云形标注 51"/>
          <p:cNvSpPr/>
          <p:nvPr/>
        </p:nvSpPr>
        <p:spPr>
          <a:xfrm>
            <a:off x="7675821" y="3707571"/>
            <a:ext cx="3796777" cy="1170589"/>
          </a:xfrm>
          <a:prstGeom prst="cloudCallout">
            <a:avLst>
              <a:gd name="adj1" fmla="val -67100"/>
              <a:gd name="adj2" fmla="val -51362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zh-CN" altLang="en-US" sz="2400" dirty="0">
                <a:solidFill>
                  <a:srgbClr val="0000FF"/>
                </a:solidFill>
              </a:rPr>
              <a:t>非自由</a:t>
            </a:r>
            <a:r>
              <a:rPr lang="zh-CN" altLang="en-US" sz="2400" dirty="0"/>
              <a:t>变量</a:t>
            </a:r>
            <a:endParaRPr lang="en-US" altLang="zh-CN" sz="2400" dirty="0"/>
          </a:p>
          <a:p>
            <a:pPr>
              <a:defRPr/>
            </a:pPr>
            <a:r>
              <a:rPr lang="zh-CN" altLang="en-US" sz="2400" dirty="0"/>
              <a:t>    个数</a:t>
            </a:r>
            <a:r>
              <a:rPr lang="zh-CN" altLang="en-US" dirty="0">
                <a:noFill/>
              </a:rPr>
              <a:t>个数</a:t>
            </a:r>
          </a:p>
        </p:txBody>
      </p:sp>
      <p:sp>
        <p:nvSpPr>
          <p:cNvPr id="53" name="云形标注 52"/>
          <p:cNvSpPr/>
          <p:nvPr/>
        </p:nvSpPr>
        <p:spPr>
          <a:xfrm>
            <a:off x="6403233" y="1819909"/>
            <a:ext cx="3648405" cy="621234"/>
          </a:xfrm>
          <a:prstGeom prst="cloudCallout">
            <a:avLst>
              <a:gd name="adj1" fmla="val -77946"/>
              <a:gd name="adj2" fmla="val -1398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zh-CN" altLang="en-US" sz="2400" dirty="0"/>
              <a:t>未知数总数</a:t>
            </a:r>
            <a:r>
              <a:rPr lang="zh-CN" altLang="en-US" dirty="0">
                <a:noFill/>
              </a:rPr>
              <a:t>个数</a:t>
            </a:r>
          </a:p>
        </p:txBody>
      </p:sp>
      <p:sp>
        <p:nvSpPr>
          <p:cNvPr id="54" name="椭圆 53"/>
          <p:cNvSpPr/>
          <p:nvPr/>
        </p:nvSpPr>
        <p:spPr>
          <a:xfrm>
            <a:off x="6576484" y="3328989"/>
            <a:ext cx="488949" cy="377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5077884" y="4892676"/>
            <a:ext cx="2650067" cy="4667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>
                <a:solidFill>
                  <a:srgbClr val="C00000"/>
                </a:solidFill>
              </a:rPr>
              <a:t>无自由变量</a:t>
            </a:r>
          </a:p>
        </p:txBody>
      </p:sp>
      <p:sp>
        <p:nvSpPr>
          <p:cNvPr id="57" name="椭圆 56"/>
          <p:cNvSpPr/>
          <p:nvPr/>
        </p:nvSpPr>
        <p:spPr>
          <a:xfrm>
            <a:off x="4904318" y="1789113"/>
            <a:ext cx="478367" cy="377825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>
              <a:solidFill>
                <a:srgbClr val="FF0000"/>
              </a:solidFill>
            </a:endParaRPr>
          </a:p>
        </p:txBody>
      </p:sp>
      <p:graphicFrame>
        <p:nvGraphicFramePr>
          <p:cNvPr id="58" name="对象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930165"/>
              </p:ext>
            </p:extLst>
          </p:nvPr>
        </p:nvGraphicFramePr>
        <p:xfrm>
          <a:off x="3936053" y="4053152"/>
          <a:ext cx="2673349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9" name="Equation" r:id="rId13" imgW="850531" imgH="203112" progId="Equation.DSMT4">
                  <p:embed/>
                </p:oleObj>
              </mc:Choice>
              <mc:Fallback>
                <p:oleObj name="Equation" r:id="rId13" imgW="85053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6053" y="4053152"/>
                        <a:ext cx="2673349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167939"/>
              </p:ext>
            </p:extLst>
          </p:nvPr>
        </p:nvGraphicFramePr>
        <p:xfrm>
          <a:off x="3904959" y="5575464"/>
          <a:ext cx="267546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0" name="Equation" r:id="rId15" imgW="850531" imgH="203112" progId="Equation.DSMT4">
                  <p:embed/>
                </p:oleObj>
              </mc:Choice>
              <mc:Fallback>
                <p:oleObj name="Equation" r:id="rId15" imgW="85053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4959" y="5575464"/>
                        <a:ext cx="267546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6553081" y="5632450"/>
            <a:ext cx="3498557" cy="423862"/>
            <a:chOff x="6307594" y="5590956"/>
            <a:chExt cx="3498557" cy="423862"/>
          </a:xfrm>
        </p:grpSpPr>
        <p:sp>
          <p:nvSpPr>
            <p:cNvPr id="56" name="TextBox 55"/>
            <p:cNvSpPr txBox="1"/>
            <p:nvPr/>
          </p:nvSpPr>
          <p:spPr>
            <a:xfrm>
              <a:off x="6307594" y="5590956"/>
              <a:ext cx="3498557" cy="4238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2400" dirty="0" smtClean="0">
                  <a:solidFill>
                    <a:srgbClr val="C00000"/>
                  </a:solidFill>
                </a:rPr>
                <a:t>有                </a:t>
              </a:r>
              <a:r>
                <a:rPr lang="zh-CN" altLang="en-US" sz="2400" dirty="0">
                  <a:solidFill>
                    <a:srgbClr val="C00000"/>
                  </a:solidFill>
                </a:rPr>
                <a:t>个</a:t>
              </a:r>
              <a:r>
                <a:rPr lang="zh-CN" altLang="en-US" sz="2400" dirty="0" smtClean="0">
                  <a:solidFill>
                    <a:srgbClr val="C00000"/>
                  </a:solidFill>
                </a:rPr>
                <a:t>自由</a:t>
              </a:r>
              <a:r>
                <a:rPr lang="zh-CN" altLang="en-US" sz="2400" dirty="0">
                  <a:solidFill>
                    <a:srgbClr val="C00000"/>
                  </a:solidFill>
                </a:rPr>
                <a:t>变量</a:t>
              </a: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5946162"/>
                </p:ext>
              </p:extLst>
            </p:nvPr>
          </p:nvGraphicFramePr>
          <p:xfrm>
            <a:off x="6820958" y="5644684"/>
            <a:ext cx="769937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41" name="Equation" r:id="rId17" imgW="330120" imgH="139680" progId="Equation.DSMT4">
                    <p:embed/>
                  </p:oleObj>
                </mc:Choice>
                <mc:Fallback>
                  <p:oleObj name="Equation" r:id="rId17" imgW="330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820958" y="5644684"/>
                          <a:ext cx="769937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7997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4" grpId="0" animBg="1"/>
      <p:bldP spid="55" grpId="0" animBg="1"/>
      <p:bldP spid="5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lvl="0"/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                  3.3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线性方程组解的判定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781963" y="1160704"/>
            <a:ext cx="652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dirty="0" smtClean="0">
                <a:solidFill>
                  <a:srgbClr val="0000FF"/>
                </a:solidFill>
              </a:rPr>
              <a:t>2  </a:t>
            </a:r>
            <a:r>
              <a:rPr lang="zh-CN" altLang="en-US" sz="2400" dirty="0" smtClean="0">
                <a:solidFill>
                  <a:srgbClr val="0000FF"/>
                </a:solidFill>
              </a:rPr>
              <a:t>齐次线性方程组</a:t>
            </a:r>
            <a:r>
              <a:rPr lang="zh-CN" altLang="en-US" sz="2400" dirty="0">
                <a:solidFill>
                  <a:srgbClr val="0000FF"/>
                </a:solidFill>
              </a:rPr>
              <a:t>解的判定定理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335842"/>
              </p:ext>
            </p:extLst>
          </p:nvPr>
        </p:nvGraphicFramePr>
        <p:xfrm>
          <a:off x="1509476" y="1754024"/>
          <a:ext cx="433493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" name="Equation" r:id="rId3" imgW="1562100" imgH="215900" progId="Equation.DSMT4">
                  <p:embed/>
                </p:oleObj>
              </mc:Choice>
              <mc:Fallback>
                <p:oleObj name="Equation" r:id="rId3" imgW="1562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476" y="1754024"/>
                        <a:ext cx="433493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949108"/>
              </p:ext>
            </p:extLst>
          </p:nvPr>
        </p:nvGraphicFramePr>
        <p:xfrm>
          <a:off x="1234766" y="2616146"/>
          <a:ext cx="9147175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1" name="Equation" r:id="rId5" imgW="2692080" imgH="253800" progId="Equation.DSMT4">
                  <p:embed/>
                </p:oleObj>
              </mc:Choice>
              <mc:Fallback>
                <p:oleObj name="Equation" r:id="rId5" imgW="26920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4766" y="2616146"/>
                        <a:ext cx="9147175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009337"/>
              </p:ext>
            </p:extLst>
          </p:nvPr>
        </p:nvGraphicFramePr>
        <p:xfrm>
          <a:off x="1232385" y="3389915"/>
          <a:ext cx="9151938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2" name="Equation" r:id="rId7" imgW="2705040" imgH="253800" progId="Equation.DSMT4">
                  <p:embed/>
                </p:oleObj>
              </mc:Choice>
              <mc:Fallback>
                <p:oleObj name="Equation" r:id="rId7" imgW="27050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2385" y="3389915"/>
                        <a:ext cx="9151938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横卷形 19"/>
          <p:cNvSpPr/>
          <p:nvPr/>
        </p:nvSpPr>
        <p:spPr>
          <a:xfrm>
            <a:off x="5808354" y="1503526"/>
            <a:ext cx="4838626" cy="863600"/>
          </a:xfrm>
          <a:prstGeom prst="horizontalScroll">
            <a:avLst/>
          </a:prstGeom>
          <a:solidFill>
            <a:schemeClr val="accent6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齐次线性方程组一定有</a:t>
            </a:r>
            <a:r>
              <a:rPr lang="zh-CN" altLang="en-US" sz="3200" dirty="0" smtClean="0">
                <a:solidFill>
                  <a:srgbClr val="FF0000"/>
                </a:solidFill>
              </a:rPr>
              <a:t>解</a:t>
            </a:r>
            <a:r>
              <a:rPr lang="en-US" altLang="zh-CN" sz="3200" dirty="0" smtClean="0">
                <a:solidFill>
                  <a:srgbClr val="FF0000"/>
                </a:solidFill>
              </a:rPr>
              <a:t>.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808221"/>
              </p:ext>
            </p:extLst>
          </p:nvPr>
        </p:nvGraphicFramePr>
        <p:xfrm>
          <a:off x="1008993" y="4994881"/>
          <a:ext cx="9416558" cy="521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" name="Equation" r:id="rId9" imgW="3200400" imgH="228600" progId="Equation.DSMT4">
                  <p:embed/>
                </p:oleObj>
              </mc:Choice>
              <mc:Fallback>
                <p:oleObj name="Equation" r:id="rId9" imgW="3200400" imgH="2286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993" y="4994881"/>
                        <a:ext cx="9416558" cy="5210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3076" y="4226739"/>
            <a:ext cx="1345324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思考题</a:t>
            </a:r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500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1"/>
          <p:cNvGrpSpPr>
            <a:grpSpLocks/>
          </p:cNvGrpSpPr>
          <p:nvPr/>
        </p:nvGrpSpPr>
        <p:grpSpPr bwMode="auto">
          <a:xfrm>
            <a:off x="776818" y="981076"/>
            <a:ext cx="10517716" cy="1414463"/>
            <a:chOff x="582613" y="1013104"/>
            <a:chExt cx="7888287" cy="1414525"/>
          </a:xfrm>
        </p:grpSpPr>
        <p:sp>
          <p:nvSpPr>
            <p:cNvPr id="14354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7888287" cy="646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>
                  <a:solidFill>
                    <a:schemeClr val="accent2"/>
                  </a:solidFill>
                </a:rPr>
                <a:t>例</a:t>
              </a:r>
              <a:r>
                <a:rPr lang="en-US" altLang="zh-CN" sz="2400">
                  <a:solidFill>
                    <a:schemeClr val="accent2"/>
                  </a:solidFill>
                </a:rPr>
                <a:t>4   </a:t>
              </a:r>
              <a:r>
                <a:rPr lang="zh-CN" altLang="en-US" sz="2400"/>
                <a:t>解线性方程组</a:t>
              </a:r>
            </a:p>
          </p:txBody>
        </p:sp>
        <p:graphicFrame>
          <p:nvGraphicFramePr>
            <p:cNvPr id="14355" name="Object 3"/>
            <p:cNvGraphicFramePr>
              <a:graphicFrameLocks noChangeAspect="1"/>
            </p:cNvGraphicFramePr>
            <p:nvPr/>
          </p:nvGraphicFramePr>
          <p:xfrm>
            <a:off x="3491880" y="1013104"/>
            <a:ext cx="2287588" cy="1414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98" name="Equation" r:id="rId3" imgW="1155700" imgH="711200" progId="Equation.DSMT4">
                    <p:embed/>
                  </p:oleObj>
                </mc:Choice>
                <mc:Fallback>
                  <p:oleObj name="Equation" r:id="rId3" imgW="11557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880" y="1013104"/>
                          <a:ext cx="2287588" cy="1414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39" name="Text Box 4"/>
          <p:cNvSpPr txBox="1">
            <a:spLocks noChangeArrowheads="1"/>
          </p:cNvSpPr>
          <p:nvPr/>
        </p:nvSpPr>
        <p:spPr bwMode="auto">
          <a:xfrm>
            <a:off x="952500" y="2083968"/>
            <a:ext cx="6499334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200000"/>
              </a:lnSpc>
            </a:pPr>
            <a:r>
              <a:rPr lang="zh-CN" altLang="en-US" sz="2400" dirty="0"/>
              <a:t>解</a:t>
            </a:r>
            <a:r>
              <a:rPr lang="zh-CN" altLang="en-US" sz="2400" dirty="0" smtClean="0"/>
              <a:t>：</a:t>
            </a:r>
            <a:r>
              <a:rPr lang="zh-CN" altLang="en-US" sz="2000" b="0" dirty="0" smtClean="0">
                <a:solidFill>
                  <a:prstClr val="black"/>
                </a:solidFill>
                <a:latin typeface="Calibri"/>
                <a:ea typeface="宋体"/>
              </a:rPr>
              <a:t>对齐次方程组的</a:t>
            </a:r>
            <a:r>
              <a:rPr lang="zh-CN" altLang="en-US" sz="2000" b="0" dirty="0">
                <a:solidFill>
                  <a:prstClr val="black"/>
                </a:solidFill>
                <a:latin typeface="Calibri"/>
                <a:ea typeface="宋体"/>
              </a:rPr>
              <a:t>系数</a:t>
            </a:r>
            <a:r>
              <a:rPr lang="zh-CN" altLang="en-US" sz="2000" b="0" dirty="0" smtClean="0">
                <a:solidFill>
                  <a:prstClr val="black"/>
                </a:solidFill>
                <a:latin typeface="Calibri"/>
                <a:ea typeface="宋体"/>
              </a:rPr>
              <a:t>矩阵</a:t>
            </a:r>
            <a:r>
              <a:rPr lang="zh-CN" altLang="en-US" sz="2000" b="0" dirty="0">
                <a:solidFill>
                  <a:prstClr val="black"/>
                </a:solidFill>
                <a:latin typeface="Calibri"/>
                <a:ea typeface="宋体"/>
              </a:rPr>
              <a:t>施以行的初等变换得</a:t>
            </a:r>
            <a:r>
              <a:rPr lang="zh-CN" altLang="en-US" sz="2400" dirty="0" smtClean="0"/>
              <a:t>                                       </a:t>
            </a:r>
            <a:endParaRPr lang="zh-CN" altLang="en-US" sz="2400" dirty="0"/>
          </a:p>
          <a:p>
            <a:pPr algn="just" eaLnBrk="1" hangingPunct="1">
              <a:lnSpc>
                <a:spcPct val="200000"/>
              </a:lnSpc>
            </a:pPr>
            <a:endParaRPr lang="zh-CN" altLang="en-US" sz="2400" dirty="0"/>
          </a:p>
        </p:txBody>
      </p:sp>
      <p:sp>
        <p:nvSpPr>
          <p:cNvPr id="14340" name="Rectangle 7"/>
          <p:cNvSpPr>
            <a:spLocks noChangeArrowheads="1"/>
          </p:cNvSpPr>
          <p:nvPr/>
        </p:nvSpPr>
        <p:spPr bwMode="auto">
          <a:xfrm>
            <a:off x="-116417" y="-64345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93230" y="2868193"/>
            <a:ext cx="7909983" cy="1416050"/>
            <a:chOff x="1019837" y="3612949"/>
            <a:chExt cx="5382799" cy="1416050"/>
          </a:xfrm>
        </p:grpSpPr>
        <p:graphicFrame>
          <p:nvGraphicFramePr>
            <p:cNvPr id="1435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8050278"/>
                </p:ext>
              </p:extLst>
            </p:nvPr>
          </p:nvGraphicFramePr>
          <p:xfrm>
            <a:off x="1019837" y="3612949"/>
            <a:ext cx="5382799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99" name="Equation" r:id="rId5" imgW="3251200" imgH="711200" progId="Equation.DSMT4">
                    <p:embed/>
                  </p:oleObj>
                </mc:Choice>
                <mc:Fallback>
                  <p:oleObj name="Equation" r:id="rId5" imgW="32512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9837" y="3612949"/>
                          <a:ext cx="5382799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2" name="Object 3"/>
            <p:cNvGraphicFramePr>
              <a:graphicFrameLocks noChangeAspect="1"/>
            </p:cNvGraphicFramePr>
            <p:nvPr/>
          </p:nvGraphicFramePr>
          <p:xfrm>
            <a:off x="2890876" y="3702741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00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0876" y="3702741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3" name="Object 3"/>
            <p:cNvGraphicFramePr>
              <a:graphicFrameLocks noChangeAspect="1"/>
            </p:cNvGraphicFramePr>
            <p:nvPr/>
          </p:nvGraphicFramePr>
          <p:xfrm>
            <a:off x="4635031" y="3701635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01" name="Equation" r:id="rId9" imgW="114102" imgH="126780" progId="Equation.DSMT4">
                    <p:embed/>
                  </p:oleObj>
                </mc:Choice>
                <mc:Fallback>
                  <p:oleObj name="Equation" r:id="rId9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5031" y="3701635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2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3.3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线性方程组解的判定</a:t>
            </a:r>
            <a:endParaRPr lang="zh-CN" altLang="en-US" sz="2000" dirty="0"/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776818" y="5180017"/>
            <a:ext cx="4296640" cy="1297784"/>
            <a:chOff x="226613" y="4923919"/>
            <a:chExt cx="3222855" cy="2053798"/>
          </a:xfrm>
        </p:grpSpPr>
        <p:sp>
          <p:nvSpPr>
            <p:cNvPr id="14349" name="Text Box 4"/>
            <p:cNvSpPr txBox="1">
              <a:spLocks noChangeArrowheads="1"/>
            </p:cNvSpPr>
            <p:nvPr/>
          </p:nvSpPr>
          <p:spPr bwMode="auto">
            <a:xfrm>
              <a:off x="226613" y="5110850"/>
              <a:ext cx="2064672" cy="1679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 dirty="0"/>
                <a:t>还原</a:t>
              </a:r>
              <a:r>
                <a:rPr lang="zh-CN" altLang="en-US" sz="2400" dirty="0" smtClean="0"/>
                <a:t>方程组</a:t>
              </a:r>
              <a:r>
                <a:rPr lang="zh-CN" altLang="en-US" sz="2400" dirty="0"/>
                <a:t>为：                                       </a:t>
              </a: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 dirty="0"/>
            </a:p>
          </p:txBody>
        </p:sp>
        <p:graphicFrame>
          <p:nvGraphicFramePr>
            <p:cNvPr id="1435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0064413"/>
                </p:ext>
              </p:extLst>
            </p:nvPr>
          </p:nvGraphicFramePr>
          <p:xfrm>
            <a:off x="1904965" y="4923919"/>
            <a:ext cx="1544503" cy="20537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02" name="Equation" r:id="rId10" imgW="672840" imgH="838080" progId="Equation.DSMT4">
                    <p:embed/>
                  </p:oleObj>
                </mc:Choice>
                <mc:Fallback>
                  <p:oleObj name="Equation" r:id="rId10" imgW="672840" imgH="838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4965" y="4923919"/>
                          <a:ext cx="1544503" cy="20537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4043910" y="5071176"/>
            <a:ext cx="6722778" cy="1416050"/>
            <a:chOff x="744304" y="5362928"/>
            <a:chExt cx="5042349" cy="1416050"/>
          </a:xfrm>
        </p:grpSpPr>
        <p:sp>
          <p:nvSpPr>
            <p:cNvPr id="14347" name="Text Box 4"/>
            <p:cNvSpPr txBox="1">
              <a:spLocks noChangeArrowheads="1"/>
            </p:cNvSpPr>
            <p:nvPr/>
          </p:nvSpPr>
          <p:spPr bwMode="auto">
            <a:xfrm>
              <a:off x="744304" y="5589240"/>
              <a:ext cx="4979824" cy="7850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 dirty="0" smtClean="0"/>
                <a:t>          得</a:t>
              </a:r>
              <a:r>
                <a:rPr lang="zh-CN" altLang="en-US" sz="2400" dirty="0"/>
                <a:t>通解         </a:t>
              </a:r>
            </a:p>
          </p:txBody>
        </p:sp>
        <p:graphicFrame>
          <p:nvGraphicFramePr>
            <p:cNvPr id="1434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2966505"/>
                </p:ext>
              </p:extLst>
            </p:nvPr>
          </p:nvGraphicFramePr>
          <p:xfrm>
            <a:off x="2268171" y="5362928"/>
            <a:ext cx="3518482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03" name="Equation" r:id="rId12" imgW="1752480" imgH="711000" progId="Equation.DSMT4">
                    <p:embed/>
                  </p:oleObj>
                </mc:Choice>
                <mc:Fallback>
                  <p:oleObj name="Equation" r:id="rId12" imgW="175248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171" y="5362928"/>
                          <a:ext cx="3518482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648097"/>
              </p:ext>
            </p:extLst>
          </p:nvPr>
        </p:nvGraphicFramePr>
        <p:xfrm>
          <a:off x="1596258" y="4503935"/>
          <a:ext cx="2839108" cy="444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04" name="Equation" r:id="rId14" imgW="1295280" imgH="203040" progId="Equation.DSMT4">
                  <p:embed/>
                </p:oleObj>
              </mc:Choice>
              <mc:Fallback>
                <p:oleObj name="Equation" r:id="rId14" imgW="1295280" imgH="20304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6258" y="4503935"/>
                        <a:ext cx="2839108" cy="444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4681728" y="4488657"/>
            <a:ext cx="41890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 dirty="0" smtClean="0">
                <a:solidFill>
                  <a:prstClr val="black"/>
                </a:solidFill>
              </a:rPr>
              <a:t>有 </a:t>
            </a:r>
            <a:r>
              <a:rPr lang="en-US" altLang="zh-CN" sz="2400" dirty="0" smtClean="0">
                <a:solidFill>
                  <a:prstClr val="black"/>
                </a:solidFill>
              </a:rPr>
              <a:t>1 </a:t>
            </a:r>
            <a:r>
              <a:rPr lang="zh-CN" altLang="en-US" sz="2400" dirty="0" smtClean="0">
                <a:solidFill>
                  <a:prstClr val="black"/>
                </a:solidFill>
              </a:rPr>
              <a:t>个</a:t>
            </a:r>
            <a:r>
              <a:rPr lang="zh-CN" altLang="en-US" sz="2400" dirty="0" smtClean="0">
                <a:solidFill>
                  <a:srgbClr val="FF0000"/>
                </a:solidFill>
              </a:rPr>
              <a:t>自由变量，有非零解。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74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组合 1"/>
          <p:cNvGrpSpPr>
            <a:grpSpLocks/>
          </p:cNvGrpSpPr>
          <p:nvPr/>
        </p:nvGrpSpPr>
        <p:grpSpPr bwMode="auto">
          <a:xfrm>
            <a:off x="776818" y="1047750"/>
            <a:ext cx="10517716" cy="2111376"/>
            <a:chOff x="582613" y="1007844"/>
            <a:chExt cx="7888287" cy="2111137"/>
          </a:xfrm>
        </p:grpSpPr>
        <p:sp>
          <p:nvSpPr>
            <p:cNvPr id="15369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7888287" cy="1754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>
                  <a:solidFill>
                    <a:schemeClr val="accent2"/>
                  </a:solidFill>
                </a:rPr>
                <a:t>5   </a:t>
              </a:r>
              <a:r>
                <a:rPr lang="zh-CN" altLang="en-US" sz="2400" dirty="0"/>
                <a:t>讨论</a:t>
              </a:r>
              <a:r>
                <a:rPr lang="zh-CN" altLang="en-US" sz="2400" dirty="0" smtClean="0"/>
                <a:t>线性方程组                                </a:t>
              </a:r>
              <a:r>
                <a:rPr lang="zh-CN" altLang="en-US" sz="2400" dirty="0"/>
                <a:t>，当   取何值时</a:t>
              </a:r>
              <a:endParaRPr lang="en-US" altLang="zh-CN" sz="2400" dirty="0"/>
            </a:p>
            <a:p>
              <a:pPr algn="just" eaLnBrk="1" hangingPunct="1">
                <a:lnSpc>
                  <a:spcPct val="150000"/>
                </a:lnSpc>
              </a:pPr>
              <a:endParaRPr lang="en-US" altLang="zh-CN" sz="2400" dirty="0"/>
            </a:p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/>
                <a:t>方程组有唯一解？无穷解？无解？并在无穷解时</a:t>
              </a:r>
              <a:r>
                <a:rPr lang="zh-CN" altLang="en-US" sz="2400" dirty="0" smtClean="0"/>
                <a:t>求解。</a:t>
              </a:r>
              <a:endParaRPr lang="zh-CN" altLang="en-US" sz="2400" dirty="0"/>
            </a:p>
          </p:txBody>
        </p:sp>
        <p:graphicFrame>
          <p:nvGraphicFramePr>
            <p:cNvPr id="1537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3256303"/>
                </p:ext>
              </p:extLst>
            </p:nvPr>
          </p:nvGraphicFramePr>
          <p:xfrm>
            <a:off x="2949178" y="1007844"/>
            <a:ext cx="2235994" cy="1465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32" name="Equation" r:id="rId3" imgW="1130040" imgH="736560" progId="Equation.DSMT4">
                    <p:embed/>
                  </p:oleObj>
                </mc:Choice>
                <mc:Fallback>
                  <p:oleObj name="Equation" r:id="rId3" imgW="1130040" imgH="736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9178" y="1007844"/>
                          <a:ext cx="2235994" cy="14650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1677550"/>
                </p:ext>
              </p:extLst>
            </p:nvPr>
          </p:nvGraphicFramePr>
          <p:xfrm>
            <a:off x="5891212" y="1533248"/>
            <a:ext cx="276225" cy="3539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33" name="Equation" r:id="rId5" imgW="139680" imgH="177480" progId="Equation.DSMT4">
                    <p:embed/>
                  </p:oleObj>
                </mc:Choice>
                <mc:Fallback>
                  <p:oleObj name="Equation" r:id="rId5" imgW="1396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1212" y="1533248"/>
                          <a:ext cx="276225" cy="3539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3" name="Rectangle 7"/>
          <p:cNvSpPr>
            <a:spLocks noChangeArrowheads="1"/>
          </p:cNvSpPr>
          <p:nvPr/>
        </p:nvSpPr>
        <p:spPr bwMode="auto">
          <a:xfrm>
            <a:off x="-116417" y="-64345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4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3.3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线性方程组解的判定</a:t>
            </a:r>
            <a:endParaRPr lang="zh-CN" alt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1047751" y="3429001"/>
            <a:ext cx="9984316" cy="12414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</a:rPr>
              <a:t>解法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zh-CN" altLang="en-US" sz="2400" dirty="0"/>
              <a:t>：利用非齐次线性方程组</a:t>
            </a:r>
            <a:r>
              <a:rPr lang="zh-CN" altLang="en-US" sz="2400" dirty="0">
                <a:solidFill>
                  <a:schemeClr val="tx1"/>
                </a:solidFill>
              </a:rPr>
              <a:t>解的判定定理</a:t>
            </a:r>
            <a:r>
              <a:rPr lang="zh-CN" altLang="en-US" sz="2400" dirty="0"/>
              <a:t>，通过</a:t>
            </a:r>
            <a:r>
              <a:rPr lang="zh-CN" altLang="en-US" sz="2400" dirty="0" smtClean="0"/>
              <a:t>增广矩阵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FF0000"/>
                </a:solidFill>
              </a:rPr>
              <a:t>初等行变换</a:t>
            </a:r>
            <a:r>
              <a:rPr lang="zh-CN" altLang="en-US" sz="2400" dirty="0"/>
              <a:t>进行讨论</a:t>
            </a:r>
            <a:endParaRPr lang="en-US" altLang="zh-CN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007534" y="5229225"/>
            <a:ext cx="9984317" cy="1187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lnSpc>
                <a:spcPct val="170000"/>
              </a:lnSpc>
              <a:defRPr/>
            </a:pP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</a:rPr>
              <a:t>解法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2400" dirty="0"/>
              <a:t>：利用克拉默法则，通过</a:t>
            </a:r>
            <a:r>
              <a:rPr lang="zh-CN" altLang="en-US" sz="2400" dirty="0">
                <a:solidFill>
                  <a:srgbClr val="FF0000"/>
                </a:solidFill>
              </a:rPr>
              <a:t>系数行列式</a:t>
            </a:r>
            <a:r>
              <a:rPr lang="zh-CN" altLang="en-US" sz="2400" dirty="0"/>
              <a:t>计算结果</a:t>
            </a:r>
            <a:r>
              <a:rPr lang="zh-CN" altLang="en-US" sz="2400" dirty="0" smtClean="0"/>
              <a:t>进行</a:t>
            </a:r>
            <a:r>
              <a:rPr lang="zh-CN" altLang="en-US" sz="2400" dirty="0"/>
              <a:t>讨论，从唯一解入手 </a:t>
            </a:r>
            <a:endParaRPr lang="en-US" altLang="zh-CN" sz="2400" dirty="0"/>
          </a:p>
        </p:txBody>
      </p:sp>
      <p:sp>
        <p:nvSpPr>
          <p:cNvPr id="6" name="七角星 5"/>
          <p:cNvSpPr/>
          <p:nvPr/>
        </p:nvSpPr>
        <p:spPr>
          <a:xfrm>
            <a:off x="9552517" y="5876925"/>
            <a:ext cx="1336200" cy="647700"/>
          </a:xfrm>
          <a:prstGeom prst="star7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/>
              <a:t>特殊</a:t>
            </a:r>
          </a:p>
        </p:txBody>
      </p:sp>
      <p:sp>
        <p:nvSpPr>
          <p:cNvPr id="29" name="七角星 28"/>
          <p:cNvSpPr/>
          <p:nvPr/>
        </p:nvSpPr>
        <p:spPr>
          <a:xfrm>
            <a:off x="9501717" y="4221163"/>
            <a:ext cx="1387000" cy="647700"/>
          </a:xfrm>
          <a:prstGeom prst="star7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/>
              <a:t>一般</a:t>
            </a:r>
          </a:p>
        </p:txBody>
      </p:sp>
    </p:spTree>
    <p:extLst>
      <p:ext uri="{BB962C8B-B14F-4D97-AF65-F5344CB8AC3E}">
        <p14:creationId xmlns:p14="http://schemas.microsoft.com/office/powerpoint/2010/main" val="293230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6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3766" y="161741"/>
            <a:ext cx="5003640" cy="626535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 3.3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线性方程组解的判定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1434" y="1439918"/>
            <a:ext cx="11645462" cy="4842149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 smtClean="0">
                <a:solidFill>
                  <a:srgbClr val="ED7D31"/>
                </a:solidFill>
              </a:rPr>
              <a:t>例</a:t>
            </a:r>
            <a:r>
              <a:rPr lang="en-US" altLang="zh-CN" b="1" dirty="0" smtClean="0">
                <a:solidFill>
                  <a:srgbClr val="ED7D31"/>
                </a:solidFill>
              </a:rPr>
              <a:t>6  </a:t>
            </a:r>
            <a:r>
              <a:rPr lang="zh-CN" altLang="en-US" sz="2400" dirty="0" smtClean="0"/>
              <a:t>设</a:t>
            </a:r>
            <a:r>
              <a:rPr lang="zh-CN" altLang="en-US" dirty="0" smtClean="0"/>
              <a:t>                                                               </a:t>
            </a:r>
            <a:r>
              <a:rPr lang="zh-CN" altLang="en-US" sz="2400" dirty="0" smtClean="0">
                <a:solidFill>
                  <a:prstClr val="black"/>
                </a:solidFill>
              </a:rPr>
              <a:t>求系列线性方程组                                 的解。</a:t>
            </a:r>
            <a:endParaRPr lang="zh-CN" altLang="en-US" sz="24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r>
              <a:rPr lang="zh-CN" altLang="en-US" sz="2400" dirty="0" smtClean="0"/>
              <a:t>解</a:t>
            </a:r>
            <a:r>
              <a:rPr lang="zh-CN" altLang="en-US" sz="2400" dirty="0" smtClean="0"/>
              <a:t>：设                                               ，得矩阵方程                          </a:t>
            </a: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 smtClean="0"/>
              <a:t>可</a:t>
            </a:r>
            <a:r>
              <a:rPr lang="zh-CN" altLang="en-US" sz="2400" dirty="0" smtClean="0"/>
              <a:t>得</a:t>
            </a:r>
            <a:endParaRPr lang="en-US" altLang="zh-CN" sz="2400" dirty="0" smtClean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126969"/>
              </p:ext>
            </p:extLst>
          </p:nvPr>
        </p:nvGraphicFramePr>
        <p:xfrm>
          <a:off x="9231806" y="1379645"/>
          <a:ext cx="2213960" cy="45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8" name="Equation" r:id="rId3" imgW="1155600" imgH="228600" progId="Equation.DSMT4">
                  <p:embed/>
                </p:oleObj>
              </mc:Choice>
              <mc:Fallback>
                <p:oleObj name="Equation" r:id="rId3" imgW="1155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31806" y="1379645"/>
                        <a:ext cx="2213960" cy="459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888111"/>
              </p:ext>
            </p:extLst>
          </p:nvPr>
        </p:nvGraphicFramePr>
        <p:xfrm>
          <a:off x="1568725" y="999052"/>
          <a:ext cx="4903787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9" name="Equation" r:id="rId5" imgW="2450880" imgH="711000" progId="Equation.DSMT4">
                  <p:embed/>
                </p:oleObj>
              </mc:Choice>
              <mc:Fallback>
                <p:oleObj name="Equation" r:id="rId5" imgW="24508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68725" y="999052"/>
                        <a:ext cx="4903787" cy="15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8565932" y="2365397"/>
            <a:ext cx="3289738" cy="2289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  <a:defRPr/>
            </a:pPr>
            <a:r>
              <a:rPr lang="zh-CN" altLang="en-US" b="1" dirty="0" smtClean="0"/>
              <a:t>注：</a:t>
            </a:r>
            <a:r>
              <a:rPr lang="zh-CN" altLang="en-US" sz="2000" dirty="0" smtClean="0"/>
              <a:t>矩阵方程                   </a:t>
            </a:r>
            <a:r>
              <a:rPr lang="zh-CN" altLang="en-US" sz="2000" dirty="0" smtClean="0"/>
              <a:t> </a:t>
            </a:r>
            <a:r>
              <a:rPr lang="zh-CN" altLang="en-US" sz="2000" dirty="0" smtClean="0"/>
              <a:t>是同系数矩阵系列线性方程组的合成，有  </a:t>
            </a:r>
            <a:endParaRPr lang="en-US" altLang="zh-CN" sz="2000" dirty="0"/>
          </a:p>
          <a:p>
            <a:pPr>
              <a:lnSpc>
                <a:spcPct val="170000"/>
              </a:lnSpc>
              <a:defRPr/>
            </a:pPr>
            <a:r>
              <a:rPr lang="zh-CN" altLang="en-US" sz="2400" b="1" dirty="0" smtClean="0">
                <a:solidFill>
                  <a:srgbClr val="FF0000"/>
                </a:solidFill>
              </a:rPr>
              <a:t>矩阵方程                 有解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906360"/>
              </p:ext>
            </p:extLst>
          </p:nvPr>
        </p:nvGraphicFramePr>
        <p:xfrm>
          <a:off x="1495809" y="2396928"/>
          <a:ext cx="298291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0" name="Equation" r:id="rId7" imgW="1752480" imgH="253800" progId="Equation.DSMT4">
                  <p:embed/>
                </p:oleObj>
              </mc:Choice>
              <mc:Fallback>
                <p:oleObj name="Equation" r:id="rId7" imgW="1752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95809" y="2396928"/>
                        <a:ext cx="2982912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617788"/>
              </p:ext>
            </p:extLst>
          </p:nvPr>
        </p:nvGraphicFramePr>
        <p:xfrm>
          <a:off x="6544935" y="2396928"/>
          <a:ext cx="1285272" cy="349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1" name="Equation" r:id="rId9" imgW="545760" imgH="177480" progId="Equation.DSMT4">
                  <p:embed/>
                </p:oleObj>
              </mc:Choice>
              <mc:Fallback>
                <p:oleObj name="Equation" r:id="rId9" imgW="545760" imgH="17748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4935" y="2396928"/>
                        <a:ext cx="1285272" cy="349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131344"/>
              </p:ext>
            </p:extLst>
          </p:nvPr>
        </p:nvGraphicFramePr>
        <p:xfrm>
          <a:off x="10263352" y="2554583"/>
          <a:ext cx="919655" cy="339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2" name="Equation" r:id="rId11" imgW="520560" imgH="164880" progId="Equation.DSMT4">
                  <p:embed/>
                </p:oleObj>
              </mc:Choice>
              <mc:Fallback>
                <p:oleObj name="Equation" r:id="rId11" imgW="520560" imgH="16488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3352" y="2554583"/>
                        <a:ext cx="919655" cy="339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01363"/>
              </p:ext>
            </p:extLst>
          </p:nvPr>
        </p:nvGraphicFramePr>
        <p:xfrm>
          <a:off x="9980010" y="4075042"/>
          <a:ext cx="11350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3" name="Equation" r:id="rId13" imgW="520560" imgH="164880" progId="Equation.DSMT4">
                  <p:embed/>
                </p:oleObj>
              </mc:Choice>
              <mc:Fallback>
                <p:oleObj name="Equation" r:id="rId13" imgW="520560" imgH="16488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0010" y="4075042"/>
                        <a:ext cx="11350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870222"/>
              </p:ext>
            </p:extLst>
          </p:nvPr>
        </p:nvGraphicFramePr>
        <p:xfrm>
          <a:off x="8676836" y="4546950"/>
          <a:ext cx="3173031" cy="51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4" name="Equation" r:id="rId15" imgW="1206360" imgH="203040" progId="Equation.DSMT4">
                  <p:embed/>
                </p:oleObj>
              </mc:Choice>
              <mc:Fallback>
                <p:oleObj name="Equation" r:id="rId15" imgW="1206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676836" y="4546950"/>
                        <a:ext cx="3173031" cy="517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662606"/>
              </p:ext>
            </p:extLst>
          </p:nvPr>
        </p:nvGraphicFramePr>
        <p:xfrm>
          <a:off x="945928" y="3005959"/>
          <a:ext cx="7115507" cy="1397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5" name="Equation" r:id="rId17" imgW="3416040" imgH="736560" progId="Equation.DSMT4">
                  <p:embed/>
                </p:oleObj>
              </mc:Choice>
              <mc:Fallback>
                <p:oleObj name="Equation" r:id="rId17" imgW="34160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45928" y="3005959"/>
                        <a:ext cx="7115507" cy="1397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367509"/>
              </p:ext>
            </p:extLst>
          </p:nvPr>
        </p:nvGraphicFramePr>
        <p:xfrm>
          <a:off x="1474514" y="4614040"/>
          <a:ext cx="3107996" cy="153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6" name="Equation" r:id="rId19" imgW="1346040" imgH="711000" progId="Equation.DSMT4">
                  <p:embed/>
                </p:oleObj>
              </mc:Choice>
              <mc:Fallback>
                <p:oleObj name="Equation" r:id="rId19" imgW="13460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74514" y="4614040"/>
                        <a:ext cx="3107996" cy="1534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139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3.3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线性方程组解的判定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5" y="1324253"/>
            <a:ext cx="1944858" cy="696036"/>
            <a:chOff x="745588" y="1310185"/>
            <a:chExt cx="194485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903849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判定定理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321169" y="1393928"/>
            <a:ext cx="8068347" cy="461665"/>
            <a:chOff x="2515509" y="1442959"/>
            <a:chExt cx="8068347" cy="461665"/>
          </a:xfrm>
        </p:grpSpPr>
        <p:sp>
          <p:nvSpPr>
            <p:cNvPr id="30" name="文本框 29"/>
            <p:cNvSpPr txBox="1"/>
            <p:nvPr/>
          </p:nvSpPr>
          <p:spPr>
            <a:xfrm>
              <a:off x="2515509" y="1442959"/>
              <a:ext cx="80683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设线性方程组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Ax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Ax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有解        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)=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7677105"/>
                </p:ext>
              </p:extLst>
            </p:nvPr>
          </p:nvGraphicFramePr>
          <p:xfrm>
            <a:off x="7415632" y="1476526"/>
            <a:ext cx="606472" cy="428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5" name="Equation" r:id="rId3" imgW="215640" imgH="152280" progId="Equation.DSMT4">
                    <p:embed/>
                  </p:oleObj>
                </mc:Choice>
                <mc:Fallback>
                  <p:oleObj name="Equation" r:id="rId3" imgW="215640" imgH="152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415632" y="1476526"/>
                          <a:ext cx="606472" cy="42809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520505" y="2824420"/>
            <a:ext cx="1944858" cy="696036"/>
            <a:chOff x="745588" y="1310185"/>
            <a:chExt cx="194485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圆角矩形 9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03849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判定定理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623624" y="2612907"/>
            <a:ext cx="8068347" cy="487694"/>
            <a:chOff x="2515509" y="1474525"/>
            <a:chExt cx="8068347" cy="487694"/>
          </a:xfrm>
        </p:grpSpPr>
        <p:sp>
          <p:nvSpPr>
            <p:cNvPr id="13" name="文本框 12"/>
            <p:cNvSpPr txBox="1"/>
            <p:nvPr/>
          </p:nvSpPr>
          <p:spPr>
            <a:xfrm>
              <a:off x="2515509" y="1474525"/>
              <a:ext cx="80683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Ax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唯一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        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)=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)=r=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未知量个数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).</a:t>
              </a:r>
              <a:endPara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4793602"/>
                </p:ext>
              </p:extLst>
            </p:nvPr>
          </p:nvGraphicFramePr>
          <p:xfrm>
            <a:off x="4770569" y="1534121"/>
            <a:ext cx="606472" cy="428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6" name="Equation" r:id="rId5" imgW="215640" imgH="152280" progId="Equation.DSMT4">
                    <p:embed/>
                  </p:oleObj>
                </mc:Choice>
                <mc:Fallback>
                  <p:oleObj name="Equation" r:id="rId5" imgW="215640" imgH="152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70569" y="1534121"/>
                          <a:ext cx="606472" cy="42809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/>
          <p:nvPr/>
        </p:nvGrpSpPr>
        <p:grpSpPr>
          <a:xfrm>
            <a:off x="2623624" y="3289624"/>
            <a:ext cx="9195337" cy="461665"/>
            <a:chOff x="2515509" y="1474525"/>
            <a:chExt cx="8068347" cy="461665"/>
          </a:xfrm>
        </p:grpSpPr>
        <p:sp>
          <p:nvSpPr>
            <p:cNvPr id="17" name="文本框 16"/>
            <p:cNvSpPr txBox="1"/>
            <p:nvPr/>
          </p:nvSpPr>
          <p:spPr>
            <a:xfrm>
              <a:off x="2515509" y="1474525"/>
              <a:ext cx="80683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Ax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有无穷多解       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)=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)=r&lt;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此时有</a:t>
              </a:r>
              <a:r>
                <a:rPr lang="zh-CN" altLang="en-US" sz="24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n-r 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个自由未知量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).</a:t>
              </a:r>
              <a:endPara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649077"/>
                </p:ext>
              </p:extLst>
            </p:nvPr>
          </p:nvGraphicFramePr>
          <p:xfrm>
            <a:off x="4663933" y="1508092"/>
            <a:ext cx="606472" cy="428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7" name="Equation" r:id="rId7" imgW="215640" imgH="152280" progId="Equation.DSMT4">
                    <p:embed/>
                  </p:oleObj>
                </mc:Choice>
                <mc:Fallback>
                  <p:oleObj name="Equation" r:id="rId7" imgW="215640" imgH="152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63933" y="1508092"/>
                          <a:ext cx="606472" cy="42809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520505" y="4493283"/>
            <a:ext cx="1944858" cy="696036"/>
            <a:chOff x="745588" y="1310185"/>
            <a:chExt cx="194485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圆角矩形 19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03849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        论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623624" y="4366621"/>
            <a:ext cx="8068347" cy="487694"/>
            <a:chOff x="2515509" y="1474525"/>
            <a:chExt cx="8068347" cy="487694"/>
          </a:xfrm>
        </p:grpSpPr>
        <p:sp>
          <p:nvSpPr>
            <p:cNvPr id="23" name="文本框 22"/>
            <p:cNvSpPr txBox="1"/>
            <p:nvPr/>
          </p:nvSpPr>
          <p:spPr>
            <a:xfrm>
              <a:off x="2515509" y="1474525"/>
              <a:ext cx="80683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Ax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40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只有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零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        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)=r=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</a:t>
              </a:r>
              <a:endPara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5276852"/>
                </p:ext>
              </p:extLst>
            </p:nvPr>
          </p:nvGraphicFramePr>
          <p:xfrm>
            <a:off x="4770569" y="1534121"/>
            <a:ext cx="606472" cy="428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8" name="Equation" r:id="rId8" imgW="215640" imgH="152280" progId="Equation.DSMT4">
                    <p:embed/>
                  </p:oleObj>
                </mc:Choice>
                <mc:Fallback>
                  <p:oleObj name="Equation" r:id="rId8" imgW="215640" imgH="152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70569" y="1534121"/>
                          <a:ext cx="606472" cy="42809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/>
          <p:nvPr/>
        </p:nvGrpSpPr>
        <p:grpSpPr>
          <a:xfrm>
            <a:off x="2623623" y="4977305"/>
            <a:ext cx="8068347" cy="487694"/>
            <a:chOff x="2515509" y="1474525"/>
            <a:chExt cx="8068347" cy="487694"/>
          </a:xfrm>
        </p:grpSpPr>
        <p:sp>
          <p:nvSpPr>
            <p:cNvPr id="26" name="文本框 25"/>
            <p:cNvSpPr txBox="1"/>
            <p:nvPr/>
          </p:nvSpPr>
          <p:spPr>
            <a:xfrm>
              <a:off x="2515509" y="1474525"/>
              <a:ext cx="80683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Ax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40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有非零解        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)=r&lt;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</a:t>
              </a:r>
              <a:endPara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7264498"/>
                </p:ext>
              </p:extLst>
            </p:nvPr>
          </p:nvGraphicFramePr>
          <p:xfrm>
            <a:off x="4770569" y="1534121"/>
            <a:ext cx="606472" cy="428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9" name="Equation" r:id="rId9" imgW="215640" imgH="152280" progId="Equation.DSMT4">
                    <p:embed/>
                  </p:oleObj>
                </mc:Choice>
                <mc:Fallback>
                  <p:oleObj name="Equation" r:id="rId9" imgW="215640" imgH="152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70569" y="1534121"/>
                          <a:ext cx="606472" cy="42809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2321168" y="1976053"/>
            <a:ext cx="8068347" cy="461665"/>
            <a:chOff x="2321168" y="1976053"/>
            <a:chExt cx="8068347" cy="461665"/>
          </a:xfrm>
        </p:grpSpPr>
        <p:sp>
          <p:nvSpPr>
            <p:cNvPr id="28" name="文本框 29"/>
            <p:cNvSpPr txBox="1"/>
            <p:nvPr/>
          </p:nvSpPr>
          <p:spPr>
            <a:xfrm>
              <a:off x="2321168" y="1976053"/>
              <a:ext cx="80683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设线性方程组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Ax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Ax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无解        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)&lt;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8424078"/>
                </p:ext>
              </p:extLst>
            </p:nvPr>
          </p:nvGraphicFramePr>
          <p:xfrm>
            <a:off x="7221292" y="1992836"/>
            <a:ext cx="606472" cy="428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0" name="Equation" r:id="rId10" imgW="215640" imgH="152280" progId="Equation.DSMT4">
                    <p:embed/>
                  </p:oleObj>
                </mc:Choice>
                <mc:Fallback>
                  <p:oleObj name="Equation" r:id="rId10" imgW="215640" imgH="152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221292" y="1992836"/>
                          <a:ext cx="606472" cy="42809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2297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386</Words>
  <Application>Microsoft Office PowerPoint</Application>
  <PresentationFormat>自定义</PresentationFormat>
  <Paragraphs>63</Paragraphs>
  <Slides>10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Office 主题</vt:lpstr>
      <vt:lpstr>1_Office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3.3 线性方程组解的判定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152</cp:revision>
  <dcterms:created xsi:type="dcterms:W3CDTF">2016-07-04T12:59:51Z</dcterms:created>
  <dcterms:modified xsi:type="dcterms:W3CDTF">2018-10-12T09:42:46Z</dcterms:modified>
</cp:coreProperties>
</file>
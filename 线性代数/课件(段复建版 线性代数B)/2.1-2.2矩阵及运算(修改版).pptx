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1"/>
  </p:notesMasterIdLst>
  <p:sldIdLst>
    <p:sldId id="297" r:id="rId3"/>
    <p:sldId id="299" r:id="rId4"/>
    <p:sldId id="300" r:id="rId5"/>
    <p:sldId id="338" r:id="rId6"/>
    <p:sldId id="339" r:id="rId7"/>
    <p:sldId id="340" r:id="rId8"/>
    <p:sldId id="285" r:id="rId9"/>
    <p:sldId id="288" r:id="rId10"/>
    <p:sldId id="295" r:id="rId11"/>
    <p:sldId id="290" r:id="rId12"/>
    <p:sldId id="341" r:id="rId13"/>
    <p:sldId id="291" r:id="rId14"/>
    <p:sldId id="342" r:id="rId15"/>
    <p:sldId id="343" r:id="rId16"/>
    <p:sldId id="344" r:id="rId17"/>
    <p:sldId id="345" r:id="rId18"/>
    <p:sldId id="292" r:id="rId19"/>
    <p:sldId id="346" r:id="rId20"/>
    <p:sldId id="347" r:id="rId21"/>
    <p:sldId id="352" r:id="rId22"/>
    <p:sldId id="348" r:id="rId23"/>
    <p:sldId id="349" r:id="rId24"/>
    <p:sldId id="351" r:id="rId25"/>
    <p:sldId id="334" r:id="rId26"/>
    <p:sldId id="296" r:id="rId27"/>
    <p:sldId id="353" r:id="rId28"/>
    <p:sldId id="354" r:id="rId29"/>
    <p:sldId id="35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FA0000"/>
    <a:srgbClr val="7F7F7F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91" d="100"/>
          <a:sy n="91" d="100"/>
        </p:scale>
        <p:origin x="8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5" Type="http://schemas.openxmlformats.org/officeDocument/2006/relationships/image" Target="../media/image13.w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12" Type="http://schemas.openxmlformats.org/officeDocument/2006/relationships/image" Target="../media/image25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11" Type="http://schemas.openxmlformats.org/officeDocument/2006/relationships/image" Target="../media/image24.emf"/><Relationship Id="rId5" Type="http://schemas.openxmlformats.org/officeDocument/2006/relationships/image" Target="../media/image18.emf"/><Relationship Id="rId10" Type="http://schemas.openxmlformats.org/officeDocument/2006/relationships/image" Target="../media/image23.emf"/><Relationship Id="rId4" Type="http://schemas.openxmlformats.org/officeDocument/2006/relationships/image" Target="../media/image17.emf"/><Relationship Id="rId9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wmf"/><Relationship Id="rId7" Type="http://schemas.openxmlformats.org/officeDocument/2006/relationships/image" Target="../media/image32.emf"/><Relationship Id="rId12" Type="http://schemas.openxmlformats.org/officeDocument/2006/relationships/image" Target="../media/image37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wmf"/><Relationship Id="rId9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18" Type="http://schemas.openxmlformats.org/officeDocument/2006/relationships/image" Target="../media/image97.wmf"/><Relationship Id="rId3" Type="http://schemas.openxmlformats.org/officeDocument/2006/relationships/image" Target="../media/image82.wmf"/><Relationship Id="rId21" Type="http://schemas.openxmlformats.org/officeDocument/2006/relationships/image" Target="../media/image99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17" Type="http://schemas.openxmlformats.org/officeDocument/2006/relationships/image" Target="../media/image96.wmf"/><Relationship Id="rId2" Type="http://schemas.openxmlformats.org/officeDocument/2006/relationships/image" Target="../media/image81.wmf"/><Relationship Id="rId16" Type="http://schemas.openxmlformats.org/officeDocument/2006/relationships/image" Target="../media/image95.wmf"/><Relationship Id="rId20" Type="http://schemas.openxmlformats.org/officeDocument/2006/relationships/image" Target="NULL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5" Type="http://schemas.openxmlformats.org/officeDocument/2006/relationships/image" Target="../media/image94.wmf"/><Relationship Id="rId23" Type="http://schemas.openxmlformats.org/officeDocument/2006/relationships/image" Target="../media/image101.wmf"/><Relationship Id="rId10" Type="http://schemas.openxmlformats.org/officeDocument/2006/relationships/image" Target="../media/image89.wmf"/><Relationship Id="rId19" Type="http://schemas.openxmlformats.org/officeDocument/2006/relationships/image" Target="../media/image98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93.wmf"/><Relationship Id="rId22" Type="http://schemas.openxmlformats.org/officeDocument/2006/relationships/image" Target="../media/image10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3.wmf"/><Relationship Id="rId7" Type="http://schemas.openxmlformats.org/officeDocument/2006/relationships/image" Target="../media/image106.wmf"/><Relationship Id="rId2" Type="http://schemas.openxmlformats.org/officeDocument/2006/relationships/image" Target="../media/image86.wmf"/><Relationship Id="rId1" Type="http://schemas.openxmlformats.org/officeDocument/2006/relationships/image" Target="../media/image102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88.wmf"/><Relationship Id="rId9" Type="http://schemas.openxmlformats.org/officeDocument/2006/relationships/image" Target="../media/image10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10.wmf"/><Relationship Id="rId7" Type="http://schemas.openxmlformats.org/officeDocument/2006/relationships/image" Target="../media/image101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9" Type="http://schemas.openxmlformats.org/officeDocument/2006/relationships/image" Target="../media/image11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10" Type="http://schemas.openxmlformats.org/officeDocument/2006/relationships/image" Target="../media/image131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4" Type="http://schemas.openxmlformats.org/officeDocument/2006/relationships/image" Target="../media/image15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12" Type="http://schemas.openxmlformats.org/officeDocument/2006/relationships/image" Target="../media/image190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11" Type="http://schemas.openxmlformats.org/officeDocument/2006/relationships/image" Target="../media/image189.wmf"/><Relationship Id="rId5" Type="http://schemas.openxmlformats.org/officeDocument/2006/relationships/image" Target="../media/image183.wmf"/><Relationship Id="rId10" Type="http://schemas.openxmlformats.org/officeDocument/2006/relationships/image" Target="../media/image188.wmf"/><Relationship Id="rId4" Type="http://schemas.openxmlformats.org/officeDocument/2006/relationships/image" Target="../media/image182.wmf"/><Relationship Id="rId9" Type="http://schemas.openxmlformats.org/officeDocument/2006/relationships/image" Target="../media/image18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12" Type="http://schemas.openxmlformats.org/officeDocument/2006/relationships/image" Target="../media/image201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11" Type="http://schemas.openxmlformats.org/officeDocument/2006/relationships/image" Target="../media/image13.wmf"/><Relationship Id="rId5" Type="http://schemas.openxmlformats.org/officeDocument/2006/relationships/image" Target="../media/image195.wmf"/><Relationship Id="rId10" Type="http://schemas.openxmlformats.org/officeDocument/2006/relationships/image" Target="../media/image200.wmf"/><Relationship Id="rId4" Type="http://schemas.openxmlformats.org/officeDocument/2006/relationships/image" Target="../media/image194.wmf"/><Relationship Id="rId9" Type="http://schemas.openxmlformats.org/officeDocument/2006/relationships/image" Target="../media/image19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F3917-3F83-411E-AC77-22E419B16E22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BB759-FB8C-4783-AE36-659E65BB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543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第二章 矩阵及其运算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/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               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2.1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矩阵的概念    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2.2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矩阵的运算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62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3413F-5586-4646-A89E-319FB45598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9565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5" name="Picture 9" descr="gl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7" y="260351"/>
            <a:ext cx="2207684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BE8B1-7FDE-4384-978C-6523C8C9BBD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E842-3FF5-4326-9502-8FB865360E5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185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67F3B-47BF-4D15-9DDD-ADA16F4BE22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366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824A7-246A-4B41-B1F9-2E431F900D2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02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AB561-3E1F-4749-B0F0-A23E0D5232E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07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69B09-5F8E-458E-BE53-FC05E7E304C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2834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B20EE-D6F5-4EFC-90A9-25F5F50A1A7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74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A35AA-73D2-4340-8AAD-C39BC358A8A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280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3AAD8-9CD9-4D4C-964A-B3859050377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0056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29472-1DBC-45F3-9830-4EFC76916DB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65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A55B0-C45D-4C33-B0EF-70AACFF8654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195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6540B-FA5F-496A-9BC5-B1D40EC0DE1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964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63709-C699-4551-B892-EC03FA06881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49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1FD1C7-FC43-4540-AC7D-D529C48FE5F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757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E2B16-DECE-4572-B618-A56A241503B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360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106680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5651" y="3962400"/>
            <a:ext cx="106680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9AF85-FEE8-4064-BC0C-46015B51AE8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10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1"/>
            <a:endParaRPr lang="zh-CN" altLang="en-US" smtClean="0"/>
          </a:p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1028" name="AutoShape 7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29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29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952B8C-3684-4EA6-94CA-794949BE5390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32" name="Picture 10" descr="gl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18" y="260351"/>
            <a:ext cx="24003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774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rgbClr val="000000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1.emf"/><Relationship Id="rId26" Type="http://schemas.openxmlformats.org/officeDocument/2006/relationships/image" Target="../media/image25.e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8.e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emf"/><Relationship Id="rId20" Type="http://schemas.openxmlformats.org/officeDocument/2006/relationships/image" Target="../media/image2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4.e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17.e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emf"/><Relationship Id="rId22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33.bin"/><Relationship Id="rId26" Type="http://schemas.openxmlformats.org/officeDocument/2006/relationships/image" Target="../media/image31.e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6.bin"/><Relationship Id="rId34" Type="http://schemas.openxmlformats.org/officeDocument/2006/relationships/image" Target="../media/image35.emf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9.bin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5.bin"/><Relationship Id="rId29" Type="http://schemas.openxmlformats.org/officeDocument/2006/relationships/oleObject" Target="../embeddings/oleObject4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30.emf"/><Relationship Id="rId32" Type="http://schemas.openxmlformats.org/officeDocument/2006/relationships/image" Target="../media/image34.emf"/><Relationship Id="rId37" Type="http://schemas.openxmlformats.org/officeDocument/2006/relationships/oleObject" Target="../embeddings/oleObject45.bin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29.wmf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32.emf"/><Relationship Id="rId36" Type="http://schemas.openxmlformats.org/officeDocument/2006/relationships/image" Target="../media/image36.emf"/><Relationship Id="rId10" Type="http://schemas.openxmlformats.org/officeDocument/2006/relationships/oleObject" Target="../embeddings/oleObject27.bin"/><Relationship Id="rId19" Type="http://schemas.openxmlformats.org/officeDocument/2006/relationships/oleObject" Target="../embeddings/oleObject34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7.bin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33.emf"/><Relationship Id="rId35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4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60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53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1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70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5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6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8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7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9" Type="http://schemas.openxmlformats.org/officeDocument/2006/relationships/oleObject" Target="../embeddings/oleObject106.bin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97.bin"/><Relationship Id="rId34" Type="http://schemas.openxmlformats.org/officeDocument/2006/relationships/image" Target="../media/image95.wmf"/><Relationship Id="rId42" Type="http://schemas.openxmlformats.org/officeDocument/2006/relationships/image" Target="NULL"/><Relationship Id="rId47" Type="http://schemas.openxmlformats.org/officeDocument/2006/relationships/oleObject" Target="../embeddings/oleObject110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95.bin"/><Relationship Id="rId25" Type="http://schemas.openxmlformats.org/officeDocument/2006/relationships/oleObject" Target="../embeddings/oleObject99.bin"/><Relationship Id="rId33" Type="http://schemas.openxmlformats.org/officeDocument/2006/relationships/oleObject" Target="../embeddings/oleObject103.bin"/><Relationship Id="rId38" Type="http://schemas.openxmlformats.org/officeDocument/2006/relationships/image" Target="../media/image97.wmf"/><Relationship Id="rId46" Type="http://schemas.openxmlformats.org/officeDocument/2006/relationships/image" Target="../media/image10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101.bin"/><Relationship Id="rId41" Type="http://schemas.openxmlformats.org/officeDocument/2006/relationships/oleObject" Target="../embeddings/oleObject107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90.wmf"/><Relationship Id="rId32" Type="http://schemas.openxmlformats.org/officeDocument/2006/relationships/image" Target="../media/image94.wmf"/><Relationship Id="rId37" Type="http://schemas.openxmlformats.org/officeDocument/2006/relationships/oleObject" Target="../embeddings/oleObject105.bin"/><Relationship Id="rId40" Type="http://schemas.openxmlformats.org/officeDocument/2006/relationships/image" Target="../media/image98.wmf"/><Relationship Id="rId45" Type="http://schemas.openxmlformats.org/officeDocument/2006/relationships/oleObject" Target="../embeddings/oleObject109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23" Type="http://schemas.openxmlformats.org/officeDocument/2006/relationships/oleObject" Target="../embeddings/oleObject98.bin"/><Relationship Id="rId28" Type="http://schemas.openxmlformats.org/officeDocument/2006/relationships/image" Target="../media/image92.wmf"/><Relationship Id="rId36" Type="http://schemas.openxmlformats.org/officeDocument/2006/relationships/image" Target="../media/image96.w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96.bin"/><Relationship Id="rId31" Type="http://schemas.openxmlformats.org/officeDocument/2006/relationships/oleObject" Target="../embeddings/oleObject102.bin"/><Relationship Id="rId44" Type="http://schemas.openxmlformats.org/officeDocument/2006/relationships/image" Target="../media/image99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100.bin"/><Relationship Id="rId30" Type="http://schemas.openxmlformats.org/officeDocument/2006/relationships/image" Target="../media/image93.wmf"/><Relationship Id="rId35" Type="http://schemas.openxmlformats.org/officeDocument/2006/relationships/oleObject" Target="../embeddings/oleObject104.bin"/><Relationship Id="rId43" Type="http://schemas.openxmlformats.org/officeDocument/2006/relationships/oleObject" Target="../embeddings/oleObject108.bin"/><Relationship Id="rId48" Type="http://schemas.openxmlformats.org/officeDocument/2006/relationships/image" Target="../media/image10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6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1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1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34.bin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2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135.bin"/><Relationship Id="rId21" Type="http://schemas.openxmlformats.org/officeDocument/2006/relationships/oleObject" Target="../embeddings/oleObject144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43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27.wmf"/><Relationship Id="rId22" Type="http://schemas.openxmlformats.org/officeDocument/2006/relationships/image" Target="../media/image13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4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40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5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5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6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7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7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5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77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6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82.bin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8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77.wmf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9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6.wmf"/><Relationship Id="rId20" Type="http://schemas.openxmlformats.org/officeDocument/2006/relationships/image" Target="../media/image17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10" Type="http://schemas.openxmlformats.org/officeDocument/2006/relationships/image" Target="../media/image173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7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86.wmf"/><Relationship Id="rId26" Type="http://schemas.openxmlformats.org/officeDocument/2006/relationships/image" Target="../media/image190.wmf"/><Relationship Id="rId3" Type="http://schemas.openxmlformats.org/officeDocument/2006/relationships/oleObject" Target="../embeddings/oleObject192.bin"/><Relationship Id="rId21" Type="http://schemas.openxmlformats.org/officeDocument/2006/relationships/oleObject" Target="../embeddings/oleObject201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199.bin"/><Relationship Id="rId25" Type="http://schemas.openxmlformats.org/officeDocument/2006/relationships/oleObject" Target="../embeddings/oleObject20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5.wmf"/><Relationship Id="rId20" Type="http://schemas.openxmlformats.org/officeDocument/2006/relationships/image" Target="../media/image187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96.bin"/><Relationship Id="rId24" Type="http://schemas.openxmlformats.org/officeDocument/2006/relationships/image" Target="../media/image189.wmf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23" Type="http://schemas.openxmlformats.org/officeDocument/2006/relationships/oleObject" Target="../embeddings/oleObject202.bin"/><Relationship Id="rId10" Type="http://schemas.openxmlformats.org/officeDocument/2006/relationships/image" Target="../media/image182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84.wmf"/><Relationship Id="rId22" Type="http://schemas.openxmlformats.org/officeDocument/2006/relationships/image" Target="../media/image18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09.bin"/><Relationship Id="rId18" Type="http://schemas.openxmlformats.org/officeDocument/2006/relationships/image" Target="../media/image198.wmf"/><Relationship Id="rId26" Type="http://schemas.openxmlformats.org/officeDocument/2006/relationships/image" Target="../media/image201.wmf"/><Relationship Id="rId3" Type="http://schemas.openxmlformats.org/officeDocument/2006/relationships/oleObject" Target="../embeddings/oleObject204.bin"/><Relationship Id="rId21" Type="http://schemas.openxmlformats.org/officeDocument/2006/relationships/oleObject" Target="../embeddings/oleObject213.bin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11.bin"/><Relationship Id="rId25" Type="http://schemas.openxmlformats.org/officeDocument/2006/relationships/oleObject" Target="../embeddings/oleObject21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7.wmf"/><Relationship Id="rId20" Type="http://schemas.openxmlformats.org/officeDocument/2006/relationships/image" Target="../media/image199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08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205.bin"/><Relationship Id="rId15" Type="http://schemas.openxmlformats.org/officeDocument/2006/relationships/oleObject" Target="../embeddings/oleObject210.bin"/><Relationship Id="rId23" Type="http://schemas.openxmlformats.org/officeDocument/2006/relationships/oleObject" Target="../embeddings/oleObject214.bin"/><Relationship Id="rId28" Type="http://schemas.openxmlformats.org/officeDocument/2006/relationships/oleObject" Target="../embeddings/oleObject217.bin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212.bin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196.wmf"/><Relationship Id="rId22" Type="http://schemas.openxmlformats.org/officeDocument/2006/relationships/image" Target="../media/image200.wmf"/><Relationship Id="rId27" Type="http://schemas.openxmlformats.org/officeDocument/2006/relationships/oleObject" Target="../embeddings/oleObject21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09.wmf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10" Type="http://schemas.openxmlformats.org/officeDocument/2006/relationships/image" Target="../media/image205.wmf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0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3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387165"/>
              </p:ext>
            </p:extLst>
          </p:nvPr>
        </p:nvGraphicFramePr>
        <p:xfrm>
          <a:off x="4017963" y="2368550"/>
          <a:ext cx="6029325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2" name="Equation" r:id="rId3" imgW="1917360" imgH="939600" progId="Equation.DSMT4">
                  <p:embed/>
                </p:oleObj>
              </mc:Choice>
              <mc:Fallback>
                <p:oleObj name="Equation" r:id="rId3" imgW="191736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963" y="2368550"/>
                        <a:ext cx="6029325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810685" y="1773238"/>
            <a:ext cx="3159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kumimoji="1" lang="zh-CN" altLang="en-US" sz="2800">
                <a:latin typeface="Times New Roman" pitchFamily="18" charset="0"/>
              </a:rPr>
              <a:t>矩阵概念的引入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432985" y="5141913"/>
            <a:ext cx="375496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zh-CN" altLang="en-US" sz="2800">
                <a:latin typeface="Times New Roman" pitchFamily="18" charset="0"/>
              </a:rPr>
              <a:t>的解取决于</a:t>
            </a:r>
          </a:p>
        </p:txBody>
      </p:sp>
      <p:grpSp>
        <p:nvGrpSpPr>
          <p:cNvPr id="27" name="Group 5"/>
          <p:cNvGrpSpPr>
            <a:grpSpLocks/>
          </p:cNvGrpSpPr>
          <p:nvPr/>
        </p:nvGrpSpPr>
        <p:grpSpPr bwMode="auto">
          <a:xfrm>
            <a:off x="4226985" y="4816476"/>
            <a:ext cx="4334333" cy="584993"/>
            <a:chOff x="2064" y="2832"/>
            <a:chExt cx="1769" cy="327"/>
          </a:xfrm>
        </p:grpSpPr>
        <p:graphicFrame>
          <p:nvGraphicFramePr>
            <p:cNvPr id="410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2078453"/>
                </p:ext>
              </p:extLst>
            </p:nvPr>
          </p:nvGraphicFramePr>
          <p:xfrm>
            <a:off x="2763" y="2881"/>
            <a:ext cx="1070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93" name="Equation" r:id="rId5" imgW="1218960" imgH="253800" progId="Equation.DSMT4">
                    <p:embed/>
                  </p:oleObj>
                </mc:Choice>
                <mc:Fallback>
                  <p:oleObj name="Equation" r:id="rId5" imgW="12189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3" y="2881"/>
                          <a:ext cx="1070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Text Box 7"/>
            <p:cNvSpPr txBox="1">
              <a:spLocks noChangeArrowheads="1"/>
            </p:cNvSpPr>
            <p:nvPr/>
          </p:nvSpPr>
          <p:spPr bwMode="auto">
            <a:xfrm>
              <a:off x="2064" y="2832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>
                  <a:solidFill>
                    <a:srgbClr val="0000FF"/>
                  </a:solidFill>
                  <a:latin typeface="Times New Roman" pitchFamily="18" charset="0"/>
                </a:rPr>
                <a:t>系数</a:t>
              </a:r>
            </a:p>
          </p:txBody>
        </p:sp>
      </p:grpSp>
      <p:grpSp>
        <p:nvGrpSpPr>
          <p:cNvPr id="30" name="Group 8"/>
          <p:cNvGrpSpPr>
            <a:grpSpLocks/>
          </p:cNvGrpSpPr>
          <p:nvPr/>
        </p:nvGrpSpPr>
        <p:grpSpPr bwMode="auto">
          <a:xfrm>
            <a:off x="4320118" y="5530851"/>
            <a:ext cx="4516967" cy="519113"/>
            <a:chOff x="2064" y="3184"/>
            <a:chExt cx="2134" cy="327"/>
          </a:xfrm>
        </p:grpSpPr>
        <p:graphicFrame>
          <p:nvGraphicFramePr>
            <p:cNvPr id="4105" name="Object 9"/>
            <p:cNvGraphicFramePr>
              <a:graphicFrameLocks noChangeAspect="1"/>
            </p:cNvGraphicFramePr>
            <p:nvPr/>
          </p:nvGraphicFramePr>
          <p:xfrm>
            <a:off x="2976" y="3204"/>
            <a:ext cx="122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94" name="公式" r:id="rId7" imgW="2413000" imgH="457200" progId="Equation.3">
                    <p:embed/>
                  </p:oleObj>
                </mc:Choice>
                <mc:Fallback>
                  <p:oleObj name="公式" r:id="rId7" imgW="2413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204"/>
                          <a:ext cx="122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6" name="Text Box 10"/>
            <p:cNvSpPr txBox="1">
              <a:spLocks noChangeArrowheads="1"/>
            </p:cNvSpPr>
            <p:nvPr/>
          </p:nvSpPr>
          <p:spPr bwMode="auto">
            <a:xfrm>
              <a:off x="2064" y="3184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hangingPunct="0"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/>
              <a:r>
                <a:rPr kumimoji="1" lang="zh-CN" altLang="en-US" sz="2800">
                  <a:solidFill>
                    <a:srgbClr val="0000FF"/>
                  </a:solidFill>
                  <a:latin typeface="Times New Roman" pitchFamily="18" charset="0"/>
                </a:rPr>
                <a:t>常数项</a:t>
              </a:r>
            </a:p>
          </p:txBody>
        </p:sp>
      </p:grp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386418" y="3213101"/>
            <a:ext cx="375496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/>
            <a:r>
              <a:rPr kumimoji="1" lang="zh-CN" altLang="en-US" sz="2800">
                <a:latin typeface="Times New Roman" pitchFamily="18" charset="0"/>
              </a:rPr>
              <a:t>线性方程组</a:t>
            </a:r>
          </a:p>
        </p:txBody>
      </p:sp>
    </p:spTree>
    <p:extLst>
      <p:ext uri="{BB962C8B-B14F-4D97-AF65-F5344CB8AC3E}">
        <p14:creationId xmlns:p14="http://schemas.microsoft.com/office/powerpoint/2010/main" val="364252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6" grpId="0" autoUpdateAnimBg="0"/>
      <p:bldP spid="1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5875" y="1412471"/>
            <a:ext cx="10515600" cy="194032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线性方程组的系数与常数项按原位置可排为</a:t>
            </a:r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4294967295"/>
          </p:nvPr>
        </p:nvGraphicFramePr>
        <p:xfrm>
          <a:off x="4233863" y="2967038"/>
          <a:ext cx="372427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8" name="公式" r:id="rId3" imgW="3724380" imgH="2066835" progId="Equation.3">
                  <p:embed/>
                </p:oleObj>
              </mc:Choice>
              <mc:Fallback>
                <p:oleObj name="公式" r:id="rId3" imgW="3724380" imgH="206683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3" y="2967038"/>
                        <a:ext cx="372427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881352" y="5384715"/>
            <a:ext cx="9585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415429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759884" y="1109663"/>
            <a:ext cx="975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6"/>
              </a:buClr>
              <a:buFont typeface="Wingdings" pitchFamily="2" charset="2"/>
              <a:buChar char="u"/>
              <a:defRPr/>
            </a:pPr>
            <a:r>
              <a:rPr kumimoji="1" lang="zh-CN" altLang="en-US" sz="2800" dirty="0" smtClean="0">
                <a:latin typeface="Times New Roman" pitchFamily="18" charset="0"/>
              </a:rPr>
              <a:t>矩阵的应用举例</a:t>
            </a:r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929218" y="1760538"/>
            <a:ext cx="1025524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>
                <a:latin typeface="Times New Roman" pitchFamily="18" charset="0"/>
              </a:rPr>
              <a:t>        某航空公司在</a:t>
            </a:r>
            <a:r>
              <a:rPr kumimoji="1" lang="en-US" altLang="zh-CN">
                <a:latin typeface="Times New Roman" pitchFamily="18" charset="0"/>
              </a:rPr>
              <a:t>A</a:t>
            </a:r>
            <a:r>
              <a:rPr kumimoji="1" lang="zh-CN" altLang="en-US">
                <a:latin typeface="Times New Roman" pitchFamily="18" charset="0"/>
              </a:rPr>
              <a:t>、</a:t>
            </a:r>
            <a:r>
              <a:rPr kumimoji="1" lang="en-US" altLang="zh-CN">
                <a:latin typeface="Times New Roman" pitchFamily="18" charset="0"/>
              </a:rPr>
              <a:t>B</a:t>
            </a:r>
            <a:r>
              <a:rPr kumimoji="1" lang="zh-CN" altLang="en-US">
                <a:latin typeface="Times New Roman" pitchFamily="18" charset="0"/>
              </a:rPr>
              <a:t>、</a:t>
            </a:r>
            <a:r>
              <a:rPr kumimoji="1" lang="en-US" altLang="zh-CN">
                <a:latin typeface="Times New Roman" pitchFamily="18" charset="0"/>
              </a:rPr>
              <a:t>C</a:t>
            </a:r>
            <a:r>
              <a:rPr kumimoji="1" lang="zh-CN" altLang="en-US">
                <a:latin typeface="Times New Roman" pitchFamily="18" charset="0"/>
              </a:rPr>
              <a:t>、</a:t>
            </a:r>
            <a:r>
              <a:rPr kumimoji="1" lang="en-US" altLang="zh-CN">
                <a:latin typeface="Times New Roman" pitchFamily="18" charset="0"/>
              </a:rPr>
              <a:t>D</a:t>
            </a:r>
            <a:r>
              <a:rPr kumimoji="1" lang="zh-CN" altLang="en-US">
                <a:latin typeface="Times New Roman" pitchFamily="18" charset="0"/>
              </a:rPr>
              <a:t>四城市之间开辟了若干航线 ，如图所示表示了四城市间的航班图，如果从</a:t>
            </a:r>
            <a:r>
              <a:rPr kumimoji="1" lang="en-US" altLang="zh-CN">
                <a:latin typeface="Times New Roman" pitchFamily="18" charset="0"/>
              </a:rPr>
              <a:t>A</a:t>
            </a:r>
            <a:r>
              <a:rPr kumimoji="1" lang="zh-CN" altLang="en-US">
                <a:latin typeface="Times New Roman" pitchFamily="18" charset="0"/>
              </a:rPr>
              <a:t>到</a:t>
            </a:r>
            <a:r>
              <a:rPr kumimoji="1" lang="en-US" altLang="zh-CN">
                <a:latin typeface="Times New Roman" pitchFamily="18" charset="0"/>
              </a:rPr>
              <a:t>B</a:t>
            </a:r>
            <a:r>
              <a:rPr kumimoji="1" lang="zh-CN" altLang="en-US">
                <a:latin typeface="Times New Roman" pitchFamily="18" charset="0"/>
              </a:rPr>
              <a:t>有航班，则用带箭头的线连接 </a:t>
            </a:r>
            <a:r>
              <a:rPr kumimoji="1" lang="en-US" altLang="zh-CN">
                <a:latin typeface="Times New Roman" pitchFamily="18" charset="0"/>
              </a:rPr>
              <a:t>A </a:t>
            </a:r>
            <a:r>
              <a:rPr kumimoji="1" lang="zh-CN" altLang="en-US">
                <a:latin typeface="Times New Roman" pitchFamily="18" charset="0"/>
              </a:rPr>
              <a:t>与</a:t>
            </a:r>
            <a:r>
              <a:rPr kumimoji="1" lang="en-US" altLang="zh-CN">
                <a:latin typeface="Times New Roman" pitchFamily="18" charset="0"/>
              </a:rPr>
              <a:t>B</a:t>
            </a:r>
            <a:r>
              <a:rPr kumimoji="1" lang="zh-CN" altLang="en-US">
                <a:latin typeface="Times New Roman" pitchFamily="18" charset="0"/>
              </a:rPr>
              <a:t>。</a:t>
            </a:r>
            <a:endParaRPr kumimoji="1" lang="en-US" altLang="zh-CN">
              <a:latin typeface="Times New Roman" pitchFamily="18" charset="0"/>
            </a:endParaRPr>
          </a:p>
        </p:txBody>
      </p:sp>
      <p:grpSp>
        <p:nvGrpSpPr>
          <p:cNvPr id="58" name="Group 6"/>
          <p:cNvGrpSpPr>
            <a:grpSpLocks/>
          </p:cNvGrpSpPr>
          <p:nvPr/>
        </p:nvGrpSpPr>
        <p:grpSpPr bwMode="auto">
          <a:xfrm>
            <a:off x="7518400" y="3959225"/>
            <a:ext cx="3539067" cy="2387600"/>
            <a:chOff x="3552" y="2304"/>
            <a:chExt cx="1672" cy="1504"/>
          </a:xfrm>
        </p:grpSpPr>
        <p:graphicFrame>
          <p:nvGraphicFramePr>
            <p:cNvPr id="6158" name="Object 7"/>
            <p:cNvGraphicFramePr>
              <a:graphicFrameLocks noChangeAspect="1"/>
            </p:cNvGraphicFramePr>
            <p:nvPr/>
          </p:nvGraphicFramePr>
          <p:xfrm>
            <a:off x="3552" y="302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42" name="Equation" r:id="rId3" imgW="152517" imgH="171408" progId="Equation.3">
                    <p:embed/>
                  </p:oleObj>
                </mc:Choice>
                <mc:Fallback>
                  <p:oleObj name="Equation" r:id="rId3" imgW="152517" imgH="1714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024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9" name="Object 8"/>
            <p:cNvGraphicFramePr>
              <a:graphicFrameLocks noChangeAspect="1"/>
            </p:cNvGraphicFramePr>
            <p:nvPr/>
          </p:nvGraphicFramePr>
          <p:xfrm>
            <a:off x="4416" y="2304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43" name="Equation" r:id="rId5" imgW="152517" imgH="152512" progId="Equation.3">
                    <p:embed/>
                  </p:oleObj>
                </mc:Choice>
                <mc:Fallback>
                  <p:oleObj name="Equation" r:id="rId5" imgW="152517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04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0" name="Object 9"/>
            <p:cNvGraphicFramePr>
              <a:graphicFrameLocks noChangeAspect="1"/>
            </p:cNvGraphicFramePr>
            <p:nvPr/>
          </p:nvGraphicFramePr>
          <p:xfrm>
            <a:off x="5040" y="307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44" name="Equation" r:id="rId7" imgW="152517" imgH="190573" progId="Equation.3">
                    <p:embed/>
                  </p:oleObj>
                </mc:Choice>
                <mc:Fallback>
                  <p:oleObj name="Equation" r:id="rId7" imgW="152517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307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1" name="Object 10"/>
            <p:cNvGraphicFramePr>
              <a:graphicFrameLocks noChangeAspect="1"/>
            </p:cNvGraphicFramePr>
            <p:nvPr/>
          </p:nvGraphicFramePr>
          <p:xfrm>
            <a:off x="4401" y="3624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45" name="Equation" r:id="rId9" imgW="190578" imgH="152512" progId="Equation.3">
                    <p:embed/>
                  </p:oleObj>
                </mc:Choice>
                <mc:Fallback>
                  <p:oleObj name="Equation" r:id="rId9" imgW="190578" imgH="1525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1" y="3624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Line 11"/>
          <p:cNvSpPr>
            <a:spLocks noChangeShapeType="1"/>
          </p:cNvSpPr>
          <p:nvPr/>
        </p:nvSpPr>
        <p:spPr bwMode="auto">
          <a:xfrm flipH="1">
            <a:off x="8026400" y="4264025"/>
            <a:ext cx="1320800" cy="990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Line 12"/>
          <p:cNvSpPr>
            <a:spLocks noChangeShapeType="1"/>
          </p:cNvSpPr>
          <p:nvPr/>
        </p:nvSpPr>
        <p:spPr bwMode="auto">
          <a:xfrm flipH="1">
            <a:off x="8331200" y="4416425"/>
            <a:ext cx="812800" cy="609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Line 13"/>
          <p:cNvSpPr>
            <a:spLocks noChangeShapeType="1"/>
          </p:cNvSpPr>
          <p:nvPr/>
        </p:nvSpPr>
        <p:spPr bwMode="auto">
          <a:xfrm>
            <a:off x="9652000" y="4264025"/>
            <a:ext cx="1016000" cy="1066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" name="Line 14"/>
          <p:cNvSpPr>
            <a:spLocks noChangeShapeType="1"/>
          </p:cNvSpPr>
          <p:nvPr/>
        </p:nvSpPr>
        <p:spPr bwMode="auto">
          <a:xfrm>
            <a:off x="8128000" y="5330825"/>
            <a:ext cx="2540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Line 15"/>
          <p:cNvSpPr>
            <a:spLocks noChangeShapeType="1"/>
          </p:cNvSpPr>
          <p:nvPr/>
        </p:nvSpPr>
        <p:spPr bwMode="auto">
          <a:xfrm>
            <a:off x="8636000" y="5330825"/>
            <a:ext cx="16256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Line 16"/>
          <p:cNvSpPr>
            <a:spLocks noChangeShapeType="1"/>
          </p:cNvSpPr>
          <p:nvPr/>
        </p:nvSpPr>
        <p:spPr bwMode="auto">
          <a:xfrm>
            <a:off x="9550400" y="4264025"/>
            <a:ext cx="0" cy="1752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9" name="Line 17"/>
          <p:cNvSpPr>
            <a:spLocks noChangeShapeType="1"/>
          </p:cNvSpPr>
          <p:nvPr/>
        </p:nvSpPr>
        <p:spPr bwMode="auto">
          <a:xfrm flipH="1">
            <a:off x="9652000" y="5407025"/>
            <a:ext cx="914400" cy="685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6156" name="Object 18"/>
          <p:cNvGraphicFramePr>
            <a:graphicFrameLocks noChangeAspect="1"/>
          </p:cNvGraphicFramePr>
          <p:nvPr/>
        </p:nvGraphicFramePr>
        <p:xfrm>
          <a:off x="5969000" y="4170363"/>
          <a:ext cx="25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6" name="Equation" r:id="rId11" imgW="190500" imgH="419100" progId="Equation.3">
                  <p:embed/>
                </p:oleObj>
              </mc:Choice>
              <mc:Fallback>
                <p:oleObj name="Equation" r:id="rId11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4170363"/>
                        <a:ext cx="25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23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411818" y="1020763"/>
            <a:ext cx="41729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latin typeface="Times New Roman" pitchFamily="18" charset="0"/>
              </a:rPr>
              <a:t>四城市间的航班图情况常用表格来表示</a:t>
            </a:r>
            <a:r>
              <a:rPr kumimoji="1" lang="en-US" altLang="zh-CN">
                <a:latin typeface="Times New Roman" pitchFamily="18" charset="0"/>
              </a:rPr>
              <a:t>: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716617" y="3306763"/>
            <a:ext cx="906017" cy="52322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itchFamily="18" charset="0"/>
              </a:rPr>
              <a:t>发站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491817" y="1477963"/>
            <a:ext cx="646331" cy="369332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solidFill>
                  <a:srgbClr val="FFFF00"/>
                </a:solidFill>
                <a:latin typeface="Times New Roman" pitchFamily="18" charset="0"/>
              </a:rPr>
              <a:t>到站</a:t>
            </a:r>
          </a:p>
        </p:txBody>
      </p:sp>
      <p:grpSp>
        <p:nvGrpSpPr>
          <p:cNvPr id="12" name="Group 5"/>
          <p:cNvGrpSpPr>
            <a:grpSpLocks/>
          </p:cNvGrpSpPr>
          <p:nvPr/>
        </p:nvGrpSpPr>
        <p:grpSpPr bwMode="auto">
          <a:xfrm>
            <a:off x="4053417" y="2595563"/>
            <a:ext cx="6604000" cy="2133600"/>
            <a:chOff x="1296" y="1824"/>
            <a:chExt cx="3120" cy="1344"/>
          </a:xfrm>
        </p:grpSpPr>
        <p:sp>
          <p:nvSpPr>
            <p:cNvPr id="7211" name="Line 6"/>
            <p:cNvSpPr>
              <a:spLocks noChangeShapeType="1"/>
            </p:cNvSpPr>
            <p:nvPr/>
          </p:nvSpPr>
          <p:spPr bwMode="auto">
            <a:xfrm>
              <a:off x="1296" y="1824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2" name="Line 7"/>
            <p:cNvSpPr>
              <a:spLocks noChangeShapeType="1"/>
            </p:cNvSpPr>
            <p:nvPr/>
          </p:nvSpPr>
          <p:spPr bwMode="auto">
            <a:xfrm>
              <a:off x="1296" y="2160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3" name="Line 8"/>
            <p:cNvSpPr>
              <a:spLocks noChangeShapeType="1"/>
            </p:cNvSpPr>
            <p:nvPr/>
          </p:nvSpPr>
          <p:spPr bwMode="auto">
            <a:xfrm>
              <a:off x="1296" y="2496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4" name="Line 9"/>
            <p:cNvSpPr>
              <a:spLocks noChangeShapeType="1"/>
            </p:cNvSpPr>
            <p:nvPr/>
          </p:nvSpPr>
          <p:spPr bwMode="auto">
            <a:xfrm>
              <a:off x="1296" y="2832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5" name="Line 10"/>
            <p:cNvSpPr>
              <a:spLocks noChangeShapeType="1"/>
            </p:cNvSpPr>
            <p:nvPr/>
          </p:nvSpPr>
          <p:spPr bwMode="auto">
            <a:xfrm>
              <a:off x="1296" y="3168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6" name="Line 11"/>
            <p:cNvSpPr>
              <a:spLocks noChangeShapeType="1"/>
            </p:cNvSpPr>
            <p:nvPr/>
          </p:nvSpPr>
          <p:spPr bwMode="auto">
            <a:xfrm>
              <a:off x="441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7" name="Line 12"/>
            <p:cNvSpPr>
              <a:spLocks noChangeShapeType="1"/>
            </p:cNvSpPr>
            <p:nvPr/>
          </p:nvSpPr>
          <p:spPr bwMode="auto">
            <a:xfrm>
              <a:off x="12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8" name="Line 13"/>
            <p:cNvSpPr>
              <a:spLocks noChangeShapeType="1"/>
            </p:cNvSpPr>
            <p:nvPr/>
          </p:nvSpPr>
          <p:spPr bwMode="auto">
            <a:xfrm>
              <a:off x="36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9" name="Line 14"/>
            <p:cNvSpPr>
              <a:spLocks noChangeShapeType="1"/>
            </p:cNvSpPr>
            <p:nvPr/>
          </p:nvSpPr>
          <p:spPr bwMode="auto">
            <a:xfrm>
              <a:off x="2880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0" name="Line 15"/>
            <p:cNvSpPr>
              <a:spLocks noChangeShapeType="1"/>
            </p:cNvSpPr>
            <p:nvPr/>
          </p:nvSpPr>
          <p:spPr bwMode="auto">
            <a:xfrm>
              <a:off x="2064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" name="Group 16"/>
          <p:cNvGrpSpPr>
            <a:grpSpLocks/>
          </p:cNvGrpSpPr>
          <p:nvPr/>
        </p:nvGrpSpPr>
        <p:grpSpPr bwMode="auto">
          <a:xfrm>
            <a:off x="4663018" y="2087563"/>
            <a:ext cx="5503333" cy="317500"/>
            <a:chOff x="2112" y="1152"/>
            <a:chExt cx="2600" cy="200"/>
          </a:xfrm>
        </p:grpSpPr>
        <p:graphicFrame>
          <p:nvGraphicFramePr>
            <p:cNvPr id="7207" name="Object 17"/>
            <p:cNvGraphicFramePr>
              <a:graphicFrameLocks noChangeAspect="1"/>
            </p:cNvGraphicFramePr>
            <p:nvPr/>
          </p:nvGraphicFramePr>
          <p:xfrm>
            <a:off x="2112" y="115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46" name="Equation" r:id="rId3" imgW="161965" imgH="180855" progId="Equation.3">
                    <p:embed/>
                  </p:oleObj>
                </mc:Choice>
                <mc:Fallback>
                  <p:oleObj name="Equation" r:id="rId3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15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8" name="Object 18"/>
            <p:cNvGraphicFramePr>
              <a:graphicFrameLocks noChangeAspect="1"/>
            </p:cNvGraphicFramePr>
            <p:nvPr/>
          </p:nvGraphicFramePr>
          <p:xfrm>
            <a:off x="2928" y="1152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47" name="Equation" r:id="rId5" imgW="161965" imgH="161960" progId="Equation.3">
                    <p:embed/>
                  </p:oleObj>
                </mc:Choice>
                <mc:Fallback>
                  <p:oleObj name="Equation" r:id="rId5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1152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9" name="Object 19"/>
            <p:cNvGraphicFramePr>
              <a:graphicFrameLocks noChangeAspect="1"/>
            </p:cNvGraphicFramePr>
            <p:nvPr/>
          </p:nvGraphicFramePr>
          <p:xfrm>
            <a:off x="3744" y="115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48" name="Equation" r:id="rId7" imgW="161965" imgH="190573" progId="Equation.3">
                    <p:embed/>
                  </p:oleObj>
                </mc:Choice>
                <mc:Fallback>
                  <p:oleObj name="Equation" r:id="rId7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15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0" name="Object 20"/>
            <p:cNvGraphicFramePr>
              <a:graphicFrameLocks noChangeAspect="1"/>
            </p:cNvGraphicFramePr>
            <p:nvPr/>
          </p:nvGraphicFramePr>
          <p:xfrm>
            <a:off x="4512" y="115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49" name="Equation" r:id="rId9" imgW="190578" imgH="161960" progId="Equation.3">
                    <p:embed/>
                  </p:oleObj>
                </mc:Choice>
                <mc:Fallback>
                  <p:oleObj name="Equation" r:id="rId9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15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3342217" y="2697163"/>
            <a:ext cx="491067" cy="1892300"/>
            <a:chOff x="1488" y="1536"/>
            <a:chExt cx="232" cy="1192"/>
          </a:xfrm>
        </p:grpSpPr>
        <p:graphicFrame>
          <p:nvGraphicFramePr>
            <p:cNvPr id="7203" name="Object 22"/>
            <p:cNvGraphicFramePr>
              <a:graphicFrameLocks noChangeAspect="1"/>
            </p:cNvGraphicFramePr>
            <p:nvPr/>
          </p:nvGraphicFramePr>
          <p:xfrm>
            <a:off x="1536" y="1536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50" name="Equation" r:id="rId11" imgW="161965" imgH="180855" progId="Equation.3">
                    <p:embed/>
                  </p:oleObj>
                </mc:Choice>
                <mc:Fallback>
                  <p:oleObj name="Equation" r:id="rId11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536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4" name="Object 23"/>
            <p:cNvGraphicFramePr>
              <a:graphicFrameLocks noChangeAspect="1"/>
            </p:cNvGraphicFramePr>
            <p:nvPr/>
          </p:nvGraphicFramePr>
          <p:xfrm>
            <a:off x="1536" y="1872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51" name="Equation" r:id="rId13" imgW="161965" imgH="161960" progId="Equation.3">
                    <p:embed/>
                  </p:oleObj>
                </mc:Choice>
                <mc:Fallback>
                  <p:oleObj name="Equation" r:id="rId13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72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5" name="Object 24"/>
            <p:cNvGraphicFramePr>
              <a:graphicFrameLocks noChangeAspect="1"/>
            </p:cNvGraphicFramePr>
            <p:nvPr/>
          </p:nvGraphicFramePr>
          <p:xfrm>
            <a:off x="1536" y="2208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52" name="Equation" r:id="rId15" imgW="161965" imgH="190573" progId="Equation.3">
                    <p:embed/>
                  </p:oleObj>
                </mc:Choice>
                <mc:Fallback>
                  <p:oleObj name="Equation" r:id="rId15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208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6" name="Object 25"/>
            <p:cNvGraphicFramePr>
              <a:graphicFrameLocks noChangeAspect="1"/>
            </p:cNvGraphicFramePr>
            <p:nvPr/>
          </p:nvGraphicFramePr>
          <p:xfrm>
            <a:off x="1488" y="2544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553" name="Equation" r:id="rId17" imgW="190578" imgH="161960" progId="Equation.3">
                    <p:embed/>
                  </p:oleObj>
                </mc:Choice>
                <mc:Fallback>
                  <p:oleObj name="Equation" r:id="rId17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544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Freeform 26"/>
          <p:cNvSpPr>
            <a:spLocks/>
          </p:cNvSpPr>
          <p:nvPr/>
        </p:nvSpPr>
        <p:spPr bwMode="auto">
          <a:xfrm>
            <a:off x="6187017" y="27733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Freeform 27"/>
          <p:cNvSpPr>
            <a:spLocks/>
          </p:cNvSpPr>
          <p:nvPr/>
        </p:nvSpPr>
        <p:spPr bwMode="auto">
          <a:xfrm>
            <a:off x="4459817" y="33067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Freeform 28"/>
          <p:cNvSpPr>
            <a:spLocks/>
          </p:cNvSpPr>
          <p:nvPr/>
        </p:nvSpPr>
        <p:spPr bwMode="auto">
          <a:xfrm>
            <a:off x="7812617" y="27733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Freeform 29"/>
          <p:cNvSpPr>
            <a:spLocks/>
          </p:cNvSpPr>
          <p:nvPr/>
        </p:nvSpPr>
        <p:spPr bwMode="auto">
          <a:xfrm>
            <a:off x="7812617" y="33067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Freeform 30"/>
          <p:cNvSpPr>
            <a:spLocks/>
          </p:cNvSpPr>
          <p:nvPr/>
        </p:nvSpPr>
        <p:spPr bwMode="auto">
          <a:xfrm>
            <a:off x="9438217" y="37639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>
            <a:off x="6288617" y="43735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" name="Freeform 32"/>
          <p:cNvSpPr>
            <a:spLocks/>
          </p:cNvSpPr>
          <p:nvPr/>
        </p:nvSpPr>
        <p:spPr bwMode="auto">
          <a:xfrm>
            <a:off x="4459817" y="3840163"/>
            <a:ext cx="914400" cy="228600"/>
          </a:xfrm>
          <a:custGeom>
            <a:avLst/>
            <a:gdLst>
              <a:gd name="T0" fmla="*/ 0 w 432"/>
              <a:gd name="T1" fmla="*/ 0 h 144"/>
              <a:gd name="T2" fmla="*/ 2147483647 w 432"/>
              <a:gd name="T3" fmla="*/ 2147483647 h 144"/>
              <a:gd name="T4" fmla="*/ 2147483647 w 432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44">
                <a:moveTo>
                  <a:pt x="0" y="0"/>
                </a:moveTo>
                <a:cubicBezTo>
                  <a:pt x="36" y="72"/>
                  <a:pt x="72" y="144"/>
                  <a:pt x="144" y="144"/>
                </a:cubicBezTo>
                <a:cubicBezTo>
                  <a:pt x="216" y="144"/>
                  <a:pt x="384" y="24"/>
                  <a:pt x="432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0" name="Group 33"/>
          <p:cNvGrpSpPr>
            <a:grpSpLocks/>
          </p:cNvGrpSpPr>
          <p:nvPr/>
        </p:nvGrpSpPr>
        <p:grpSpPr bwMode="auto">
          <a:xfrm>
            <a:off x="1955800" y="4972058"/>
            <a:ext cx="2806701" cy="369888"/>
            <a:chOff x="881" y="3127"/>
            <a:chExt cx="1326" cy="233"/>
          </a:xfrm>
        </p:grpSpPr>
        <p:sp>
          <p:nvSpPr>
            <p:cNvPr id="7201" name="Rectangle 34"/>
            <p:cNvSpPr>
              <a:spLocks noChangeArrowheads="1"/>
            </p:cNvSpPr>
            <p:nvPr/>
          </p:nvSpPr>
          <p:spPr bwMode="auto">
            <a:xfrm>
              <a:off x="881" y="3127"/>
              <a:ext cx="13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dirty="0" smtClean="0">
                  <a:latin typeface="Times New Roman" pitchFamily="18" charset="0"/>
                </a:rPr>
                <a:t>用                    表示</a:t>
              </a:r>
              <a:r>
                <a:rPr kumimoji="1" lang="zh-CN" altLang="en-US" dirty="0">
                  <a:latin typeface="Times New Roman" pitchFamily="18" charset="0"/>
                </a:rPr>
                <a:t>有航班</a:t>
              </a:r>
              <a:endParaRPr kumimoji="1" lang="en-US" altLang="zh-CN" dirty="0">
                <a:latin typeface="Times New Roman" pitchFamily="18" charset="0"/>
              </a:endParaRPr>
            </a:p>
          </p:txBody>
        </p:sp>
        <p:sp>
          <p:nvSpPr>
            <p:cNvPr id="7202" name="Freeform 35"/>
            <p:cNvSpPr>
              <a:spLocks/>
            </p:cNvSpPr>
            <p:nvPr/>
          </p:nvSpPr>
          <p:spPr bwMode="auto">
            <a:xfrm>
              <a:off x="1113" y="3216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3" name="Group 36"/>
          <p:cNvGrpSpPr>
            <a:grpSpLocks/>
          </p:cNvGrpSpPr>
          <p:nvPr/>
        </p:nvGrpSpPr>
        <p:grpSpPr bwMode="auto">
          <a:xfrm>
            <a:off x="1278467" y="5507039"/>
            <a:ext cx="6400800" cy="954087"/>
            <a:chOff x="513" y="3306"/>
            <a:chExt cx="3024" cy="601"/>
          </a:xfrm>
        </p:grpSpPr>
        <p:sp>
          <p:nvSpPr>
            <p:cNvPr id="7199" name="Text Box 37"/>
            <p:cNvSpPr txBox="1">
              <a:spLocks noChangeArrowheads="1"/>
            </p:cNvSpPr>
            <p:nvPr/>
          </p:nvSpPr>
          <p:spPr bwMode="auto">
            <a:xfrm>
              <a:off x="513" y="3306"/>
              <a:ext cx="3024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>
                  <a:latin typeface="Times New Roman" pitchFamily="18" charset="0"/>
                </a:rPr>
                <a:t>为了便于计算，把表中的           改成</a:t>
              </a:r>
              <a:r>
                <a:rPr kumimoji="1" lang="en-US" altLang="zh-CN">
                  <a:latin typeface="Times New Roman" pitchFamily="18" charset="0"/>
                </a:rPr>
                <a:t>1</a:t>
              </a:r>
              <a:r>
                <a:rPr kumimoji="1" lang="zh-CN" altLang="en-US">
                  <a:latin typeface="Times New Roman" pitchFamily="18" charset="0"/>
                </a:rPr>
                <a:t>，</a:t>
              </a:r>
              <a:endParaRPr kumimoji="1" lang="en-US" altLang="zh-CN">
                <a:latin typeface="Times New Roman" pitchFamily="18" charset="0"/>
              </a:endParaRPr>
            </a:p>
            <a:p>
              <a:pPr algn="l" eaLnBrk="1" hangingPunct="1"/>
              <a:r>
                <a:rPr kumimoji="1" lang="zh-CN" altLang="en-US">
                  <a:latin typeface="Times New Roman" pitchFamily="18" charset="0"/>
                </a:rPr>
                <a:t>空白地方填上</a:t>
              </a:r>
              <a:r>
                <a:rPr kumimoji="1" lang="en-US" altLang="zh-CN">
                  <a:latin typeface="Times New Roman" pitchFamily="18" charset="0"/>
                </a:rPr>
                <a:t>0</a:t>
              </a:r>
              <a:r>
                <a:rPr kumimoji="1" lang="zh-CN" altLang="en-US">
                  <a:latin typeface="Times New Roman" pitchFamily="18" charset="0"/>
                </a:rPr>
                <a:t>，就得到一个数表</a:t>
              </a:r>
              <a:r>
                <a:rPr kumimoji="1" lang="en-US" altLang="zh-CN">
                  <a:latin typeface="Times New Roman" pitchFamily="18" charset="0"/>
                </a:rPr>
                <a:t>:</a:t>
              </a:r>
            </a:p>
          </p:txBody>
        </p:sp>
        <p:sp>
          <p:nvSpPr>
            <p:cNvPr id="7200" name="Freeform 38"/>
            <p:cNvSpPr>
              <a:spLocks/>
            </p:cNvSpPr>
            <p:nvPr/>
          </p:nvSpPr>
          <p:spPr bwMode="auto">
            <a:xfrm>
              <a:off x="2448" y="3410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185" name="组合 66"/>
          <p:cNvGrpSpPr>
            <a:grpSpLocks/>
          </p:cNvGrpSpPr>
          <p:nvPr/>
        </p:nvGrpSpPr>
        <p:grpSpPr bwMode="auto">
          <a:xfrm>
            <a:off x="493185" y="1517650"/>
            <a:ext cx="2425700" cy="1462088"/>
            <a:chOff x="5638800" y="3657600"/>
            <a:chExt cx="2654300" cy="2349500"/>
          </a:xfrm>
        </p:grpSpPr>
        <p:grpSp>
          <p:nvGrpSpPr>
            <p:cNvPr id="7187" name="Group 6"/>
            <p:cNvGrpSpPr>
              <a:grpSpLocks/>
            </p:cNvGrpSpPr>
            <p:nvPr/>
          </p:nvGrpSpPr>
          <p:grpSpPr bwMode="auto">
            <a:xfrm>
              <a:off x="5638800" y="3657600"/>
              <a:ext cx="2654300" cy="2349500"/>
              <a:chOff x="3552" y="2304"/>
              <a:chExt cx="1672" cy="1480"/>
            </a:xfrm>
          </p:grpSpPr>
          <p:graphicFrame>
            <p:nvGraphicFramePr>
              <p:cNvPr id="7195" name="Object 7"/>
              <p:cNvGraphicFramePr>
                <a:graphicFrameLocks noChangeAspect="1"/>
              </p:cNvGraphicFramePr>
              <p:nvPr/>
            </p:nvGraphicFramePr>
            <p:xfrm>
              <a:off x="3552" y="3024"/>
              <a:ext cx="1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554" name="Equation" r:id="rId19" imgW="161965" imgH="180855" progId="Equation.3">
                      <p:embed/>
                    </p:oleObj>
                  </mc:Choice>
                  <mc:Fallback>
                    <p:oleObj name="Equation" r:id="rId19" imgW="161965" imgH="18085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3024"/>
                            <a:ext cx="18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6" name="Object 8"/>
              <p:cNvGraphicFramePr>
                <a:graphicFrameLocks noChangeAspect="1"/>
              </p:cNvGraphicFramePr>
              <p:nvPr/>
            </p:nvGraphicFramePr>
            <p:xfrm>
              <a:off x="4416" y="2304"/>
              <a:ext cx="18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555" name="Equation" r:id="rId21" imgW="161965" imgH="161960" progId="Equation.3">
                      <p:embed/>
                    </p:oleObj>
                  </mc:Choice>
                  <mc:Fallback>
                    <p:oleObj name="Equation" r:id="rId21" imgW="161965" imgH="16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304"/>
                            <a:ext cx="18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7" name="Object 9"/>
              <p:cNvGraphicFramePr>
                <a:graphicFrameLocks noChangeAspect="1"/>
              </p:cNvGraphicFramePr>
              <p:nvPr/>
            </p:nvGraphicFramePr>
            <p:xfrm>
              <a:off x="5040" y="3072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556" name="Equation" r:id="rId23" imgW="161965" imgH="190573" progId="Equation.3">
                      <p:embed/>
                    </p:oleObj>
                  </mc:Choice>
                  <mc:Fallback>
                    <p:oleObj name="Equation" r:id="rId23" imgW="161965" imgH="1905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3072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8" name="Object 10"/>
              <p:cNvGraphicFramePr>
                <a:graphicFrameLocks noChangeAspect="1"/>
              </p:cNvGraphicFramePr>
              <p:nvPr/>
            </p:nvGraphicFramePr>
            <p:xfrm>
              <a:off x="4416" y="3600"/>
              <a:ext cx="20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557" name="Equation" r:id="rId25" imgW="190578" imgH="161960" progId="Equation.3">
                      <p:embed/>
                    </p:oleObj>
                  </mc:Choice>
                  <mc:Fallback>
                    <p:oleObj name="Equation" r:id="rId25" imgW="190578" imgH="16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600"/>
                            <a:ext cx="20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188" name="Line 11"/>
            <p:cNvSpPr>
              <a:spLocks noChangeShapeType="1"/>
            </p:cNvSpPr>
            <p:nvPr/>
          </p:nvSpPr>
          <p:spPr bwMode="auto">
            <a:xfrm flipH="1">
              <a:off x="6019800" y="3962400"/>
              <a:ext cx="990600" cy="990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9" name="Line 12"/>
            <p:cNvSpPr>
              <a:spLocks noChangeShapeType="1"/>
            </p:cNvSpPr>
            <p:nvPr/>
          </p:nvSpPr>
          <p:spPr bwMode="auto">
            <a:xfrm flipH="1">
              <a:off x="6248400" y="4114800"/>
              <a:ext cx="609600" cy="609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0" name="Line 13"/>
            <p:cNvSpPr>
              <a:spLocks noChangeShapeType="1"/>
            </p:cNvSpPr>
            <p:nvPr/>
          </p:nvSpPr>
          <p:spPr bwMode="auto">
            <a:xfrm>
              <a:off x="7239000" y="3962400"/>
              <a:ext cx="762000" cy="1066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1" name="Line 14"/>
            <p:cNvSpPr>
              <a:spLocks noChangeShapeType="1"/>
            </p:cNvSpPr>
            <p:nvPr/>
          </p:nvSpPr>
          <p:spPr bwMode="auto">
            <a:xfrm>
              <a:off x="6096000" y="5029200"/>
              <a:ext cx="19050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2" name="Line 15"/>
            <p:cNvSpPr>
              <a:spLocks noChangeShapeType="1"/>
            </p:cNvSpPr>
            <p:nvPr/>
          </p:nvSpPr>
          <p:spPr bwMode="auto">
            <a:xfrm>
              <a:off x="6477000" y="5029200"/>
              <a:ext cx="12192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3" name="Line 16"/>
            <p:cNvSpPr>
              <a:spLocks noChangeShapeType="1"/>
            </p:cNvSpPr>
            <p:nvPr/>
          </p:nvSpPr>
          <p:spPr bwMode="auto">
            <a:xfrm>
              <a:off x="7162800" y="3962400"/>
              <a:ext cx="0" cy="1752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4" name="Line 17"/>
            <p:cNvSpPr>
              <a:spLocks noChangeShapeType="1"/>
            </p:cNvSpPr>
            <p:nvPr/>
          </p:nvSpPr>
          <p:spPr bwMode="auto">
            <a:xfrm flipH="1">
              <a:off x="7239000" y="5105400"/>
              <a:ext cx="685800" cy="6858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826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11" grpId="0" animBg="1" autoUpdateAnimBg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667933" y="3795713"/>
            <a:ext cx="8940800" cy="2133600"/>
            <a:chOff x="1296" y="1824"/>
            <a:chExt cx="3120" cy="1344"/>
          </a:xfrm>
        </p:grpSpPr>
        <p:sp>
          <p:nvSpPr>
            <p:cNvPr id="8241" name="Line 3"/>
            <p:cNvSpPr>
              <a:spLocks noChangeShapeType="1"/>
            </p:cNvSpPr>
            <p:nvPr/>
          </p:nvSpPr>
          <p:spPr bwMode="auto">
            <a:xfrm>
              <a:off x="1296" y="1824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2" name="Line 4"/>
            <p:cNvSpPr>
              <a:spLocks noChangeShapeType="1"/>
            </p:cNvSpPr>
            <p:nvPr/>
          </p:nvSpPr>
          <p:spPr bwMode="auto">
            <a:xfrm>
              <a:off x="1296" y="2160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3" name="Line 5"/>
            <p:cNvSpPr>
              <a:spLocks noChangeShapeType="1"/>
            </p:cNvSpPr>
            <p:nvPr/>
          </p:nvSpPr>
          <p:spPr bwMode="auto">
            <a:xfrm>
              <a:off x="1296" y="2496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4" name="Line 6"/>
            <p:cNvSpPr>
              <a:spLocks noChangeShapeType="1"/>
            </p:cNvSpPr>
            <p:nvPr/>
          </p:nvSpPr>
          <p:spPr bwMode="auto">
            <a:xfrm>
              <a:off x="1296" y="2832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5" name="Line 7"/>
            <p:cNvSpPr>
              <a:spLocks noChangeShapeType="1"/>
            </p:cNvSpPr>
            <p:nvPr/>
          </p:nvSpPr>
          <p:spPr bwMode="auto">
            <a:xfrm>
              <a:off x="1296" y="3168"/>
              <a:ext cx="31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6" name="Line 8"/>
            <p:cNvSpPr>
              <a:spLocks noChangeShapeType="1"/>
            </p:cNvSpPr>
            <p:nvPr/>
          </p:nvSpPr>
          <p:spPr bwMode="auto">
            <a:xfrm>
              <a:off x="441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7" name="Line 9"/>
            <p:cNvSpPr>
              <a:spLocks noChangeShapeType="1"/>
            </p:cNvSpPr>
            <p:nvPr/>
          </p:nvSpPr>
          <p:spPr bwMode="auto">
            <a:xfrm>
              <a:off x="12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8" name="Line 10"/>
            <p:cNvSpPr>
              <a:spLocks noChangeShapeType="1"/>
            </p:cNvSpPr>
            <p:nvPr/>
          </p:nvSpPr>
          <p:spPr bwMode="auto">
            <a:xfrm>
              <a:off x="3696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49" name="Line 11"/>
            <p:cNvSpPr>
              <a:spLocks noChangeShapeType="1"/>
            </p:cNvSpPr>
            <p:nvPr/>
          </p:nvSpPr>
          <p:spPr bwMode="auto">
            <a:xfrm>
              <a:off x="2880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50" name="Line 12"/>
            <p:cNvSpPr>
              <a:spLocks noChangeShapeType="1"/>
            </p:cNvSpPr>
            <p:nvPr/>
          </p:nvSpPr>
          <p:spPr bwMode="auto">
            <a:xfrm>
              <a:off x="2064" y="1824"/>
              <a:ext cx="0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4919133" y="39481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0" name="Equation" r:id="rId3" imgW="177569" imgH="304404" progId="Equation.3">
                  <p:embed/>
                </p:oleObj>
              </mc:Choice>
              <mc:Fallback>
                <p:oleObj name="Equation" r:id="rId3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133" y="39481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7357533" y="39481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1" name="Equation" r:id="rId5" imgW="177569" imgH="304404" progId="Equation.3">
                  <p:embed/>
                </p:oleObj>
              </mc:Choice>
              <mc:Fallback>
                <p:oleObj name="Equation" r:id="rId5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533" y="39481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2582333" y="44815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2" name="Equation" r:id="rId7" imgW="177569" imgH="304404" progId="Equation.3">
                  <p:embed/>
                </p:oleObj>
              </mc:Choice>
              <mc:Fallback>
                <p:oleObj name="Equation" r:id="rId7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33" y="44815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7357533" y="44815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3" name="Equation" r:id="rId8" imgW="177569" imgH="304404" progId="Equation.3">
                  <p:embed/>
                </p:oleObj>
              </mc:Choice>
              <mc:Fallback>
                <p:oleObj name="Equation" r:id="rId8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533" y="44815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/>
        </p:nvGraphicFramePr>
        <p:xfrm>
          <a:off x="9491133" y="50149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4" name="Equation" r:id="rId9" imgW="177569" imgH="304404" progId="Equation.3">
                  <p:embed/>
                </p:oleObj>
              </mc:Choice>
              <mc:Fallback>
                <p:oleObj name="Equation" r:id="rId9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1133" y="50149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2582333" y="50149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5" name="Equation" r:id="rId10" imgW="177569" imgH="304404" progId="Equation.3">
                  <p:embed/>
                </p:oleObj>
              </mc:Choice>
              <mc:Fallback>
                <p:oleObj name="Equation" r:id="rId10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33" y="50149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9"/>
          <p:cNvGraphicFramePr>
            <a:graphicFrameLocks noChangeAspect="1"/>
          </p:cNvGraphicFramePr>
          <p:nvPr/>
        </p:nvGraphicFramePr>
        <p:xfrm>
          <a:off x="4919133" y="5548313"/>
          <a:ext cx="23706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6" name="Equation" r:id="rId11" imgW="177569" imgH="304404" progId="Equation.3">
                  <p:embed/>
                </p:oleObj>
              </mc:Choice>
              <mc:Fallback>
                <p:oleObj name="Equation" r:id="rId11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133" y="5548313"/>
                        <a:ext cx="23706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/>
          <p:cNvGraphicFramePr>
            <a:graphicFrameLocks noChangeAspect="1"/>
          </p:cNvGraphicFramePr>
          <p:nvPr/>
        </p:nvGraphicFramePr>
        <p:xfrm>
          <a:off x="2582334" y="3948113"/>
          <a:ext cx="27093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57" name="Equation" r:id="rId12" imgW="203024" imgH="317225" progId="Equation.3">
                  <p:embed/>
                </p:oleObj>
              </mc:Choice>
              <mc:Fallback>
                <p:oleObj name="Equation" r:id="rId12" imgW="20302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34" y="3948113"/>
                        <a:ext cx="27093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2582333" y="3948113"/>
            <a:ext cx="7179733" cy="1917700"/>
            <a:chOff x="1200" y="2304"/>
            <a:chExt cx="3392" cy="1208"/>
          </a:xfrm>
        </p:grpSpPr>
        <p:graphicFrame>
          <p:nvGraphicFramePr>
            <p:cNvPr id="8233" name="Object 22"/>
            <p:cNvGraphicFramePr>
              <a:graphicFrameLocks noChangeAspect="1"/>
            </p:cNvGraphicFramePr>
            <p:nvPr/>
          </p:nvGraphicFramePr>
          <p:xfrm>
            <a:off x="3456" y="3312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58" name="Equation" r:id="rId14" imgW="203024" imgH="317225" progId="Equation.3">
                    <p:embed/>
                  </p:oleObj>
                </mc:Choice>
                <mc:Fallback>
                  <p:oleObj name="Equation" r:id="rId14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312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4" name="Object 23"/>
            <p:cNvGraphicFramePr>
              <a:graphicFrameLocks noChangeAspect="1"/>
            </p:cNvGraphicFramePr>
            <p:nvPr/>
          </p:nvGraphicFramePr>
          <p:xfrm>
            <a:off x="3456" y="2976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59" name="Equation" r:id="rId16" imgW="203024" imgH="317225" progId="Equation.3">
                    <p:embed/>
                  </p:oleObj>
                </mc:Choice>
                <mc:Fallback>
                  <p:oleObj name="Equation" r:id="rId16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76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5" name="Object 24"/>
            <p:cNvGraphicFramePr>
              <a:graphicFrameLocks noChangeAspect="1"/>
            </p:cNvGraphicFramePr>
            <p:nvPr/>
          </p:nvGraphicFramePr>
          <p:xfrm>
            <a:off x="1200" y="3312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0" name="Equation" r:id="rId17" imgW="203024" imgH="317225" progId="Equation.3">
                    <p:embed/>
                  </p:oleObj>
                </mc:Choice>
                <mc:Fallback>
                  <p:oleObj name="Equation" r:id="rId17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312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6" name="Object 25"/>
            <p:cNvGraphicFramePr>
              <a:graphicFrameLocks noChangeAspect="1"/>
            </p:cNvGraphicFramePr>
            <p:nvPr/>
          </p:nvGraphicFramePr>
          <p:xfrm>
            <a:off x="2304" y="2976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1" name="Equation" r:id="rId18" imgW="203024" imgH="317225" progId="Equation.3">
                    <p:embed/>
                  </p:oleObj>
                </mc:Choice>
                <mc:Fallback>
                  <p:oleObj name="Equation" r:id="rId18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976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7" name="Object 26"/>
            <p:cNvGraphicFramePr>
              <a:graphicFrameLocks noChangeAspect="1"/>
            </p:cNvGraphicFramePr>
            <p:nvPr/>
          </p:nvGraphicFramePr>
          <p:xfrm>
            <a:off x="4464" y="2640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2" name="Equation" r:id="rId19" imgW="203024" imgH="317225" progId="Equation.3">
                    <p:embed/>
                  </p:oleObj>
                </mc:Choice>
                <mc:Fallback>
                  <p:oleObj name="Equation" r:id="rId19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40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8" name="Object 27"/>
            <p:cNvGraphicFramePr>
              <a:graphicFrameLocks noChangeAspect="1"/>
            </p:cNvGraphicFramePr>
            <p:nvPr/>
          </p:nvGraphicFramePr>
          <p:xfrm>
            <a:off x="4464" y="3312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3" name="Equation" r:id="rId20" imgW="203024" imgH="317225" progId="Equation.3">
                    <p:embed/>
                  </p:oleObj>
                </mc:Choice>
                <mc:Fallback>
                  <p:oleObj name="Equation" r:id="rId20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312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9" name="Object 28"/>
            <p:cNvGraphicFramePr>
              <a:graphicFrameLocks noChangeAspect="1"/>
            </p:cNvGraphicFramePr>
            <p:nvPr/>
          </p:nvGraphicFramePr>
          <p:xfrm>
            <a:off x="2304" y="2640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4" name="Equation" r:id="rId21" imgW="203024" imgH="317225" progId="Equation.3">
                    <p:embed/>
                  </p:oleObj>
                </mc:Choice>
                <mc:Fallback>
                  <p:oleObj name="Equation" r:id="rId21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640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0" name="Object 29"/>
            <p:cNvGraphicFramePr>
              <a:graphicFrameLocks noChangeAspect="1"/>
            </p:cNvGraphicFramePr>
            <p:nvPr/>
          </p:nvGraphicFramePr>
          <p:xfrm>
            <a:off x="4464" y="230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5" name="Equation" r:id="rId22" imgW="203024" imgH="317225" progId="Equation.3">
                    <p:embed/>
                  </p:oleObj>
                </mc:Choice>
                <mc:Fallback>
                  <p:oleObj name="Equation" r:id="rId22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30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1261534" y="6005513"/>
            <a:ext cx="4108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>
                <a:latin typeface="Times New Roman" pitchFamily="18" charset="0"/>
              </a:rPr>
              <a:t>这个数表反映了四城市间交通联接情况</a:t>
            </a:r>
            <a:endParaRPr kumimoji="1" lang="en-US" altLang="zh-CN">
              <a:latin typeface="Times New Roman" pitchFamily="18" charset="0"/>
            </a:endParaRPr>
          </a:p>
        </p:txBody>
      </p:sp>
      <p:grpSp>
        <p:nvGrpSpPr>
          <p:cNvPr id="8205" name="Group 31"/>
          <p:cNvGrpSpPr>
            <a:grpSpLocks/>
          </p:cNvGrpSpPr>
          <p:nvPr/>
        </p:nvGrpSpPr>
        <p:grpSpPr bwMode="auto">
          <a:xfrm>
            <a:off x="2582333" y="1052513"/>
            <a:ext cx="7213600" cy="2590800"/>
            <a:chOff x="1200" y="480"/>
            <a:chExt cx="3408" cy="1632"/>
          </a:xfrm>
        </p:grpSpPr>
        <p:grpSp>
          <p:nvGrpSpPr>
            <p:cNvPr id="8207" name="Group 32"/>
            <p:cNvGrpSpPr>
              <a:grpSpLocks/>
            </p:cNvGrpSpPr>
            <p:nvPr/>
          </p:nvGrpSpPr>
          <p:grpSpPr bwMode="auto">
            <a:xfrm>
              <a:off x="1488" y="768"/>
              <a:ext cx="3120" cy="1344"/>
              <a:chOff x="1296" y="1824"/>
              <a:chExt cx="3120" cy="1344"/>
            </a:xfrm>
          </p:grpSpPr>
          <p:sp>
            <p:nvSpPr>
              <p:cNvPr id="8223" name="Line 33"/>
              <p:cNvSpPr>
                <a:spLocks noChangeShapeType="1"/>
              </p:cNvSpPr>
              <p:nvPr/>
            </p:nvSpPr>
            <p:spPr bwMode="auto">
              <a:xfrm>
                <a:off x="1296" y="1824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4" name="Line 34"/>
              <p:cNvSpPr>
                <a:spLocks noChangeShapeType="1"/>
              </p:cNvSpPr>
              <p:nvPr/>
            </p:nvSpPr>
            <p:spPr bwMode="auto">
              <a:xfrm>
                <a:off x="1296" y="2160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5" name="Line 35"/>
              <p:cNvSpPr>
                <a:spLocks noChangeShapeType="1"/>
              </p:cNvSpPr>
              <p:nvPr/>
            </p:nvSpPr>
            <p:spPr bwMode="auto">
              <a:xfrm>
                <a:off x="1296" y="2496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6" name="Line 36"/>
              <p:cNvSpPr>
                <a:spLocks noChangeShapeType="1"/>
              </p:cNvSpPr>
              <p:nvPr/>
            </p:nvSpPr>
            <p:spPr bwMode="auto">
              <a:xfrm>
                <a:off x="1296" y="2832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7" name="Line 37"/>
              <p:cNvSpPr>
                <a:spLocks noChangeShapeType="1"/>
              </p:cNvSpPr>
              <p:nvPr/>
            </p:nvSpPr>
            <p:spPr bwMode="auto">
              <a:xfrm>
                <a:off x="1296" y="3168"/>
                <a:ext cx="31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8" name="Line 38"/>
              <p:cNvSpPr>
                <a:spLocks noChangeShapeType="1"/>
              </p:cNvSpPr>
              <p:nvPr/>
            </p:nvSpPr>
            <p:spPr bwMode="auto">
              <a:xfrm>
                <a:off x="441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29" name="Line 39"/>
              <p:cNvSpPr>
                <a:spLocks noChangeShapeType="1"/>
              </p:cNvSpPr>
              <p:nvPr/>
            </p:nvSpPr>
            <p:spPr bwMode="auto">
              <a:xfrm>
                <a:off x="129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30" name="Line 40"/>
              <p:cNvSpPr>
                <a:spLocks noChangeShapeType="1"/>
              </p:cNvSpPr>
              <p:nvPr/>
            </p:nvSpPr>
            <p:spPr bwMode="auto">
              <a:xfrm>
                <a:off x="369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31" name="Line 41"/>
              <p:cNvSpPr>
                <a:spLocks noChangeShapeType="1"/>
              </p:cNvSpPr>
              <p:nvPr/>
            </p:nvSpPr>
            <p:spPr bwMode="auto">
              <a:xfrm>
                <a:off x="2880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32" name="Line 42"/>
              <p:cNvSpPr>
                <a:spLocks noChangeShapeType="1"/>
              </p:cNvSpPr>
              <p:nvPr/>
            </p:nvSpPr>
            <p:spPr bwMode="auto">
              <a:xfrm>
                <a:off x="2064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8208" name="Object 43"/>
            <p:cNvGraphicFramePr>
              <a:graphicFrameLocks noChangeAspect="1"/>
            </p:cNvGraphicFramePr>
            <p:nvPr/>
          </p:nvGraphicFramePr>
          <p:xfrm>
            <a:off x="1776" y="480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6" name="Equation" r:id="rId23" imgW="161965" imgH="180855" progId="Equation.3">
                    <p:embed/>
                  </p:oleObj>
                </mc:Choice>
                <mc:Fallback>
                  <p:oleObj name="Equation" r:id="rId23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480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9" name="Object 44"/>
            <p:cNvGraphicFramePr>
              <a:graphicFrameLocks noChangeAspect="1"/>
            </p:cNvGraphicFramePr>
            <p:nvPr/>
          </p:nvGraphicFramePr>
          <p:xfrm>
            <a:off x="2592" y="480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7" name="Equation" r:id="rId25" imgW="161965" imgH="161960" progId="Equation.3">
                    <p:embed/>
                  </p:oleObj>
                </mc:Choice>
                <mc:Fallback>
                  <p:oleObj name="Equation" r:id="rId25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480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0" name="Object 45"/>
            <p:cNvGraphicFramePr>
              <a:graphicFrameLocks noChangeAspect="1"/>
            </p:cNvGraphicFramePr>
            <p:nvPr/>
          </p:nvGraphicFramePr>
          <p:xfrm>
            <a:off x="3408" y="48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8" name="Equation" r:id="rId27" imgW="161965" imgH="190573" progId="Equation.3">
                    <p:embed/>
                  </p:oleObj>
                </mc:Choice>
                <mc:Fallback>
                  <p:oleObj name="Equation" r:id="rId27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48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1" name="Object 46"/>
            <p:cNvGraphicFramePr>
              <a:graphicFrameLocks noChangeAspect="1"/>
            </p:cNvGraphicFramePr>
            <p:nvPr/>
          </p:nvGraphicFramePr>
          <p:xfrm>
            <a:off x="4176" y="48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69" name="Equation" r:id="rId29" imgW="190578" imgH="161960" progId="Equation.3">
                    <p:embed/>
                  </p:oleObj>
                </mc:Choice>
                <mc:Fallback>
                  <p:oleObj name="Equation" r:id="rId29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48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" name="Object 47"/>
            <p:cNvGraphicFramePr>
              <a:graphicFrameLocks noChangeAspect="1"/>
            </p:cNvGraphicFramePr>
            <p:nvPr/>
          </p:nvGraphicFramePr>
          <p:xfrm>
            <a:off x="1200" y="86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70" name="Equation" r:id="rId31" imgW="161965" imgH="180855" progId="Equation.3">
                    <p:embed/>
                  </p:oleObj>
                </mc:Choice>
                <mc:Fallback>
                  <p:oleObj name="Equation" r:id="rId31" imgW="161965" imgH="18085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864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3" name="Object 48"/>
            <p:cNvGraphicFramePr>
              <a:graphicFrameLocks noChangeAspect="1"/>
            </p:cNvGraphicFramePr>
            <p:nvPr/>
          </p:nvGraphicFramePr>
          <p:xfrm>
            <a:off x="1200" y="1200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71" name="Equation" r:id="rId33" imgW="161965" imgH="161960" progId="Equation.3">
                    <p:embed/>
                  </p:oleObj>
                </mc:Choice>
                <mc:Fallback>
                  <p:oleObj name="Equation" r:id="rId33" imgW="161965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00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49"/>
            <p:cNvGraphicFramePr>
              <a:graphicFrameLocks noChangeAspect="1"/>
            </p:cNvGraphicFramePr>
            <p:nvPr/>
          </p:nvGraphicFramePr>
          <p:xfrm>
            <a:off x="1200" y="1536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72" name="Equation" r:id="rId35" imgW="161965" imgH="190573" progId="Equation.3">
                    <p:embed/>
                  </p:oleObj>
                </mc:Choice>
                <mc:Fallback>
                  <p:oleObj name="Equation" r:id="rId35" imgW="161965" imgH="1905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536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50"/>
            <p:cNvGraphicFramePr>
              <a:graphicFrameLocks noChangeAspect="1"/>
            </p:cNvGraphicFramePr>
            <p:nvPr/>
          </p:nvGraphicFramePr>
          <p:xfrm>
            <a:off x="1200" y="187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073" name="Equation" r:id="rId37" imgW="190578" imgH="161960" progId="Equation.3">
                    <p:embed/>
                  </p:oleObj>
                </mc:Choice>
                <mc:Fallback>
                  <p:oleObj name="Equation" r:id="rId37" imgW="190578" imgH="16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87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Freeform 51"/>
            <p:cNvSpPr>
              <a:spLocks/>
            </p:cNvSpPr>
            <p:nvPr/>
          </p:nvSpPr>
          <p:spPr bwMode="auto">
            <a:xfrm>
              <a:off x="2496" y="912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7" name="Freeform 52"/>
            <p:cNvSpPr>
              <a:spLocks/>
            </p:cNvSpPr>
            <p:nvPr/>
          </p:nvSpPr>
          <p:spPr bwMode="auto">
            <a:xfrm>
              <a:off x="1680" y="1248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8" name="Freeform 53"/>
            <p:cNvSpPr>
              <a:spLocks/>
            </p:cNvSpPr>
            <p:nvPr/>
          </p:nvSpPr>
          <p:spPr bwMode="auto">
            <a:xfrm>
              <a:off x="3264" y="912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19" name="Freeform 54"/>
            <p:cNvSpPr>
              <a:spLocks/>
            </p:cNvSpPr>
            <p:nvPr/>
          </p:nvSpPr>
          <p:spPr bwMode="auto">
            <a:xfrm>
              <a:off x="3264" y="1248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0" name="Freeform 55"/>
            <p:cNvSpPr>
              <a:spLocks/>
            </p:cNvSpPr>
            <p:nvPr/>
          </p:nvSpPr>
          <p:spPr bwMode="auto">
            <a:xfrm>
              <a:off x="4032" y="1536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1" name="Freeform 56"/>
            <p:cNvSpPr>
              <a:spLocks/>
            </p:cNvSpPr>
            <p:nvPr/>
          </p:nvSpPr>
          <p:spPr bwMode="auto">
            <a:xfrm>
              <a:off x="2544" y="1872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22" name="Freeform 57"/>
            <p:cNvSpPr>
              <a:spLocks/>
            </p:cNvSpPr>
            <p:nvPr/>
          </p:nvSpPr>
          <p:spPr bwMode="auto">
            <a:xfrm>
              <a:off x="1680" y="1584"/>
              <a:ext cx="432" cy="144"/>
            </a:xfrm>
            <a:custGeom>
              <a:avLst/>
              <a:gdLst>
                <a:gd name="T0" fmla="*/ 0 w 432"/>
                <a:gd name="T1" fmla="*/ 0 h 144"/>
                <a:gd name="T2" fmla="*/ 144 w 432"/>
                <a:gd name="T3" fmla="*/ 144 h 144"/>
                <a:gd name="T4" fmla="*/ 432 w 432"/>
                <a:gd name="T5" fmla="*/ 0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144">
                  <a:moveTo>
                    <a:pt x="0" y="0"/>
                  </a:moveTo>
                  <a:cubicBezTo>
                    <a:pt x="36" y="72"/>
                    <a:pt x="72" y="144"/>
                    <a:pt x="144" y="144"/>
                  </a:cubicBezTo>
                  <a:cubicBezTo>
                    <a:pt x="216" y="144"/>
                    <a:pt x="384" y="24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46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矩阵的概念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 阵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156346" y="1380092"/>
            <a:ext cx="6864824" cy="461665"/>
            <a:chOff x="2156346" y="1350501"/>
            <a:chExt cx="6864824" cy="461665"/>
          </a:xfrm>
        </p:grpSpPr>
        <p:sp>
          <p:nvSpPr>
            <p:cNvPr id="2" name="文本框 1"/>
            <p:cNvSpPr txBox="1"/>
            <p:nvPr/>
          </p:nvSpPr>
          <p:spPr>
            <a:xfrm>
              <a:off x="2156346" y="1350501"/>
              <a:ext cx="68648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个数排成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列构成的数表，称为矩阵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9717623"/>
                </p:ext>
              </p:extLst>
            </p:nvPr>
          </p:nvGraphicFramePr>
          <p:xfrm>
            <a:off x="2652577" y="1418768"/>
            <a:ext cx="827601" cy="325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3" name="Equation" r:id="rId3" imgW="355320" imgH="139680" progId="Equation.DSMT4">
                    <p:embed/>
                  </p:oleObj>
                </mc:Choice>
                <mc:Fallback>
                  <p:oleObj name="Equation" r:id="rId3" imgW="3553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52577" y="1418768"/>
                          <a:ext cx="827601" cy="3251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/>
          <p:cNvSpPr txBox="1"/>
          <p:nvPr/>
        </p:nvSpPr>
        <p:spPr>
          <a:xfrm>
            <a:off x="548765" y="2092623"/>
            <a:ext cx="118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记为：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933761"/>
              </p:ext>
            </p:extLst>
          </p:nvPr>
        </p:nvGraphicFramePr>
        <p:xfrm>
          <a:off x="2109788" y="2474913"/>
          <a:ext cx="2911475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4" name="Equation" r:id="rId5" imgW="1574640" imgH="939600" progId="Equation.DSMT4">
                  <p:embed/>
                </p:oleObj>
              </mc:Choice>
              <mc:Fallback>
                <p:oleObj name="Equation" r:id="rId5" imgW="15746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09788" y="2474913"/>
                        <a:ext cx="2911475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910425"/>
              </p:ext>
            </p:extLst>
          </p:nvPr>
        </p:nvGraphicFramePr>
        <p:xfrm>
          <a:off x="5037101" y="3100532"/>
          <a:ext cx="11033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5" name="Equation" r:id="rId7" imgW="596880" imgH="291960" progId="Equation.DSMT4">
                  <p:embed/>
                </p:oleObj>
              </mc:Choice>
              <mc:Fallback>
                <p:oleObj name="Equation" r:id="rId7" imgW="596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37101" y="3100532"/>
                        <a:ext cx="110331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6854007" y="2554288"/>
            <a:ext cx="3013324" cy="1499097"/>
            <a:chOff x="6854007" y="2554288"/>
            <a:chExt cx="3013324" cy="1499097"/>
          </a:xfrm>
        </p:grpSpPr>
        <p:grpSp>
          <p:nvGrpSpPr>
            <p:cNvPr id="30" name="组合 29"/>
            <p:cNvGrpSpPr/>
            <p:nvPr/>
          </p:nvGrpSpPr>
          <p:grpSpPr>
            <a:xfrm>
              <a:off x="7191620" y="2680441"/>
              <a:ext cx="2519923" cy="461665"/>
              <a:chOff x="7191620" y="2680441"/>
              <a:chExt cx="2519923" cy="461665"/>
            </a:xfrm>
          </p:grpSpPr>
          <p:graphicFrame>
            <p:nvGraphicFramePr>
              <p:cNvPr id="28" name="对象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1787042"/>
                  </p:ext>
                </p:extLst>
              </p:nvPr>
            </p:nvGraphicFramePr>
            <p:xfrm>
              <a:off x="7191620" y="2748710"/>
              <a:ext cx="827601" cy="325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26" name="Equation" r:id="rId9" imgW="355320" imgH="139680" progId="Equation.DSMT4">
                      <p:embed/>
                    </p:oleObj>
                  </mc:Choice>
                  <mc:Fallback>
                    <p:oleObj name="Equation" r:id="rId9" imgW="3553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191620" y="2748710"/>
                            <a:ext cx="827601" cy="3251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文本框 28"/>
              <p:cNvSpPr txBox="1"/>
              <p:nvPr/>
            </p:nvSpPr>
            <p:spPr>
              <a:xfrm>
                <a:off x="8019221" y="2680441"/>
                <a:ext cx="1692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的型</a:t>
                </a:r>
              </a:p>
            </p:txBody>
          </p:sp>
        </p:grp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7389041"/>
                </p:ext>
              </p:extLst>
            </p:nvPr>
          </p:nvGraphicFramePr>
          <p:xfrm>
            <a:off x="7191620" y="3332601"/>
            <a:ext cx="1033462" cy="561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7" name="Equation" r:id="rId11" imgW="444240" imgH="241200" progId="Equation.DSMT4">
                    <p:embed/>
                  </p:oleObj>
                </mc:Choice>
                <mc:Fallback>
                  <p:oleObj name="Equation" r:id="rId11" imgW="4442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191620" y="3332601"/>
                          <a:ext cx="1033462" cy="561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文本框 31"/>
            <p:cNvSpPr txBox="1"/>
            <p:nvPr/>
          </p:nvSpPr>
          <p:spPr>
            <a:xfrm>
              <a:off x="8175009" y="3370407"/>
              <a:ext cx="1692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实矩阵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6854007" y="2554288"/>
              <a:ext cx="2642003" cy="149909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48765" y="4572102"/>
            <a:ext cx="1766651" cy="703385"/>
            <a:chOff x="723331" y="4717139"/>
            <a:chExt cx="1766651" cy="7033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圆角矩形 39"/>
            <p:cNvSpPr/>
            <p:nvPr/>
          </p:nvSpPr>
          <p:spPr>
            <a:xfrm>
              <a:off x="723331" y="4717139"/>
              <a:ext cx="1433015" cy="703385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23331" y="4783015"/>
              <a:ext cx="17666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矩阵相等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315416" y="4667569"/>
            <a:ext cx="3907365" cy="542925"/>
            <a:chOff x="2396452" y="4742384"/>
            <a:chExt cx="3907365" cy="542925"/>
          </a:xfrm>
        </p:grpSpPr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029860"/>
                </p:ext>
              </p:extLst>
            </p:nvPr>
          </p:nvGraphicFramePr>
          <p:xfrm>
            <a:off x="2396452" y="4813822"/>
            <a:ext cx="133985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8" name="Equation" r:id="rId13" imgW="596880" imgH="177480" progId="Equation.DSMT4">
                    <p:embed/>
                  </p:oleObj>
                </mc:Choice>
                <mc:Fallback>
                  <p:oleObj name="Equation" r:id="rId13" imgW="596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96452" y="4813822"/>
                          <a:ext cx="133985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文本框 35"/>
            <p:cNvSpPr txBox="1"/>
            <p:nvPr/>
          </p:nvSpPr>
          <p:spPr>
            <a:xfrm>
              <a:off x="3736303" y="4813822"/>
              <a:ext cx="14546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同型，且</a:t>
              </a:r>
            </a:p>
          </p:txBody>
        </p:sp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916675"/>
                </p:ext>
              </p:extLst>
            </p:nvPr>
          </p:nvGraphicFramePr>
          <p:xfrm>
            <a:off x="5190979" y="4742384"/>
            <a:ext cx="1112838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9" name="Equation" r:id="rId15" imgW="495000" imgH="241200" progId="Equation.DSMT4">
                    <p:embed/>
                  </p:oleObj>
                </mc:Choice>
                <mc:Fallback>
                  <p:oleObj name="Equation" r:id="rId15" imgW="4950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190979" y="4742384"/>
                          <a:ext cx="1112838" cy="542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1202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矩阵的概念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8764" y="1291320"/>
            <a:ext cx="2603869" cy="580029"/>
            <a:chOff x="548764" y="1201915"/>
            <a:chExt cx="260386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4" y="1201915"/>
              <a:ext cx="2603869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特殊类型的矩阵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8765" y="2335237"/>
            <a:ext cx="1730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零矩阵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308234"/>
              </p:ext>
            </p:extLst>
          </p:nvPr>
        </p:nvGraphicFramePr>
        <p:xfrm>
          <a:off x="2076255" y="2191699"/>
          <a:ext cx="1904902" cy="78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2" name="Equation" r:id="rId4" imgW="1104840" imgH="457200" progId="Equation.DSMT4">
                  <p:embed/>
                </p:oleObj>
              </mc:Choice>
              <mc:Fallback>
                <p:oleObj name="Equation" r:id="rId4" imgW="1104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76255" y="2191699"/>
                        <a:ext cx="1904902" cy="78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914418"/>
              </p:ext>
            </p:extLst>
          </p:nvPr>
        </p:nvGraphicFramePr>
        <p:xfrm>
          <a:off x="4184088" y="2369219"/>
          <a:ext cx="5254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3" name="Equation" r:id="rId6" imgW="304560" imgH="228600" progId="Equation.DSMT4">
                  <p:embed/>
                </p:oleObj>
              </mc:Choice>
              <mc:Fallback>
                <p:oleObj name="Equation" r:id="rId6" imgW="304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84088" y="2369219"/>
                        <a:ext cx="525462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48764" y="3444413"/>
            <a:ext cx="4123248" cy="462074"/>
            <a:chOff x="548765" y="3212989"/>
            <a:chExt cx="4123248" cy="462074"/>
          </a:xfrm>
        </p:grpSpPr>
        <p:sp>
          <p:nvSpPr>
            <p:cNvPr id="43" name="文本框 42"/>
            <p:cNvSpPr txBox="1"/>
            <p:nvPr/>
          </p:nvSpPr>
          <p:spPr>
            <a:xfrm>
              <a:off x="548765" y="3212989"/>
              <a:ext cx="17302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行向量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100882"/>
                </p:ext>
              </p:extLst>
            </p:nvPr>
          </p:nvGraphicFramePr>
          <p:xfrm>
            <a:off x="2022475" y="3236913"/>
            <a:ext cx="2649538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4" name="Equation" r:id="rId8" imgW="1536480" imgH="253800" progId="Equation.DSMT4">
                    <p:embed/>
                  </p:oleObj>
                </mc:Choice>
                <mc:Fallback>
                  <p:oleObj name="Equation" r:id="rId8" imgW="15364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22475" y="3236913"/>
                          <a:ext cx="2649538" cy="438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4791226" y="2862554"/>
            <a:ext cx="1730202" cy="1620838"/>
            <a:chOff x="4791227" y="2631130"/>
            <a:chExt cx="1730202" cy="1620838"/>
          </a:xfrm>
        </p:grpSpPr>
        <p:sp>
          <p:nvSpPr>
            <p:cNvPr id="11" name="文本框 10"/>
            <p:cNvSpPr txBox="1"/>
            <p:nvPr/>
          </p:nvSpPr>
          <p:spPr>
            <a:xfrm>
              <a:off x="4791227" y="3210717"/>
              <a:ext cx="17302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013621"/>
                </p:ext>
              </p:extLst>
            </p:nvPr>
          </p:nvGraphicFramePr>
          <p:xfrm>
            <a:off x="5886429" y="2631130"/>
            <a:ext cx="635000" cy="162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5" name="Equation" r:id="rId10" imgW="368280" imgH="939600" progId="Equation.DSMT4">
                    <p:embed/>
                  </p:oleObj>
                </mc:Choice>
                <mc:Fallback>
                  <p:oleObj name="Equation" r:id="rId10" imgW="36828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886429" y="2631130"/>
                          <a:ext cx="635000" cy="16208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572997" y="4137025"/>
            <a:ext cx="4267291" cy="1738313"/>
            <a:chOff x="572997" y="4137025"/>
            <a:chExt cx="4267291" cy="1738313"/>
          </a:xfrm>
        </p:grpSpPr>
        <p:sp>
          <p:nvSpPr>
            <p:cNvPr id="13" name="文本框 12"/>
            <p:cNvSpPr txBox="1"/>
            <p:nvPr/>
          </p:nvSpPr>
          <p:spPr>
            <a:xfrm>
              <a:off x="572997" y="4544705"/>
              <a:ext cx="1705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 n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阶方阵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3408446"/>
                </p:ext>
              </p:extLst>
            </p:nvPr>
          </p:nvGraphicFramePr>
          <p:xfrm>
            <a:off x="2209800" y="4137025"/>
            <a:ext cx="2630488" cy="173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6" name="Equation" r:id="rId12" imgW="1422360" imgH="939600" progId="Equation.DSMT4">
                    <p:embed/>
                  </p:oleObj>
                </mc:Choice>
                <mc:Fallback>
                  <p:oleObj name="Equation" r:id="rId12" imgW="142236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209800" y="4137025"/>
                          <a:ext cx="2630488" cy="173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8135938" y="1350501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圆角矩形 14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特殊的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阶方阵：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135938" y="2565400"/>
            <a:ext cx="2325687" cy="2363468"/>
            <a:chOff x="8135938" y="2565400"/>
            <a:chExt cx="2325687" cy="2363468"/>
          </a:xfrm>
        </p:grpSpPr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0033880"/>
                </p:ext>
              </p:extLst>
            </p:nvPr>
          </p:nvGraphicFramePr>
          <p:xfrm>
            <a:off x="8135938" y="2565400"/>
            <a:ext cx="2325687" cy="173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7" name="Equation" r:id="rId14" imgW="1257120" imgH="939600" progId="Equation.DSMT4">
                    <p:embed/>
                  </p:oleObj>
                </mc:Choice>
                <mc:Fallback>
                  <p:oleObj name="Equation" r:id="rId14" imgW="12571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135938" y="2565400"/>
                          <a:ext cx="2325687" cy="173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本框 23"/>
            <p:cNvSpPr txBox="1"/>
            <p:nvPr/>
          </p:nvSpPr>
          <p:spPr>
            <a:xfrm>
              <a:off x="8518394" y="4467203"/>
              <a:ext cx="1943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上三角阵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135938" y="2558272"/>
            <a:ext cx="2347912" cy="2370596"/>
            <a:chOff x="8116888" y="2428875"/>
            <a:chExt cx="2347912" cy="2370596"/>
          </a:xfrm>
        </p:grpSpPr>
        <p:sp>
          <p:nvSpPr>
            <p:cNvPr id="26" name="文本框 25"/>
            <p:cNvSpPr txBox="1"/>
            <p:nvPr/>
          </p:nvSpPr>
          <p:spPr>
            <a:xfrm>
              <a:off x="8521569" y="4337806"/>
              <a:ext cx="1943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三角阵</a:t>
              </a: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040651"/>
                </p:ext>
              </p:extLst>
            </p:nvPr>
          </p:nvGraphicFramePr>
          <p:xfrm>
            <a:off x="8116888" y="2428875"/>
            <a:ext cx="2347912" cy="173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8" name="Equation" r:id="rId16" imgW="1269720" imgH="939600" progId="Equation.DSMT4">
                    <p:embed/>
                  </p:oleObj>
                </mc:Choice>
                <mc:Fallback>
                  <p:oleObj name="Equation" r:id="rId16" imgW="126972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116888" y="2428875"/>
                          <a:ext cx="2347912" cy="173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8110384" y="2588217"/>
            <a:ext cx="2089150" cy="2198390"/>
            <a:chOff x="8447750" y="2585816"/>
            <a:chExt cx="2089150" cy="2198390"/>
          </a:xfrm>
        </p:grpSpPr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7976221"/>
                </p:ext>
              </p:extLst>
            </p:nvPr>
          </p:nvGraphicFramePr>
          <p:xfrm>
            <a:off x="8447750" y="2585816"/>
            <a:ext cx="2089150" cy="173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9" name="Equation" r:id="rId18" imgW="1130040" imgH="939600" progId="Equation.DSMT4">
                    <p:embed/>
                  </p:oleObj>
                </mc:Choice>
                <mc:Fallback>
                  <p:oleObj name="Equation" r:id="rId18" imgW="11300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447750" y="2585816"/>
                          <a:ext cx="2089150" cy="17367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/>
            <p:cNvSpPr txBox="1"/>
            <p:nvPr/>
          </p:nvSpPr>
          <p:spPr>
            <a:xfrm>
              <a:off x="8905164" y="4322541"/>
              <a:ext cx="116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对角阵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135938" y="2585816"/>
            <a:ext cx="1878013" cy="2295949"/>
            <a:chOff x="6569737" y="3638048"/>
            <a:chExt cx="1878013" cy="2295949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9640221"/>
                </p:ext>
              </p:extLst>
            </p:nvPr>
          </p:nvGraphicFramePr>
          <p:xfrm>
            <a:off x="6569737" y="3638048"/>
            <a:ext cx="1878013" cy="169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10" name="Equation" r:id="rId20" imgW="1015920" imgH="914400" progId="Equation.DSMT4">
                    <p:embed/>
                  </p:oleObj>
                </mc:Choice>
                <mc:Fallback>
                  <p:oleObj name="Equation" r:id="rId20" imgW="101592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569737" y="3638048"/>
                          <a:ext cx="1878013" cy="16906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文本框 33"/>
            <p:cNvSpPr txBox="1"/>
            <p:nvPr/>
          </p:nvSpPr>
          <p:spPr>
            <a:xfrm>
              <a:off x="6879102" y="5472332"/>
              <a:ext cx="11048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7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 法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210938" y="1291320"/>
            <a:ext cx="4171120" cy="679450"/>
            <a:chOff x="2210938" y="1291320"/>
            <a:chExt cx="4171120" cy="679450"/>
          </a:xfrm>
        </p:grpSpPr>
        <p:sp>
          <p:nvSpPr>
            <p:cNvPr id="8" name="文本框 7"/>
            <p:cNvSpPr txBox="1"/>
            <p:nvPr/>
          </p:nvSpPr>
          <p:spPr>
            <a:xfrm>
              <a:off x="2210938" y="1390815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</a:t>
              </a: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/>
            </p:nvPr>
          </p:nvGraphicFramePr>
          <p:xfrm>
            <a:off x="2770496" y="1291320"/>
            <a:ext cx="3611562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30" name="Equation" r:id="rId3" imgW="1549080" imgH="291960" progId="Equation.DSMT4">
                    <p:embed/>
                  </p:oleObj>
                </mc:Choice>
                <mc:Fallback>
                  <p:oleObj name="Equation" r:id="rId3" imgW="15490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0496" y="1291320"/>
                          <a:ext cx="3611562" cy="679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6661837" y="1262063"/>
            <a:ext cx="4077601" cy="677862"/>
            <a:chOff x="6661837" y="1262063"/>
            <a:chExt cx="4077601" cy="677862"/>
          </a:xfrm>
        </p:grpSpPr>
        <p:sp>
          <p:nvSpPr>
            <p:cNvPr id="10" name="文本框 9"/>
            <p:cNvSpPr txBox="1"/>
            <p:nvPr/>
          </p:nvSpPr>
          <p:spPr>
            <a:xfrm>
              <a:off x="6661837" y="1389637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/>
            </p:nvPr>
          </p:nvGraphicFramePr>
          <p:xfrm>
            <a:off x="7305675" y="1262063"/>
            <a:ext cx="3433763" cy="677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31" name="Equation" r:id="rId5" imgW="1473120" imgH="291960" progId="Equation.DSMT4">
                    <p:embed/>
                  </p:oleObj>
                </mc:Choice>
                <mc:Fallback>
                  <p:oleObj name="Equation" r:id="rId5" imgW="147312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05675" y="1262063"/>
                          <a:ext cx="3433763" cy="677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548765" y="2166775"/>
            <a:ext cx="886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的和，求和的运算称为加法，记作：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8765" y="3373225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加法的运算律：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508162"/>
              </p:ext>
            </p:extLst>
          </p:nvPr>
        </p:nvGraphicFramePr>
        <p:xfrm>
          <a:off x="548765" y="4213141"/>
          <a:ext cx="2457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32" name="Equation" r:id="rId7" imgW="1054080" imgH="203040" progId="Equation.DSMT4">
                  <p:embed/>
                </p:oleObj>
              </mc:Choice>
              <mc:Fallback>
                <p:oleObj name="Equation" r:id="rId7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8765" y="4213141"/>
                        <a:ext cx="2457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/>
          </p:nvPr>
        </p:nvGraphicFramePr>
        <p:xfrm>
          <a:off x="463550" y="4964113"/>
          <a:ext cx="4292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33" name="Equation" r:id="rId9" imgW="1841400" imgH="253800" progId="Equation.DSMT4">
                  <p:embed/>
                </p:oleObj>
              </mc:Choice>
              <mc:Fallback>
                <p:oleObj name="Equation" r:id="rId9" imgW="1841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550" y="4964113"/>
                        <a:ext cx="42926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4984566" y="4222963"/>
            <a:ext cx="4862697" cy="471487"/>
            <a:chOff x="287259" y="4913194"/>
            <a:chExt cx="4862697" cy="471487"/>
          </a:xfrm>
        </p:grpSpPr>
        <p:sp>
          <p:nvSpPr>
            <p:cNvPr id="20" name="文本框 19"/>
            <p:cNvSpPr txBox="1"/>
            <p:nvPr/>
          </p:nvSpPr>
          <p:spPr>
            <a:xfrm>
              <a:off x="675374" y="4913194"/>
              <a:ext cx="4307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任意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，存在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，使得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/>
            </p:nvPr>
          </p:nvGraphicFramePr>
          <p:xfrm>
            <a:off x="3579918" y="4938381"/>
            <a:ext cx="1570038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34" name="Equation" r:id="rId11" imgW="672840" imgH="177480" progId="Equation.DSMT4">
                    <p:embed/>
                  </p:oleObj>
                </mc:Choice>
                <mc:Fallback>
                  <p:oleObj name="Equation" r:id="rId11" imgW="67284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79918" y="4938381"/>
                          <a:ext cx="1570038" cy="412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/>
            </p:nvPr>
          </p:nvGraphicFramePr>
          <p:xfrm>
            <a:off x="287259" y="4913194"/>
            <a:ext cx="503238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35" name="Equation" r:id="rId13" imgW="215640" imgH="203040" progId="Equation.DSMT4">
                    <p:embed/>
                  </p:oleObj>
                </mc:Choice>
                <mc:Fallback>
                  <p:oleObj name="Equation" r:id="rId13" imgW="2156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7259" y="4913194"/>
                          <a:ext cx="503238" cy="4714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4970942" y="4994275"/>
            <a:ext cx="6903558" cy="560388"/>
            <a:chOff x="4970942" y="4994275"/>
            <a:chExt cx="6903558" cy="560388"/>
          </a:xfrm>
        </p:grpSpPr>
        <p:grpSp>
          <p:nvGrpSpPr>
            <p:cNvPr id="24" name="组合 23"/>
            <p:cNvGrpSpPr/>
            <p:nvPr/>
          </p:nvGrpSpPr>
          <p:grpSpPr>
            <a:xfrm>
              <a:off x="4970942" y="5009777"/>
              <a:ext cx="6903558" cy="500436"/>
              <a:chOff x="273635" y="4912905"/>
              <a:chExt cx="6903558" cy="500436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675374" y="4913194"/>
                <a:ext cx="461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，存在               ，     使得</a:t>
                </a:r>
              </a:p>
            </p:txBody>
          </p:sp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165831" y="4941853"/>
              <a:ext cx="2011362" cy="471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36" name="Equation" r:id="rId15" imgW="863280" imgH="203040" progId="Equation.DSMT4">
                      <p:embed/>
                    </p:oleObj>
                  </mc:Choice>
                  <mc:Fallback>
                    <p:oleObj name="Equation" r:id="rId15" imgW="86328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165831" y="4941853"/>
                            <a:ext cx="2011362" cy="4714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73635" y="4912905"/>
              <a:ext cx="531813" cy="4714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37" name="Equation" r:id="rId17" imgW="228600" imgH="203040" progId="Equation.DSMT4">
                      <p:embed/>
                    </p:oleObj>
                  </mc:Choice>
                  <mc:Fallback>
                    <p:oleObj name="Equation" r:id="rId17" imgW="22860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73635" y="4912905"/>
                            <a:ext cx="531813" cy="4714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8" name="对象 27"/>
            <p:cNvGraphicFramePr>
              <a:graphicFrameLocks noChangeAspect="1"/>
            </p:cNvGraphicFramePr>
            <p:nvPr>
              <p:extLst/>
            </p:nvPr>
          </p:nvGraphicFramePr>
          <p:xfrm>
            <a:off x="7221395" y="4994275"/>
            <a:ext cx="2071688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38" name="Equation" r:id="rId19" imgW="888840" imgH="241200" progId="Equation.DSMT4">
                    <p:embed/>
                  </p:oleObj>
                </mc:Choice>
                <mc:Fallback>
                  <p:oleObj name="Equation" r:id="rId19" imgW="8888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221395" y="4994275"/>
                          <a:ext cx="2071688" cy="560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561986" y="2599720"/>
            <a:ext cx="5407889" cy="571474"/>
            <a:chOff x="7069539" y="1350501"/>
            <a:chExt cx="5407889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7069539" y="1350501"/>
              <a:ext cx="5407889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16"/>
            <p:cNvSpPr txBox="1"/>
            <p:nvPr/>
          </p:nvSpPr>
          <p:spPr>
            <a:xfrm>
              <a:off x="7167158" y="1460309"/>
              <a:ext cx="5310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加法：同型矩阵，对应元素相加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379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乘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423875" y="1323975"/>
            <a:ext cx="3516925" cy="677863"/>
            <a:chOff x="6661837" y="1322731"/>
            <a:chExt cx="3516925" cy="677863"/>
          </a:xfrm>
        </p:grpSpPr>
        <p:sp>
          <p:nvSpPr>
            <p:cNvPr id="10" name="文本框 9"/>
            <p:cNvSpPr txBox="1"/>
            <p:nvPr/>
          </p:nvSpPr>
          <p:spPr>
            <a:xfrm>
              <a:off x="6661837" y="1389637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3771870"/>
                </p:ext>
              </p:extLst>
            </p:nvPr>
          </p:nvGraphicFramePr>
          <p:xfrm>
            <a:off x="7070437" y="1322731"/>
            <a:ext cx="3108325" cy="677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415" name="Equation" r:id="rId3" imgW="1333440" imgH="291960" progId="Equation.DSMT4">
                    <p:embed/>
                  </p:oleObj>
                </mc:Choice>
                <mc:Fallback>
                  <p:oleObj name="Equation" r:id="rId3" imgW="133344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70437" y="1322731"/>
                          <a:ext cx="3108325" cy="6778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548765" y="2303410"/>
            <a:ext cx="886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的数乘积，记作：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8765" y="3263417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数乘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的运算律：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50621"/>
              </p:ext>
            </p:extLst>
          </p:nvPr>
        </p:nvGraphicFramePr>
        <p:xfrm>
          <a:off x="981075" y="4176713"/>
          <a:ext cx="148113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6" name="Equation" r:id="rId5" imgW="634680" imgH="203040" progId="Equation.DSMT4">
                  <p:embed/>
                </p:oleObj>
              </mc:Choice>
              <mc:Fallback>
                <p:oleObj name="Equation" r:id="rId5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1075" y="4176713"/>
                        <a:ext cx="148113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470980"/>
              </p:ext>
            </p:extLst>
          </p:nvPr>
        </p:nvGraphicFramePr>
        <p:xfrm>
          <a:off x="981075" y="4856189"/>
          <a:ext cx="26654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7" name="Equation" r:id="rId7" imgW="1143000" imgH="253800" progId="Equation.DSMT4">
                  <p:embed/>
                </p:oleObj>
              </mc:Choice>
              <mc:Fallback>
                <p:oleObj name="Equation" r:id="rId7" imgW="1143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1075" y="4856189"/>
                        <a:ext cx="2665413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210938" y="1308047"/>
            <a:ext cx="3322933" cy="679450"/>
            <a:chOff x="2210938" y="1308047"/>
            <a:chExt cx="3322933" cy="679450"/>
          </a:xfrm>
        </p:grpSpPr>
        <p:grpSp>
          <p:nvGrpSpPr>
            <p:cNvPr id="13" name="组合 12"/>
            <p:cNvGrpSpPr/>
            <p:nvPr/>
          </p:nvGrpSpPr>
          <p:grpSpPr>
            <a:xfrm>
              <a:off x="2210938" y="1308047"/>
              <a:ext cx="2331361" cy="679450"/>
              <a:chOff x="2210938" y="1308047"/>
              <a:chExt cx="2331361" cy="679450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210938" y="1390815"/>
                <a:ext cx="559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      </a:t>
                </a:r>
              </a:p>
            </p:txBody>
          </p:sp>
          <p:graphicFrame>
            <p:nvGraphicFramePr>
              <p:cNvPr id="9" name="对象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92281426"/>
                  </p:ext>
                </p:extLst>
              </p:nvPr>
            </p:nvGraphicFramePr>
            <p:xfrm>
              <a:off x="2676987" y="1308047"/>
              <a:ext cx="1865312" cy="679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418" name="Equation" r:id="rId9" imgW="799920" imgH="291960" progId="Equation.DSMT4">
                      <p:embed/>
                    </p:oleObj>
                  </mc:Choice>
                  <mc:Fallback>
                    <p:oleObj name="Equation" r:id="rId9" imgW="79992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676987" y="1308047"/>
                            <a:ext cx="1865312" cy="679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" name="文本框 1"/>
            <p:cNvSpPr txBox="1"/>
            <p:nvPr/>
          </p:nvSpPr>
          <p:spPr>
            <a:xfrm>
              <a:off x="4542298" y="1389637"/>
              <a:ext cx="991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k,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560293"/>
              </p:ext>
            </p:extLst>
          </p:nvPr>
        </p:nvGraphicFramePr>
        <p:xfrm>
          <a:off x="5533871" y="4096293"/>
          <a:ext cx="3109913" cy="55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9" name="Equation" r:id="rId11" imgW="1333440" imgH="253800" progId="Equation.DSMT4">
                  <p:embed/>
                </p:oleObj>
              </mc:Choice>
              <mc:Fallback>
                <p:oleObj name="Equation" r:id="rId11" imgW="13334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33871" y="4096293"/>
                        <a:ext cx="3109913" cy="555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3152633" y="3456964"/>
            <a:ext cx="3411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 </a:t>
            </a:r>
            <a:r>
              <a:rPr lang="zh-CN" alt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为矩阵，</a:t>
            </a:r>
            <a:r>
              <a:rPr lang="en-US" altLang="zh-CN" sz="20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k, l </a:t>
            </a:r>
            <a:r>
              <a:rPr lang="zh-CN" alt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为数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99578"/>
              </p:ext>
            </p:extLst>
          </p:nvPr>
        </p:nvGraphicFramePr>
        <p:xfrm>
          <a:off x="5533871" y="4891114"/>
          <a:ext cx="33162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0" name="Equation" r:id="rId13" imgW="1422360" imgH="253800" progId="Equation.DSMT4">
                  <p:embed/>
                </p:oleObj>
              </mc:Choice>
              <mc:Fallback>
                <p:oleObj name="Equation" r:id="rId13" imgW="1422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33871" y="4891114"/>
                        <a:ext cx="331628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952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14918" y="1393825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1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          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求</a:t>
            </a:r>
          </a:p>
        </p:txBody>
      </p:sp>
      <p:graphicFrame>
        <p:nvGraphicFramePr>
          <p:cNvPr id="184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438041"/>
              </p:ext>
            </p:extLst>
          </p:nvPr>
        </p:nvGraphicFramePr>
        <p:xfrm>
          <a:off x="1823472" y="1393825"/>
          <a:ext cx="632248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4" name="Equation" r:id="rId3" imgW="2247900" imgH="457200" progId="Equation.DSMT4">
                  <p:embed/>
                </p:oleObj>
              </mc:Choice>
              <mc:Fallback>
                <p:oleObj name="Equation" r:id="rId3" imgW="224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3472" y="1393825"/>
                        <a:ext cx="632248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3"/>
          <p:cNvSpPr txBox="1">
            <a:spLocks noChangeArrowheads="1"/>
          </p:cNvSpPr>
          <p:nvPr/>
        </p:nvSpPr>
        <p:spPr bwMode="auto">
          <a:xfrm>
            <a:off x="1234017" y="3035301"/>
            <a:ext cx="863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/>
              <a:t>解：</a:t>
            </a:r>
          </a:p>
        </p:txBody>
      </p:sp>
      <p:graphicFrame>
        <p:nvGraphicFramePr>
          <p:cNvPr id="1843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744341"/>
              </p:ext>
            </p:extLst>
          </p:nvPr>
        </p:nvGraphicFramePr>
        <p:xfrm>
          <a:off x="8784299" y="1701582"/>
          <a:ext cx="128693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5" name="Equation" r:id="rId5" imgW="457002" imgH="177723" progId="Equation.DSMT4">
                  <p:embed/>
                </p:oleObj>
              </mc:Choice>
              <mc:Fallback>
                <p:oleObj name="Equation" r:id="rId5" imgW="457002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4299" y="1701582"/>
                        <a:ext cx="128693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81667" y="3500439"/>
          <a:ext cx="835871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6" name="Equation" r:id="rId7" imgW="2921000" imgH="457200" progId="Equation.DSMT4">
                  <p:embed/>
                </p:oleObj>
              </mc:Choice>
              <mc:Fallback>
                <p:oleObj name="Equation" r:id="rId7" imgW="292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667" y="3500439"/>
                        <a:ext cx="835871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34734" y="4797425"/>
          <a:ext cx="734483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7" name="Equation" r:id="rId9" imgW="2565400" imgH="457200" progId="Equation.DSMT4">
                  <p:embed/>
                </p:oleObj>
              </mc:Choice>
              <mc:Fallback>
                <p:oleObj name="Equation" r:id="rId9" imgW="2565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734" y="4797425"/>
                        <a:ext cx="734483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线形标注 1(带边框和强调线) 4"/>
          <p:cNvSpPr/>
          <p:nvPr/>
        </p:nvSpPr>
        <p:spPr>
          <a:xfrm rot="5400000">
            <a:off x="9312547" y="1820632"/>
            <a:ext cx="1008112" cy="2064608"/>
          </a:xfrm>
          <a:prstGeom prst="accentBorderCallout1">
            <a:avLst>
              <a:gd name="adj1" fmla="val 18750"/>
              <a:gd name="adj2" fmla="val -8333"/>
              <a:gd name="adj3" fmla="val 45725"/>
              <a:gd name="adj4" fmla="val -26524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>
              <a:defRPr/>
            </a:pPr>
            <a:r>
              <a:rPr lang="zh-CN" altLang="en-US" sz="2000" dirty="0"/>
              <a:t>加法与数乘运算合称为</a:t>
            </a:r>
            <a:r>
              <a:rPr lang="zh-CN" altLang="en-US" sz="2000" dirty="0">
                <a:solidFill>
                  <a:srgbClr val="FF0000"/>
                </a:solidFill>
              </a:rPr>
              <a:t>线性运算</a:t>
            </a:r>
          </a:p>
        </p:txBody>
      </p:sp>
    </p:spTree>
    <p:extLst>
      <p:ext uri="{BB962C8B-B14F-4D97-AF65-F5344CB8AC3E}">
        <p14:creationId xmlns:p14="http://schemas.microsoft.com/office/powerpoint/2010/main" val="211008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8765" y="1291320"/>
            <a:ext cx="2603868" cy="580029"/>
            <a:chOff x="548765" y="1201915"/>
            <a:chExt cx="2603868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548765" y="1201915"/>
              <a:ext cx="1280036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 法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003367" y="1241425"/>
            <a:ext cx="4125971" cy="679450"/>
            <a:chOff x="2210938" y="1291137"/>
            <a:chExt cx="4125971" cy="679450"/>
          </a:xfrm>
        </p:grpSpPr>
        <p:sp>
          <p:nvSpPr>
            <p:cNvPr id="24" name="文本框 23"/>
            <p:cNvSpPr txBox="1"/>
            <p:nvPr/>
          </p:nvSpPr>
          <p:spPr>
            <a:xfrm>
              <a:off x="2210938" y="1390815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</a:t>
              </a: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6388463"/>
                </p:ext>
              </p:extLst>
            </p:nvPr>
          </p:nvGraphicFramePr>
          <p:xfrm>
            <a:off x="2814246" y="1291137"/>
            <a:ext cx="3522663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1" name="Equation" r:id="rId3" imgW="1511280" imgH="291960" progId="Equation.DSMT4">
                    <p:embed/>
                  </p:oleObj>
                </mc:Choice>
                <mc:Fallback>
                  <p:oleObj name="Equation" r:id="rId3" imgW="15112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14246" y="1291137"/>
                          <a:ext cx="3522663" cy="679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1782762" y="2814052"/>
            <a:ext cx="4467227" cy="2434122"/>
            <a:chOff x="1903413" y="2166938"/>
            <a:chExt cx="4467227" cy="2434122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0105825"/>
                </p:ext>
              </p:extLst>
            </p:nvPr>
          </p:nvGraphicFramePr>
          <p:xfrm>
            <a:off x="1903413" y="2166938"/>
            <a:ext cx="3744912" cy="2432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2" name="Equation" r:id="rId5" imgW="1574640" imgH="1168200" progId="Equation.DSMT4">
                    <p:embed/>
                  </p:oleObj>
                </mc:Choice>
                <mc:Fallback>
                  <p:oleObj name="Equation" r:id="rId5" imgW="1574640" imgH="1168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03413" y="2166938"/>
                          <a:ext cx="3744912" cy="2432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031518"/>
                </p:ext>
              </p:extLst>
            </p:nvPr>
          </p:nvGraphicFramePr>
          <p:xfrm>
            <a:off x="5572127" y="4275623"/>
            <a:ext cx="798513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3" name="Equation" r:id="rId7" imgW="342720" imgH="139680" progId="Equation.DSMT4">
                    <p:embed/>
                  </p:oleObj>
                </mc:Choice>
                <mc:Fallback>
                  <p:oleObj name="Equation" r:id="rId7" imgW="342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72127" y="4275623"/>
                          <a:ext cx="798513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6417101" y="3163302"/>
            <a:ext cx="4734824" cy="2082800"/>
            <a:chOff x="6569764" y="2341563"/>
            <a:chExt cx="4734824" cy="2082800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9362882"/>
                </p:ext>
              </p:extLst>
            </p:nvPr>
          </p:nvGraphicFramePr>
          <p:xfrm>
            <a:off x="6569764" y="2341563"/>
            <a:ext cx="4017963" cy="208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4" name="Equation" r:id="rId9" imgW="1587240" imgH="939600" progId="Equation.DSMT4">
                    <p:embed/>
                  </p:oleObj>
                </mc:Choice>
                <mc:Fallback>
                  <p:oleObj name="Equation" r:id="rId9" imgW="15872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569764" y="2341563"/>
                          <a:ext cx="4017963" cy="208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47393"/>
                </p:ext>
              </p:extLst>
            </p:nvPr>
          </p:nvGraphicFramePr>
          <p:xfrm>
            <a:off x="10564813" y="4098926"/>
            <a:ext cx="739775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5" name="Equation" r:id="rId11" imgW="317160" imgH="139680" progId="Equation.DSMT4">
                    <p:embed/>
                  </p:oleObj>
                </mc:Choice>
                <mc:Fallback>
                  <p:oleObj name="Equation" r:id="rId11" imgW="31716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564813" y="4098926"/>
                          <a:ext cx="739775" cy="325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/>
          <p:cNvGrpSpPr/>
          <p:nvPr/>
        </p:nvGrpSpPr>
        <p:grpSpPr>
          <a:xfrm>
            <a:off x="6008687" y="4920664"/>
            <a:ext cx="4644765" cy="729883"/>
            <a:chOff x="6129338" y="4273550"/>
            <a:chExt cx="4644765" cy="729883"/>
          </a:xfrm>
        </p:grpSpPr>
        <p:sp>
          <p:nvSpPr>
            <p:cNvPr id="22" name="矩形 21"/>
            <p:cNvSpPr/>
            <p:nvPr/>
          </p:nvSpPr>
          <p:spPr>
            <a:xfrm>
              <a:off x="6129338" y="4273551"/>
              <a:ext cx="241302" cy="325437"/>
            </a:xfrm>
            <a:prstGeom prst="rect">
              <a:avLst/>
            </a:prstGeom>
            <a:noFill/>
            <a:ln w="38100"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32801" y="4273550"/>
              <a:ext cx="241302" cy="325437"/>
            </a:xfrm>
            <a:prstGeom prst="rect">
              <a:avLst/>
            </a:prstGeom>
            <a:noFill/>
            <a:ln w="38100"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V="1">
              <a:off x="6249989" y="4598987"/>
              <a:ext cx="0" cy="404446"/>
            </a:xfrm>
            <a:prstGeom prst="straightConnector1">
              <a:avLst/>
            </a:prstGeom>
            <a:ln w="38100">
              <a:solidFill>
                <a:srgbClr val="004F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10690210" y="4598987"/>
              <a:ext cx="0" cy="404446"/>
            </a:xfrm>
            <a:prstGeom prst="straightConnector1">
              <a:avLst/>
            </a:prstGeom>
            <a:ln w="38100">
              <a:solidFill>
                <a:srgbClr val="004F8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6249989" y="5003433"/>
              <a:ext cx="4440221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圆角矩形 43"/>
          <p:cNvSpPr/>
          <p:nvPr/>
        </p:nvSpPr>
        <p:spPr>
          <a:xfrm>
            <a:off x="2543349" y="3783892"/>
            <a:ext cx="2826971" cy="492369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8426082" y="3163302"/>
            <a:ext cx="545123" cy="2082799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6173088" y="1300956"/>
            <a:ext cx="4763258" cy="560388"/>
            <a:chOff x="6661837" y="1332068"/>
            <a:chExt cx="4763258" cy="560388"/>
          </a:xfrm>
        </p:grpSpPr>
        <p:sp>
          <p:nvSpPr>
            <p:cNvPr id="48" name="文本框 47"/>
            <p:cNvSpPr txBox="1"/>
            <p:nvPr/>
          </p:nvSpPr>
          <p:spPr>
            <a:xfrm>
              <a:off x="6661837" y="1389637"/>
              <a:ext cx="55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6704374"/>
                </p:ext>
              </p:extLst>
            </p:nvPr>
          </p:nvGraphicFramePr>
          <p:xfrm>
            <a:off x="7221395" y="1332068"/>
            <a:ext cx="4203700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6" name="Equation" r:id="rId13" imgW="1803240" imgH="241200" progId="Equation.DSMT4">
                    <p:embed/>
                  </p:oleObj>
                </mc:Choice>
                <mc:Fallback>
                  <p:oleObj name="Equation" r:id="rId13" imgW="18032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21395" y="1332068"/>
                          <a:ext cx="4203700" cy="560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913626"/>
              </p:ext>
            </p:extLst>
          </p:nvPr>
        </p:nvGraphicFramePr>
        <p:xfrm>
          <a:off x="542635" y="2066021"/>
          <a:ext cx="1835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7" name="Equation" r:id="rId15" imgW="787320" imgH="291960" progId="Equation.DSMT4">
                  <p:embed/>
                </p:oleObj>
              </mc:Choice>
              <mc:Fallback>
                <p:oleObj name="Equation" r:id="rId15" imgW="7873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2635" y="2066021"/>
                        <a:ext cx="1835150" cy="679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2377785" y="2150164"/>
            <a:ext cx="486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的乘积，记作：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5433250" y="4869161"/>
            <a:ext cx="5810229" cy="1481359"/>
            <a:chOff x="5433250" y="4869161"/>
            <a:chExt cx="5810229" cy="1481359"/>
          </a:xfrm>
        </p:grpSpPr>
        <p:sp>
          <p:nvSpPr>
            <p:cNvPr id="53" name="椭圆 52"/>
            <p:cNvSpPr/>
            <p:nvPr/>
          </p:nvSpPr>
          <p:spPr>
            <a:xfrm>
              <a:off x="5433250" y="4869161"/>
              <a:ext cx="399256" cy="42844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0844223" y="4869161"/>
              <a:ext cx="399256" cy="42844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5679831" y="5349106"/>
              <a:ext cx="5364020" cy="1001414"/>
              <a:chOff x="10277644" y="4053864"/>
              <a:chExt cx="4440221" cy="404446"/>
            </a:xfrm>
          </p:grpSpPr>
          <p:cxnSp>
            <p:nvCxnSpPr>
              <p:cNvPr id="58" name="直接箭头连接符 57"/>
              <p:cNvCxnSpPr/>
              <p:nvPr/>
            </p:nvCxnSpPr>
            <p:spPr>
              <a:xfrm flipV="1">
                <a:off x="10277644" y="4053864"/>
                <a:ext cx="0" cy="4044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/>
              <p:nvPr/>
            </p:nvCxnSpPr>
            <p:spPr>
              <a:xfrm flipV="1">
                <a:off x="14717865" y="4053864"/>
                <a:ext cx="0" cy="4044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10277644" y="4458310"/>
                <a:ext cx="444022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7403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4" grpId="0" animBg="1"/>
      <p:bldP spid="45" grpId="0" animBg="1"/>
      <p:bldP spid="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64"/>
          <p:cNvGraphicFramePr>
            <a:graphicFrameLocks noChangeAspect="1"/>
          </p:cNvGraphicFramePr>
          <p:nvPr/>
        </p:nvGraphicFramePr>
        <p:xfrm>
          <a:off x="6627284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8" name="Equation" r:id="rId3" imgW="977900" imgH="457200" progId="Equation.DSMT4">
                  <p:embed/>
                </p:oleObj>
              </mc:Choice>
              <mc:Fallback>
                <p:oleObj name="Equation" r:id="rId3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4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6631518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9" name="Equation" r:id="rId5" imgW="977900" imgH="457200" progId="Equation.DSMT4">
                  <p:embed/>
                </p:oleObj>
              </mc:Choice>
              <mc:Fallback>
                <p:oleObj name="Equation" r:id="rId5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1518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6625167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0" name="Equation" r:id="rId7" imgW="977900" imgH="457200" progId="Equation.DSMT4">
                  <p:embed/>
                </p:oleObj>
              </mc:Choice>
              <mc:Fallback>
                <p:oleObj name="Equation" r:id="rId7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5167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6627284" y="4305301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1" name="Equation" r:id="rId9" imgW="977900" imgH="457200" progId="Equation.DSMT4">
                  <p:embed/>
                </p:oleObj>
              </mc:Choice>
              <mc:Fallback>
                <p:oleObj name="Equation" r:id="rId9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4" y="4305301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6614584" y="4310064"/>
          <a:ext cx="237913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2" name="Equation" r:id="rId11" imgW="977900" imgH="457200" progId="Equation.DSMT4">
                  <p:embed/>
                </p:oleObj>
              </mc:Choice>
              <mc:Fallback>
                <p:oleObj name="Equation" r:id="rId11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584" y="4310064"/>
                        <a:ext cx="237913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圆角矩形 41"/>
          <p:cNvSpPr/>
          <p:nvPr/>
        </p:nvSpPr>
        <p:spPr>
          <a:xfrm>
            <a:off x="6112934" y="3933826"/>
            <a:ext cx="524933" cy="1655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5537201" y="3933826"/>
            <a:ext cx="522817" cy="1655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544234" y="4365626"/>
            <a:ext cx="2207684" cy="3587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969934" y="3933826"/>
            <a:ext cx="522817" cy="1655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151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517" name="Object 64"/>
          <p:cNvGraphicFramePr>
            <a:graphicFrameLocks noChangeAspect="1"/>
          </p:cNvGraphicFramePr>
          <p:nvPr/>
        </p:nvGraphicFramePr>
        <p:xfrm>
          <a:off x="2008718" y="1065213"/>
          <a:ext cx="5623983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" name="Equation" r:id="rId13" imgW="2311400" imgH="914400" progId="Equation.DSMT4">
                  <p:embed/>
                </p:oleObj>
              </mc:Choice>
              <mc:Fallback>
                <p:oleObj name="Equation" r:id="rId13" imgW="23114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718" y="1065213"/>
                        <a:ext cx="5623983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2"/>
          <p:cNvSpPr txBox="1">
            <a:spLocks noChangeArrowheads="1"/>
          </p:cNvSpPr>
          <p:nvPr/>
        </p:nvSpPr>
        <p:spPr bwMode="auto">
          <a:xfrm>
            <a:off x="814918" y="1393826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2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       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求</a:t>
            </a:r>
          </a:p>
        </p:txBody>
      </p:sp>
      <p:graphicFrame>
        <p:nvGraphicFramePr>
          <p:cNvPr id="21519" name="Object 64"/>
          <p:cNvGraphicFramePr>
            <a:graphicFrameLocks noChangeAspect="1"/>
          </p:cNvGraphicFramePr>
          <p:nvPr/>
        </p:nvGraphicFramePr>
        <p:xfrm>
          <a:off x="8612718" y="1717675"/>
          <a:ext cx="120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4" name="Equation" r:id="rId15" imgW="494870" imgH="203024" progId="Equation.DSMT4">
                  <p:embed/>
                </p:oleObj>
              </mc:Choice>
              <mc:Fallback>
                <p:oleObj name="Equation" r:id="rId15" imgW="494870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2718" y="1717675"/>
                        <a:ext cx="1206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4" name="组合 16383"/>
          <p:cNvGrpSpPr>
            <a:grpSpLocks/>
          </p:cNvGrpSpPr>
          <p:nvPr/>
        </p:nvGrpSpPr>
        <p:grpSpPr bwMode="auto">
          <a:xfrm>
            <a:off x="1102784" y="3143251"/>
            <a:ext cx="5272616" cy="461963"/>
            <a:chOff x="827584" y="3143720"/>
            <a:chExt cx="3953687" cy="461665"/>
          </a:xfrm>
        </p:grpSpPr>
        <p:sp>
          <p:nvSpPr>
            <p:cNvPr id="21538" name="TextBox 1"/>
            <p:cNvSpPr txBox="1">
              <a:spLocks noChangeArrowheads="1"/>
            </p:cNvSpPr>
            <p:nvPr/>
          </p:nvSpPr>
          <p:spPr bwMode="auto">
            <a:xfrm>
              <a:off x="827584" y="3143720"/>
              <a:ext cx="3953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解：        </a:t>
              </a:r>
              <a:r>
                <a:rPr lang="zh-CN" altLang="en-US" sz="2400" dirty="0" smtClean="0"/>
                <a:t>        ，</a:t>
              </a:r>
              <a:r>
                <a:rPr lang="zh-CN" altLang="en-US" sz="2400" dirty="0"/>
                <a:t>所以</a:t>
              </a:r>
              <a:r>
                <a:rPr lang="en-US" altLang="zh-CN" sz="2400" dirty="0"/>
                <a:t>    </a:t>
              </a:r>
              <a:r>
                <a:rPr lang="en-US" altLang="zh-CN" sz="2400" dirty="0" smtClean="0"/>
                <a:t> </a:t>
              </a:r>
              <a:r>
                <a:rPr lang="zh-CN" altLang="en-US" sz="2400" dirty="0" smtClean="0"/>
                <a:t>有</a:t>
              </a:r>
              <a:r>
                <a:rPr lang="zh-CN" altLang="en-US" sz="2400" dirty="0"/>
                <a:t>意义</a:t>
              </a:r>
            </a:p>
          </p:txBody>
        </p:sp>
        <p:graphicFrame>
          <p:nvGraphicFramePr>
            <p:cNvPr id="21539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886856"/>
                </p:ext>
              </p:extLst>
            </p:nvPr>
          </p:nvGraphicFramePr>
          <p:xfrm>
            <a:off x="1408839" y="3180083"/>
            <a:ext cx="92551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5" name="Equation" r:id="rId17" imgW="508000" imgH="228600" progId="Equation.DSMT4">
                    <p:embed/>
                  </p:oleObj>
                </mc:Choice>
                <mc:Fallback>
                  <p:oleObj name="Equation" r:id="rId17" imgW="508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839" y="3180083"/>
                          <a:ext cx="92551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0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777177"/>
                </p:ext>
              </p:extLst>
            </p:nvPr>
          </p:nvGraphicFramePr>
          <p:xfrm>
            <a:off x="3288928" y="3224533"/>
            <a:ext cx="465137" cy="300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6" name="Equation" r:id="rId19" imgW="253780" imgH="164957" progId="Equation.DSMT4">
                    <p:embed/>
                  </p:oleObj>
                </mc:Choice>
                <mc:Fallback>
                  <p:oleObj name="Equation" r:id="rId19" imgW="253780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928" y="3224533"/>
                          <a:ext cx="465137" cy="300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51100" y="5805488"/>
          <a:ext cx="4785784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7" name="Equation" r:id="rId21" imgW="1841500" imgH="254000" progId="Equation.DSMT4">
                  <p:embed/>
                </p:oleObj>
              </mc:Choice>
              <mc:Fallback>
                <p:oleObj name="Equation" r:id="rId21" imgW="18415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805488"/>
                        <a:ext cx="4785784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679700" y="4365626"/>
          <a:ext cx="23071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8" name="Equation" r:id="rId23" imgW="88707" imgH="164742" progId="Equation.DSMT4">
                  <p:embed/>
                </p:oleObj>
              </mc:Choice>
              <mc:Fallback>
                <p:oleObj name="Equation" r:id="rId23" imgW="88707" imgH="1647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4365626"/>
                        <a:ext cx="23071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067300" y="3954464"/>
          <a:ext cx="330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9" name="Equation" r:id="rId25" imgW="126780" imgH="164814" progId="Equation.DSMT4">
                  <p:embed/>
                </p:oleObj>
              </mc:Choice>
              <mc:Fallback>
                <p:oleObj name="Equation" r:id="rId25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3954464"/>
                        <a:ext cx="3302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172884" y="4365626"/>
          <a:ext cx="3302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0" name="Equation" r:id="rId27" imgW="126725" imgH="177415" progId="Equation.DSMT4">
                  <p:embed/>
                </p:oleObj>
              </mc:Choice>
              <mc:Fallback>
                <p:oleObj name="Equation" r:id="rId27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2884" y="4365626"/>
                        <a:ext cx="3302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969933" y="4365626"/>
          <a:ext cx="493184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1" name="Equation" r:id="rId29" imgW="190335" imgH="164957" progId="Equation.DSMT4">
                  <p:embed/>
                </p:oleObj>
              </mc:Choice>
              <mc:Fallback>
                <p:oleObj name="Equation" r:id="rId29" imgW="190335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933" y="4365626"/>
                        <a:ext cx="493184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695700" y="4365626"/>
          <a:ext cx="29633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2" name="Equation" r:id="rId31" imgW="114102" imgH="177492" progId="Equation.DSMT4">
                  <p:embed/>
                </p:oleObj>
              </mc:Choice>
              <mc:Fallback>
                <p:oleObj name="Equation" r:id="rId31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4365626"/>
                        <a:ext cx="29633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073651" y="4773614"/>
          <a:ext cx="330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3" name="Equation" r:id="rId33" imgW="126780" imgH="164814" progId="Equation.DSMT4">
                  <p:embed/>
                </p:oleObj>
              </mc:Choice>
              <mc:Fallback>
                <p:oleObj name="Equation" r:id="rId33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1" y="4773614"/>
                        <a:ext cx="3302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188885" y="4365626"/>
          <a:ext cx="4953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4" name="Equation" r:id="rId35" imgW="190335" imgH="164957" progId="Equation.DSMT4">
                  <p:embed/>
                </p:oleObj>
              </mc:Choice>
              <mc:Fallback>
                <p:oleObj name="Equation" r:id="rId35" imgW="190335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885" y="4365626"/>
                        <a:ext cx="4953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115985" y="5241926"/>
          <a:ext cx="230716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5" name="Equation" r:id="rId37" imgW="88707" imgH="164742" progId="Equation.DSMT4">
                  <p:embed/>
                </p:oleObj>
              </mc:Choice>
              <mc:Fallback>
                <p:oleObj name="Equation" r:id="rId37" imgW="88707" imgH="1647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985" y="5241926"/>
                        <a:ext cx="230716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344834" y="5843589"/>
          <a:ext cx="62653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6" name="Equation" r:id="rId39" imgW="241091" imgH="177646" progId="Equation.DSMT4">
                  <p:embed/>
                </p:oleObj>
              </mc:Choice>
              <mc:Fallback>
                <p:oleObj name="Equation" r:id="rId39" imgW="241091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834" y="5843589"/>
                        <a:ext cx="626533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649633" y="5846764"/>
          <a:ext cx="298451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7" name="Equation" r:id="rId41" imgW="114102" imgH="177492" progId="Equation.DSMT4">
                  <p:embed/>
                </p:oleObj>
              </mc:Choice>
              <mc:Fallback>
                <p:oleObj name="Equation" r:id="rId41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9633" y="5846764"/>
                        <a:ext cx="298451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圆角矩形 43"/>
          <p:cNvSpPr/>
          <p:nvPr/>
        </p:nvSpPr>
        <p:spPr>
          <a:xfrm>
            <a:off x="2544234" y="4760913"/>
            <a:ext cx="2207684" cy="3603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1" name="Object 64"/>
          <p:cNvGraphicFramePr>
            <a:graphicFrameLocks noChangeAspect="1"/>
          </p:cNvGraphicFramePr>
          <p:nvPr/>
        </p:nvGraphicFramePr>
        <p:xfrm>
          <a:off x="1583267" y="3933825"/>
          <a:ext cx="5128684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78" name="Equation" r:id="rId43" imgW="2108200" imgH="914400" progId="Equation.DSMT4">
                  <p:embed/>
                </p:oleObj>
              </mc:Choice>
              <mc:Fallback>
                <p:oleObj name="Equation" r:id="rId43" imgW="21082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267" y="3933825"/>
                        <a:ext cx="5128684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6644217" y="3143251"/>
            <a:ext cx="5272616" cy="474663"/>
            <a:chOff x="827584" y="3143720"/>
            <a:chExt cx="3953687" cy="474365"/>
          </a:xfrm>
        </p:grpSpPr>
        <p:sp>
          <p:nvSpPr>
            <p:cNvPr id="21536" name="TextBox 47"/>
            <p:cNvSpPr txBox="1">
              <a:spLocks noChangeArrowheads="1"/>
            </p:cNvSpPr>
            <p:nvPr/>
          </p:nvSpPr>
          <p:spPr bwMode="auto">
            <a:xfrm>
              <a:off x="827584" y="3143720"/>
              <a:ext cx="3953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 smtClean="0"/>
                <a:t>  而            没有</a:t>
              </a:r>
              <a:r>
                <a:rPr lang="zh-CN" altLang="en-US" sz="2400" dirty="0"/>
                <a:t>意义</a:t>
              </a:r>
            </a:p>
          </p:txBody>
        </p:sp>
        <p:graphicFrame>
          <p:nvGraphicFramePr>
            <p:cNvPr id="21537" name="Object 64"/>
            <p:cNvGraphicFramePr>
              <a:graphicFrameLocks noChangeAspect="1"/>
            </p:cNvGraphicFramePr>
            <p:nvPr/>
          </p:nvGraphicFramePr>
          <p:xfrm>
            <a:off x="1302833" y="3203747"/>
            <a:ext cx="92551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79" name="Equation" r:id="rId45" imgW="508000" imgH="228600" progId="Equation.DSMT4">
                    <p:embed/>
                  </p:oleObj>
                </mc:Choice>
                <mc:Fallback>
                  <p:oleObj name="Equation" r:id="rId45" imgW="508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833" y="3203747"/>
                          <a:ext cx="92551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9264651" y="5445126"/>
          <a:ext cx="2063749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80" name="Equation" r:id="rId47" imgW="596641" imgH="165028" progId="Equation.DSMT4">
                  <p:embed/>
                </p:oleObj>
              </mc:Choice>
              <mc:Fallback>
                <p:oleObj name="Equation" r:id="rId47" imgW="596641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651" y="5445126"/>
                        <a:ext cx="2063749" cy="428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200"/>
                          </a:gs>
                          <a:gs pos="45000">
                            <a:srgbClr val="FF7A00"/>
                          </a:gs>
                          <a:gs pos="70000">
                            <a:srgbClr val="FF0300"/>
                          </a:gs>
                          <a:gs pos="100000">
                            <a:srgbClr val="4D0808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44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3.7037E-6 L -0.03924 0.06667 C -0.04879 0.08079 -0.054 0.10186 -0.054 0.12385 C -0.054 0.14861 -0.04879 0.16852 -0.03924 0.18264 L -0.01667 0.21783 " pathEditMode="relative" rAng="0" ptsTypes="FffFF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5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1.11022E-16 L -0.11389 0.10556 C -0.15139 0.14815 -0.15504 0.23819 -0.17639 0.27593 " pathEditMode="relative" rAng="0" ptsTypes="FfF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6" y="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44444E-6 L 0.03994 0.06689 C 0.04896 0.08101 0.054 0.10208 0.054 0.12407 C 0.054 0.14907 0.04896 0.16898 0.03994 0.1831 L 0.02344 0.21782 " pathEditMode="relative" rAng="0" ptsTypes="FffFF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1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6 L -0.00556 0.06968 C -0.00834 0.09561 -0.04167 0.14954 -0.04167 0.17153 C -0.06042 0.19723 -0.05122 0.19977 -0.07222 0.21598 " pathEditMode="relative" rAng="0" ptsTypes="FffF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11" y="1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6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0.04444 0.05486 C 0.05347 0.06898 0.06666 0.10115 0.07361 0.12338 C 0.08437 0.14907 0.09722 0.19791 0.10555 0.21412 " pathEditMode="relative" rAng="0" ptsTypes="FffF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1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0.03281 0.05649 C 0.03837 0.08426 0.04114 0.12385 0.03993 0.1419 L 0.03142 0.15649 " pathEditMode="relative" rAng="0" ptsTypes="FfFF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8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7037E-6 L 0.05555 0.04931 C 0.06458 0.06343 0.1 0.09399 0.1 0.11598 C 0.11927 0.14074 0.14549 0.20255 0.1625 0.21783 " pathEditMode="relative" rAng="0" ptsTypes="FffF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4" presetID="58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1.48148E-6 L 0.0724 0.01412 C 0.08143 0.02824 0.1099 0.03634 0.12518 0.05857 C 0.14462 0.07338 0.14601 0.07338 0.15573 0.09005 " pathEditMode="relative" rAng="0" ptsTypes="FffF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00625 -0.08496 C 0.00625 -0.1257 -0.00208 -0.14792 -0.00902 -0.16829 L -0.04236 -0.2294 " pathEditMode="relative" rAng="0" ptsTypes="FfFF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6" y="-1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  <p:bldP spid="42" grpId="2" animBg="1"/>
      <p:bldP spid="40" grpId="0" animBg="1"/>
      <p:bldP spid="40" grpId="1" animBg="1"/>
      <p:bldP spid="40" grpId="2" animBg="1"/>
      <p:bldP spid="40" grpId="3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44" grpId="0" animBg="1"/>
      <p:bldP spid="44" grpId="1" animBg="1"/>
      <p:bldP spid="44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2" name="Object 64"/>
          <p:cNvGraphicFramePr>
            <a:graphicFrameLocks noChangeAspect="1"/>
          </p:cNvGraphicFramePr>
          <p:nvPr/>
        </p:nvGraphicFramePr>
        <p:xfrm>
          <a:off x="1871133" y="906464"/>
          <a:ext cx="5099051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2" name="Equation" r:id="rId3" imgW="1905000" imgH="939800" progId="Equation.DSMT4">
                  <p:embed/>
                </p:oleObj>
              </mc:Choice>
              <mc:Fallback>
                <p:oleObj name="Equation" r:id="rId3" imgW="19050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133" y="906464"/>
                        <a:ext cx="5099051" cy="187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2"/>
          <p:cNvSpPr txBox="1">
            <a:spLocks noChangeArrowheads="1"/>
          </p:cNvSpPr>
          <p:nvPr/>
        </p:nvSpPr>
        <p:spPr bwMode="auto">
          <a:xfrm>
            <a:off x="814918" y="1323976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3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</a:t>
            </a:r>
            <a:r>
              <a:rPr lang="zh-CN" altLang="en-US" sz="2400" dirty="0"/>
              <a:t>，求</a:t>
            </a:r>
          </a:p>
        </p:txBody>
      </p:sp>
      <p:graphicFrame>
        <p:nvGraphicFramePr>
          <p:cNvPr id="22534" name="Object 64"/>
          <p:cNvGraphicFramePr>
            <a:graphicFrameLocks noChangeAspect="1"/>
          </p:cNvGraphicFramePr>
          <p:nvPr/>
        </p:nvGraphicFramePr>
        <p:xfrm>
          <a:off x="7920567" y="1666875"/>
          <a:ext cx="120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3" name="Equation" r:id="rId5" imgW="494870" imgH="203024" progId="Equation.DSMT4">
                  <p:embed/>
                </p:oleObj>
              </mc:Choice>
              <mc:Fallback>
                <p:oleObj name="Equation" r:id="rId5" imgW="494870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567" y="1666875"/>
                        <a:ext cx="1206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4" name="组合 16383"/>
          <p:cNvGrpSpPr>
            <a:grpSpLocks/>
          </p:cNvGrpSpPr>
          <p:nvPr/>
        </p:nvGrpSpPr>
        <p:grpSpPr bwMode="auto">
          <a:xfrm>
            <a:off x="1102784" y="2890838"/>
            <a:ext cx="5272616" cy="461962"/>
            <a:chOff x="827584" y="3143720"/>
            <a:chExt cx="3953687" cy="461665"/>
          </a:xfrm>
        </p:grpSpPr>
        <p:sp>
          <p:nvSpPr>
            <p:cNvPr id="22544" name="TextBox 1"/>
            <p:cNvSpPr txBox="1">
              <a:spLocks noChangeArrowheads="1"/>
            </p:cNvSpPr>
            <p:nvPr/>
          </p:nvSpPr>
          <p:spPr bwMode="auto">
            <a:xfrm>
              <a:off x="827584" y="3143720"/>
              <a:ext cx="39536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</a:t>
              </a:r>
              <a:r>
                <a:rPr lang="zh-CN" altLang="en-US" sz="2400" dirty="0" smtClean="0"/>
                <a:t>：                </a:t>
              </a:r>
              <a:r>
                <a:rPr lang="zh-CN" altLang="en-US" sz="2400" dirty="0"/>
                <a:t>，所以</a:t>
              </a:r>
              <a:r>
                <a:rPr lang="en-US" altLang="zh-CN" sz="2400" dirty="0"/>
                <a:t>    </a:t>
              </a:r>
              <a:r>
                <a:rPr lang="en-US" altLang="zh-CN" sz="2400" dirty="0" smtClean="0"/>
                <a:t> </a:t>
              </a:r>
              <a:r>
                <a:rPr lang="zh-CN" altLang="en-US" sz="2400" dirty="0" smtClean="0"/>
                <a:t>有</a:t>
              </a:r>
              <a:r>
                <a:rPr lang="zh-CN" altLang="en-US" sz="2400" dirty="0"/>
                <a:t>意义，</a:t>
              </a:r>
            </a:p>
          </p:txBody>
        </p:sp>
        <p:graphicFrame>
          <p:nvGraphicFramePr>
            <p:cNvPr id="22545" name="Object 64"/>
            <p:cNvGraphicFramePr>
              <a:graphicFrameLocks noChangeAspect="1"/>
            </p:cNvGraphicFramePr>
            <p:nvPr/>
          </p:nvGraphicFramePr>
          <p:xfrm>
            <a:off x="1438275" y="3179763"/>
            <a:ext cx="87947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24" name="Equation" r:id="rId7" imgW="482391" imgH="228501" progId="Equation.DSMT4">
                    <p:embed/>
                  </p:oleObj>
                </mc:Choice>
                <mc:Fallback>
                  <p:oleObj name="Equation" r:id="rId7" imgW="482391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275" y="3179763"/>
                          <a:ext cx="879475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64"/>
            <p:cNvGraphicFramePr>
              <a:graphicFrameLocks noChangeAspect="1"/>
            </p:cNvGraphicFramePr>
            <p:nvPr/>
          </p:nvGraphicFramePr>
          <p:xfrm>
            <a:off x="3288928" y="3224533"/>
            <a:ext cx="465137" cy="300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25" name="Equation" r:id="rId9" imgW="253780" imgH="164957" progId="Equation.DSMT4">
                    <p:embed/>
                  </p:oleObj>
                </mc:Choice>
                <mc:Fallback>
                  <p:oleObj name="Equation" r:id="rId9" imgW="253780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928" y="3224533"/>
                          <a:ext cx="465137" cy="300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6167967" y="2852738"/>
            <a:ext cx="5270500" cy="474662"/>
            <a:chOff x="4578753" y="3105619"/>
            <a:chExt cx="3953687" cy="474194"/>
          </a:xfrm>
        </p:grpSpPr>
        <p:grpSp>
          <p:nvGrpSpPr>
            <p:cNvPr id="22540" name="组合 46"/>
            <p:cNvGrpSpPr>
              <a:grpSpLocks/>
            </p:cNvGrpSpPr>
            <p:nvPr/>
          </p:nvGrpSpPr>
          <p:grpSpPr bwMode="auto">
            <a:xfrm>
              <a:off x="4578753" y="3105619"/>
              <a:ext cx="3953687" cy="474194"/>
              <a:chOff x="827584" y="3143720"/>
              <a:chExt cx="3953687" cy="474194"/>
            </a:xfrm>
          </p:grpSpPr>
          <p:sp>
            <p:nvSpPr>
              <p:cNvPr id="22542" name="TextBox 47"/>
              <p:cNvSpPr txBox="1">
                <a:spLocks noChangeArrowheads="1"/>
              </p:cNvSpPr>
              <p:nvPr/>
            </p:nvSpPr>
            <p:spPr bwMode="auto">
              <a:xfrm>
                <a:off x="827584" y="3143720"/>
                <a:ext cx="39536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/>
                  <a:t>          </a:t>
                </a:r>
                <a:r>
                  <a:rPr lang="zh-CN" altLang="en-US" sz="2400" dirty="0" smtClean="0"/>
                  <a:t>   ，</a:t>
                </a:r>
                <a:r>
                  <a:rPr lang="zh-CN" altLang="en-US" sz="2400" dirty="0"/>
                  <a:t>所以 </a:t>
                </a:r>
                <a:r>
                  <a:rPr lang="zh-CN" altLang="en-US" sz="2400" dirty="0" smtClean="0"/>
                  <a:t>         </a:t>
                </a:r>
                <a:r>
                  <a:rPr lang="zh-CN" altLang="en-US" sz="2400" dirty="0"/>
                  <a:t>也有意义</a:t>
                </a:r>
              </a:p>
            </p:txBody>
          </p:sp>
          <p:graphicFrame>
            <p:nvGraphicFramePr>
              <p:cNvPr id="22543" name="Object 64"/>
              <p:cNvGraphicFramePr>
                <a:graphicFrameLocks noChangeAspect="1"/>
              </p:cNvGraphicFramePr>
              <p:nvPr/>
            </p:nvGraphicFramePr>
            <p:xfrm>
              <a:off x="1064485" y="3203576"/>
              <a:ext cx="879475" cy="414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26" name="Equation" r:id="rId11" imgW="482391" imgH="228501" progId="Equation.DSMT4">
                      <p:embed/>
                    </p:oleObj>
                  </mc:Choice>
                  <mc:Fallback>
                    <p:oleObj name="Equation" r:id="rId11" imgW="482391" imgH="22850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4485" y="3203576"/>
                            <a:ext cx="879475" cy="414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541" name="Object 64"/>
            <p:cNvGraphicFramePr>
              <a:graphicFrameLocks noChangeAspect="1"/>
            </p:cNvGraphicFramePr>
            <p:nvPr/>
          </p:nvGraphicFramePr>
          <p:xfrm>
            <a:off x="6660229" y="3200971"/>
            <a:ext cx="441325" cy="300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27" name="Equation" r:id="rId13" imgW="241091" imgH="164957" progId="Equation.DSMT4">
                    <p:embed/>
                  </p:oleObj>
                </mc:Choice>
                <mc:Fallback>
                  <p:oleObj name="Equation" r:id="rId13" imgW="241091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29" y="3200971"/>
                          <a:ext cx="441325" cy="300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64"/>
          <p:cNvGraphicFramePr>
            <a:graphicFrameLocks noChangeAspect="1"/>
          </p:cNvGraphicFramePr>
          <p:nvPr/>
        </p:nvGraphicFramePr>
        <p:xfrm>
          <a:off x="1390652" y="3536950"/>
          <a:ext cx="7385049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8" name="Equation" r:id="rId15" imgW="3035300" imgH="939800" progId="Equation.DSMT4">
                  <p:embed/>
                </p:oleObj>
              </mc:Choice>
              <mc:Fallback>
                <p:oleObj name="Equation" r:id="rId15" imgW="30353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2" y="3536950"/>
                        <a:ext cx="7385049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4"/>
          <p:cNvGraphicFramePr>
            <a:graphicFrameLocks noChangeAspect="1"/>
          </p:cNvGraphicFramePr>
          <p:nvPr/>
        </p:nvGraphicFramePr>
        <p:xfrm>
          <a:off x="1346201" y="5108576"/>
          <a:ext cx="6862233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9" name="Equation" r:id="rId17" imgW="2819400" imgH="939800" progId="Equation.DSMT4">
                  <p:embed/>
                </p:oleObj>
              </mc:Choice>
              <mc:Fallback>
                <p:oleObj name="Equation" r:id="rId17" imgW="28194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1" y="5108576"/>
                        <a:ext cx="6862233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9264651" y="5445126"/>
          <a:ext cx="2063749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0" name="Equation" r:id="rId19" imgW="596641" imgH="165028" progId="Equation.DSMT4">
                  <p:embed/>
                </p:oleObj>
              </mc:Choice>
              <mc:Fallback>
                <p:oleObj name="Equation" r:id="rId19" imgW="596641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651" y="5445126"/>
                        <a:ext cx="2063749" cy="428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200"/>
                          </a:gs>
                          <a:gs pos="45000">
                            <a:srgbClr val="FF7A00"/>
                          </a:gs>
                          <a:gs pos="70000">
                            <a:srgbClr val="FF0300"/>
                          </a:gs>
                          <a:gs pos="100000">
                            <a:srgbClr val="4D0808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80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 bwMode="auto">
          <a:xfrm>
            <a:off x="8229600" y="3794232"/>
            <a:ext cx="3720662" cy="1071865"/>
          </a:xfrm>
          <a:prstGeom prst="roundRect">
            <a:avLst/>
          </a:prstGeom>
          <a:solidFill>
            <a:srgbClr val="00B0F0"/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2400" dirty="0"/>
          </a:p>
        </p:txBody>
      </p:sp>
      <p:sp>
        <p:nvSpPr>
          <p:cNvPr id="24" name="圆角矩形 23"/>
          <p:cNvSpPr/>
          <p:nvPr/>
        </p:nvSpPr>
        <p:spPr bwMode="auto">
          <a:xfrm>
            <a:off x="8229600" y="5002923"/>
            <a:ext cx="3720662" cy="1071865"/>
          </a:xfrm>
          <a:prstGeom prst="roundRect">
            <a:avLst/>
          </a:prstGeom>
          <a:solidFill>
            <a:srgbClr val="00B0F0"/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2400" dirty="0"/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57" name="Object 64"/>
          <p:cNvGraphicFramePr>
            <a:graphicFrameLocks noChangeAspect="1"/>
          </p:cNvGraphicFramePr>
          <p:nvPr/>
        </p:nvGraphicFramePr>
        <p:xfrm>
          <a:off x="1915585" y="1374776"/>
          <a:ext cx="7444316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4" name="Equation" r:id="rId3" imgW="2781300" imgH="457200" progId="Equation.DSMT4">
                  <p:embed/>
                </p:oleObj>
              </mc:Choice>
              <mc:Fallback>
                <p:oleObj name="Equation" r:id="rId3" imgW="2781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585" y="1374776"/>
                        <a:ext cx="7444316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2"/>
          <p:cNvSpPr txBox="1">
            <a:spLocks noChangeArrowheads="1"/>
          </p:cNvSpPr>
          <p:nvPr/>
        </p:nvSpPr>
        <p:spPr bwMode="auto">
          <a:xfrm>
            <a:off x="814918" y="1323976"/>
            <a:ext cx="102721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4    </a:t>
            </a:r>
            <a:r>
              <a:rPr lang="zh-CN" altLang="en-US" sz="2400" dirty="0" smtClean="0">
                <a:solidFill>
                  <a:schemeClr val="accent2"/>
                </a:solidFill>
              </a:rPr>
              <a:t>                                                   </a:t>
            </a:r>
            <a:r>
              <a:rPr lang="zh-CN" altLang="en-US" sz="2400" dirty="0" smtClean="0"/>
              <a:t>                       求</a:t>
            </a:r>
            <a:endParaRPr lang="zh-CN" altLang="en-US" sz="2400" dirty="0"/>
          </a:p>
        </p:txBody>
      </p:sp>
      <p:graphicFrame>
        <p:nvGraphicFramePr>
          <p:cNvPr id="23559" name="Object 64"/>
          <p:cNvGraphicFramePr>
            <a:graphicFrameLocks noChangeAspect="1"/>
          </p:cNvGraphicFramePr>
          <p:nvPr/>
        </p:nvGraphicFramePr>
        <p:xfrm>
          <a:off x="10016067" y="1649413"/>
          <a:ext cx="185631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5" name="Equation" r:id="rId5" imgW="761669" imgH="203112" progId="Equation.DSMT4">
                  <p:embed/>
                </p:oleObj>
              </mc:Choice>
              <mc:Fallback>
                <p:oleObj name="Equation" r:id="rId5" imgW="76166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6067" y="1649413"/>
                        <a:ext cx="185631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13367" y="2528889"/>
            <a:ext cx="10071100" cy="465137"/>
            <a:chOff x="762329" y="2852937"/>
            <a:chExt cx="7552996" cy="464938"/>
          </a:xfrm>
        </p:grpSpPr>
        <p:sp>
          <p:nvSpPr>
            <p:cNvPr id="23565" name="TextBox 1"/>
            <p:cNvSpPr txBox="1">
              <a:spLocks noChangeArrowheads="1"/>
            </p:cNvSpPr>
            <p:nvPr/>
          </p:nvSpPr>
          <p:spPr bwMode="auto">
            <a:xfrm>
              <a:off x="762329" y="2852937"/>
              <a:ext cx="7552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</a:t>
              </a:r>
              <a:r>
                <a:rPr lang="zh-CN" altLang="en-US" sz="2400" dirty="0" smtClean="0"/>
                <a:t>：                  </a:t>
              </a:r>
              <a:r>
                <a:rPr lang="zh-CN" altLang="en-US" sz="2400" dirty="0"/>
                <a:t>全都有意义，且结果均为二阶方阵</a:t>
              </a:r>
            </a:p>
          </p:txBody>
        </p:sp>
        <p:graphicFrame>
          <p:nvGraphicFramePr>
            <p:cNvPr id="23566" name="Object 64"/>
            <p:cNvGraphicFramePr>
              <a:graphicFrameLocks noChangeAspect="1"/>
            </p:cNvGraphicFramePr>
            <p:nvPr/>
          </p:nvGraphicFramePr>
          <p:xfrm>
            <a:off x="1331640" y="2951163"/>
            <a:ext cx="1385888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16" name="Equation" r:id="rId7" imgW="761669" imgH="203112" progId="Equation.DSMT4">
                    <p:embed/>
                  </p:oleObj>
                </mc:Choice>
                <mc:Fallback>
                  <p:oleObj name="Equation" r:id="rId7" imgW="761669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2951163"/>
                          <a:ext cx="1385888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64"/>
          <p:cNvGraphicFramePr>
            <a:graphicFrameLocks noChangeAspect="1"/>
          </p:cNvGraphicFramePr>
          <p:nvPr/>
        </p:nvGraphicFramePr>
        <p:xfrm>
          <a:off x="1871134" y="3321051"/>
          <a:ext cx="6210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7" name="Equation" r:id="rId9" imgW="2552700" imgH="457200" progId="Equation.DSMT4">
                  <p:embed/>
                </p:oleObj>
              </mc:Choice>
              <mc:Fallback>
                <p:oleObj name="Equation" r:id="rId9" imgW="2552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134" y="3321051"/>
                        <a:ext cx="62103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4"/>
          <p:cNvGraphicFramePr>
            <a:graphicFrameLocks noChangeAspect="1"/>
          </p:cNvGraphicFramePr>
          <p:nvPr/>
        </p:nvGraphicFramePr>
        <p:xfrm>
          <a:off x="1905000" y="4329114"/>
          <a:ext cx="5410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8" name="Equation" r:id="rId11" imgW="2222500" imgH="457200" progId="Equation.DSMT4">
                  <p:embed/>
                </p:oleObj>
              </mc:Choice>
              <mc:Fallback>
                <p:oleObj name="Equation" r:id="rId11" imgW="2222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29114"/>
                        <a:ext cx="54102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4"/>
          <p:cNvGraphicFramePr>
            <a:graphicFrameLocks noChangeAspect="1"/>
          </p:cNvGraphicFramePr>
          <p:nvPr/>
        </p:nvGraphicFramePr>
        <p:xfrm>
          <a:off x="1856318" y="5337176"/>
          <a:ext cx="5441949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9" name="Equation" r:id="rId13" imgW="2235200" imgH="457200" progId="Equation.DSMT4">
                  <p:embed/>
                </p:oleObj>
              </mc:Choice>
              <mc:Fallback>
                <p:oleObj name="Equation" r:id="rId13" imgW="2235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318" y="5337176"/>
                        <a:ext cx="5441949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203289"/>
              </p:ext>
            </p:extLst>
          </p:nvPr>
        </p:nvGraphicFramePr>
        <p:xfrm>
          <a:off x="9120716" y="2641601"/>
          <a:ext cx="2063751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0" name="Equation" r:id="rId15" imgW="596641" imgH="165028" progId="Equation.DSMT4">
                  <p:embed/>
                </p:oleObj>
              </mc:Choice>
              <mc:Fallback>
                <p:oleObj name="Equation" r:id="rId15" imgW="596641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716" y="2641601"/>
                        <a:ext cx="2063751" cy="428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F200"/>
                          </a:gs>
                          <a:gs pos="45000">
                            <a:srgbClr val="FF7A00"/>
                          </a:gs>
                          <a:gs pos="70000">
                            <a:srgbClr val="FF0300"/>
                          </a:gs>
                          <a:gs pos="100000">
                            <a:srgbClr val="4D0808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564663"/>
              </p:ext>
            </p:extLst>
          </p:nvPr>
        </p:nvGraphicFramePr>
        <p:xfrm>
          <a:off x="8368421" y="5002923"/>
          <a:ext cx="3443019" cy="85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1" name="Equation" r:id="rId17" imgW="1358640" imgH="431640" progId="Equation.DSMT4">
                  <p:embed/>
                </p:oleObj>
              </mc:Choice>
              <mc:Fallback>
                <p:oleObj name="Equation" r:id="rId17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8421" y="5002923"/>
                        <a:ext cx="3443019" cy="85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602995"/>
              </p:ext>
            </p:extLst>
          </p:nvPr>
        </p:nvGraphicFramePr>
        <p:xfrm>
          <a:off x="8449249" y="3903126"/>
          <a:ext cx="32813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2" name="Equation" r:id="rId19" imgW="1295280" imgH="431640" progId="Equation.DSMT4">
                  <p:embed/>
                </p:oleObj>
              </mc:Choice>
              <mc:Fallback>
                <p:oleObj name="Equation" r:id="rId19" imgW="1295280" imgH="43164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9249" y="3903126"/>
                        <a:ext cx="32813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37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580" name="组合 2"/>
          <p:cNvGrpSpPr>
            <a:grpSpLocks/>
          </p:cNvGrpSpPr>
          <p:nvPr/>
        </p:nvGrpSpPr>
        <p:grpSpPr bwMode="auto">
          <a:xfrm>
            <a:off x="912285" y="1196976"/>
            <a:ext cx="10272183" cy="962025"/>
            <a:chOff x="611188" y="1323251"/>
            <a:chExt cx="7704137" cy="962749"/>
          </a:xfrm>
        </p:grpSpPr>
        <p:graphicFrame>
          <p:nvGraphicFramePr>
            <p:cNvPr id="24588" name="Object 64"/>
            <p:cNvGraphicFramePr>
              <a:graphicFrameLocks noChangeAspect="1"/>
            </p:cNvGraphicFramePr>
            <p:nvPr/>
          </p:nvGraphicFramePr>
          <p:xfrm>
            <a:off x="1475656" y="1374775"/>
            <a:ext cx="3340100" cy="91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50" name="Equation" r:id="rId3" imgW="1663700" imgH="457200" progId="Equation.DSMT4">
                    <p:embed/>
                  </p:oleObj>
                </mc:Choice>
                <mc:Fallback>
                  <p:oleObj name="Equation" r:id="rId3" imgW="16637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656" y="1374775"/>
                          <a:ext cx="3340100" cy="911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Text Box 2"/>
            <p:cNvSpPr txBox="1">
              <a:spLocks noChangeArrowheads="1"/>
            </p:cNvSpPr>
            <p:nvPr/>
          </p:nvSpPr>
          <p:spPr bwMode="auto">
            <a:xfrm>
              <a:off x="611188" y="1323251"/>
              <a:ext cx="7704137" cy="708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20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5    </a:t>
              </a:r>
              <a:r>
                <a:rPr lang="zh-CN" altLang="en-US" sz="2400" dirty="0" smtClean="0">
                  <a:solidFill>
                    <a:schemeClr val="accent2"/>
                  </a:solidFill>
                </a:rPr>
                <a:t>                                            </a:t>
              </a:r>
              <a:r>
                <a:rPr lang="zh-CN" altLang="en-US" sz="2400" dirty="0" smtClean="0"/>
                <a:t>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24590" name="Object 64"/>
            <p:cNvGraphicFramePr>
              <a:graphicFrameLocks noChangeAspect="1"/>
            </p:cNvGraphicFramePr>
            <p:nvPr/>
          </p:nvGraphicFramePr>
          <p:xfrm>
            <a:off x="5513908" y="1654200"/>
            <a:ext cx="904875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51" name="Equation" r:id="rId5" imgW="494870" imgH="203024" progId="Equation.DSMT4">
                    <p:embed/>
                  </p:oleObj>
                </mc:Choice>
                <mc:Fallback>
                  <p:oleObj name="Equation" r:id="rId5" imgW="494870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3908" y="1654200"/>
                          <a:ext cx="904875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13367" y="2420939"/>
            <a:ext cx="10071100" cy="465137"/>
            <a:chOff x="762329" y="2852937"/>
            <a:chExt cx="7552996" cy="465287"/>
          </a:xfrm>
        </p:grpSpPr>
        <p:sp>
          <p:nvSpPr>
            <p:cNvPr id="24586" name="TextBox 1"/>
            <p:cNvSpPr txBox="1">
              <a:spLocks noChangeArrowheads="1"/>
            </p:cNvSpPr>
            <p:nvPr/>
          </p:nvSpPr>
          <p:spPr bwMode="auto">
            <a:xfrm>
              <a:off x="762329" y="2852937"/>
              <a:ext cx="7552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解：        </a:t>
              </a:r>
              <a:r>
                <a:rPr lang="zh-CN" altLang="en-US" sz="2400" dirty="0" smtClean="0"/>
                <a:t>     全都</a:t>
              </a:r>
              <a:r>
                <a:rPr lang="zh-CN" altLang="en-US" sz="2400" dirty="0"/>
                <a:t>有意义，且结果均为二阶方阵</a:t>
              </a:r>
            </a:p>
          </p:txBody>
        </p:sp>
        <p:graphicFrame>
          <p:nvGraphicFramePr>
            <p:cNvPr id="24587" name="Object 64"/>
            <p:cNvGraphicFramePr>
              <a:graphicFrameLocks noChangeAspect="1"/>
            </p:cNvGraphicFramePr>
            <p:nvPr/>
          </p:nvGraphicFramePr>
          <p:xfrm>
            <a:off x="1402557" y="2951512"/>
            <a:ext cx="901700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52" name="Equation" r:id="rId7" imgW="494870" imgH="203024" progId="Equation.DSMT4">
                    <p:embed/>
                  </p:oleObj>
                </mc:Choice>
                <mc:Fallback>
                  <p:oleObj name="Equation" r:id="rId7" imgW="494870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2557" y="2951512"/>
                          <a:ext cx="901700" cy="366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Object 64"/>
          <p:cNvGraphicFramePr>
            <a:graphicFrameLocks noChangeAspect="1"/>
          </p:cNvGraphicFramePr>
          <p:nvPr/>
        </p:nvGraphicFramePr>
        <p:xfrm>
          <a:off x="2815167" y="3105150"/>
          <a:ext cx="4912784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3" name="Equation" r:id="rId9" imgW="2019300" imgH="457200" progId="Equation.DSMT4">
                  <p:embed/>
                </p:oleObj>
              </mc:Choice>
              <mc:Fallback>
                <p:oleObj name="Equation" r:id="rId9" imgW="2019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167" y="3105150"/>
                        <a:ext cx="4912784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4"/>
          <p:cNvGraphicFramePr>
            <a:graphicFrameLocks noChangeAspect="1"/>
          </p:cNvGraphicFramePr>
          <p:nvPr/>
        </p:nvGraphicFramePr>
        <p:xfrm>
          <a:off x="2798234" y="4329114"/>
          <a:ext cx="4883151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4" name="Equation" r:id="rId11" imgW="2006600" imgH="457200" progId="Equation.DSMT4">
                  <p:embed/>
                </p:oleObj>
              </mc:Choice>
              <mc:Fallback>
                <p:oleObj name="Equation" r:id="rId11" imgW="2006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234" y="4329114"/>
                        <a:ext cx="4883151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4"/>
          <p:cNvGraphicFramePr>
            <a:graphicFrameLocks noChangeAspect="1"/>
          </p:cNvGraphicFramePr>
          <p:nvPr/>
        </p:nvGraphicFramePr>
        <p:xfrm>
          <a:off x="2159001" y="5603875"/>
          <a:ext cx="1530351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5" name="Equation" r:id="rId13" imgW="520474" imgH="165028" progId="Equation.DSMT4">
                  <p:embed/>
                </p:oleObj>
              </mc:Choice>
              <mc:Fallback>
                <p:oleObj name="Equation" r:id="rId13" imgW="520474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1" y="5603875"/>
                        <a:ext cx="1530351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511551" y="5559426"/>
            <a:ext cx="5471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dirty="0"/>
              <a:t>，</a:t>
            </a:r>
            <a:r>
              <a:rPr lang="zh-CN" altLang="en-US" sz="2400" dirty="0" smtClean="0"/>
              <a:t>称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为</a:t>
            </a:r>
            <a:r>
              <a:rPr lang="zh-CN" altLang="en-US" sz="2400" dirty="0">
                <a:solidFill>
                  <a:srgbClr val="FF0000"/>
                </a:solidFill>
              </a:rPr>
              <a:t>可交换矩阵</a:t>
            </a:r>
          </a:p>
        </p:txBody>
      </p:sp>
    </p:spTree>
    <p:extLst>
      <p:ext uri="{BB962C8B-B14F-4D97-AF65-F5344CB8AC3E}">
        <p14:creationId xmlns:p14="http://schemas.microsoft.com/office/powerpoint/2010/main" val="9470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13595" y="1381863"/>
            <a:ext cx="3060878" cy="571474"/>
            <a:chOff x="7069540" y="1350501"/>
            <a:chExt cx="3060878" cy="571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069540" y="1350501"/>
              <a:ext cx="2470245" cy="571474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196149" y="1405405"/>
              <a:ext cx="29342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法的运算律：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81650" y="2686479"/>
            <a:ext cx="450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（当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AB=BA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时，称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可交换）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536682" y="2303585"/>
            <a:ext cx="3141312" cy="461665"/>
            <a:chOff x="356676" y="2373923"/>
            <a:chExt cx="3141312" cy="461665"/>
          </a:xfrm>
        </p:grpSpPr>
        <p:grpSp>
          <p:nvGrpSpPr>
            <p:cNvPr id="14" name="组合 13"/>
            <p:cNvGrpSpPr/>
            <p:nvPr/>
          </p:nvGrpSpPr>
          <p:grpSpPr>
            <a:xfrm>
              <a:off x="640205" y="2373923"/>
              <a:ext cx="2857783" cy="461665"/>
              <a:chOff x="640205" y="2373923"/>
              <a:chExt cx="2857783" cy="46166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40205" y="2373923"/>
                <a:ext cx="1575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无交换律：</a:t>
                </a:r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8229806"/>
                  </p:ext>
                </p:extLst>
              </p:nvPr>
            </p:nvGraphicFramePr>
            <p:xfrm>
              <a:off x="2107338" y="2392952"/>
              <a:ext cx="1390650" cy="3857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24" name="Equation" r:id="rId3" imgW="596880" imgH="164880" progId="Equation.DSMT4">
                      <p:embed/>
                    </p:oleObj>
                  </mc:Choice>
                  <mc:Fallback>
                    <p:oleObj name="Equation" r:id="rId3" imgW="59688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107338" y="2392952"/>
                            <a:ext cx="1390650" cy="3857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" name="矩形 28"/>
            <p:cNvSpPr/>
            <p:nvPr/>
          </p:nvSpPr>
          <p:spPr>
            <a:xfrm>
              <a:off x="356676" y="2496812"/>
              <a:ext cx="252000" cy="252000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13595" y="3497091"/>
            <a:ext cx="6201496" cy="479832"/>
            <a:chOff x="356676" y="3366065"/>
            <a:chExt cx="6201496" cy="479832"/>
          </a:xfrm>
        </p:grpSpPr>
        <p:grpSp>
          <p:nvGrpSpPr>
            <p:cNvPr id="21" name="组合 20"/>
            <p:cNvGrpSpPr/>
            <p:nvPr/>
          </p:nvGrpSpPr>
          <p:grpSpPr>
            <a:xfrm>
              <a:off x="640204" y="3366065"/>
              <a:ext cx="5917968" cy="479832"/>
              <a:chOff x="640204" y="3366065"/>
              <a:chExt cx="5917968" cy="479832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640204" y="3366065"/>
                <a:ext cx="2934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无零因子律：</a:t>
                </a:r>
              </a:p>
            </p:txBody>
          </p:sp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7598575"/>
                  </p:ext>
                </p:extLst>
              </p:nvPr>
            </p:nvGraphicFramePr>
            <p:xfrm>
              <a:off x="2508204" y="3369647"/>
              <a:ext cx="2633662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25" name="Equation" r:id="rId5" imgW="1130040" imgH="203040" progId="Equation.DSMT4">
                      <p:embed/>
                    </p:oleObj>
                  </mc:Choice>
                  <mc:Fallback>
                    <p:oleObj name="Equation" r:id="rId5" imgW="113004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08204" y="3369647"/>
                            <a:ext cx="2633662" cy="4762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8" name="直接连接符 17"/>
              <p:cNvCxnSpPr/>
              <p:nvPr/>
            </p:nvCxnSpPr>
            <p:spPr>
              <a:xfrm>
                <a:off x="3759283" y="3420000"/>
                <a:ext cx="131503" cy="36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5101655" y="3366065"/>
                <a:ext cx="450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</a:p>
            </p:txBody>
          </p:sp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7168895"/>
                  </p:ext>
                </p:extLst>
              </p:nvPr>
            </p:nvGraphicFramePr>
            <p:xfrm>
              <a:off x="5551697" y="3410217"/>
              <a:ext cx="1006475" cy="417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26" name="Equation" r:id="rId7" imgW="431640" imgH="177480" progId="Equation.DSMT4">
                      <p:embed/>
                    </p:oleObj>
                  </mc:Choice>
                  <mc:Fallback>
                    <p:oleObj name="Equation" r:id="rId7" imgW="43164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551697" y="3410217"/>
                            <a:ext cx="1006475" cy="4175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" name="矩形 30"/>
            <p:cNvSpPr/>
            <p:nvPr/>
          </p:nvSpPr>
          <p:spPr>
            <a:xfrm>
              <a:off x="356676" y="3470897"/>
              <a:ext cx="252000" cy="252000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13595" y="4544219"/>
            <a:ext cx="5698258" cy="494417"/>
            <a:chOff x="356676" y="4413193"/>
            <a:chExt cx="5698258" cy="494417"/>
          </a:xfrm>
        </p:grpSpPr>
        <p:grpSp>
          <p:nvGrpSpPr>
            <p:cNvPr id="28" name="组合 27"/>
            <p:cNvGrpSpPr/>
            <p:nvPr/>
          </p:nvGrpSpPr>
          <p:grpSpPr>
            <a:xfrm>
              <a:off x="640205" y="4413193"/>
              <a:ext cx="5414729" cy="494417"/>
              <a:chOff x="640205" y="4413193"/>
              <a:chExt cx="5414729" cy="494417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640205" y="4413193"/>
                <a:ext cx="17161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无消去律：</a:t>
                </a: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2238584" y="4431360"/>
                <a:ext cx="3816350" cy="476250"/>
                <a:chOff x="1164330" y="3780000"/>
                <a:chExt cx="3816350" cy="476250"/>
              </a:xfrm>
            </p:grpSpPr>
            <p:graphicFrame>
              <p:nvGraphicFramePr>
                <p:cNvPr id="24" name="对象 2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81449490"/>
                    </p:ext>
                  </p:extLst>
                </p:nvPr>
              </p:nvGraphicFramePr>
              <p:xfrm>
                <a:off x="1164330" y="3780000"/>
                <a:ext cx="3816350" cy="476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27" name="Equation" r:id="rId9" imgW="1638000" imgH="203040" progId="Equation.DSMT4">
                        <p:embed/>
                      </p:oleObj>
                    </mc:Choice>
                    <mc:Fallback>
                      <p:oleObj name="Equation" r:id="rId9" imgW="1638000" imgH="203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64330" y="3780000"/>
                              <a:ext cx="3816350" cy="4762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5" name="直接连接符 24"/>
                <p:cNvCxnSpPr/>
                <p:nvPr/>
              </p:nvCxnSpPr>
              <p:spPr>
                <a:xfrm>
                  <a:off x="3664326" y="3838125"/>
                  <a:ext cx="131503" cy="3600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矩形 32"/>
            <p:cNvSpPr/>
            <p:nvPr/>
          </p:nvSpPr>
          <p:spPr>
            <a:xfrm>
              <a:off x="356676" y="4518025"/>
              <a:ext cx="252000" cy="252000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188392"/>
              </p:ext>
            </p:extLst>
          </p:nvPr>
        </p:nvGraphicFramePr>
        <p:xfrm>
          <a:off x="7218363" y="1428401"/>
          <a:ext cx="30797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8" name="Equation" r:id="rId11" imgW="1320480" imgH="253800" progId="Equation.DSMT4">
                  <p:embed/>
                </p:oleObj>
              </mc:Choice>
              <mc:Fallback>
                <p:oleObj name="Equation" r:id="rId11" imgW="1320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18363" y="1428401"/>
                        <a:ext cx="307975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85794"/>
              </p:ext>
            </p:extLst>
          </p:nvPr>
        </p:nvGraphicFramePr>
        <p:xfrm>
          <a:off x="7632212" y="1967452"/>
          <a:ext cx="39385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9" name="Equation" r:id="rId13" imgW="1688760" imgH="253800" progId="Equation.DSMT4">
                  <p:embed/>
                </p:oleObj>
              </mc:Choice>
              <mc:Fallback>
                <p:oleObj name="Equation" r:id="rId13" imgW="1688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32212" y="1967452"/>
                        <a:ext cx="393858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293685"/>
              </p:ext>
            </p:extLst>
          </p:nvPr>
        </p:nvGraphicFramePr>
        <p:xfrm>
          <a:off x="7218363" y="2808288"/>
          <a:ext cx="364331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0" name="Equation" r:id="rId15" imgW="1562040" imgH="253800" progId="Equation.DSMT4">
                  <p:embed/>
                </p:oleObj>
              </mc:Choice>
              <mc:Fallback>
                <p:oleObj name="Equation" r:id="rId15" imgW="1562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18363" y="2808288"/>
                        <a:ext cx="3643312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858993"/>
              </p:ext>
            </p:extLst>
          </p:nvPr>
        </p:nvGraphicFramePr>
        <p:xfrm>
          <a:off x="7643393" y="3362136"/>
          <a:ext cx="308133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1" name="Equation" r:id="rId17" imgW="1320480" imgH="253800" progId="Equation.DSMT4">
                  <p:embed/>
                </p:oleObj>
              </mc:Choice>
              <mc:Fallback>
                <p:oleObj name="Equation" r:id="rId17" imgW="1320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43393" y="3362136"/>
                        <a:ext cx="308133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806792"/>
              </p:ext>
            </p:extLst>
          </p:nvPr>
        </p:nvGraphicFramePr>
        <p:xfrm>
          <a:off x="7171694" y="4249359"/>
          <a:ext cx="2844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2" name="Equation" r:id="rId19" imgW="1218960" imgH="203040" progId="Equation.DSMT4">
                  <p:embed/>
                </p:oleObj>
              </mc:Choice>
              <mc:Fallback>
                <p:oleObj name="Equation" r:id="rId19" imgW="1218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71694" y="4249359"/>
                        <a:ext cx="2844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232741"/>
              </p:ext>
            </p:extLst>
          </p:nvPr>
        </p:nvGraphicFramePr>
        <p:xfrm>
          <a:off x="7456488" y="4816475"/>
          <a:ext cx="24876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3" name="Equation" r:id="rId21" imgW="1066680" imgH="203040" progId="Equation.DSMT4">
                  <p:embed/>
                </p:oleObj>
              </mc:Choice>
              <mc:Fallback>
                <p:oleObj name="Equation" r:id="rId21" imgW="1066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56488" y="4816475"/>
                        <a:ext cx="2487612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6"/>
          <p:cNvSpPr txBox="1"/>
          <p:nvPr/>
        </p:nvSpPr>
        <p:spPr>
          <a:xfrm>
            <a:off x="576752" y="5593608"/>
            <a:ext cx="2934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法的运算律：</a:t>
            </a:r>
          </a:p>
        </p:txBody>
      </p:sp>
      <p:sp>
        <p:nvSpPr>
          <p:cNvPr id="42" name="文本框 6"/>
          <p:cNvSpPr txBox="1"/>
          <p:nvPr/>
        </p:nvSpPr>
        <p:spPr>
          <a:xfrm>
            <a:off x="281582" y="5585203"/>
            <a:ext cx="10071108" cy="461665"/>
          </a:xfrm>
          <a:prstGeom prst="rect">
            <a:avLst/>
          </a:prstGeom>
          <a:solidFill>
            <a:srgbClr val="004F8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 smtClean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可交换性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：方阵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和同阶的单位矩阵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，零方阵、数量矩阵可交换。</a:t>
            </a:r>
          </a:p>
        </p:txBody>
      </p:sp>
    </p:spTree>
    <p:extLst>
      <p:ext uri="{BB962C8B-B14F-4D97-AF65-F5344CB8AC3E}">
        <p14:creationId xmlns:p14="http://schemas.microsoft.com/office/powerpoint/2010/main" val="352462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9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0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1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2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3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7668" name="组合 6"/>
          <p:cNvGrpSpPr>
            <a:grpSpLocks/>
          </p:cNvGrpSpPr>
          <p:nvPr/>
        </p:nvGrpSpPr>
        <p:grpSpPr bwMode="auto">
          <a:xfrm>
            <a:off x="1007533" y="1166648"/>
            <a:ext cx="9155752" cy="1836738"/>
            <a:chOff x="755576" y="950387"/>
            <a:chExt cx="6866379" cy="1837592"/>
          </a:xfrm>
        </p:grpSpPr>
        <p:sp>
          <p:nvSpPr>
            <p:cNvPr id="27675" name="TextBox 2"/>
            <p:cNvSpPr txBox="1">
              <a:spLocks noChangeArrowheads="1"/>
            </p:cNvSpPr>
            <p:nvPr/>
          </p:nvSpPr>
          <p:spPr bwMode="auto">
            <a:xfrm>
              <a:off x="755576" y="1628800"/>
              <a:ext cx="4464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由</a:t>
              </a:r>
              <a:r>
                <a:rPr lang="zh-CN" altLang="zh-CN" sz="2400" dirty="0"/>
                <a:t>矩阵乘法</a:t>
              </a:r>
              <a:r>
                <a:rPr lang="zh-CN" altLang="en-US" sz="2400" dirty="0"/>
                <a:t>定义</a:t>
              </a:r>
              <a:r>
                <a:rPr lang="zh-CN" altLang="zh-CN" sz="2400" dirty="0"/>
                <a:t>，线性方程组</a:t>
              </a:r>
              <a:endParaRPr lang="zh-CN" altLang="en-US" sz="2400" dirty="0"/>
            </a:p>
          </p:txBody>
        </p:sp>
        <p:graphicFrame>
          <p:nvGraphicFramePr>
            <p:cNvPr id="2767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2696735"/>
                </p:ext>
              </p:extLst>
            </p:nvPr>
          </p:nvGraphicFramePr>
          <p:xfrm>
            <a:off x="3891086" y="950387"/>
            <a:ext cx="3730869" cy="1837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34" name="Equation" r:id="rId3" imgW="1917700" imgH="939800" progId="Equation.DSMT4">
                    <p:embed/>
                  </p:oleObj>
                </mc:Choice>
                <mc:Fallback>
                  <p:oleObj name="Equation" r:id="rId3" imgW="19177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1086" y="950387"/>
                          <a:ext cx="3730869" cy="1837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07533" y="3284538"/>
            <a:ext cx="5386917" cy="461962"/>
            <a:chOff x="819200" y="3068960"/>
            <a:chExt cx="4040832" cy="461665"/>
          </a:xfrm>
        </p:grpSpPr>
        <p:sp>
          <p:nvSpPr>
            <p:cNvPr id="27673" name="TextBox 34"/>
            <p:cNvSpPr txBox="1">
              <a:spLocks noChangeArrowheads="1"/>
            </p:cNvSpPr>
            <p:nvPr/>
          </p:nvSpPr>
          <p:spPr bwMode="auto">
            <a:xfrm>
              <a:off x="819200" y="3068960"/>
              <a:ext cx="40408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可简写</a:t>
              </a:r>
              <a:r>
                <a:rPr lang="zh-CN" altLang="en-US" sz="2400" dirty="0" smtClean="0"/>
                <a:t>为             </a:t>
              </a:r>
              <a:r>
                <a:rPr lang="zh-CN" altLang="en-US" sz="2400" dirty="0"/>
                <a:t>，其中：</a:t>
              </a:r>
            </a:p>
          </p:txBody>
        </p:sp>
        <p:graphicFrame>
          <p:nvGraphicFramePr>
            <p:cNvPr id="27674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3342302"/>
                </p:ext>
              </p:extLst>
            </p:nvPr>
          </p:nvGraphicFramePr>
          <p:xfrm>
            <a:off x="1876003" y="3125961"/>
            <a:ext cx="963613" cy="347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35" name="Equation" r:id="rId5" imgW="494870" imgH="177646" progId="Equation.DSMT4">
                    <p:embed/>
                  </p:oleObj>
                </mc:Choice>
                <mc:Fallback>
                  <p:oleObj name="Equation" r:id="rId5" imgW="494870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003" y="3125961"/>
                          <a:ext cx="963613" cy="347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295400" y="4146550"/>
          <a:ext cx="3803651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6" name="Equation" r:id="rId7" imgW="1612900" imgH="1168400" progId="Equation.DSMT4">
                  <p:embed/>
                </p:oleObj>
              </mc:Choice>
              <mc:Fallback>
                <p:oleObj name="Equation" r:id="rId7" imgW="1612900" imgH="116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146550"/>
                        <a:ext cx="3803651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8481485" y="4135438"/>
          <a:ext cx="1468967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7" name="Equation" r:id="rId9" imgW="622030" imgH="1167893" progId="Equation.DSMT4">
                  <p:embed/>
                </p:oleObj>
              </mc:Choice>
              <mc:Fallback>
                <p:oleObj name="Equation" r:id="rId9" imgW="622030" imgH="11678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1485" y="4135438"/>
                        <a:ext cx="1468967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5808134" y="4149725"/>
          <a:ext cx="1646767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8" name="Equation" r:id="rId11" imgW="698500" imgH="1168400" progId="Equation.DSMT4">
                  <p:embed/>
                </p:oleObj>
              </mc:Choice>
              <mc:Fallback>
                <p:oleObj name="Equation" r:id="rId11" imgW="698500" imgH="116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134" y="4149725"/>
                        <a:ext cx="1646767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93683" y="1166648"/>
            <a:ext cx="3783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线性方程组的矩阵表示</a:t>
            </a:r>
          </a:p>
        </p:txBody>
      </p:sp>
    </p:spTree>
    <p:extLst>
      <p:ext uri="{BB962C8B-B14F-4D97-AF65-F5344CB8AC3E}">
        <p14:creationId xmlns:p14="http://schemas.microsoft.com/office/powerpoint/2010/main" val="47206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2"/>
          <p:cNvSpPr>
            <a:spLocks noChangeArrowheads="1"/>
          </p:cNvSpPr>
          <p:nvPr/>
        </p:nvSpPr>
        <p:spPr bwMode="auto">
          <a:xfrm>
            <a:off x="1016000" y="1127360"/>
            <a:ext cx="47921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方阵的幂运算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7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9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3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56367" y="2349500"/>
          <a:ext cx="5988051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0" name="Equation" r:id="rId3" imgW="2095500" imgH="228600" progId="Equation.DSMT4">
                  <p:embed/>
                </p:oleObj>
              </mc:Choice>
              <mc:Fallback>
                <p:oleObj name="Equation" r:id="rId3" imgW="2095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367" y="2349500"/>
                        <a:ext cx="5988051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871134" y="1700213"/>
          <a:ext cx="616796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1" name="Equation" r:id="rId5" imgW="2159000" imgH="215900" progId="Equation.DSMT4">
                  <p:embed/>
                </p:oleObj>
              </mc:Choice>
              <mc:Fallback>
                <p:oleObj name="Equation" r:id="rId5" imgW="2159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134" y="1700213"/>
                        <a:ext cx="616796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横卷形 23"/>
          <p:cNvSpPr/>
          <p:nvPr/>
        </p:nvSpPr>
        <p:spPr>
          <a:xfrm>
            <a:off x="954618" y="2997201"/>
            <a:ext cx="2070100" cy="792163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运算律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432129"/>
              </p:ext>
            </p:extLst>
          </p:nvPr>
        </p:nvGraphicFramePr>
        <p:xfrm>
          <a:off x="3412066" y="3175794"/>
          <a:ext cx="232198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2" name="Equation" r:id="rId7" imgW="812447" imgH="203112" progId="Equation.DSMT4">
                  <p:embed/>
                </p:oleObj>
              </mc:Choice>
              <mc:Fallback>
                <p:oleObj name="Equation" r:id="rId7" imgW="812447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2066" y="3175794"/>
                        <a:ext cx="232198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745517"/>
              </p:ext>
            </p:extLst>
          </p:nvPr>
        </p:nvGraphicFramePr>
        <p:xfrm>
          <a:off x="3434767" y="3789364"/>
          <a:ext cx="20320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3" name="Equation" r:id="rId9" imgW="710891" imgH="304668" progId="Equation.DSMT4">
                  <p:embed/>
                </p:oleObj>
              </mc:Choice>
              <mc:Fallback>
                <p:oleObj name="Equation" r:id="rId9" imgW="710891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767" y="3789364"/>
                        <a:ext cx="203200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733993"/>
              </p:ext>
            </p:extLst>
          </p:nvPr>
        </p:nvGraphicFramePr>
        <p:xfrm>
          <a:off x="954618" y="4712139"/>
          <a:ext cx="366606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4" name="Equation" r:id="rId11" imgW="1282700" imgH="279400" progId="Equation.DSMT4">
                  <p:embed/>
                </p:oleObj>
              </mc:Choice>
              <mc:Fallback>
                <p:oleObj name="Equation" r:id="rId11" imgW="1282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618" y="4712139"/>
                        <a:ext cx="3666067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54618" y="5528045"/>
            <a:ext cx="4407338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什么条件下上式成立？</a:t>
            </a:r>
          </a:p>
        </p:txBody>
      </p:sp>
    </p:spTree>
    <p:extLst>
      <p:ext uri="{BB962C8B-B14F-4D97-AF65-F5344CB8AC3E}">
        <p14:creationId xmlns:p14="http://schemas.microsoft.com/office/powerpoint/2010/main" val="183381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220768"/>
              </p:ext>
            </p:extLst>
          </p:nvPr>
        </p:nvGraphicFramePr>
        <p:xfrm>
          <a:off x="1220953" y="3551847"/>
          <a:ext cx="5390054" cy="641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6" name="Equation" r:id="rId3" imgW="1600200" imgH="253800" progId="Equation.DSMT4">
                  <p:embed/>
                </p:oleObj>
              </mc:Choice>
              <mc:Fallback>
                <p:oleObj name="Equation" r:id="rId3" imgW="1600200" imgH="25380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953" y="3551847"/>
                        <a:ext cx="5390054" cy="641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933735"/>
              </p:ext>
            </p:extLst>
          </p:nvPr>
        </p:nvGraphicFramePr>
        <p:xfrm>
          <a:off x="1236663" y="1744663"/>
          <a:ext cx="882173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7" name="Equation" r:id="rId5" imgW="3085920" imgH="253800" progId="Equation.DSMT4">
                  <p:embed/>
                </p:oleObj>
              </mc:Choice>
              <mc:Fallback>
                <p:oleObj name="Equation" r:id="rId5" imgW="3085920" imgH="25380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1744663"/>
                        <a:ext cx="882173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016000" y="1127360"/>
            <a:ext cx="47921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方阵的多项式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664548"/>
              </p:ext>
            </p:extLst>
          </p:nvPr>
        </p:nvGraphicFramePr>
        <p:xfrm>
          <a:off x="6638449" y="3321014"/>
          <a:ext cx="23225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8" name="Equation" r:id="rId7" imgW="812520" imgH="457200" progId="Equation.DSMT4">
                  <p:embed/>
                </p:oleObj>
              </mc:Choice>
              <mc:Fallback>
                <p:oleObj name="Equation" r:id="rId7" imgW="812520" imgH="45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449" y="3321014"/>
                        <a:ext cx="232251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138111"/>
              </p:ext>
            </p:extLst>
          </p:nvPr>
        </p:nvGraphicFramePr>
        <p:xfrm>
          <a:off x="1220953" y="4230469"/>
          <a:ext cx="10236201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09" name="Equation" r:id="rId9" imgW="3581280" imgH="495000" progId="Equation.DSMT4">
                  <p:embed/>
                </p:oleObj>
              </mc:Choice>
              <mc:Fallback>
                <p:oleObj name="Equation" r:id="rId9" imgW="3581280" imgH="495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953" y="4230469"/>
                        <a:ext cx="10236201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28714"/>
              </p:ext>
            </p:extLst>
          </p:nvPr>
        </p:nvGraphicFramePr>
        <p:xfrm>
          <a:off x="2159000" y="2506663"/>
          <a:ext cx="72961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10" name="Equation" r:id="rId11" imgW="2552400" imgH="253800" progId="Equation.DSMT4">
                  <p:embed/>
                </p:oleObj>
              </mc:Choice>
              <mc:Fallback>
                <p:oleObj name="Equation" r:id="rId11" imgW="2552400" imgH="253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2506663"/>
                        <a:ext cx="72961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1220953" y="2530491"/>
            <a:ext cx="986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220953" y="3090182"/>
            <a:ext cx="22004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矩阵多项式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115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2544234" y="3789364"/>
            <a:ext cx="575733" cy="2016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544234" y="1700214"/>
            <a:ext cx="3071284" cy="4333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2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5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842000" y="2370138"/>
            <a:ext cx="345651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/>
              <a:t>则，转置矩阵为：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2525184" y="2168525"/>
            <a:ext cx="3073400" cy="431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3469218" y="3789364"/>
            <a:ext cx="575733" cy="201612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508251" y="3068638"/>
            <a:ext cx="3073400" cy="4318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5232400" y="3794126"/>
            <a:ext cx="575733" cy="20161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104901" y="3776663"/>
          <a:ext cx="4974167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42" name="Equation" r:id="rId3" imgW="1739900" imgH="939800" progId="Equation.DSMT4">
                  <p:embed/>
                </p:oleObj>
              </mc:Choice>
              <mc:Fallback>
                <p:oleObj name="Equation" r:id="rId3" imgW="17399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1" y="3776663"/>
                        <a:ext cx="4974167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00151" y="1693863"/>
          <a:ext cx="4618567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43" name="Equation" r:id="rId5" imgW="1778000" imgH="939800" progId="Equation.DSMT4">
                  <p:embed/>
                </p:oleObj>
              </mc:Choice>
              <mc:Fallback>
                <p:oleObj name="Equation" r:id="rId5" imgW="17780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1" y="1693863"/>
                        <a:ext cx="4618567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643324"/>
              </p:ext>
            </p:extLst>
          </p:nvPr>
        </p:nvGraphicFramePr>
        <p:xfrm>
          <a:off x="6471089" y="3500438"/>
          <a:ext cx="3831167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44" name="Equation" r:id="rId7" imgW="1473200" imgH="457200" progId="Equation.DSMT4">
                  <p:embed/>
                </p:oleObj>
              </mc:Choice>
              <mc:Fallback>
                <p:oleObj name="Equation" r:id="rId7" imgW="1473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1089" y="3500438"/>
                        <a:ext cx="3831167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219414"/>
              </p:ext>
            </p:extLst>
          </p:nvPr>
        </p:nvGraphicFramePr>
        <p:xfrm>
          <a:off x="6545830" y="4342962"/>
          <a:ext cx="3069167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45" name="Equation" r:id="rId9" imgW="1180588" imgH="710891" progId="Equation.DSMT4">
                  <p:embed/>
                </p:oleObj>
              </mc:Choice>
              <mc:Fallback>
                <p:oleObj name="Equation" r:id="rId9" imgW="1180588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830" y="4342962"/>
                        <a:ext cx="3069167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980881" y="1068818"/>
            <a:ext cx="2429302" cy="580029"/>
            <a:chOff x="723331" y="1201915"/>
            <a:chExt cx="2429302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723331" y="1201915"/>
              <a:ext cx="1544303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矩阵转置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38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" grpId="0"/>
      <p:bldP spid="22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4"/>
          <p:cNvSpPr txBox="1">
            <a:spLocks noChangeArrowheads="1"/>
          </p:cNvSpPr>
          <p:nvPr/>
        </p:nvSpPr>
        <p:spPr bwMode="auto">
          <a:xfrm>
            <a:off x="7247467" y="404813"/>
            <a:ext cx="3937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/>
              <a:t>2.1  </a:t>
            </a:r>
            <a:r>
              <a:rPr kumimoji="1" lang="zh-CN" altLang="en-US" sz="2000">
                <a:latin typeface="Times New Roman" pitchFamily="18" charset="0"/>
                <a:ea typeface="黑体" pitchFamily="2" charset="-122"/>
              </a:rPr>
              <a:t>矩阵的定义与运算</a:t>
            </a: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横卷形 23"/>
          <p:cNvSpPr/>
          <p:nvPr/>
        </p:nvSpPr>
        <p:spPr>
          <a:xfrm>
            <a:off x="912285" y="908051"/>
            <a:ext cx="2067983" cy="792163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运算律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028018" y="1047750"/>
          <a:ext cx="174836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6" name="Equation" r:id="rId3" imgW="672808" imgH="304668" progId="Equation.DSMT4">
                  <p:embed/>
                </p:oleObj>
              </mc:Choice>
              <mc:Fallback>
                <p:oleObj name="Equation" r:id="rId3" imgW="672808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018" y="1047750"/>
                        <a:ext cx="174836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034367" y="1700213"/>
          <a:ext cx="3134784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7" name="Equation" r:id="rId5" imgW="1206500" imgH="279400" progId="Equation.DSMT4">
                  <p:embed/>
                </p:oleObj>
              </mc:Choice>
              <mc:Fallback>
                <p:oleObj name="Equation" r:id="rId5" imgW="1206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367" y="1700213"/>
                        <a:ext cx="3134784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057652" y="2336801"/>
          <a:ext cx="399203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8" name="Equation" r:id="rId7" imgW="1536700" imgH="279400" progId="Equation.DSMT4">
                  <p:embed/>
                </p:oleObj>
              </mc:Choice>
              <mc:Fallback>
                <p:oleObj name="Equation" r:id="rId7" imgW="1536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2" y="2336801"/>
                        <a:ext cx="399203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801018"/>
              </p:ext>
            </p:extLst>
          </p:nvPr>
        </p:nvGraphicFramePr>
        <p:xfrm>
          <a:off x="4072467" y="2936876"/>
          <a:ext cx="2406651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29" name="Equation" r:id="rId9" imgW="927000" imgH="279360" progId="Equation.DSMT4">
                  <p:embed/>
                </p:oleObj>
              </mc:Choice>
              <mc:Fallback>
                <p:oleObj name="Equation" r:id="rId9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467" y="2936876"/>
                        <a:ext cx="2406651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横卷形 17"/>
          <p:cNvSpPr/>
          <p:nvPr/>
        </p:nvSpPr>
        <p:spPr>
          <a:xfrm>
            <a:off x="912285" y="3310704"/>
            <a:ext cx="2592916" cy="792162"/>
          </a:xfrm>
          <a:prstGeom prst="horizont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 smtClean="0">
                <a:solidFill>
                  <a:schemeClr val="tx1"/>
                </a:solidFill>
              </a:rPr>
              <a:t>两类矩阵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317079" y="4175461"/>
            <a:ext cx="3797299" cy="523220"/>
            <a:chOff x="2998143" y="4294812"/>
            <a:chExt cx="2846739" cy="522565"/>
          </a:xfrm>
        </p:grpSpPr>
        <p:sp>
          <p:nvSpPr>
            <p:cNvPr id="2" name="TextBox 1"/>
            <p:cNvSpPr txBox="1"/>
            <p:nvPr/>
          </p:nvSpPr>
          <p:spPr>
            <a:xfrm>
              <a:off x="2998143" y="4294812"/>
              <a:ext cx="1943843" cy="5225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457200" indent="-457200" algn="l">
                <a:buClr>
                  <a:schemeClr val="accent6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sz="2800" dirty="0"/>
                <a:t>对称阵：</a:t>
              </a:r>
            </a:p>
          </p:txBody>
        </p:sp>
        <p:graphicFrame>
          <p:nvGraphicFramePr>
            <p:cNvPr id="32792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9375963"/>
                </p:ext>
              </p:extLst>
            </p:nvPr>
          </p:nvGraphicFramePr>
          <p:xfrm>
            <a:off x="4974913" y="4340783"/>
            <a:ext cx="869969" cy="407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30" name="Equation" r:id="rId11" imgW="406080" imgH="190440" progId="Equation.DSMT4">
                    <p:embed/>
                  </p:oleObj>
                </mc:Choice>
                <mc:Fallback>
                  <p:oleObj name="Equation" r:id="rId11" imgW="4060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4913" y="4340783"/>
                          <a:ext cx="869969" cy="407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6383867" y="4102866"/>
            <a:ext cx="3808322" cy="523220"/>
            <a:chOff x="2998142" y="3965782"/>
            <a:chExt cx="2856769" cy="522565"/>
          </a:xfrm>
        </p:grpSpPr>
        <p:sp>
          <p:nvSpPr>
            <p:cNvPr id="29" name="TextBox 28"/>
            <p:cNvSpPr txBox="1"/>
            <p:nvPr/>
          </p:nvSpPr>
          <p:spPr>
            <a:xfrm>
              <a:off x="2998142" y="3965782"/>
              <a:ext cx="2149872" cy="5225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457200" indent="-457200" algn="l">
                <a:buClr>
                  <a:schemeClr val="accent6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sz="2800" dirty="0"/>
                <a:t>反对称阵</a:t>
              </a:r>
              <a:r>
                <a:rPr lang="zh-CN" altLang="en-US" dirty="0"/>
                <a:t>：</a:t>
              </a:r>
            </a:p>
          </p:txBody>
        </p:sp>
        <p:graphicFrame>
          <p:nvGraphicFramePr>
            <p:cNvPr id="3279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6953237"/>
                </p:ext>
              </p:extLst>
            </p:nvPr>
          </p:nvGraphicFramePr>
          <p:xfrm>
            <a:off x="4657936" y="4017932"/>
            <a:ext cx="1196975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631" name="Equation" r:id="rId13" imgW="558720" imgH="190440" progId="Equation.DSMT4">
                    <p:embed/>
                  </p:oleObj>
                </mc:Choice>
                <mc:Fallback>
                  <p:oleObj name="Equation" r:id="rId13" imgW="5587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7936" y="4017932"/>
                          <a:ext cx="1196975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662264"/>
              </p:ext>
            </p:extLst>
          </p:nvPr>
        </p:nvGraphicFramePr>
        <p:xfrm>
          <a:off x="1532174" y="4698681"/>
          <a:ext cx="4125384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32" name="Equation" r:id="rId15" imgW="1587500" imgH="711200" progId="Equation.DSMT4">
                  <p:embed/>
                </p:oleObj>
              </mc:Choice>
              <mc:Fallback>
                <p:oleObj name="Equation" r:id="rId15" imgW="15875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174" y="4698681"/>
                        <a:ext cx="4125384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137127"/>
              </p:ext>
            </p:extLst>
          </p:nvPr>
        </p:nvGraphicFramePr>
        <p:xfrm>
          <a:off x="6383867" y="4626086"/>
          <a:ext cx="4155016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33" name="Equation" r:id="rId17" imgW="1600200" imgH="711200" progId="Equation.DSMT4">
                  <p:embed/>
                </p:oleObj>
              </mc:Choice>
              <mc:Fallback>
                <p:oleObj name="Equation" r:id="rId17" imgW="16002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867" y="4626086"/>
                        <a:ext cx="4155016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19199" y="6148552"/>
            <a:ext cx="9059919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命题：任意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阶方阵都可以表示成一个对称矩阵与反对称矩阵之和。</a:t>
            </a:r>
          </a:p>
        </p:txBody>
      </p:sp>
    </p:spTree>
    <p:extLst>
      <p:ext uri="{BB962C8B-B14F-4D97-AF65-F5344CB8AC3E}">
        <p14:creationId xmlns:p14="http://schemas.microsoft.com/office/powerpoint/2010/main" val="271810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00152" y="1693863"/>
          <a:ext cx="4652433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4" name="Equation" r:id="rId3" imgW="1790700" imgH="939800" progId="Equation.DSMT4">
                  <p:embed/>
                </p:oleObj>
              </mc:Choice>
              <mc:Fallback>
                <p:oleObj name="Equation" r:id="rId3" imgW="17907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2" y="1693863"/>
                        <a:ext cx="4652433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5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6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7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842001" y="2370138"/>
            <a:ext cx="5899151" cy="501650"/>
            <a:chOff x="4381500" y="2370138"/>
            <a:chExt cx="4424363" cy="501650"/>
          </a:xfrm>
        </p:grpSpPr>
        <p:sp>
          <p:nvSpPr>
            <p:cNvPr id="34836" name="TextBox 2"/>
            <p:cNvSpPr txBox="1">
              <a:spLocks noChangeArrowheads="1"/>
            </p:cNvSpPr>
            <p:nvPr/>
          </p:nvSpPr>
          <p:spPr bwMode="auto">
            <a:xfrm>
              <a:off x="4381500" y="2370138"/>
              <a:ext cx="31432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，</a:t>
              </a:r>
              <a:r>
                <a:rPr lang="zh-CN" altLang="en-US" sz="2400" dirty="0" smtClean="0"/>
                <a:t>则      </a:t>
              </a:r>
              <a:r>
                <a:rPr lang="zh-CN" altLang="en-US" sz="2400" dirty="0"/>
                <a:t>的行列式记为</a:t>
              </a:r>
            </a:p>
          </p:txBody>
        </p:sp>
        <p:graphicFrame>
          <p:nvGraphicFramePr>
            <p:cNvPr id="34837" name="对象 1"/>
            <p:cNvGraphicFramePr>
              <a:graphicFrameLocks noChangeAspect="1"/>
            </p:cNvGraphicFramePr>
            <p:nvPr/>
          </p:nvGraphicFramePr>
          <p:xfrm>
            <a:off x="5067300" y="2439988"/>
            <a:ext cx="296863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5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7300" y="2439988"/>
                          <a:ext cx="296863" cy="320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8" name="对象 22"/>
            <p:cNvGraphicFramePr>
              <a:graphicFrameLocks noChangeAspect="1"/>
            </p:cNvGraphicFramePr>
            <p:nvPr/>
          </p:nvGraphicFramePr>
          <p:xfrm>
            <a:off x="7223125" y="2374900"/>
            <a:ext cx="1582738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6" name="Equation" r:id="rId7" imgW="812447" imgH="253890" progId="Equation.DSMT4">
                    <p:embed/>
                  </p:oleObj>
                </mc:Choice>
                <mc:Fallback>
                  <p:oleObj name="Equation" r:id="rId7" imgW="812447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3125" y="2374900"/>
                          <a:ext cx="1582738" cy="496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786468" y="4005263"/>
          <a:ext cx="3926417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7" name="Equation" r:id="rId9" imgW="1511300" imgH="939800" progId="Equation.DSMT4">
                  <p:embed/>
                </p:oleObj>
              </mc:Choice>
              <mc:Fallback>
                <p:oleObj name="Equation" r:id="rId9" imgW="15113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468" y="4005263"/>
                        <a:ext cx="3926417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565975" y="3792538"/>
            <a:ext cx="3744383" cy="887412"/>
            <a:chOff x="4381500" y="2182813"/>
            <a:chExt cx="2808312" cy="887412"/>
          </a:xfrm>
        </p:grpSpPr>
        <p:sp>
          <p:nvSpPr>
            <p:cNvPr id="34834" name="TextBox 17"/>
            <p:cNvSpPr txBox="1">
              <a:spLocks noChangeArrowheads="1"/>
            </p:cNvSpPr>
            <p:nvPr/>
          </p:nvSpPr>
          <p:spPr bwMode="auto">
            <a:xfrm>
              <a:off x="4381500" y="2370138"/>
              <a:ext cx="280831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如</a:t>
              </a:r>
              <a:r>
                <a:rPr lang="zh-CN" altLang="en-US" sz="2400" dirty="0" smtClean="0"/>
                <a:t>：                     </a:t>
              </a:r>
              <a:r>
                <a:rPr lang="zh-CN" altLang="en-US" sz="2400" dirty="0"/>
                <a:t>则：</a:t>
              </a:r>
            </a:p>
          </p:txBody>
        </p:sp>
        <p:graphicFrame>
          <p:nvGraphicFramePr>
            <p:cNvPr id="34835" name="对象 1"/>
            <p:cNvGraphicFramePr>
              <a:graphicFrameLocks noChangeAspect="1"/>
            </p:cNvGraphicFramePr>
            <p:nvPr/>
          </p:nvGraphicFramePr>
          <p:xfrm>
            <a:off x="5004048" y="2182813"/>
            <a:ext cx="1435100" cy="887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98" name="Equation" r:id="rId11" imgW="736600" imgH="457200" progId="Equation.DSMT4">
                    <p:embed/>
                  </p:oleObj>
                </mc:Choice>
                <mc:Fallback>
                  <p:oleObj name="Equation" r:id="rId11" imgW="7366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2182813"/>
                          <a:ext cx="1435100" cy="887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1"/>
          <p:cNvGraphicFramePr>
            <a:graphicFrameLocks noChangeAspect="1"/>
          </p:cNvGraphicFramePr>
          <p:nvPr/>
        </p:nvGraphicFramePr>
        <p:xfrm>
          <a:off x="7425267" y="4868863"/>
          <a:ext cx="260773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99" name="Equation" r:id="rId13" imgW="1002865" imgH="457002" progId="Equation.DSMT4">
                  <p:embed/>
                </p:oleObj>
              </mc:Choice>
              <mc:Fallback>
                <p:oleObj name="Equation" r:id="rId13" imgW="1002865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5267" y="4868863"/>
                        <a:ext cx="2607733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形标注 3"/>
          <p:cNvSpPr/>
          <p:nvPr/>
        </p:nvSpPr>
        <p:spPr>
          <a:xfrm>
            <a:off x="7776634" y="2924175"/>
            <a:ext cx="2256367" cy="649288"/>
          </a:xfrm>
          <a:prstGeom prst="wedgeEllipseCallout">
            <a:avLst>
              <a:gd name="adj1" fmla="val -50098"/>
              <a:gd name="adj2" fmla="val 11737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数表</a:t>
            </a:r>
          </a:p>
        </p:txBody>
      </p:sp>
      <p:sp>
        <p:nvSpPr>
          <p:cNvPr id="23" name="椭圆形标注 22"/>
          <p:cNvSpPr/>
          <p:nvPr/>
        </p:nvSpPr>
        <p:spPr>
          <a:xfrm>
            <a:off x="7440085" y="5949950"/>
            <a:ext cx="2256367" cy="647700"/>
          </a:xfrm>
          <a:prstGeom prst="wedgeEllipseCallout">
            <a:avLst>
              <a:gd name="adj1" fmla="val -36591"/>
              <a:gd name="adj2" fmla="val -11778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数字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636047" y="1172954"/>
            <a:ext cx="2603869" cy="580029"/>
            <a:chOff x="548764" y="1201915"/>
            <a:chExt cx="260386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548764" y="1201915"/>
              <a:ext cx="2268007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6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方阵的行列式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530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03200" y="-1322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7" name="Rectangle 10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8" name="Rectangle 12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9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横卷形 23"/>
          <p:cNvSpPr/>
          <p:nvPr/>
        </p:nvSpPr>
        <p:spPr>
          <a:xfrm>
            <a:off x="893233" y="1303338"/>
            <a:ext cx="2067984" cy="79375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运算律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812010"/>
              </p:ext>
            </p:extLst>
          </p:nvPr>
        </p:nvGraphicFramePr>
        <p:xfrm>
          <a:off x="3277622" y="1428750"/>
          <a:ext cx="1517651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7" name="Equation" r:id="rId3" imgW="583947" imgH="279279" progId="Equation.DSMT4">
                  <p:embed/>
                </p:oleObj>
              </mc:Choice>
              <mc:Fallback>
                <p:oleObj name="Equation" r:id="rId3" imgW="58394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622" y="1428750"/>
                        <a:ext cx="1517651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280991"/>
              </p:ext>
            </p:extLst>
          </p:nvPr>
        </p:nvGraphicFramePr>
        <p:xfrm>
          <a:off x="3267112" y="2097088"/>
          <a:ext cx="7490884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8" name="Equation" r:id="rId5" imgW="2882900" imgH="254000" progId="Equation.DSMT4">
                  <p:embed/>
                </p:oleObj>
              </mc:Choice>
              <mc:Fallback>
                <p:oleObj name="Equation" r:id="rId5" imgW="28829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112" y="2097088"/>
                        <a:ext cx="7490884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264261"/>
              </p:ext>
            </p:extLst>
          </p:nvPr>
        </p:nvGraphicFramePr>
        <p:xfrm>
          <a:off x="3309153" y="2784257"/>
          <a:ext cx="5509684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9" name="Equation" r:id="rId7" imgW="2120900" imgH="254000" progId="Equation.DSMT4">
                  <p:embed/>
                </p:oleObj>
              </mc:Choice>
              <mc:Fallback>
                <p:oleObj name="Equation" r:id="rId7" imgW="21209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153" y="2784257"/>
                        <a:ext cx="5509684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横卷形 13"/>
          <p:cNvSpPr/>
          <p:nvPr/>
        </p:nvSpPr>
        <p:spPr>
          <a:xfrm>
            <a:off x="893233" y="3221476"/>
            <a:ext cx="1440064" cy="79375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FF0000"/>
                </a:solidFill>
              </a:rPr>
              <a:t>思考题：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629691"/>
              </p:ext>
            </p:extLst>
          </p:nvPr>
        </p:nvGraphicFramePr>
        <p:xfrm>
          <a:off x="1322608" y="4219794"/>
          <a:ext cx="75199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0" name="Equation" r:id="rId9" imgW="2895480" imgH="253800" progId="Equation.DSMT4">
                  <p:embed/>
                </p:oleObj>
              </mc:Choice>
              <mc:Fallback>
                <p:oleObj name="Equation" r:id="rId9" imgW="2895480" imgH="2538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608" y="4219794"/>
                        <a:ext cx="7519987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499976"/>
              </p:ext>
            </p:extLst>
          </p:nvPr>
        </p:nvGraphicFramePr>
        <p:xfrm>
          <a:off x="1294250" y="4960500"/>
          <a:ext cx="85756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1" name="Equation" r:id="rId11" imgW="3301920" imgH="253800" progId="Equation.DSMT4">
                  <p:embed/>
                </p:oleObj>
              </mc:Choice>
              <mc:Fallback>
                <p:oleObj name="Equation" r:id="rId11" imgW="3301920" imgH="253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250" y="4960500"/>
                        <a:ext cx="85756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65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28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运算</a:t>
            </a:r>
            <a:endParaRPr lang="zh-CN" altLang="en-US" sz="2400" dirty="0" smtClean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8764" y="1291320"/>
            <a:ext cx="3381791" cy="580029"/>
            <a:chOff x="548764" y="1291320"/>
            <a:chExt cx="3381791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" name="组合 4"/>
            <p:cNvGrpSpPr/>
            <p:nvPr/>
          </p:nvGrpSpPr>
          <p:grpSpPr>
            <a:xfrm>
              <a:off x="548764" y="1291320"/>
              <a:ext cx="3381791" cy="580029"/>
              <a:chOff x="548764" y="1201915"/>
              <a:chExt cx="3381791" cy="580029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548765" y="1201915"/>
                <a:ext cx="3381790" cy="580029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48764" y="1261096"/>
                <a:ext cx="32316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方阵 </a:t>
                </a:r>
                <a:r>
                  <a:rPr lang="en-US" altLang="zh-CN" sz="2400" i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的伴随矩阵</a:t>
                </a:r>
              </a:p>
            </p:txBody>
          </p:sp>
        </p:grp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1951351"/>
                </p:ext>
              </p:extLst>
            </p:nvPr>
          </p:nvGraphicFramePr>
          <p:xfrm>
            <a:off x="3318764" y="1314963"/>
            <a:ext cx="461665" cy="461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54" name="Equation" r:id="rId3" imgW="190440" imgH="190440" progId="Equation.DSMT4">
                    <p:embed/>
                  </p:oleObj>
                </mc:Choice>
                <mc:Fallback>
                  <p:oleObj name="Equation" r:id="rId3" imgW="1904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18764" y="1314963"/>
                          <a:ext cx="461665" cy="4616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296998"/>
              </p:ext>
            </p:extLst>
          </p:nvPr>
        </p:nvGraphicFramePr>
        <p:xfrm>
          <a:off x="854227" y="2148421"/>
          <a:ext cx="3217863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5" name="Equation" r:id="rId5" imgW="1739880" imgH="939600" progId="Equation.DSMT4">
                  <p:embed/>
                </p:oleObj>
              </mc:Choice>
              <mc:Fallback>
                <p:oleObj name="Equation" r:id="rId5" imgW="17398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4227" y="2148421"/>
                        <a:ext cx="3217863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716943"/>
              </p:ext>
            </p:extLst>
          </p:nvPr>
        </p:nvGraphicFramePr>
        <p:xfrm>
          <a:off x="4284347" y="2148421"/>
          <a:ext cx="3877014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6" name="Equation" r:id="rId7" imgW="1358640" imgH="927000" progId="Equation.DSMT4">
                  <p:embed/>
                </p:oleObj>
              </mc:Choice>
              <mc:Fallback>
                <p:oleObj name="Equation" r:id="rId7" imgW="135864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4347" y="2148421"/>
                        <a:ext cx="3877014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1413434" y="2569878"/>
            <a:ext cx="216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413434" y="3008175"/>
            <a:ext cx="216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413434" y="3822700"/>
            <a:ext cx="2016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772476"/>
              </p:ext>
            </p:extLst>
          </p:nvPr>
        </p:nvGraphicFramePr>
        <p:xfrm>
          <a:off x="5219923" y="2108200"/>
          <a:ext cx="63817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7" name="Equation" r:id="rId9" imgW="241200" imgH="914400" progId="Equation.DSMT4">
                  <p:embed/>
                </p:oleObj>
              </mc:Choice>
              <mc:Fallback>
                <p:oleObj name="Equation" r:id="rId9" imgW="2412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9923" y="2108200"/>
                        <a:ext cx="638175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682397"/>
              </p:ext>
            </p:extLst>
          </p:nvPr>
        </p:nvGraphicFramePr>
        <p:xfrm>
          <a:off x="5726605" y="2108200"/>
          <a:ext cx="671513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8" name="Equation" r:id="rId11" imgW="253800" imgH="914400" progId="Equation.DSMT4">
                  <p:embed/>
                </p:oleObj>
              </mc:Choice>
              <mc:Fallback>
                <p:oleObj name="Equation" r:id="rId11" imgW="253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26605" y="2108200"/>
                        <a:ext cx="671513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474445"/>
              </p:ext>
            </p:extLst>
          </p:nvPr>
        </p:nvGraphicFramePr>
        <p:xfrm>
          <a:off x="6475807" y="2155825"/>
          <a:ext cx="201612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9" name="Equation" r:id="rId13" imgW="75960" imgH="888840" progId="Equation.DSMT4">
                  <p:embed/>
                </p:oleObj>
              </mc:Choice>
              <mc:Fallback>
                <p:oleObj name="Equation" r:id="rId13" imgW="759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75807" y="2155825"/>
                        <a:ext cx="201612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403311"/>
              </p:ext>
            </p:extLst>
          </p:nvPr>
        </p:nvGraphicFramePr>
        <p:xfrm>
          <a:off x="6733783" y="2075839"/>
          <a:ext cx="671513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0" name="Equation" r:id="rId15" imgW="253800" imgH="914400" progId="Equation.DSMT4">
                  <p:embed/>
                </p:oleObj>
              </mc:Choice>
              <mc:Fallback>
                <p:oleObj name="Equation" r:id="rId15" imgW="253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33783" y="2075839"/>
                        <a:ext cx="671513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8161361" y="2702257"/>
            <a:ext cx="2988860" cy="461665"/>
            <a:chOff x="8161361" y="2702257"/>
            <a:chExt cx="2988860" cy="461665"/>
          </a:xfrm>
        </p:grpSpPr>
        <p:sp>
          <p:nvSpPr>
            <p:cNvPr id="22" name="文本框 21"/>
            <p:cNvSpPr txBox="1"/>
            <p:nvPr/>
          </p:nvSpPr>
          <p:spPr>
            <a:xfrm>
              <a:off x="8161361" y="2702257"/>
              <a:ext cx="29888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称     为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的伴随矩阵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4048246"/>
                </p:ext>
              </p:extLst>
            </p:nvPr>
          </p:nvGraphicFramePr>
          <p:xfrm>
            <a:off x="8592746" y="2702257"/>
            <a:ext cx="412209" cy="412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61" name="Equation" r:id="rId17" imgW="190440" imgH="190440" progId="Equation.DSMT4">
                    <p:embed/>
                  </p:oleObj>
                </mc:Choice>
                <mc:Fallback>
                  <p:oleObj name="Equation" r:id="rId17" imgW="1904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592746" y="2702257"/>
                          <a:ext cx="412209" cy="4122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4072090" y="4537846"/>
            <a:ext cx="3088541" cy="941695"/>
            <a:chOff x="4072090" y="4537846"/>
            <a:chExt cx="3088541" cy="941695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971425"/>
                </p:ext>
              </p:extLst>
            </p:nvPr>
          </p:nvGraphicFramePr>
          <p:xfrm>
            <a:off x="4267602" y="4701513"/>
            <a:ext cx="2801938" cy="614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62" name="Equation" r:id="rId19" imgW="1155600" imgH="253800" progId="Equation.DSMT4">
                    <p:embed/>
                  </p:oleObj>
                </mc:Choice>
                <mc:Fallback>
                  <p:oleObj name="Equation" r:id="rId19" imgW="11556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67602" y="4701513"/>
                          <a:ext cx="2801938" cy="6143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圆角矩形 24"/>
            <p:cNvSpPr/>
            <p:nvPr/>
          </p:nvSpPr>
          <p:spPr>
            <a:xfrm>
              <a:off x="4072090" y="4537846"/>
              <a:ext cx="3088541" cy="94169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159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4"/>
          <p:cNvSpPr txBox="1">
            <a:spLocks noChangeArrowheads="1"/>
          </p:cNvSpPr>
          <p:nvPr/>
        </p:nvSpPr>
        <p:spPr bwMode="auto">
          <a:xfrm>
            <a:off x="7247467" y="404813"/>
            <a:ext cx="3937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/>
              <a:t>2.1  </a:t>
            </a:r>
            <a:r>
              <a:rPr kumimoji="1" lang="zh-CN" altLang="en-US" sz="2000">
                <a:latin typeface="Times New Roman" pitchFamily="18" charset="0"/>
                <a:ea typeface="黑体" pitchFamily="2" charset="-122"/>
              </a:rPr>
              <a:t>矩阵的定义与运算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8916" name="组合 4"/>
          <p:cNvGrpSpPr>
            <a:grpSpLocks/>
          </p:cNvGrpSpPr>
          <p:nvPr/>
        </p:nvGrpSpPr>
        <p:grpSpPr bwMode="auto">
          <a:xfrm>
            <a:off x="912285" y="1250463"/>
            <a:ext cx="8170011" cy="894355"/>
            <a:chOff x="684287" y="1196752"/>
            <a:chExt cx="6128061" cy="981114"/>
          </a:xfrm>
        </p:grpSpPr>
        <p:sp>
          <p:nvSpPr>
            <p:cNvPr id="38927" name="Text Box 2"/>
            <p:cNvSpPr txBox="1">
              <a:spLocks noChangeArrowheads="1"/>
            </p:cNvSpPr>
            <p:nvPr/>
          </p:nvSpPr>
          <p:spPr bwMode="auto">
            <a:xfrm>
              <a:off x="684287" y="1196752"/>
              <a:ext cx="5615979" cy="91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20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6  </a:t>
              </a:r>
              <a:r>
                <a:rPr lang="zh-CN" altLang="en-US" sz="2400" dirty="0"/>
                <a:t>已知       </a:t>
              </a:r>
              <a:r>
                <a:rPr lang="zh-CN" altLang="en-US" sz="2400" dirty="0" smtClean="0"/>
                <a:t>              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38928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7821179"/>
                </p:ext>
              </p:extLst>
            </p:nvPr>
          </p:nvGraphicFramePr>
          <p:xfrm>
            <a:off x="1803791" y="1266256"/>
            <a:ext cx="1658938" cy="911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6" name="Equation" r:id="rId3" imgW="825500" imgH="457200" progId="Equation.DSMT4">
                    <p:embed/>
                  </p:oleObj>
                </mc:Choice>
                <mc:Fallback>
                  <p:oleObj name="Equation" r:id="rId3" imgW="8255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791" y="1266256"/>
                          <a:ext cx="1658938" cy="911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9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7889904"/>
                </p:ext>
              </p:extLst>
            </p:nvPr>
          </p:nvGraphicFramePr>
          <p:xfrm>
            <a:off x="3926273" y="1308797"/>
            <a:ext cx="2886075" cy="606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7" name="Equation" r:id="rId5" imgW="1434477" imgH="304668" progId="Equation.DSMT4">
                    <p:embed/>
                  </p:oleObj>
                </mc:Choice>
                <mc:Fallback>
                  <p:oleObj name="Equation" r:id="rId5" imgW="143447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273" y="1308797"/>
                          <a:ext cx="2886075" cy="6066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114749" y="2161733"/>
            <a:ext cx="3541183" cy="822325"/>
            <a:chOff x="979445" y="1951638"/>
            <a:chExt cx="2656416" cy="822448"/>
          </a:xfrm>
        </p:grpSpPr>
        <p:sp>
          <p:nvSpPr>
            <p:cNvPr id="38925" name="TextBox 1"/>
            <p:cNvSpPr txBox="1">
              <a:spLocks noChangeArrowheads="1"/>
            </p:cNvSpPr>
            <p:nvPr/>
          </p:nvSpPr>
          <p:spPr bwMode="auto">
            <a:xfrm>
              <a:off x="979445" y="1988840"/>
              <a:ext cx="2656416" cy="646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/>
                <a:t>解：       </a:t>
              </a:r>
              <a:endParaRPr lang="en-US" altLang="zh-CN" sz="2400"/>
            </a:p>
          </p:txBody>
        </p:sp>
        <p:graphicFrame>
          <p:nvGraphicFramePr>
            <p:cNvPr id="38926" name="Object 64"/>
            <p:cNvGraphicFramePr>
              <a:graphicFrameLocks noChangeAspect="1"/>
            </p:cNvGraphicFramePr>
            <p:nvPr/>
          </p:nvGraphicFramePr>
          <p:xfrm>
            <a:off x="1751357" y="1951638"/>
            <a:ext cx="1547745" cy="822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8" name="Equation" r:id="rId7" imgW="850900" imgH="457200" progId="Equation.DSMT4">
                    <p:embed/>
                  </p:oleObj>
                </mc:Choice>
                <mc:Fallback>
                  <p:oleObj name="Equation" r:id="rId7" imgW="8509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357" y="1951638"/>
                          <a:ext cx="1547745" cy="822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594183"/>
              </p:ext>
            </p:extLst>
          </p:nvPr>
        </p:nvGraphicFramePr>
        <p:xfrm>
          <a:off x="4408743" y="2198929"/>
          <a:ext cx="154093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9" name="Equation" r:id="rId9" imgW="634725" imgH="304668" progId="Equation.DSMT4">
                  <p:embed/>
                </p:oleObj>
              </mc:Choice>
              <mc:Fallback>
                <p:oleObj name="Equation" r:id="rId9" imgW="634725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743" y="2198929"/>
                        <a:ext cx="154093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177605"/>
              </p:ext>
            </p:extLst>
          </p:nvPr>
        </p:nvGraphicFramePr>
        <p:xfrm>
          <a:off x="6137056" y="2198929"/>
          <a:ext cx="1200149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0" name="Equation" r:id="rId11" imgW="494870" imgH="253780" progId="Equation.DSMT4">
                  <p:embed/>
                </p:oleObj>
              </mc:Choice>
              <mc:Fallback>
                <p:oleObj name="Equation" r:id="rId11" imgW="494870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056" y="2198929"/>
                        <a:ext cx="1200149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513507"/>
              </p:ext>
            </p:extLst>
          </p:nvPr>
        </p:nvGraphicFramePr>
        <p:xfrm>
          <a:off x="1214749" y="2845258"/>
          <a:ext cx="452966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1" name="Equation" r:id="rId13" imgW="1866900" imgH="457200" progId="Equation.DSMT4">
                  <p:embed/>
                </p:oleObj>
              </mc:Choice>
              <mc:Fallback>
                <p:oleObj name="Equation" r:id="rId13" imgW="1866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749" y="2845258"/>
                        <a:ext cx="452966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051982" y="3746016"/>
            <a:ext cx="3180183" cy="501650"/>
            <a:chOff x="1404044" y="5764748"/>
            <a:chExt cx="2628909" cy="501941"/>
          </a:xfrm>
        </p:grpSpPr>
        <p:graphicFrame>
          <p:nvGraphicFramePr>
            <p:cNvPr id="38923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7721470"/>
                </p:ext>
              </p:extLst>
            </p:nvPr>
          </p:nvGraphicFramePr>
          <p:xfrm>
            <a:off x="2230724" y="5764748"/>
            <a:ext cx="1802229" cy="5019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2" name="Equation" r:id="rId15" imgW="990360" imgH="279360" progId="Equation.DSMT4">
                    <p:embed/>
                  </p:oleObj>
                </mc:Choice>
                <mc:Fallback>
                  <p:oleObj name="Equation" r:id="rId15" imgW="9903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724" y="5764748"/>
                          <a:ext cx="1802229" cy="5019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4" name="TextBox 2"/>
            <p:cNvSpPr txBox="1">
              <a:spLocks noChangeArrowheads="1"/>
            </p:cNvSpPr>
            <p:nvPr/>
          </p:nvSpPr>
          <p:spPr bwMode="auto">
            <a:xfrm>
              <a:off x="1404044" y="5764748"/>
              <a:ext cx="17277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 smtClean="0">
                  <a:solidFill>
                    <a:srgbClr val="FF0000"/>
                  </a:solidFill>
                </a:rPr>
                <a:t>注意：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114749" y="4884682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证明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860941"/>
              </p:ext>
            </p:extLst>
          </p:nvPr>
        </p:nvGraphicFramePr>
        <p:xfrm>
          <a:off x="2116449" y="5012029"/>
          <a:ext cx="1405759" cy="39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3" name="Equation" r:id="rId17" imgW="1714500" imgH="482600" progId="Equation.3">
                  <p:embed/>
                </p:oleObj>
              </mc:Choice>
              <mc:Fallback>
                <p:oleObj name="Equation" r:id="rId17" imgW="1714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449" y="5012029"/>
                        <a:ext cx="1405759" cy="394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696334"/>
              </p:ext>
            </p:extLst>
          </p:nvPr>
        </p:nvGraphicFramePr>
        <p:xfrm>
          <a:off x="3878167" y="4952424"/>
          <a:ext cx="1555532" cy="388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4" name="Equation" r:id="rId19" imgW="2082800" imgH="520700" progId="Equation.3">
                  <p:embed/>
                </p:oleObj>
              </mc:Choice>
              <mc:Fallback>
                <p:oleObj name="Equation" r:id="rId19" imgW="20828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167" y="4952424"/>
                        <a:ext cx="1555532" cy="388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678214" y="4884682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则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344652"/>
              </p:ext>
            </p:extLst>
          </p:nvPr>
        </p:nvGraphicFramePr>
        <p:xfrm>
          <a:off x="1214749" y="5710183"/>
          <a:ext cx="4145527" cy="421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5" name="Equation" r:id="rId21" imgW="4622800" imgH="469900" progId="Equation.3">
                  <p:embed/>
                </p:oleObj>
              </mc:Choice>
              <mc:Fallback>
                <p:oleObj name="Equation" r:id="rId21" imgW="4622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749" y="5710183"/>
                        <a:ext cx="4145527" cy="421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087122"/>
              </p:ext>
            </p:extLst>
          </p:nvPr>
        </p:nvGraphicFramePr>
        <p:xfrm>
          <a:off x="5872655" y="5676462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6" name="Equation" r:id="rId23" imgW="1117115" imgH="482391" progId="Equation.3">
                  <p:embed/>
                </p:oleObj>
              </mc:Choice>
              <mc:Fallback>
                <p:oleObj name="Equation" r:id="rId23" imgW="1117115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655" y="5676462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083955" y="4389791"/>
            <a:ext cx="6163512" cy="497523"/>
            <a:chOff x="1404044" y="5764748"/>
            <a:chExt cx="3014586" cy="497811"/>
          </a:xfrm>
        </p:grpSpPr>
        <p:graphicFrame>
          <p:nvGraphicFramePr>
            <p:cNvPr id="24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3643463"/>
                </p:ext>
              </p:extLst>
            </p:nvPr>
          </p:nvGraphicFramePr>
          <p:xfrm>
            <a:off x="2361230" y="5805359"/>
            <a:ext cx="20574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7" name="Equation" r:id="rId25" imgW="1130040" imgH="253800" progId="Equation.DSMT4">
                    <p:embed/>
                  </p:oleObj>
                </mc:Choice>
                <mc:Fallback>
                  <p:oleObj name="Equation" r:id="rId25" imgW="11300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1230" y="5805359"/>
                          <a:ext cx="20574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Box 2"/>
            <p:cNvSpPr txBox="1">
              <a:spLocks noChangeArrowheads="1"/>
            </p:cNvSpPr>
            <p:nvPr/>
          </p:nvSpPr>
          <p:spPr bwMode="auto">
            <a:xfrm>
              <a:off x="1404044" y="5764748"/>
              <a:ext cx="1727795" cy="461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rgbClr val="FF0000"/>
                  </a:solidFill>
                </a:rPr>
                <a:t>伴随矩阵</a:t>
              </a:r>
              <a:r>
                <a:rPr lang="zh-CN" altLang="en-US" sz="2400" dirty="0" smtClean="0">
                  <a:solidFill>
                    <a:srgbClr val="FF0000"/>
                  </a:solidFill>
                </a:rPr>
                <a:t>定理</a:t>
              </a:r>
              <a:r>
                <a:rPr lang="zh-CN" altLang="en-US" sz="2400" dirty="0">
                  <a:solidFill>
                    <a:schemeClr val="accent5"/>
                  </a:solidFill>
                </a:rPr>
                <a:t>：</a:t>
              </a:r>
            </a:p>
          </p:txBody>
        </p:sp>
      </p:grpSp>
      <p:sp>
        <p:nvSpPr>
          <p:cNvPr id="26" name="TextBox 2"/>
          <p:cNvSpPr txBox="1">
            <a:spLocks noChangeArrowheads="1"/>
          </p:cNvSpPr>
          <p:nvPr/>
        </p:nvSpPr>
        <p:spPr bwMode="auto">
          <a:xfrm>
            <a:off x="4454846" y="3766009"/>
            <a:ext cx="35325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 smtClean="0">
                <a:solidFill>
                  <a:schemeClr val="accent5"/>
                </a:solidFill>
              </a:rPr>
              <a:t>其中</a:t>
            </a:r>
            <a:r>
              <a:rPr lang="en-US" altLang="zh-CN" sz="2400" dirty="0" smtClean="0">
                <a:solidFill>
                  <a:schemeClr val="accent5"/>
                </a:solidFill>
              </a:rPr>
              <a:t>n</a:t>
            </a:r>
            <a:r>
              <a:rPr lang="zh-CN" altLang="en-US" sz="2400" dirty="0" smtClean="0">
                <a:solidFill>
                  <a:schemeClr val="accent5"/>
                </a:solidFill>
              </a:rPr>
              <a:t>为矩阵</a:t>
            </a:r>
            <a:r>
              <a:rPr lang="en-US" altLang="zh-CN" sz="2400" dirty="0" smtClean="0">
                <a:solidFill>
                  <a:schemeClr val="accent5"/>
                </a:solidFill>
              </a:rPr>
              <a:t>A</a:t>
            </a:r>
            <a:r>
              <a:rPr lang="zh-CN" altLang="en-US" sz="2400" dirty="0" smtClean="0">
                <a:solidFill>
                  <a:schemeClr val="accent5"/>
                </a:solidFill>
              </a:rPr>
              <a:t>的阶数。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96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20" grpId="0" autoUpdateAnimBg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677895" y="3352799"/>
            <a:ext cx="2090141" cy="5847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*共轭矩阵</a:t>
            </a:r>
            <a:endParaRPr lang="zh-CN" altLang="en-US" b="1" dirty="0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86019" name="Group 3"/>
          <p:cNvGrpSpPr>
            <a:grpSpLocks/>
          </p:cNvGrpSpPr>
          <p:nvPr/>
        </p:nvGrpSpPr>
        <p:grpSpPr bwMode="auto">
          <a:xfrm>
            <a:off x="918633" y="4114801"/>
            <a:ext cx="10608734" cy="1562100"/>
            <a:chOff x="590" y="729"/>
            <a:chExt cx="5012" cy="984"/>
          </a:xfrm>
        </p:grpSpPr>
        <p:sp>
          <p:nvSpPr>
            <p:cNvPr id="54286" name="Text Box 4"/>
            <p:cNvSpPr txBox="1">
              <a:spLocks noChangeArrowheads="1"/>
            </p:cNvSpPr>
            <p:nvPr/>
          </p:nvSpPr>
          <p:spPr bwMode="auto">
            <a:xfrm>
              <a:off x="590" y="729"/>
              <a:ext cx="4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ea typeface="黑体" pitchFamily="2" charset="-122"/>
                </a:rPr>
                <a:t>定义</a:t>
              </a:r>
            </a:p>
          </p:txBody>
        </p:sp>
        <p:sp>
          <p:nvSpPr>
            <p:cNvPr id="54287" name="Text Box 5"/>
            <p:cNvSpPr txBox="1">
              <a:spLocks noChangeArrowheads="1"/>
            </p:cNvSpPr>
            <p:nvPr/>
          </p:nvSpPr>
          <p:spPr bwMode="auto">
            <a:xfrm>
              <a:off x="768" y="1112"/>
              <a:ext cx="483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当               为复矩阵时，用      表示     的</a:t>
              </a:r>
              <a:r>
                <a:rPr lang="zh-CN" altLang="en-US" sz="2800" b="1" dirty="0" smtClean="0"/>
                <a:t>共轭复数</a:t>
              </a:r>
              <a:r>
                <a:rPr lang="zh-CN" altLang="en-US" sz="2800" b="1" dirty="0"/>
                <a:t>，记　　　　，　称为     的共轭矩阵</a:t>
              </a:r>
              <a:r>
                <a:rPr lang="en-US" altLang="zh-CN" sz="2800" b="1" dirty="0"/>
                <a:t>.      </a:t>
              </a:r>
            </a:p>
          </p:txBody>
        </p:sp>
        <p:graphicFrame>
          <p:nvGraphicFramePr>
            <p:cNvPr id="5428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351972"/>
                </p:ext>
              </p:extLst>
            </p:nvPr>
          </p:nvGraphicFramePr>
          <p:xfrm>
            <a:off x="1006" y="1166"/>
            <a:ext cx="62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4" name="公式" r:id="rId3" imgW="1282700" imgH="495300" progId="Equation.3">
                    <p:embed/>
                  </p:oleObj>
                </mc:Choice>
                <mc:Fallback>
                  <p:oleObj name="公式" r:id="rId3" imgW="1282700" imgH="495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6" y="1166"/>
                          <a:ext cx="62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753340"/>
                </p:ext>
              </p:extLst>
            </p:nvPr>
          </p:nvGraphicFramePr>
          <p:xfrm>
            <a:off x="2834" y="1150"/>
            <a:ext cx="24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5" name="公式" r:id="rId5" imgW="393529" imgH="520474" progId="Equation.3">
                    <p:embed/>
                  </p:oleObj>
                </mc:Choice>
                <mc:Fallback>
                  <p:oleObj name="公式" r:id="rId5" imgW="393529" imgH="52047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4" y="1150"/>
                          <a:ext cx="247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5772170"/>
                </p:ext>
              </p:extLst>
            </p:nvPr>
          </p:nvGraphicFramePr>
          <p:xfrm>
            <a:off x="3378" y="1112"/>
            <a:ext cx="22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6" name="公式" r:id="rId7" imgW="355292" imgH="494870" progId="Equation.3">
                    <p:embed/>
                  </p:oleObj>
                </mc:Choice>
                <mc:Fallback>
                  <p:oleObj name="公式" r:id="rId7" imgW="355292" imgH="4948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" y="1112"/>
                          <a:ext cx="22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3060797"/>
                </p:ext>
              </p:extLst>
            </p:nvPr>
          </p:nvGraphicFramePr>
          <p:xfrm>
            <a:off x="4794" y="1168"/>
            <a:ext cx="80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7" name="公式" r:id="rId9" imgW="1282700" imgH="520700" progId="Equation.3">
                    <p:embed/>
                  </p:oleObj>
                </mc:Choice>
                <mc:Fallback>
                  <p:oleObj name="公式" r:id="rId9" imgW="1282700" imgH="520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4" y="1168"/>
                          <a:ext cx="80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4892854"/>
                </p:ext>
              </p:extLst>
            </p:nvPr>
          </p:nvGraphicFramePr>
          <p:xfrm>
            <a:off x="632" y="1413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8" name="公式" r:id="rId11" imgW="317225" imgH="380670" progId="Equation.3">
                    <p:embed/>
                  </p:oleObj>
                </mc:Choice>
                <mc:Fallback>
                  <p:oleObj name="公式" r:id="rId11" imgW="317225" imgH="380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" y="1413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23919"/>
                </p:ext>
              </p:extLst>
            </p:nvPr>
          </p:nvGraphicFramePr>
          <p:xfrm>
            <a:off x="1172" y="1413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9" name="公式" r:id="rId13" imgW="317225" imgH="317225" progId="Equation.3">
                    <p:embed/>
                  </p:oleObj>
                </mc:Choice>
                <mc:Fallback>
                  <p:oleObj name="公式" r:id="rId13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1413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76" name="Text Box 12"/>
          <p:cNvSpPr txBox="1">
            <a:spLocks noChangeArrowheads="1"/>
          </p:cNvSpPr>
          <p:nvPr/>
        </p:nvSpPr>
        <p:spPr bwMode="auto">
          <a:xfrm>
            <a:off x="1201977" y="1105641"/>
            <a:ext cx="71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故</a:t>
            </a:r>
          </a:p>
        </p:txBody>
      </p:sp>
      <p:graphicFrame>
        <p:nvGraphicFramePr>
          <p:cNvPr id="542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309482"/>
              </p:ext>
            </p:extLst>
          </p:nvPr>
        </p:nvGraphicFramePr>
        <p:xfrm>
          <a:off x="1913177" y="1186084"/>
          <a:ext cx="259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0" name="Equation" r:id="rId15" imgW="1943100" imgH="520700" progId="Equation.3">
                  <p:embed/>
                </p:oleObj>
              </mc:Choice>
              <mc:Fallback>
                <p:oleObj name="Equation" r:id="rId15" imgW="19431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177" y="1186084"/>
                        <a:ext cx="2590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932285"/>
              </p:ext>
            </p:extLst>
          </p:nvPr>
        </p:nvGraphicFramePr>
        <p:xfrm>
          <a:off x="4628128" y="1224184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1" name="Equation" r:id="rId17" imgW="1218671" imgH="482391" progId="Equation.3">
                  <p:embed/>
                </p:oleObj>
              </mc:Choice>
              <mc:Fallback>
                <p:oleObj name="Equation" r:id="rId17" imgW="121867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128" y="1224184"/>
                        <a:ext cx="1625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337949"/>
              </p:ext>
            </p:extLst>
          </p:nvPr>
        </p:nvGraphicFramePr>
        <p:xfrm>
          <a:off x="6285259" y="1180254"/>
          <a:ext cx="137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2" name="Equation" r:id="rId19" imgW="1028254" imgH="444307" progId="Equation.3">
                  <p:embed/>
                </p:oleObj>
              </mc:Choice>
              <mc:Fallback>
                <p:oleObj name="Equation" r:id="rId19" imgW="102825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259" y="1180254"/>
                        <a:ext cx="137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1140667" y="1706784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同理可得</a:t>
            </a:r>
          </a:p>
        </p:txBody>
      </p:sp>
      <p:graphicFrame>
        <p:nvGraphicFramePr>
          <p:cNvPr id="860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182060"/>
              </p:ext>
            </p:extLst>
          </p:nvPr>
        </p:nvGraphicFramePr>
        <p:xfrm>
          <a:off x="998502" y="2154620"/>
          <a:ext cx="353906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3" name="Equation" r:id="rId21" imgW="2654300" imgH="977900" progId="Equation.3">
                  <p:embed/>
                </p:oleObj>
              </mc:Choice>
              <mc:Fallback>
                <p:oleObj name="Equation" r:id="rId21" imgW="26543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02" y="2154620"/>
                        <a:ext cx="353906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4" name="Object 18"/>
          <p:cNvGraphicFramePr>
            <a:graphicFrameLocks noChangeAspect="1"/>
          </p:cNvGraphicFramePr>
          <p:nvPr/>
        </p:nvGraphicFramePr>
        <p:xfrm>
          <a:off x="5969000" y="3219450"/>
          <a:ext cx="25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4" name="Equation" r:id="rId23" imgW="190500" imgH="419100" progId="Equation.3">
                  <p:embed/>
                </p:oleObj>
              </mc:Choice>
              <mc:Fallback>
                <p:oleObj name="Equation" r:id="rId23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3219450"/>
                        <a:ext cx="25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31170"/>
              </p:ext>
            </p:extLst>
          </p:nvPr>
        </p:nvGraphicFramePr>
        <p:xfrm>
          <a:off x="4540469" y="2414752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5" name="Equation" r:id="rId25" imgW="1218671" imgH="482391" progId="Equation.3">
                  <p:embed/>
                </p:oleObj>
              </mc:Choice>
              <mc:Fallback>
                <p:oleObj name="Equation" r:id="rId25" imgW="121867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469" y="2414752"/>
                        <a:ext cx="1625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515181"/>
              </p:ext>
            </p:extLst>
          </p:nvPr>
        </p:nvGraphicFramePr>
        <p:xfrm>
          <a:off x="6120524" y="2404242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6" name="Equation" r:id="rId27" imgW="1218671" imgH="482391" progId="Equation.3">
                  <p:embed/>
                </p:oleObj>
              </mc:Choice>
              <mc:Fallback>
                <p:oleObj name="Equation" r:id="rId27" imgW="1218671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524" y="2404242"/>
                        <a:ext cx="1625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845089"/>
              </p:ext>
            </p:extLst>
          </p:nvPr>
        </p:nvGraphicFramePr>
        <p:xfrm>
          <a:off x="7679559" y="2362200"/>
          <a:ext cx="137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7" name="Equation" r:id="rId28" imgW="1028254" imgH="444307" progId="Equation.3">
                  <p:embed/>
                </p:oleObj>
              </mc:Choice>
              <mc:Fallback>
                <p:oleObj name="Equation" r:id="rId28" imgW="1028254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559" y="2362200"/>
                        <a:ext cx="137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nimBg="1" autoUpdateAnimBg="0"/>
      <p:bldP spid="8603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037692"/>
              </p:ext>
            </p:extLst>
          </p:nvPr>
        </p:nvGraphicFramePr>
        <p:xfrm>
          <a:off x="4873295" y="2136734"/>
          <a:ext cx="254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3" name="Equation" r:id="rId3" imgW="1905000" imgH="457200" progId="Equation.3">
                  <p:embed/>
                </p:oleObj>
              </mc:Choice>
              <mc:Fallback>
                <p:oleObj name="Equation" r:id="rId3" imgW="1905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295" y="2136734"/>
                        <a:ext cx="2540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744286"/>
              </p:ext>
            </p:extLst>
          </p:nvPr>
        </p:nvGraphicFramePr>
        <p:xfrm>
          <a:off x="1205186" y="2837793"/>
          <a:ext cx="272626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4" name="Equation" r:id="rId5" imgW="2044700" imgH="457200" progId="Equation.3">
                  <p:embed/>
                </p:oleObj>
              </mc:Choice>
              <mc:Fallback>
                <p:oleObj name="Equation" r:id="rId5" imgW="2044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186" y="2837793"/>
                        <a:ext cx="272626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557048" y="109981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运算性质</a:t>
            </a:r>
          </a:p>
        </p:txBody>
      </p:sp>
      <p:graphicFrame>
        <p:nvGraphicFramePr>
          <p:cNvPr id="8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502852"/>
              </p:ext>
            </p:extLst>
          </p:nvPr>
        </p:nvGraphicFramePr>
        <p:xfrm>
          <a:off x="1152634" y="2136734"/>
          <a:ext cx="355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5" name="Equation" r:id="rId7" imgW="2667000" imgH="457200" progId="Equation.3">
                  <p:embed/>
                </p:oleObj>
              </mc:Choice>
              <mc:Fallback>
                <p:oleObj name="Equation" r:id="rId7" imgW="2667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634" y="2136734"/>
                        <a:ext cx="3556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302" name="Group 6"/>
          <p:cNvGrpSpPr>
            <a:grpSpLocks/>
          </p:cNvGrpSpPr>
          <p:nvPr/>
        </p:nvGrpSpPr>
        <p:grpSpPr bwMode="auto">
          <a:xfrm>
            <a:off x="557048" y="1617621"/>
            <a:ext cx="11988800" cy="519113"/>
            <a:chOff x="576" y="912"/>
            <a:chExt cx="5664" cy="327"/>
          </a:xfrm>
        </p:grpSpPr>
        <p:sp>
          <p:nvSpPr>
            <p:cNvPr id="55303" name="Text Box 7"/>
            <p:cNvSpPr txBox="1">
              <a:spLocks noChangeArrowheads="1"/>
            </p:cNvSpPr>
            <p:nvPr/>
          </p:nvSpPr>
          <p:spPr bwMode="auto">
            <a:xfrm>
              <a:off x="576" y="912"/>
              <a:ext cx="56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/>
                  </a:solidFill>
                </a:rPr>
                <a:t>（</a:t>
              </a:r>
              <a:r>
                <a:rPr lang="zh-CN" altLang="en-US" sz="2800" b="1" dirty="0"/>
                <a:t>设        为复矩阵，  为复数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且运算都是可行的）</a:t>
              </a:r>
              <a:r>
                <a:rPr lang="en-US" altLang="zh-CN" sz="2800" b="1" dirty="0"/>
                <a:t>:</a:t>
              </a:r>
            </a:p>
          </p:txBody>
        </p:sp>
        <p:graphicFrame>
          <p:nvGraphicFramePr>
            <p:cNvPr id="5530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640973"/>
                </p:ext>
              </p:extLst>
            </p:nvPr>
          </p:nvGraphicFramePr>
          <p:xfrm>
            <a:off x="934" y="968"/>
            <a:ext cx="451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06" name="Equation" r:id="rId9" imgW="723586" imgH="393529" progId="Equation.3">
                    <p:embed/>
                  </p:oleObj>
                </mc:Choice>
                <mc:Fallback>
                  <p:oleObj name="Equation" r:id="rId9" imgW="72358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968"/>
                          <a:ext cx="451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851799"/>
                </p:ext>
              </p:extLst>
            </p:nvPr>
          </p:nvGraphicFramePr>
          <p:xfrm>
            <a:off x="2072" y="968"/>
            <a:ext cx="17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07" name="公式" r:id="rId11" imgW="279279" imgH="342751" progId="Equation.3">
                    <p:embed/>
                  </p:oleObj>
                </mc:Choice>
                <mc:Fallback>
                  <p:oleObj name="公式" r:id="rId11" imgW="279279" imgH="3427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" y="968"/>
                          <a:ext cx="17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942528" y="3757273"/>
            <a:ext cx="5973278" cy="961872"/>
            <a:chOff x="979445" y="1988840"/>
            <a:chExt cx="4278582" cy="822448"/>
          </a:xfrm>
        </p:grpSpPr>
        <p:sp>
          <p:nvSpPr>
            <p:cNvPr id="11" name="TextBox 1"/>
            <p:cNvSpPr txBox="1">
              <a:spLocks noChangeArrowheads="1"/>
            </p:cNvSpPr>
            <p:nvPr/>
          </p:nvSpPr>
          <p:spPr bwMode="auto">
            <a:xfrm>
              <a:off x="979445" y="1988840"/>
              <a:ext cx="2656416" cy="569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比如</a:t>
              </a:r>
              <a:r>
                <a:rPr lang="zh-CN" altLang="en-US" sz="2400" dirty="0" smtClean="0"/>
                <a:t>      </a:t>
              </a:r>
              <a:endParaRPr lang="en-US" altLang="zh-CN" sz="2400" dirty="0"/>
            </a:p>
          </p:txBody>
        </p:sp>
        <p:graphicFrame>
          <p:nvGraphicFramePr>
            <p:cNvPr id="1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8719621"/>
                </p:ext>
              </p:extLst>
            </p:nvPr>
          </p:nvGraphicFramePr>
          <p:xfrm>
            <a:off x="1587790" y="1988840"/>
            <a:ext cx="3670237" cy="822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08" name="Equation" r:id="rId13" imgW="2019240" imgH="457200" progId="Equation.DSMT4">
                    <p:embed/>
                  </p:oleObj>
                </mc:Choice>
                <mc:Fallback>
                  <p:oleObj name="Equation" r:id="rId13" imgW="201924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7790" y="1988840"/>
                          <a:ext cx="3670237" cy="822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82804"/>
              </p:ext>
            </p:extLst>
          </p:nvPr>
        </p:nvGraphicFramePr>
        <p:xfrm>
          <a:off x="1109734" y="4958145"/>
          <a:ext cx="53736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9" name="Equation" r:id="rId15" imgW="1612800" imgH="228600" progId="Equation.DSMT4">
                  <p:embed/>
                </p:oleObj>
              </mc:Choice>
              <mc:Fallback>
                <p:oleObj name="Equation" r:id="rId15" imgW="16128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734" y="4958145"/>
                        <a:ext cx="537368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080479"/>
              </p:ext>
            </p:extLst>
          </p:nvPr>
        </p:nvGraphicFramePr>
        <p:xfrm>
          <a:off x="4756223" y="2778837"/>
          <a:ext cx="2253103" cy="616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0" name="Equation" r:id="rId17" imgW="799920" imgH="291960" progId="Equation.DSMT4">
                  <p:embed/>
                </p:oleObj>
              </mc:Choice>
              <mc:Fallback>
                <p:oleObj name="Equation" r:id="rId17" imgW="799920" imgH="291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223" y="2778837"/>
                        <a:ext cx="2253103" cy="616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.1-2.2矩阵及运算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2.1-2.2矩阵及运算</Template>
  <TotalTime>35</TotalTime>
  <Words>655</Words>
  <Application>Microsoft Office PowerPoint</Application>
  <PresentationFormat>自定义</PresentationFormat>
  <Paragraphs>123</Paragraphs>
  <Slides>28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2.1-2.2矩阵及运算</vt:lpstr>
      <vt:lpstr>Profile</vt:lpstr>
      <vt:lpstr>Equation</vt:lpstr>
      <vt:lpstr>公式</vt:lpstr>
      <vt:lpstr>PowerPoint 演示文稿</vt:lpstr>
      <vt:lpstr>PowerPoint 演示文稿</vt:lpstr>
      <vt:lpstr>线性方程组的系数与常数项按原位置可排为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LSG</dc:creator>
  <cp:lastModifiedBy>LSG</cp:lastModifiedBy>
  <cp:revision>13</cp:revision>
  <dcterms:created xsi:type="dcterms:W3CDTF">2018-03-13T07:46:57Z</dcterms:created>
  <dcterms:modified xsi:type="dcterms:W3CDTF">2018-10-10T11:32:46Z</dcterms:modified>
</cp:coreProperties>
</file>
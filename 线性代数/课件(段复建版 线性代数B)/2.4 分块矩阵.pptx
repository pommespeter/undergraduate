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1" r:id="rId3"/>
    <p:sldId id="276" r:id="rId4"/>
    <p:sldId id="277" r:id="rId5"/>
    <p:sldId id="278" r:id="rId6"/>
    <p:sldId id="273" r:id="rId7"/>
    <p:sldId id="280" r:id="rId8"/>
    <p:sldId id="274" r:id="rId9"/>
    <p:sldId id="281" r:id="rId10"/>
    <p:sldId id="28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C3E6"/>
    <a:srgbClr val="2E75B6"/>
    <a:srgbClr val="1F4E79"/>
    <a:srgbClr val="FFFFFF"/>
    <a:srgbClr val="548235"/>
    <a:srgbClr val="385723"/>
    <a:srgbClr val="3B3838"/>
    <a:srgbClr val="A6A6A6"/>
    <a:srgbClr val="D9D9D9"/>
    <a:srgbClr val="8FA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napToGrid="0">
      <p:cViewPr varScale="1">
        <p:scale>
          <a:sx n="63" d="100"/>
          <a:sy n="63" d="100"/>
        </p:scale>
        <p:origin x="-126" y="-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D9117C-924D-4318-8941-8DBB88359BC5}" type="doc">
      <dgm:prSet loTypeId="urn:microsoft.com/office/officeart/2005/8/layout/pyramid2" loCatId="list" qsTypeId="urn:microsoft.com/office/officeart/2005/8/quickstyle/simple1" qsCatId="simple" csTypeId="urn:microsoft.com/office/officeart/2005/8/colors/accent1_1" csCatId="accent1" phldr="1"/>
      <dgm:spPr/>
    </dgm:pt>
    <dgm:pt modelId="{82A5EB5A-37EF-4F3B-B85C-88658FB8AB0F}">
      <dgm:prSet phldrT="[文本]"/>
      <dgm:spPr/>
      <dgm:t>
        <a:bodyPr/>
        <a:lstStyle/>
        <a:p>
          <a:endParaRPr lang="zh-CN" altLang="en-US" dirty="0"/>
        </a:p>
      </dgm:t>
    </dgm:pt>
    <dgm:pt modelId="{12DE3E9B-0C6A-44C0-B72D-56845F4334F0}" type="parTrans" cxnId="{81ADAA13-9E3B-4BD7-9C5A-D57584CCC172}">
      <dgm:prSet/>
      <dgm:spPr/>
      <dgm:t>
        <a:bodyPr/>
        <a:lstStyle/>
        <a:p>
          <a:endParaRPr lang="zh-CN" altLang="en-US"/>
        </a:p>
      </dgm:t>
    </dgm:pt>
    <dgm:pt modelId="{7DA5292F-4951-400A-8C94-41DA5FCD7005}" type="sibTrans" cxnId="{81ADAA13-9E3B-4BD7-9C5A-D57584CCC172}">
      <dgm:prSet/>
      <dgm:spPr/>
      <dgm:t>
        <a:bodyPr/>
        <a:lstStyle/>
        <a:p>
          <a:endParaRPr lang="zh-CN" altLang="en-US"/>
        </a:p>
      </dgm:t>
    </dgm:pt>
    <dgm:pt modelId="{7CACF691-A9CE-4451-96A2-29CDA14F4A6C}">
      <dgm:prSet phldrT="[文本]" phldr="1"/>
      <dgm:spPr/>
      <dgm:t>
        <a:bodyPr/>
        <a:lstStyle/>
        <a:p>
          <a:endParaRPr lang="zh-CN" altLang="en-US" dirty="0"/>
        </a:p>
      </dgm:t>
    </dgm:pt>
    <dgm:pt modelId="{30541592-CF09-449D-9294-7A5BF1E3185A}" type="parTrans" cxnId="{034A2D1F-371F-4E39-81AB-A17F2608571C}">
      <dgm:prSet/>
      <dgm:spPr/>
      <dgm:t>
        <a:bodyPr/>
        <a:lstStyle/>
        <a:p>
          <a:endParaRPr lang="zh-CN" altLang="en-US"/>
        </a:p>
      </dgm:t>
    </dgm:pt>
    <dgm:pt modelId="{78AEE8B1-3D6A-48D9-807C-7611926DDC05}" type="sibTrans" cxnId="{034A2D1F-371F-4E39-81AB-A17F2608571C}">
      <dgm:prSet/>
      <dgm:spPr/>
      <dgm:t>
        <a:bodyPr/>
        <a:lstStyle/>
        <a:p>
          <a:endParaRPr lang="zh-CN" altLang="en-US"/>
        </a:p>
      </dgm:t>
    </dgm:pt>
    <dgm:pt modelId="{59D6D906-924F-4845-9398-6620A62CF7A2}">
      <dgm:prSet phldrT="[文本]" phldr="1"/>
      <dgm:spPr/>
      <dgm:t>
        <a:bodyPr/>
        <a:lstStyle/>
        <a:p>
          <a:endParaRPr lang="zh-CN" altLang="en-US" dirty="0"/>
        </a:p>
      </dgm:t>
    </dgm:pt>
    <dgm:pt modelId="{C23E3E3E-5D8D-4419-A2D8-A16F9A05799D}" type="parTrans" cxnId="{9500DEFF-89B8-4005-BE9F-908A8E16259E}">
      <dgm:prSet/>
      <dgm:spPr/>
      <dgm:t>
        <a:bodyPr/>
        <a:lstStyle/>
        <a:p>
          <a:endParaRPr lang="zh-CN" altLang="en-US"/>
        </a:p>
      </dgm:t>
    </dgm:pt>
    <dgm:pt modelId="{6595227C-5AE7-499F-9E5A-88DD499E73F2}" type="sibTrans" cxnId="{9500DEFF-89B8-4005-BE9F-908A8E16259E}">
      <dgm:prSet/>
      <dgm:spPr/>
      <dgm:t>
        <a:bodyPr/>
        <a:lstStyle/>
        <a:p>
          <a:endParaRPr lang="zh-CN" altLang="en-US"/>
        </a:p>
      </dgm:t>
    </dgm:pt>
    <dgm:pt modelId="{9F011FFE-2663-4B8B-8F69-C2CB6A4888AB}" type="pres">
      <dgm:prSet presAssocID="{5FD9117C-924D-4318-8941-8DBB88359BC5}" presName="compositeShape" presStyleCnt="0">
        <dgm:presLayoutVars>
          <dgm:dir/>
          <dgm:resizeHandles/>
        </dgm:presLayoutVars>
      </dgm:prSet>
      <dgm:spPr/>
    </dgm:pt>
    <dgm:pt modelId="{860F7CE8-2F83-4DC0-AC07-83C5168EE6E0}" type="pres">
      <dgm:prSet presAssocID="{5FD9117C-924D-4318-8941-8DBB88359BC5}" presName="pyramid" presStyleLbl="node1" presStyleIdx="0" presStyleCnt="1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solidFill>
          <a:srgbClr val="C00000"/>
        </a:solidFill>
      </dgm:spPr>
    </dgm:pt>
    <dgm:pt modelId="{0F0CBEF4-D3A6-4CCD-A1C4-040C1E1066E5}" type="pres">
      <dgm:prSet presAssocID="{5FD9117C-924D-4318-8941-8DBB88359BC5}" presName="theList" presStyleCnt="0"/>
      <dgm:spPr/>
    </dgm:pt>
    <dgm:pt modelId="{CC276D06-364B-45E2-95AC-1BFC85042F5A}" type="pres">
      <dgm:prSet presAssocID="{82A5EB5A-37EF-4F3B-B85C-88658FB8AB0F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C8BA3BC-933B-4F3F-B12D-85697E3069D8}" type="pres">
      <dgm:prSet presAssocID="{82A5EB5A-37EF-4F3B-B85C-88658FB8AB0F}" presName="aSpace" presStyleCnt="0"/>
      <dgm:spPr/>
    </dgm:pt>
    <dgm:pt modelId="{C82EFD33-A0E6-4BFE-A685-64C9BD46D540}" type="pres">
      <dgm:prSet presAssocID="{7CACF691-A9CE-4451-96A2-29CDA14F4A6C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BBBA353-B8DE-4215-B488-AE5DF5AEBE04}" type="pres">
      <dgm:prSet presAssocID="{7CACF691-A9CE-4451-96A2-29CDA14F4A6C}" presName="aSpace" presStyleCnt="0"/>
      <dgm:spPr/>
    </dgm:pt>
    <dgm:pt modelId="{0AF6397C-1758-4A56-9235-D4A8E30AA563}" type="pres">
      <dgm:prSet presAssocID="{59D6D906-924F-4845-9398-6620A62CF7A2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96F91D1-EA9D-41C4-BA8F-F4C3854A9782}" type="pres">
      <dgm:prSet presAssocID="{59D6D906-924F-4845-9398-6620A62CF7A2}" presName="aSpace" presStyleCnt="0"/>
      <dgm:spPr/>
    </dgm:pt>
  </dgm:ptLst>
  <dgm:cxnLst>
    <dgm:cxn modelId="{034A2D1F-371F-4E39-81AB-A17F2608571C}" srcId="{5FD9117C-924D-4318-8941-8DBB88359BC5}" destId="{7CACF691-A9CE-4451-96A2-29CDA14F4A6C}" srcOrd="1" destOrd="0" parTransId="{30541592-CF09-449D-9294-7A5BF1E3185A}" sibTransId="{78AEE8B1-3D6A-48D9-807C-7611926DDC05}"/>
    <dgm:cxn modelId="{9500DEFF-89B8-4005-BE9F-908A8E16259E}" srcId="{5FD9117C-924D-4318-8941-8DBB88359BC5}" destId="{59D6D906-924F-4845-9398-6620A62CF7A2}" srcOrd="2" destOrd="0" parTransId="{C23E3E3E-5D8D-4419-A2D8-A16F9A05799D}" sibTransId="{6595227C-5AE7-499F-9E5A-88DD499E73F2}"/>
    <dgm:cxn modelId="{BDB832CB-7078-40E0-A8CF-E38352CAD7C3}" type="presOf" srcId="{5FD9117C-924D-4318-8941-8DBB88359BC5}" destId="{9F011FFE-2663-4B8B-8F69-C2CB6A4888AB}" srcOrd="0" destOrd="0" presId="urn:microsoft.com/office/officeart/2005/8/layout/pyramid2"/>
    <dgm:cxn modelId="{CADCEC03-7D1F-435F-A821-4447F5BB75AC}" type="presOf" srcId="{59D6D906-924F-4845-9398-6620A62CF7A2}" destId="{0AF6397C-1758-4A56-9235-D4A8E30AA563}" srcOrd="0" destOrd="0" presId="urn:microsoft.com/office/officeart/2005/8/layout/pyramid2"/>
    <dgm:cxn modelId="{81ADAA13-9E3B-4BD7-9C5A-D57584CCC172}" srcId="{5FD9117C-924D-4318-8941-8DBB88359BC5}" destId="{82A5EB5A-37EF-4F3B-B85C-88658FB8AB0F}" srcOrd="0" destOrd="0" parTransId="{12DE3E9B-0C6A-44C0-B72D-56845F4334F0}" sibTransId="{7DA5292F-4951-400A-8C94-41DA5FCD7005}"/>
    <dgm:cxn modelId="{45EF855D-E1A5-4E54-BCE2-75BE0D3D8835}" type="presOf" srcId="{82A5EB5A-37EF-4F3B-B85C-88658FB8AB0F}" destId="{CC276D06-364B-45E2-95AC-1BFC85042F5A}" srcOrd="0" destOrd="0" presId="urn:microsoft.com/office/officeart/2005/8/layout/pyramid2"/>
    <dgm:cxn modelId="{E03C9F96-96E1-414E-87F8-65F64F778893}" type="presOf" srcId="{7CACF691-A9CE-4451-96A2-29CDA14F4A6C}" destId="{C82EFD33-A0E6-4BFE-A685-64C9BD46D540}" srcOrd="0" destOrd="0" presId="urn:microsoft.com/office/officeart/2005/8/layout/pyramid2"/>
    <dgm:cxn modelId="{1B625109-946F-4FD4-8BD6-23964052AF3D}" type="presParOf" srcId="{9F011FFE-2663-4B8B-8F69-C2CB6A4888AB}" destId="{860F7CE8-2F83-4DC0-AC07-83C5168EE6E0}" srcOrd="0" destOrd="0" presId="urn:microsoft.com/office/officeart/2005/8/layout/pyramid2"/>
    <dgm:cxn modelId="{1E50F5A7-1035-4C5B-B2D6-E8DCDFBB4CDD}" type="presParOf" srcId="{9F011FFE-2663-4B8B-8F69-C2CB6A4888AB}" destId="{0F0CBEF4-D3A6-4CCD-A1C4-040C1E1066E5}" srcOrd="1" destOrd="0" presId="urn:microsoft.com/office/officeart/2005/8/layout/pyramid2"/>
    <dgm:cxn modelId="{1070C779-72D5-461A-867F-7F74C891449D}" type="presParOf" srcId="{0F0CBEF4-D3A6-4CCD-A1C4-040C1E1066E5}" destId="{CC276D06-364B-45E2-95AC-1BFC85042F5A}" srcOrd="0" destOrd="0" presId="urn:microsoft.com/office/officeart/2005/8/layout/pyramid2"/>
    <dgm:cxn modelId="{7ED48ADD-D959-473C-BF27-F26A01DA78A3}" type="presParOf" srcId="{0F0CBEF4-D3A6-4CCD-A1C4-040C1E1066E5}" destId="{EC8BA3BC-933B-4F3F-B12D-85697E3069D8}" srcOrd="1" destOrd="0" presId="urn:microsoft.com/office/officeart/2005/8/layout/pyramid2"/>
    <dgm:cxn modelId="{79D988AF-E00D-4559-A127-39698B75D944}" type="presParOf" srcId="{0F0CBEF4-D3A6-4CCD-A1C4-040C1E1066E5}" destId="{C82EFD33-A0E6-4BFE-A685-64C9BD46D540}" srcOrd="2" destOrd="0" presId="urn:microsoft.com/office/officeart/2005/8/layout/pyramid2"/>
    <dgm:cxn modelId="{76C7FF24-54DE-455E-BD30-F3D3085ABC4B}" type="presParOf" srcId="{0F0CBEF4-D3A6-4CCD-A1C4-040C1E1066E5}" destId="{2BBBA353-B8DE-4215-B488-AE5DF5AEBE04}" srcOrd="3" destOrd="0" presId="urn:microsoft.com/office/officeart/2005/8/layout/pyramid2"/>
    <dgm:cxn modelId="{854CA70C-6A77-4F59-BED8-8908B92F5345}" type="presParOf" srcId="{0F0CBEF4-D3A6-4CCD-A1C4-040C1E1066E5}" destId="{0AF6397C-1758-4A56-9235-D4A8E30AA563}" srcOrd="4" destOrd="0" presId="urn:microsoft.com/office/officeart/2005/8/layout/pyramid2"/>
    <dgm:cxn modelId="{E07365B0-84B3-4B5B-B052-5FC02E60148D}" type="presParOf" srcId="{0F0CBEF4-D3A6-4CCD-A1C4-040C1E1066E5}" destId="{C96F91D1-EA9D-41C4-BA8F-F4C3854A9782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2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0F7CE8-2F83-4DC0-AC07-83C5168EE6E0}">
      <dsp:nvSpPr>
        <dsp:cNvPr id="0" name=""/>
        <dsp:cNvSpPr/>
      </dsp:nvSpPr>
      <dsp:spPr>
        <a:xfrm>
          <a:off x="1340735" y="0"/>
          <a:ext cx="2396932" cy="2396932"/>
        </a:xfrm>
        <a:prstGeom prst="triangle">
          <a:avLst/>
        </a:prstGeom>
        <a:solidFill>
          <a:srgbClr val="C0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</dsp:sp>
    <dsp:sp modelId="{CC276D06-364B-45E2-95AC-1BFC85042F5A}">
      <dsp:nvSpPr>
        <dsp:cNvPr id="0" name=""/>
        <dsp:cNvSpPr/>
      </dsp:nvSpPr>
      <dsp:spPr>
        <a:xfrm>
          <a:off x="2539202" y="240980"/>
          <a:ext cx="1558006" cy="567398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300" kern="1200" dirty="0"/>
        </a:p>
      </dsp:txBody>
      <dsp:txXfrm>
        <a:off x="2566900" y="268678"/>
        <a:ext cx="1502610" cy="512002"/>
      </dsp:txXfrm>
    </dsp:sp>
    <dsp:sp modelId="{C82EFD33-A0E6-4BFE-A685-64C9BD46D540}">
      <dsp:nvSpPr>
        <dsp:cNvPr id="0" name=""/>
        <dsp:cNvSpPr/>
      </dsp:nvSpPr>
      <dsp:spPr>
        <a:xfrm>
          <a:off x="2539202" y="879304"/>
          <a:ext cx="1558006" cy="567398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200" kern="1200" dirty="0"/>
        </a:p>
      </dsp:txBody>
      <dsp:txXfrm>
        <a:off x="2566900" y="907002"/>
        <a:ext cx="1502610" cy="512002"/>
      </dsp:txXfrm>
    </dsp:sp>
    <dsp:sp modelId="{0AF6397C-1758-4A56-9235-D4A8E30AA563}">
      <dsp:nvSpPr>
        <dsp:cNvPr id="0" name=""/>
        <dsp:cNvSpPr/>
      </dsp:nvSpPr>
      <dsp:spPr>
        <a:xfrm>
          <a:off x="2539202" y="1517628"/>
          <a:ext cx="1558006" cy="567398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200" kern="1200" dirty="0"/>
        </a:p>
      </dsp:txBody>
      <dsp:txXfrm>
        <a:off x="2566900" y="1545326"/>
        <a:ext cx="1502610" cy="512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9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第二章 矩阵及其运算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2.4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</a:t>
            </a:r>
            <a:r>
              <a:rPr lang="zh-CN" altLang="en-US" sz="3200" baseline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分块矩阵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44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5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50213-8729-4081-BFF9-5CC39A32E6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63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21" Type="http://schemas.openxmlformats.org/officeDocument/2006/relationships/diagramData" Target="../diagrams/data1.xml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8.bin"/><Relationship Id="rId25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24" Type="http://schemas.openxmlformats.org/officeDocument/2006/relationships/diagramColors" Target="../diagrams/colors1.xml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diagramQuickStyle" Target="../diagrams/quickStyle1.xml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Relationship Id="rId22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9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4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40.bin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227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分块矩阵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0505" y="1324253"/>
            <a:ext cx="1944858" cy="696036"/>
            <a:chOff x="745588" y="1310185"/>
            <a:chExt cx="1944858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903849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分块矩阵</a:t>
              </a:r>
            </a:p>
          </p:txBody>
        </p:sp>
      </p:grp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07593"/>
              </p:ext>
            </p:extLst>
          </p:nvPr>
        </p:nvGraphicFramePr>
        <p:xfrm>
          <a:off x="520505" y="3362338"/>
          <a:ext cx="3122613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" name="Equation" r:id="rId3" imgW="1688760" imgH="1143000" progId="Equation.DSMT4">
                  <p:embed/>
                </p:oleObj>
              </mc:Choice>
              <mc:Fallback>
                <p:oleObj name="Equation" r:id="rId3" imgW="168876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0505" y="3362338"/>
                        <a:ext cx="3122613" cy="2114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连接符 9"/>
          <p:cNvCxnSpPr/>
          <p:nvPr/>
        </p:nvCxnSpPr>
        <p:spPr>
          <a:xfrm>
            <a:off x="1132694" y="4211699"/>
            <a:ext cx="2321169" cy="14068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807943" y="3362338"/>
            <a:ext cx="14068" cy="211455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3167525" y="3364979"/>
            <a:ext cx="14068" cy="211455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4255307" y="3741400"/>
            <a:ext cx="2473039" cy="1356425"/>
            <a:chOff x="6240911" y="3004421"/>
            <a:chExt cx="2635804" cy="1356425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1733446"/>
                </p:ext>
              </p:extLst>
            </p:nvPr>
          </p:nvGraphicFramePr>
          <p:xfrm>
            <a:off x="6756177" y="3004421"/>
            <a:ext cx="2120538" cy="1356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07" name="Equation" r:id="rId5" imgW="685800" imgH="457200" progId="Equation.DSMT4">
                    <p:embed/>
                  </p:oleObj>
                </mc:Choice>
                <mc:Fallback>
                  <p:oleObj name="Equation" r:id="rId5" imgW="68580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756177" y="3004421"/>
                          <a:ext cx="2120538" cy="1356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5127637"/>
                </p:ext>
              </p:extLst>
            </p:nvPr>
          </p:nvGraphicFramePr>
          <p:xfrm>
            <a:off x="6240911" y="3474720"/>
            <a:ext cx="493712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08" name="Equation" r:id="rId7" imgW="266400" imgH="164880" progId="Equation.DSMT4">
                    <p:embed/>
                  </p:oleObj>
                </mc:Choice>
                <mc:Fallback>
                  <p:oleObj name="Equation" r:id="rId7" imgW="26640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240911" y="3474720"/>
                          <a:ext cx="493712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506414"/>
              </p:ext>
            </p:extLst>
          </p:nvPr>
        </p:nvGraphicFramePr>
        <p:xfrm>
          <a:off x="5007196" y="3803492"/>
          <a:ext cx="35401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9" name="Equation" r:id="rId9" imgW="190440" imgH="228600" progId="Equation.DSMT4">
                  <p:embed/>
                </p:oleObj>
              </mc:Choice>
              <mc:Fallback>
                <p:oleObj name="Equation" r:id="rId9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07196" y="3803492"/>
                        <a:ext cx="354012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1132694" y="3362338"/>
            <a:ext cx="675249" cy="849361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829497" y="3359697"/>
            <a:ext cx="1316474" cy="849361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901082"/>
              </p:ext>
            </p:extLst>
          </p:nvPr>
        </p:nvGraphicFramePr>
        <p:xfrm>
          <a:off x="5544113" y="3804029"/>
          <a:ext cx="3079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0" name="Equation" r:id="rId11" imgW="164880" imgH="228600" progId="Equation.DSMT4">
                  <p:embed/>
                </p:oleObj>
              </mc:Choice>
              <mc:Fallback>
                <p:oleObj name="Equation" r:id="rId11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44113" y="3804029"/>
                        <a:ext cx="307975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/>
          <p:cNvSpPr/>
          <p:nvPr/>
        </p:nvSpPr>
        <p:spPr>
          <a:xfrm>
            <a:off x="3239368" y="3359696"/>
            <a:ext cx="305948" cy="849361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191998"/>
              </p:ext>
            </p:extLst>
          </p:nvPr>
        </p:nvGraphicFramePr>
        <p:xfrm>
          <a:off x="6077513" y="3804029"/>
          <a:ext cx="3556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1" name="Equation" r:id="rId13" imgW="190440" imgH="228600" progId="Equation.DSMT4">
                  <p:embed/>
                </p:oleObj>
              </mc:Choice>
              <mc:Fallback>
                <p:oleObj name="Equation" r:id="rId13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77513" y="3804029"/>
                        <a:ext cx="355600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/>
          <p:cNvSpPr/>
          <p:nvPr/>
        </p:nvSpPr>
        <p:spPr>
          <a:xfrm>
            <a:off x="1146762" y="4223126"/>
            <a:ext cx="675249" cy="1154092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242874"/>
              </p:ext>
            </p:extLst>
          </p:nvPr>
        </p:nvGraphicFramePr>
        <p:xfrm>
          <a:off x="5007196" y="4635866"/>
          <a:ext cx="284162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2" name="Equation" r:id="rId15" imgW="152280" imgH="177480" progId="Equation.DSMT4">
                  <p:embed/>
                </p:oleObj>
              </mc:Choice>
              <mc:Fallback>
                <p:oleObj name="Equation" r:id="rId15" imgW="1522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07196" y="4635866"/>
                        <a:ext cx="284162" cy="328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>
          <a:xfrm>
            <a:off x="1820202" y="4235412"/>
            <a:ext cx="1316474" cy="1141806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409481"/>
              </p:ext>
            </p:extLst>
          </p:nvPr>
        </p:nvGraphicFramePr>
        <p:xfrm>
          <a:off x="5544113" y="4596126"/>
          <a:ext cx="35401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3" name="Equation" r:id="rId17" imgW="190440" imgH="228600" progId="Equation.DSMT4">
                  <p:embed/>
                </p:oleObj>
              </mc:Choice>
              <mc:Fallback>
                <p:oleObj name="Equation" r:id="rId17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544113" y="4596126"/>
                        <a:ext cx="354012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/>
          <p:cNvSpPr/>
          <p:nvPr/>
        </p:nvSpPr>
        <p:spPr>
          <a:xfrm>
            <a:off x="3239369" y="4223126"/>
            <a:ext cx="299634" cy="1154092"/>
          </a:xfrm>
          <a:prstGeom prst="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236958"/>
              </p:ext>
            </p:extLst>
          </p:nvPr>
        </p:nvGraphicFramePr>
        <p:xfrm>
          <a:off x="6090213" y="4596192"/>
          <a:ext cx="3302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4" name="Equation" r:id="rId19" imgW="177480" imgH="228600" progId="Equation.DSMT4">
                  <p:embed/>
                </p:oleObj>
              </mc:Choice>
              <mc:Fallback>
                <p:oleObj name="Equation" r:id="rId19" imgW="177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090213" y="4596192"/>
                        <a:ext cx="330200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9"/>
          <p:cNvSpPr txBox="1"/>
          <p:nvPr/>
        </p:nvSpPr>
        <p:spPr>
          <a:xfrm>
            <a:off x="2515509" y="1474525"/>
            <a:ext cx="8068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对于大规模矩阵，用若干条横线、竖线将其分成若干子块，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520505" y="2400567"/>
            <a:ext cx="6685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以子块为元素的矩阵，称为分块矩阵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2" name="图示 31"/>
          <p:cNvGraphicFramePr/>
          <p:nvPr>
            <p:extLst>
              <p:ext uri="{D42A27DB-BD31-4B8C-83A1-F6EECF244321}">
                <p14:modId xmlns:p14="http://schemas.microsoft.com/office/powerpoint/2010/main" val="303766949"/>
              </p:ext>
            </p:extLst>
          </p:nvPr>
        </p:nvGraphicFramePr>
        <p:xfrm>
          <a:off x="6166566" y="2700892"/>
          <a:ext cx="5437944" cy="2396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1" r:lo="rId22" r:qs="rId23" r:cs="rId24"/>
          </a:graphicData>
        </a:graphic>
      </p:graphicFrame>
      <p:grpSp>
        <p:nvGrpSpPr>
          <p:cNvPr id="37" name="组合 36"/>
          <p:cNvGrpSpPr/>
          <p:nvPr/>
        </p:nvGrpSpPr>
        <p:grpSpPr>
          <a:xfrm>
            <a:off x="8712000" y="4212000"/>
            <a:ext cx="1888056" cy="559558"/>
            <a:chOff x="8712000" y="4212000"/>
            <a:chExt cx="1888056" cy="559558"/>
          </a:xfrm>
        </p:grpSpPr>
        <p:sp>
          <p:nvSpPr>
            <p:cNvPr id="34" name="圆角矩形 33"/>
            <p:cNvSpPr/>
            <p:nvPr/>
          </p:nvSpPr>
          <p:spPr>
            <a:xfrm>
              <a:off x="8712000" y="4212000"/>
              <a:ext cx="1569492" cy="559558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8724010" y="4265805"/>
              <a:ext cx="1876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突出特征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8712000" y="3600000"/>
            <a:ext cx="1891548" cy="559558"/>
            <a:chOff x="8712000" y="3600000"/>
            <a:chExt cx="1891548" cy="559558"/>
          </a:xfrm>
        </p:grpSpPr>
        <p:sp>
          <p:nvSpPr>
            <p:cNvPr id="33" name="圆角矩形 32"/>
            <p:cNvSpPr/>
            <p:nvPr/>
          </p:nvSpPr>
          <p:spPr>
            <a:xfrm>
              <a:off x="8712000" y="3600000"/>
              <a:ext cx="1569492" cy="55955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8727502" y="3666070"/>
              <a:ext cx="1876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简化计算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8712000" y="2952000"/>
            <a:ext cx="1888056" cy="576000"/>
            <a:chOff x="8712000" y="2952000"/>
            <a:chExt cx="1888056" cy="576000"/>
          </a:xfrm>
        </p:grpSpPr>
        <p:sp>
          <p:nvSpPr>
            <p:cNvPr id="35" name="圆角矩形 34"/>
            <p:cNvSpPr/>
            <p:nvPr/>
          </p:nvSpPr>
          <p:spPr>
            <a:xfrm>
              <a:off x="8712000" y="2952000"/>
              <a:ext cx="1569492" cy="576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9DC3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8724010" y="3000265"/>
              <a:ext cx="1876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便于处理</a:t>
              </a:r>
            </a:p>
          </p:txBody>
        </p:sp>
      </p:grpSp>
      <p:sp>
        <p:nvSpPr>
          <p:cNvPr id="43" name="矩形 42"/>
          <p:cNvSpPr/>
          <p:nvPr/>
        </p:nvSpPr>
        <p:spPr>
          <a:xfrm>
            <a:off x="3047280" y="3359696"/>
            <a:ext cx="406583" cy="2017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6090213" y="3741400"/>
            <a:ext cx="330200" cy="1277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97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 animBg="1"/>
      <p:bldP spid="19" grpId="1" animBg="1"/>
      <p:bldP spid="20" grpId="0" animBg="1"/>
      <p:bldP spid="20" grpId="1" animBg="1"/>
      <p:bldP spid="22" grpId="0" animBg="1"/>
      <p:bldP spid="22" grpId="1" animBg="1"/>
      <p:bldP spid="24" grpId="0" animBg="1"/>
      <p:bldP spid="24" grpId="1" animBg="1"/>
      <p:bldP spid="26" grpId="0" animBg="1"/>
      <p:bldP spid="26" grpId="1" animBg="1"/>
      <p:bldP spid="28" grpId="0" animBg="1"/>
      <p:bldP spid="28" grpId="1" animBg="1"/>
      <p:bldP spid="30" grpId="0"/>
      <p:bldP spid="31" grpId="0"/>
      <p:bldGraphic spid="32" grpId="0">
        <p:bldAsOne/>
      </p:bldGraphic>
      <p:bldP spid="43" grpId="0" animBg="1"/>
      <p:bldP spid="4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4"/>
          <p:cNvSpPr txBox="1">
            <a:spLocks noChangeArrowheads="1"/>
          </p:cNvSpPr>
          <p:nvPr/>
        </p:nvSpPr>
        <p:spPr bwMode="auto">
          <a:xfrm>
            <a:off x="1028912" y="1370220"/>
            <a:ext cx="10272184" cy="121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/>
              <a:t>      由分块矩阵的定义知，一个矩阵的分块矩阵形式是多样的，可以任意分割，如何分割视具体情况而定</a:t>
            </a:r>
          </a:p>
        </p:txBody>
      </p:sp>
      <p:graphicFrame>
        <p:nvGraphicFramePr>
          <p:cNvPr id="1863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031937"/>
              </p:ext>
            </p:extLst>
          </p:nvPr>
        </p:nvGraphicFramePr>
        <p:xfrm>
          <a:off x="786553" y="2824162"/>
          <a:ext cx="5378451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1" name="Equation" r:id="rId3" imgW="1854200" imgH="1371600" progId="Equation.DSMT4">
                  <p:embed/>
                </p:oleObj>
              </mc:Choice>
              <mc:Fallback>
                <p:oleObj name="Equation" r:id="rId3" imgW="1854200" imgH="1371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553" y="2824162"/>
                        <a:ext cx="5378451" cy="297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96" name="AutoShape 28"/>
          <p:cNvSpPr>
            <a:spLocks noChangeArrowheads="1"/>
          </p:cNvSpPr>
          <p:nvPr/>
        </p:nvSpPr>
        <p:spPr bwMode="auto">
          <a:xfrm>
            <a:off x="5808133" y="2848610"/>
            <a:ext cx="1822451" cy="10096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058" y="7552"/>
                </a:moveTo>
                <a:cubicBezTo>
                  <a:pt x="15845" y="5215"/>
                  <a:pt x="13432" y="3749"/>
                  <a:pt x="10800" y="3749"/>
                </a:cubicBezTo>
                <a:cubicBezTo>
                  <a:pt x="8108" y="3748"/>
                  <a:pt x="5651" y="5281"/>
                  <a:pt x="4467" y="7698"/>
                </a:cubicBezTo>
                <a:lnTo>
                  <a:pt x="1101" y="6049"/>
                </a:lnTo>
                <a:cubicBezTo>
                  <a:pt x="2914" y="2346"/>
                  <a:pt x="6677" y="-1"/>
                  <a:pt x="10800" y="0"/>
                </a:cubicBezTo>
                <a:cubicBezTo>
                  <a:pt x="14832" y="0"/>
                  <a:pt x="18528" y="2246"/>
                  <a:pt x="20386" y="5825"/>
                </a:cubicBezTo>
                <a:lnTo>
                  <a:pt x="22782" y="4581"/>
                </a:lnTo>
                <a:lnTo>
                  <a:pt x="20829" y="10749"/>
                </a:lnTo>
                <a:lnTo>
                  <a:pt x="14661" y="8795"/>
                </a:lnTo>
                <a:lnTo>
                  <a:pt x="17058" y="7552"/>
                </a:lnTo>
                <a:close/>
              </a:path>
            </a:pathLst>
          </a:cu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6413" name="Group 45"/>
          <p:cNvGrpSpPr>
            <a:grpSpLocks/>
          </p:cNvGrpSpPr>
          <p:nvPr/>
        </p:nvGrpSpPr>
        <p:grpSpPr bwMode="auto">
          <a:xfrm>
            <a:off x="1583266" y="3287555"/>
            <a:ext cx="4224867" cy="1944687"/>
            <a:chOff x="748" y="2024"/>
            <a:chExt cx="1996" cy="1225"/>
          </a:xfrm>
        </p:grpSpPr>
        <p:sp>
          <p:nvSpPr>
            <p:cNvPr id="5130" name="Line 35"/>
            <p:cNvSpPr>
              <a:spLocks noChangeShapeType="1"/>
            </p:cNvSpPr>
            <p:nvPr/>
          </p:nvSpPr>
          <p:spPr bwMode="auto">
            <a:xfrm>
              <a:off x="793" y="2024"/>
              <a:ext cx="1951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1" name="Line 36"/>
            <p:cNvSpPr>
              <a:spLocks noChangeShapeType="1"/>
            </p:cNvSpPr>
            <p:nvPr/>
          </p:nvSpPr>
          <p:spPr bwMode="auto">
            <a:xfrm>
              <a:off x="793" y="2341"/>
              <a:ext cx="1951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2" name="Line 37"/>
            <p:cNvSpPr>
              <a:spLocks noChangeShapeType="1"/>
            </p:cNvSpPr>
            <p:nvPr/>
          </p:nvSpPr>
          <p:spPr bwMode="auto">
            <a:xfrm>
              <a:off x="793" y="2659"/>
              <a:ext cx="1951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3" name="Line 38"/>
            <p:cNvSpPr>
              <a:spLocks noChangeShapeType="1"/>
            </p:cNvSpPr>
            <p:nvPr/>
          </p:nvSpPr>
          <p:spPr bwMode="auto">
            <a:xfrm>
              <a:off x="748" y="2976"/>
              <a:ext cx="1951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4" name="Line 40"/>
            <p:cNvSpPr>
              <a:spLocks noChangeShapeType="1"/>
            </p:cNvSpPr>
            <p:nvPr/>
          </p:nvSpPr>
          <p:spPr bwMode="auto">
            <a:xfrm>
              <a:off x="793" y="3249"/>
              <a:ext cx="1951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86411" name="Object 4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2363736"/>
              </p:ext>
            </p:extLst>
          </p:nvPr>
        </p:nvGraphicFramePr>
        <p:xfrm>
          <a:off x="7523904" y="2848610"/>
          <a:ext cx="1072140" cy="256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2" name="Equation" r:id="rId5" imgW="583947" imgH="1396394" progId="Equation.DSMT4">
                  <p:embed/>
                </p:oleObj>
              </mc:Choice>
              <mc:Fallback>
                <p:oleObj name="Equation" r:id="rId5" imgW="583947" imgH="1396394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3904" y="2848610"/>
                        <a:ext cx="1072140" cy="2563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6416" name="Group 48"/>
          <p:cNvGrpSpPr>
            <a:grpSpLocks/>
          </p:cNvGrpSpPr>
          <p:nvPr/>
        </p:nvGrpSpPr>
        <p:grpSpPr bwMode="auto">
          <a:xfrm>
            <a:off x="8871798" y="3762220"/>
            <a:ext cx="2863002" cy="954088"/>
            <a:chOff x="4059" y="1842"/>
            <a:chExt cx="1316" cy="601"/>
          </a:xfrm>
        </p:grpSpPr>
        <p:sp>
          <p:nvSpPr>
            <p:cNvPr id="5128" name="Text Box 46"/>
            <p:cNvSpPr txBox="1">
              <a:spLocks noChangeArrowheads="1"/>
            </p:cNvSpPr>
            <p:nvPr/>
          </p:nvSpPr>
          <p:spPr bwMode="auto">
            <a:xfrm>
              <a:off x="4059" y="1842"/>
              <a:ext cx="1316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3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6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3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 dirty="0"/>
                <a:t>其中： </a:t>
              </a:r>
              <a:r>
                <a:rPr lang="zh-CN" altLang="en-US" sz="2800" dirty="0" smtClean="0"/>
                <a:t>为</a:t>
              </a:r>
              <a:r>
                <a:rPr lang="zh-CN" altLang="en-US" sz="2800" dirty="0"/>
                <a:t>行向量</a:t>
              </a:r>
            </a:p>
          </p:txBody>
        </p:sp>
        <p:graphicFrame>
          <p:nvGraphicFramePr>
            <p:cNvPr id="5129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6654381"/>
                </p:ext>
              </p:extLst>
            </p:nvPr>
          </p:nvGraphicFramePr>
          <p:xfrm>
            <a:off x="4443" y="1842"/>
            <a:ext cx="215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3" name="Equation" r:id="rId7" imgW="152334" imgH="228501" progId="Equation.DSMT4">
                    <p:embed/>
                  </p:oleObj>
                </mc:Choice>
                <mc:Fallback>
                  <p:oleObj name="Equation" r:id="rId7" imgW="152334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3" y="1842"/>
                          <a:ext cx="215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9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3821587"/>
              </p:ext>
            </p:extLst>
          </p:nvPr>
        </p:nvGraphicFramePr>
        <p:xfrm>
          <a:off x="489373" y="2047875"/>
          <a:ext cx="5378451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5" name="Equation" r:id="rId3" imgW="1854200" imgH="1371600" progId="Equation.DSMT4">
                  <p:embed/>
                </p:oleObj>
              </mc:Choice>
              <mc:Fallback>
                <p:oleObj name="Equation" r:id="rId3" imgW="1854200" imgH="1371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373" y="2047875"/>
                        <a:ext cx="5378451" cy="297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48" name="AutoShape 4"/>
          <p:cNvSpPr>
            <a:spLocks noChangeArrowheads="1"/>
          </p:cNvSpPr>
          <p:nvPr/>
        </p:nvSpPr>
        <p:spPr bwMode="auto">
          <a:xfrm>
            <a:off x="5422900" y="2616200"/>
            <a:ext cx="1822451" cy="10096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058" y="7552"/>
                </a:moveTo>
                <a:cubicBezTo>
                  <a:pt x="15845" y="5215"/>
                  <a:pt x="13432" y="3749"/>
                  <a:pt x="10800" y="3749"/>
                </a:cubicBezTo>
                <a:cubicBezTo>
                  <a:pt x="8108" y="3748"/>
                  <a:pt x="5651" y="5281"/>
                  <a:pt x="4467" y="7698"/>
                </a:cubicBezTo>
                <a:lnTo>
                  <a:pt x="1101" y="6049"/>
                </a:lnTo>
                <a:cubicBezTo>
                  <a:pt x="2914" y="2346"/>
                  <a:pt x="6677" y="-1"/>
                  <a:pt x="10800" y="0"/>
                </a:cubicBezTo>
                <a:cubicBezTo>
                  <a:pt x="14832" y="0"/>
                  <a:pt x="18528" y="2246"/>
                  <a:pt x="20386" y="5825"/>
                </a:cubicBezTo>
                <a:lnTo>
                  <a:pt x="22782" y="4581"/>
                </a:lnTo>
                <a:lnTo>
                  <a:pt x="20829" y="10749"/>
                </a:lnTo>
                <a:lnTo>
                  <a:pt x="14661" y="8795"/>
                </a:lnTo>
                <a:lnTo>
                  <a:pt x="17058" y="7552"/>
                </a:lnTo>
                <a:close/>
              </a:path>
            </a:pathLst>
          </a:cu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0956" name="Group 12"/>
          <p:cNvGrpSpPr>
            <a:grpSpLocks/>
          </p:cNvGrpSpPr>
          <p:nvPr/>
        </p:nvGrpSpPr>
        <p:grpSpPr bwMode="auto">
          <a:xfrm>
            <a:off x="2001520" y="2071687"/>
            <a:ext cx="3143251" cy="3101975"/>
            <a:chOff x="1032" y="1658"/>
            <a:chExt cx="1485" cy="1954"/>
          </a:xfrm>
        </p:grpSpPr>
        <p:sp>
          <p:nvSpPr>
            <p:cNvPr id="6154" name="Line 6"/>
            <p:cNvSpPr>
              <a:spLocks noChangeShapeType="1"/>
            </p:cNvSpPr>
            <p:nvPr/>
          </p:nvSpPr>
          <p:spPr bwMode="auto">
            <a:xfrm rot="-5400000">
              <a:off x="56" y="2634"/>
              <a:ext cx="1951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5" name="Line 7"/>
            <p:cNvSpPr>
              <a:spLocks noChangeShapeType="1"/>
            </p:cNvSpPr>
            <p:nvPr/>
          </p:nvSpPr>
          <p:spPr bwMode="auto">
            <a:xfrm rot="-5400000">
              <a:off x="447" y="2634"/>
              <a:ext cx="1951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6" name="Line 8"/>
            <p:cNvSpPr>
              <a:spLocks noChangeShapeType="1"/>
            </p:cNvSpPr>
            <p:nvPr/>
          </p:nvSpPr>
          <p:spPr bwMode="auto">
            <a:xfrm rot="-5400000">
              <a:off x="815" y="2634"/>
              <a:ext cx="1951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7" name="Line 9"/>
            <p:cNvSpPr>
              <a:spLocks noChangeShapeType="1"/>
            </p:cNvSpPr>
            <p:nvPr/>
          </p:nvSpPr>
          <p:spPr bwMode="auto">
            <a:xfrm rot="-5400000">
              <a:off x="1178" y="2637"/>
              <a:ext cx="1951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8" name="Line 10"/>
            <p:cNvSpPr>
              <a:spLocks noChangeShapeType="1"/>
            </p:cNvSpPr>
            <p:nvPr/>
          </p:nvSpPr>
          <p:spPr bwMode="auto">
            <a:xfrm rot="-5400000">
              <a:off x="1541" y="2637"/>
              <a:ext cx="1951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10955" name="Object 11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5922039"/>
              </p:ext>
            </p:extLst>
          </p:nvPr>
        </p:nvGraphicFramePr>
        <p:xfrm>
          <a:off x="6486525" y="3335165"/>
          <a:ext cx="3173730" cy="571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6" name="Equation" r:id="rId5" imgW="1409088" imgH="253890" progId="Equation.DSMT4">
                  <p:embed/>
                </p:oleObj>
              </mc:Choice>
              <mc:Fallback>
                <p:oleObj name="Equation" r:id="rId5" imgW="1409088" imgH="25389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6525" y="3335165"/>
                        <a:ext cx="3173730" cy="571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0960" name="Group 16"/>
          <p:cNvGrpSpPr>
            <a:grpSpLocks/>
          </p:cNvGrpSpPr>
          <p:nvPr/>
        </p:nvGrpSpPr>
        <p:grpSpPr bwMode="auto">
          <a:xfrm>
            <a:off x="6334125" y="4252920"/>
            <a:ext cx="4320116" cy="581026"/>
            <a:chOff x="3270" y="2641"/>
            <a:chExt cx="2041" cy="366"/>
          </a:xfrm>
        </p:grpSpPr>
        <p:sp>
          <p:nvSpPr>
            <p:cNvPr id="6152" name="Text Box 14"/>
            <p:cNvSpPr txBox="1">
              <a:spLocks noChangeArrowheads="1"/>
            </p:cNvSpPr>
            <p:nvPr/>
          </p:nvSpPr>
          <p:spPr bwMode="auto">
            <a:xfrm>
              <a:off x="3270" y="2641"/>
              <a:ext cx="20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3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6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3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 dirty="0"/>
                <a:t>其中：  为列向量</a:t>
              </a:r>
            </a:p>
          </p:txBody>
        </p:sp>
        <p:graphicFrame>
          <p:nvGraphicFramePr>
            <p:cNvPr id="6153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6060211"/>
                </p:ext>
              </p:extLst>
            </p:nvPr>
          </p:nvGraphicFramePr>
          <p:xfrm>
            <a:off x="3759" y="2684"/>
            <a:ext cx="197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7" name="Equation" r:id="rId7" imgW="139700" imgH="228600" progId="Equation.DSMT4">
                    <p:embed/>
                  </p:oleObj>
                </mc:Choice>
                <mc:Fallback>
                  <p:oleObj name="Equation" r:id="rId7" imgW="1397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9" y="2684"/>
                          <a:ext cx="197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0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10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435629"/>
              </p:ext>
            </p:extLst>
          </p:nvPr>
        </p:nvGraphicFramePr>
        <p:xfrm>
          <a:off x="460587" y="1826540"/>
          <a:ext cx="5378451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4" name="Equation" r:id="rId3" imgW="1854200" imgH="1371600" progId="Equation.DSMT4">
                  <p:embed/>
                </p:oleObj>
              </mc:Choice>
              <mc:Fallback>
                <p:oleObj name="Equation" r:id="rId3" imgW="1854200" imgH="1371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587" y="1826540"/>
                        <a:ext cx="5378451" cy="297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9924" name="Group 4"/>
          <p:cNvGrpSpPr>
            <a:grpSpLocks/>
          </p:cNvGrpSpPr>
          <p:nvPr/>
        </p:nvGrpSpPr>
        <p:grpSpPr bwMode="auto">
          <a:xfrm>
            <a:off x="1249680" y="1920202"/>
            <a:ext cx="4320117" cy="2881313"/>
            <a:chOff x="2200" y="1570"/>
            <a:chExt cx="2041" cy="1815"/>
          </a:xfrm>
        </p:grpSpPr>
        <p:sp>
          <p:nvSpPr>
            <p:cNvPr id="7180" name="Line 5"/>
            <p:cNvSpPr>
              <a:spLocks noChangeShapeType="1"/>
            </p:cNvSpPr>
            <p:nvPr/>
          </p:nvSpPr>
          <p:spPr bwMode="auto">
            <a:xfrm>
              <a:off x="2200" y="2432"/>
              <a:ext cx="2041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" name="Line 6"/>
            <p:cNvSpPr>
              <a:spLocks noChangeShapeType="1"/>
            </p:cNvSpPr>
            <p:nvPr/>
          </p:nvSpPr>
          <p:spPr bwMode="auto">
            <a:xfrm>
              <a:off x="3243" y="1570"/>
              <a:ext cx="0" cy="181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" name="Line 7"/>
            <p:cNvSpPr>
              <a:spLocks noChangeShapeType="1"/>
            </p:cNvSpPr>
            <p:nvPr/>
          </p:nvSpPr>
          <p:spPr bwMode="auto">
            <a:xfrm>
              <a:off x="2200" y="2750"/>
              <a:ext cx="2041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3" name="Line 8"/>
            <p:cNvSpPr>
              <a:spLocks noChangeShapeType="1"/>
            </p:cNvSpPr>
            <p:nvPr/>
          </p:nvSpPr>
          <p:spPr bwMode="auto">
            <a:xfrm>
              <a:off x="3606" y="1570"/>
              <a:ext cx="0" cy="181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9929" name="AutoShape 9"/>
          <p:cNvSpPr>
            <a:spLocks noChangeArrowheads="1"/>
          </p:cNvSpPr>
          <p:nvPr/>
        </p:nvSpPr>
        <p:spPr bwMode="auto">
          <a:xfrm>
            <a:off x="5656156" y="1808957"/>
            <a:ext cx="1822451" cy="10096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058" y="7552"/>
                </a:moveTo>
                <a:cubicBezTo>
                  <a:pt x="15845" y="5215"/>
                  <a:pt x="13432" y="3749"/>
                  <a:pt x="10800" y="3749"/>
                </a:cubicBezTo>
                <a:cubicBezTo>
                  <a:pt x="8108" y="3748"/>
                  <a:pt x="5651" y="5281"/>
                  <a:pt x="4467" y="7698"/>
                </a:cubicBezTo>
                <a:lnTo>
                  <a:pt x="1101" y="6049"/>
                </a:lnTo>
                <a:cubicBezTo>
                  <a:pt x="2914" y="2346"/>
                  <a:pt x="6677" y="-1"/>
                  <a:pt x="10800" y="0"/>
                </a:cubicBezTo>
                <a:cubicBezTo>
                  <a:pt x="14832" y="0"/>
                  <a:pt x="18528" y="2246"/>
                  <a:pt x="20386" y="5825"/>
                </a:cubicBezTo>
                <a:lnTo>
                  <a:pt x="22782" y="4581"/>
                </a:lnTo>
                <a:lnTo>
                  <a:pt x="20829" y="10749"/>
                </a:lnTo>
                <a:lnTo>
                  <a:pt x="14661" y="8795"/>
                </a:lnTo>
                <a:lnTo>
                  <a:pt x="17058" y="7552"/>
                </a:lnTo>
                <a:close/>
              </a:path>
            </a:pathLst>
          </a:cu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936" name="AutoShape 16"/>
          <p:cNvSpPr>
            <a:spLocks noChangeArrowheads="1"/>
          </p:cNvSpPr>
          <p:nvPr/>
        </p:nvSpPr>
        <p:spPr bwMode="auto">
          <a:xfrm>
            <a:off x="9174480" y="1128039"/>
            <a:ext cx="2545079" cy="792163"/>
          </a:xfrm>
          <a:prstGeom prst="wedgeRoundRectCallout">
            <a:avLst>
              <a:gd name="adj1" fmla="val -50787"/>
              <a:gd name="adj2" fmla="val 80060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 dirty="0">
                <a:solidFill>
                  <a:srgbClr val="FF0000"/>
                </a:solidFill>
              </a:rPr>
              <a:t>分块对角阵</a:t>
            </a:r>
          </a:p>
        </p:txBody>
      </p:sp>
      <p:graphicFrame>
        <p:nvGraphicFramePr>
          <p:cNvPr id="20994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761711"/>
              </p:ext>
            </p:extLst>
          </p:nvPr>
        </p:nvGraphicFramePr>
        <p:xfrm>
          <a:off x="6701819" y="2313782"/>
          <a:ext cx="3456516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5" name="Equation" r:id="rId5" imgW="1308100" imgH="711200" progId="Equation.DSMT4">
                  <p:embed/>
                </p:oleObj>
              </mc:Choice>
              <mc:Fallback>
                <p:oleObj name="Equation" r:id="rId5" imgW="13081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1819" y="2313782"/>
                        <a:ext cx="3456516" cy="140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9947" name="Group 27"/>
          <p:cNvGrpSpPr>
            <a:grpSpLocks/>
          </p:cNvGrpSpPr>
          <p:nvPr/>
        </p:nvGrpSpPr>
        <p:grpSpPr bwMode="auto">
          <a:xfrm>
            <a:off x="5850679" y="3793452"/>
            <a:ext cx="5471584" cy="2303463"/>
            <a:chOff x="2895" y="2478"/>
            <a:chExt cx="2672" cy="1587"/>
          </a:xfrm>
        </p:grpSpPr>
        <p:sp>
          <p:nvSpPr>
            <p:cNvPr id="7177" name="Text Box 28"/>
            <p:cNvSpPr txBox="1">
              <a:spLocks noChangeArrowheads="1"/>
            </p:cNvSpPr>
            <p:nvPr/>
          </p:nvSpPr>
          <p:spPr bwMode="auto">
            <a:xfrm>
              <a:off x="2895" y="2728"/>
              <a:ext cx="1951" cy="3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3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6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3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/>
                <a:t>其中：</a:t>
              </a:r>
            </a:p>
          </p:txBody>
        </p:sp>
        <p:graphicFrame>
          <p:nvGraphicFramePr>
            <p:cNvPr id="7178" name="Object 29"/>
            <p:cNvGraphicFramePr>
              <a:graphicFrameLocks noChangeAspect="1"/>
            </p:cNvGraphicFramePr>
            <p:nvPr/>
          </p:nvGraphicFramePr>
          <p:xfrm>
            <a:off x="3515" y="2478"/>
            <a:ext cx="1472" cy="9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76" name="Equation" r:id="rId7" imgW="1117600" imgH="711200" progId="Equation.DSMT4">
                    <p:embed/>
                  </p:oleObj>
                </mc:Choice>
                <mc:Fallback>
                  <p:oleObj name="Equation" r:id="rId7" imgW="11176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2478"/>
                          <a:ext cx="1472" cy="9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9" name="Object 30"/>
            <p:cNvGraphicFramePr>
              <a:graphicFrameLocks noChangeAspect="1"/>
            </p:cNvGraphicFramePr>
            <p:nvPr/>
          </p:nvGraphicFramePr>
          <p:xfrm>
            <a:off x="3560" y="3465"/>
            <a:ext cx="2007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77" name="Equation" r:id="rId9" imgW="1524000" imgH="457200" progId="Equation.DSMT4">
                    <p:embed/>
                  </p:oleObj>
                </mc:Choice>
                <mc:Fallback>
                  <p:oleObj name="Equation" r:id="rId9" imgW="15240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3465"/>
                          <a:ext cx="2007" cy="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9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0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0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500"/>
                                        <p:tgtEl>
                                          <p:spTgt spid="209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9" grpId="0" animBg="1"/>
      <p:bldP spid="2099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分块矩阵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38089" y="1218745"/>
            <a:ext cx="2785403" cy="696036"/>
            <a:chOff x="745587" y="1310185"/>
            <a:chExt cx="2785403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7" y="1310185"/>
              <a:ext cx="1237957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03849" y="1427370"/>
              <a:ext cx="26271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 算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912032" y="1928057"/>
            <a:ext cx="6611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加法：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分法相同，对应子块相加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03176" y="2680177"/>
            <a:ext cx="6611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数乘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乘每一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子块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12032" y="3295139"/>
            <a:ext cx="9509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法：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AB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的列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分法与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的行分法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相同，与乘法规则相同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12032" y="3815813"/>
            <a:ext cx="6611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置：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整体转置，再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子块转置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云形 9"/>
          <p:cNvSpPr/>
          <p:nvPr/>
        </p:nvSpPr>
        <p:spPr>
          <a:xfrm>
            <a:off x="705206" y="5015869"/>
            <a:ext cx="4512733" cy="649287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3200" dirty="0"/>
              <a:t>自行阅读教材</a:t>
            </a:r>
          </a:p>
        </p:txBody>
      </p:sp>
      <p:sp>
        <p:nvSpPr>
          <p:cNvPr id="12" name="横卷形 11"/>
          <p:cNvSpPr/>
          <p:nvPr/>
        </p:nvSpPr>
        <p:spPr>
          <a:xfrm>
            <a:off x="5626799" y="4911098"/>
            <a:ext cx="5776383" cy="865188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3200" dirty="0"/>
              <a:t>重点了解</a:t>
            </a:r>
            <a:r>
              <a:rPr lang="zh-CN" altLang="en-US" sz="3200" dirty="0">
                <a:solidFill>
                  <a:srgbClr val="0070C0"/>
                </a:solidFill>
              </a:rPr>
              <a:t>分块对角阵</a:t>
            </a:r>
          </a:p>
        </p:txBody>
      </p:sp>
      <p:sp>
        <p:nvSpPr>
          <p:cNvPr id="14" name="横卷形 13"/>
          <p:cNvSpPr/>
          <p:nvPr/>
        </p:nvSpPr>
        <p:spPr>
          <a:xfrm>
            <a:off x="2141644" y="1015511"/>
            <a:ext cx="5776383" cy="863600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与普通矩阵运算相似</a:t>
            </a:r>
          </a:p>
        </p:txBody>
      </p:sp>
    </p:spTree>
    <p:extLst>
      <p:ext uri="{BB962C8B-B14F-4D97-AF65-F5344CB8AC3E}">
        <p14:creationId xmlns:p14="http://schemas.microsoft.com/office/powerpoint/2010/main" val="2552871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1" grpId="0"/>
      <p:bldP spid="13" grpId="0"/>
      <p:bldP spid="10" grpId="0" animBg="1"/>
      <p:bldP spid="12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637965" y="1153842"/>
            <a:ext cx="3688901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分块矩阵的简单运算</a:t>
            </a:r>
          </a:p>
        </p:txBody>
      </p:sp>
      <p:graphicFrame>
        <p:nvGraphicFramePr>
          <p:cNvPr id="20994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8428366"/>
              </p:ext>
            </p:extLst>
          </p:nvPr>
        </p:nvGraphicFramePr>
        <p:xfrm>
          <a:off x="767267" y="3437447"/>
          <a:ext cx="4461933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9" name="Equation" r:id="rId3" imgW="1689100" imgH="736600" progId="Equation.DSMT4">
                  <p:embed/>
                </p:oleObj>
              </mc:Choice>
              <mc:Fallback>
                <p:oleObj name="Equation" r:id="rId3" imgW="16891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267" y="3437447"/>
                        <a:ext cx="4461933" cy="145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787885"/>
              </p:ext>
            </p:extLst>
          </p:nvPr>
        </p:nvGraphicFramePr>
        <p:xfrm>
          <a:off x="4851260" y="2221167"/>
          <a:ext cx="291888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0" name="Equation" r:id="rId5" imgW="1104900" imgH="254000" progId="Equation.DSMT4">
                  <p:embed/>
                </p:oleObj>
              </mc:Choice>
              <mc:Fallback>
                <p:oleObj name="Equation" r:id="rId5" imgW="11049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1260" y="2221167"/>
                        <a:ext cx="291888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123690"/>
              </p:ext>
            </p:extLst>
          </p:nvPr>
        </p:nvGraphicFramePr>
        <p:xfrm>
          <a:off x="637965" y="1806328"/>
          <a:ext cx="3456517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1" name="Equation" r:id="rId7" imgW="1308100" imgH="711200" progId="Equation.DSMT4">
                  <p:embed/>
                </p:oleObj>
              </mc:Choice>
              <mc:Fallback>
                <p:oleObj name="Equation" r:id="rId7" imgW="13081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965" y="1806328"/>
                        <a:ext cx="3456517" cy="140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2"/>
          <p:cNvSpPr txBox="1">
            <a:spLocks noChangeArrowheads="1"/>
          </p:cNvSpPr>
          <p:nvPr/>
        </p:nvSpPr>
        <p:spPr bwMode="auto">
          <a:xfrm>
            <a:off x="767267" y="5274057"/>
            <a:ext cx="7393517" cy="584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/>
              <a:t>上述结果可推广至</a:t>
            </a:r>
            <a:r>
              <a:rPr lang="zh-CN" altLang="en-US" dirty="0">
                <a:solidFill>
                  <a:srgbClr val="FF0000"/>
                </a:solidFill>
              </a:rPr>
              <a:t>一般情形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726730"/>
              </p:ext>
            </p:extLst>
          </p:nvPr>
        </p:nvGraphicFramePr>
        <p:xfrm>
          <a:off x="5645658" y="3398076"/>
          <a:ext cx="4060825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2" name="Equation" r:id="rId9" imgW="1536480" imgH="736560" progId="Equation.DSMT4">
                  <p:embed/>
                </p:oleObj>
              </mc:Choice>
              <mc:Fallback>
                <p:oleObj name="Equation" r:id="rId9" imgW="1536480" imgH="73656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658" y="3398076"/>
                        <a:ext cx="4060825" cy="145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0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229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分块矩阵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38089" y="1218745"/>
            <a:ext cx="2785403" cy="696036"/>
            <a:chOff x="745587" y="1310185"/>
            <a:chExt cx="2785403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7" y="1310185"/>
              <a:ext cx="1800665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03849" y="1427370"/>
              <a:ext cx="26271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准对角阵</a:t>
              </a:r>
            </a:p>
          </p:txBody>
        </p:sp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493432"/>
              </p:ext>
            </p:extLst>
          </p:nvPr>
        </p:nvGraphicFramePr>
        <p:xfrm>
          <a:off x="2626581" y="1218745"/>
          <a:ext cx="2676525" cy="173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9" name="Equation" r:id="rId3" imgW="1447560" imgH="939600" progId="Equation.DSMT4">
                  <p:embed/>
                </p:oleObj>
              </mc:Choice>
              <mc:Fallback>
                <p:oleObj name="Equation" r:id="rId3" imgW="144756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6581" y="1218745"/>
                        <a:ext cx="2676525" cy="173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303106" y="1335930"/>
            <a:ext cx="2919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（分块对角阵）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460892"/>
              </p:ext>
            </p:extLst>
          </p:nvPr>
        </p:nvGraphicFramePr>
        <p:xfrm>
          <a:off x="786032" y="3491145"/>
          <a:ext cx="23479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0" name="Equation" r:id="rId5" imgW="1269720" imgH="253800" progId="Equation.DSMT4">
                  <p:embed/>
                </p:oleObj>
              </mc:Choice>
              <mc:Fallback>
                <p:oleObj name="Equation" r:id="rId5" imgW="12697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6032" y="3491145"/>
                        <a:ext cx="2347912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161504"/>
              </p:ext>
            </p:extLst>
          </p:nvPr>
        </p:nvGraphicFramePr>
        <p:xfrm>
          <a:off x="3436206" y="2856939"/>
          <a:ext cx="3733800" cy="173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1" name="Equation" r:id="rId7" imgW="2019240" imgH="939600" progId="Equation.DSMT4">
                  <p:embed/>
                </p:oleObj>
              </mc:Choice>
              <mc:Fallback>
                <p:oleObj name="Equation" r:id="rId7" imgW="201924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36206" y="2856939"/>
                        <a:ext cx="3733800" cy="173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2058392"/>
              </p:ext>
            </p:extLst>
          </p:nvPr>
        </p:nvGraphicFramePr>
        <p:xfrm>
          <a:off x="7469944" y="2720023"/>
          <a:ext cx="3429000" cy="173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2" name="Equation" r:id="rId9" imgW="1854000" imgH="939600" progId="Equation.DSMT4">
                  <p:embed/>
                </p:oleObj>
              </mc:Choice>
              <mc:Fallback>
                <p:oleObj name="Equation" r:id="rId9" imgW="185400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69944" y="2720023"/>
                        <a:ext cx="3429000" cy="173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637965" y="4917270"/>
            <a:ext cx="9259134" cy="901700"/>
            <a:chOff x="858838" y="4792663"/>
            <a:chExt cx="6944231" cy="901700"/>
          </a:xfrm>
        </p:grpSpPr>
        <p:sp>
          <p:nvSpPr>
            <p:cNvPr id="13" name="Text Box 2"/>
            <p:cNvSpPr txBox="1">
              <a:spLocks noChangeArrowheads="1"/>
            </p:cNvSpPr>
            <p:nvPr/>
          </p:nvSpPr>
          <p:spPr bwMode="auto">
            <a:xfrm>
              <a:off x="858838" y="4917270"/>
              <a:ext cx="2489139" cy="6524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dirty="0"/>
                <a:t>思考如何计算 </a:t>
              </a:r>
            </a:p>
          </p:txBody>
        </p:sp>
        <p:graphicFrame>
          <p:nvGraphicFramePr>
            <p:cNvPr id="16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3528884"/>
                </p:ext>
              </p:extLst>
            </p:nvPr>
          </p:nvGraphicFramePr>
          <p:xfrm>
            <a:off x="2795264" y="4792663"/>
            <a:ext cx="1660403" cy="901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3" name="Equation" r:id="rId11" imgW="838200" imgH="457200" progId="Equation.DSMT4">
                    <p:embed/>
                  </p:oleObj>
                </mc:Choice>
                <mc:Fallback>
                  <p:oleObj name="Equation" r:id="rId11" imgW="8382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5264" y="4792663"/>
                          <a:ext cx="1660403" cy="901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 Box 2"/>
            <p:cNvSpPr txBox="1">
              <a:spLocks noChangeArrowheads="1"/>
            </p:cNvSpPr>
            <p:nvPr/>
          </p:nvSpPr>
          <p:spPr bwMode="auto">
            <a:xfrm>
              <a:off x="4788024" y="4917270"/>
              <a:ext cx="2160240" cy="6524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dirty="0"/>
                <a:t>的逆其中</a:t>
              </a:r>
            </a:p>
          </p:txBody>
        </p:sp>
        <p:graphicFrame>
          <p:nvGraphicFramePr>
            <p:cNvPr id="18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7417790"/>
                </p:ext>
              </p:extLst>
            </p:nvPr>
          </p:nvGraphicFramePr>
          <p:xfrm>
            <a:off x="6093458" y="4979988"/>
            <a:ext cx="1709611" cy="527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4" name="Equation" r:id="rId13" imgW="863225" imgH="253890" progId="Equation.DSMT4">
                    <p:embed/>
                  </p:oleObj>
                </mc:Choice>
                <mc:Fallback>
                  <p:oleObj name="Equation" r:id="rId13" imgW="863225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3458" y="4979988"/>
                          <a:ext cx="1709611" cy="527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25258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897470"/>
              </p:ext>
            </p:extLst>
          </p:nvPr>
        </p:nvGraphicFramePr>
        <p:xfrm>
          <a:off x="5313258" y="1120775"/>
          <a:ext cx="4015316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7" name="Equation" r:id="rId3" imgW="1523880" imgH="507960" progId="Equation.DSMT4">
                  <p:embed/>
                </p:oleObj>
              </mc:Choice>
              <mc:Fallback>
                <p:oleObj name="Equation" r:id="rId3" imgW="15238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3258" y="1120775"/>
                        <a:ext cx="4015316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071777"/>
              </p:ext>
            </p:extLst>
          </p:nvPr>
        </p:nvGraphicFramePr>
        <p:xfrm>
          <a:off x="821267" y="1120775"/>
          <a:ext cx="4015316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8" name="Equation" r:id="rId5" imgW="1523880" imgH="507960" progId="Equation.DSMT4">
                  <p:embed/>
                </p:oleObj>
              </mc:Choice>
              <mc:Fallback>
                <p:oleObj name="Equation" r:id="rId5" imgW="15238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267" y="1120775"/>
                        <a:ext cx="4015316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994834" y="2124075"/>
            <a:ext cx="143933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证明：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863795"/>
              </p:ext>
            </p:extLst>
          </p:nvPr>
        </p:nvGraphicFramePr>
        <p:xfrm>
          <a:off x="2566988" y="2138363"/>
          <a:ext cx="5154612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9" name="Equation" r:id="rId7" imgW="1955520" imgH="482400" progId="Equation.DSMT4">
                  <p:embed/>
                </p:oleObj>
              </mc:Choice>
              <mc:Fallback>
                <p:oleObj name="Equation" r:id="rId7" imgW="19555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2138363"/>
                        <a:ext cx="5154612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134146"/>
              </p:ext>
            </p:extLst>
          </p:nvPr>
        </p:nvGraphicFramePr>
        <p:xfrm>
          <a:off x="2460625" y="3273425"/>
          <a:ext cx="51530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0" name="Equation" r:id="rId9" imgW="1955520" imgH="482400" progId="Equation.DSMT4">
                  <p:embed/>
                </p:oleObj>
              </mc:Choice>
              <mc:Fallback>
                <p:oleObj name="Equation" r:id="rId9" imgW="19555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25" y="3273425"/>
                        <a:ext cx="515302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47530"/>
              </p:ext>
            </p:extLst>
          </p:nvPr>
        </p:nvGraphicFramePr>
        <p:xfrm>
          <a:off x="3014557" y="5373053"/>
          <a:ext cx="5018616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1" name="Equation" r:id="rId11" imgW="1904760" imgH="507960" progId="Equation.DSMT4">
                  <p:embed/>
                </p:oleObj>
              </mc:Choice>
              <mc:Fallback>
                <p:oleObj name="Equation" r:id="rId11" imgW="19047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557" y="5373053"/>
                        <a:ext cx="5018616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21267" y="4611181"/>
            <a:ext cx="3649133" cy="5847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chemeClr val="bg1"/>
                </a:solidFill>
              </a:rPr>
              <a:t>分块三角阵的逆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5419937" y="6085682"/>
            <a:ext cx="6576483" cy="65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/>
              <a:t>作业：</a:t>
            </a:r>
            <a:r>
              <a:rPr lang="en-US" altLang="zh-CN" dirty="0"/>
              <a:t>P34    1</a:t>
            </a: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 </a:t>
            </a:r>
            <a:r>
              <a:rPr lang="en-US" altLang="zh-CN" dirty="0"/>
              <a:t>3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4864418"/>
              </p:ext>
            </p:extLst>
          </p:nvPr>
        </p:nvGraphicFramePr>
        <p:xfrm>
          <a:off x="1374712" y="3719513"/>
          <a:ext cx="2900362" cy="203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4" name="Equation" r:id="rId3" imgW="1015920" imgH="952200" progId="Equation.DSMT4">
                  <p:embed/>
                </p:oleObj>
              </mc:Choice>
              <mc:Fallback>
                <p:oleObj name="Equation" r:id="rId3" imgW="1015920" imgH="952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712" y="3719513"/>
                        <a:ext cx="2900362" cy="203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088662"/>
              </p:ext>
            </p:extLst>
          </p:nvPr>
        </p:nvGraphicFramePr>
        <p:xfrm>
          <a:off x="1383030" y="1616710"/>
          <a:ext cx="2365375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5" name="Equation" r:id="rId5" imgW="799920" imgH="736560" progId="Equation.DSMT4">
                  <p:embed/>
                </p:oleObj>
              </mc:Choice>
              <mc:Fallback>
                <p:oleObj name="Equation" r:id="rId5" imgW="79992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3030" y="1616710"/>
                        <a:ext cx="2365375" cy="163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163646"/>
              </p:ext>
            </p:extLst>
          </p:nvPr>
        </p:nvGraphicFramePr>
        <p:xfrm>
          <a:off x="4208463" y="1670050"/>
          <a:ext cx="2413000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" name="Equation" r:id="rId7" imgW="1193760" imgH="761760" progId="Equation.DSMT4">
                  <p:embed/>
                </p:oleObj>
              </mc:Choice>
              <mc:Fallback>
                <p:oleObj name="Equation" r:id="rId7" imgW="119376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08463" y="1670050"/>
                        <a:ext cx="2413000" cy="1538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372686"/>
              </p:ext>
            </p:extLst>
          </p:nvPr>
        </p:nvGraphicFramePr>
        <p:xfrm>
          <a:off x="6800850" y="841375"/>
          <a:ext cx="2479675" cy="282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" name="Equation" r:id="rId9" imgW="1091880" imgH="1244520" progId="Equation.DSMT4">
                  <p:embed/>
                </p:oleObj>
              </mc:Choice>
              <mc:Fallback>
                <p:oleObj name="Equation" r:id="rId9" imgW="1091880" imgH="1244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00850" y="841375"/>
                        <a:ext cx="2479675" cy="2824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209906"/>
              </p:ext>
            </p:extLst>
          </p:nvPr>
        </p:nvGraphicFramePr>
        <p:xfrm>
          <a:off x="4402138" y="3709988"/>
          <a:ext cx="2881312" cy="178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8" name="Equation" r:id="rId11" imgW="1231560" imgH="761760" progId="Equation.DSMT4">
                  <p:embed/>
                </p:oleObj>
              </mc:Choice>
              <mc:Fallback>
                <p:oleObj name="Equation" r:id="rId11" imgW="123156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02138" y="3709988"/>
                        <a:ext cx="2881312" cy="178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941127"/>
              </p:ext>
            </p:extLst>
          </p:nvPr>
        </p:nvGraphicFramePr>
        <p:xfrm>
          <a:off x="7226998" y="3554385"/>
          <a:ext cx="2962360" cy="2269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9" name="Equation" r:id="rId13" imgW="1193760" imgH="914400" progId="Equation.DSMT4">
                  <p:embed/>
                </p:oleObj>
              </mc:Choice>
              <mc:Fallback>
                <p:oleObj name="Equation" r:id="rId13" imgW="119376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26998" y="3554385"/>
                        <a:ext cx="2962360" cy="22690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208</Words>
  <Application>Microsoft Office PowerPoint</Application>
  <PresentationFormat>自定义</PresentationFormat>
  <Paragraphs>31</Paragraphs>
  <Slides>10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Office 主题</vt:lpstr>
      <vt:lpstr>Equation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115</cp:revision>
  <dcterms:created xsi:type="dcterms:W3CDTF">2016-07-04T12:59:51Z</dcterms:created>
  <dcterms:modified xsi:type="dcterms:W3CDTF">2018-03-19T04:28:28Z</dcterms:modified>
</cp:coreProperties>
</file>
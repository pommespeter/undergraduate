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0" r:id="rId2"/>
    <p:sldId id="271" r:id="rId3"/>
    <p:sldId id="293" r:id="rId4"/>
    <p:sldId id="294" r:id="rId5"/>
    <p:sldId id="295" r:id="rId6"/>
    <p:sldId id="296" r:id="rId7"/>
    <p:sldId id="299" r:id="rId8"/>
    <p:sldId id="297" r:id="rId9"/>
    <p:sldId id="29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C48170"/>
    <a:srgbClr val="0070C0"/>
    <a:srgbClr val="9DC3E6"/>
    <a:srgbClr val="2E75B6"/>
    <a:srgbClr val="1F4E79"/>
    <a:srgbClr val="FFFFFF"/>
    <a:srgbClr val="548235"/>
    <a:srgbClr val="385723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0" autoAdjust="0"/>
    <p:restoredTop sz="99816" autoAdjust="0"/>
  </p:normalViewPr>
  <p:slideViewPr>
    <p:cSldViewPr snapToGrid="0">
      <p:cViewPr>
        <p:scale>
          <a:sx n="86" d="100"/>
          <a:sy n="86" d="100"/>
        </p:scale>
        <p:origin x="-1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3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44.wmf"/><Relationship Id="rId4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FA301-845D-425A-BD8B-92C2912188AE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5DF3D-F602-47D2-81AF-FFA7EB3996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6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第五章 二次型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5.4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正定二次型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6E607-8B1C-40D4-8ABB-A6CC3597CF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97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20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Relationship Id="rId22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1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8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0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7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45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49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11575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1" y="1113905"/>
            <a:ext cx="1887847" cy="696036"/>
            <a:chOff x="745588" y="1310185"/>
            <a:chExt cx="447623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447623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61844" y="1427370"/>
              <a:ext cx="4151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正定二次型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052742" y="2005047"/>
            <a:ext cx="3521634" cy="468462"/>
            <a:chOff x="1910175" y="2222631"/>
            <a:chExt cx="3521634" cy="468462"/>
          </a:xfrm>
        </p:grpSpPr>
        <p:sp>
          <p:nvSpPr>
            <p:cNvPr id="8" name="文本框 7"/>
            <p:cNvSpPr txBox="1"/>
            <p:nvPr/>
          </p:nvSpPr>
          <p:spPr>
            <a:xfrm>
              <a:off x="1910175" y="2222631"/>
              <a:ext cx="3521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设二次型                    ，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12110"/>
                </p:ext>
              </p:extLst>
            </p:nvPr>
          </p:nvGraphicFramePr>
          <p:xfrm>
            <a:off x="3220777" y="2222780"/>
            <a:ext cx="1857375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79" name="Equation" r:id="rId3" imgW="990360" imgH="253800" progId="Equation.DSMT4">
                    <p:embed/>
                  </p:oleObj>
                </mc:Choice>
                <mc:Fallback>
                  <p:oleObj name="Equation" r:id="rId3" imgW="9903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20777" y="2222780"/>
                          <a:ext cx="1857375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组合 33"/>
          <p:cNvGrpSpPr/>
          <p:nvPr/>
        </p:nvGrpSpPr>
        <p:grpSpPr>
          <a:xfrm>
            <a:off x="5387568" y="1980494"/>
            <a:ext cx="3387110" cy="461665"/>
            <a:chOff x="1910175" y="2222631"/>
            <a:chExt cx="3387110" cy="461665"/>
          </a:xfrm>
        </p:grpSpPr>
        <p:sp>
          <p:nvSpPr>
            <p:cNvPr id="35" name="文本框 34"/>
            <p:cNvSpPr txBox="1"/>
            <p:nvPr/>
          </p:nvSpPr>
          <p:spPr>
            <a:xfrm>
              <a:off x="1910175" y="2222631"/>
              <a:ext cx="33871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若对任意          ，恒有</a:t>
              </a: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3778412"/>
                </p:ext>
              </p:extLst>
            </p:nvPr>
          </p:nvGraphicFramePr>
          <p:xfrm>
            <a:off x="3330467" y="2314503"/>
            <a:ext cx="762000" cy="327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80" name="Equation" r:id="rId5" imgW="406080" imgH="177480" progId="Equation.DSMT4">
                    <p:embed/>
                  </p:oleObj>
                </mc:Choice>
                <mc:Fallback>
                  <p:oleObj name="Equation" r:id="rId5" imgW="40608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30467" y="2314503"/>
                          <a:ext cx="762000" cy="327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4564530" y="2689154"/>
            <a:ext cx="1641981" cy="651368"/>
            <a:chOff x="4475484" y="3193340"/>
            <a:chExt cx="1641981" cy="651368"/>
          </a:xfrm>
        </p:grpSpPr>
        <p:sp>
          <p:nvSpPr>
            <p:cNvPr id="18" name="圆角矩形 17"/>
            <p:cNvSpPr/>
            <p:nvPr/>
          </p:nvSpPr>
          <p:spPr>
            <a:xfrm>
              <a:off x="4475484" y="3193340"/>
              <a:ext cx="1641981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5139192"/>
                </p:ext>
              </p:extLst>
            </p:nvPr>
          </p:nvGraphicFramePr>
          <p:xfrm>
            <a:off x="4664164" y="3288889"/>
            <a:ext cx="130968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81" name="Equation" r:id="rId7" imgW="698400" imgH="203040" progId="Equation.DSMT4">
                    <p:embed/>
                  </p:oleObj>
                </mc:Choice>
                <mc:Fallback>
                  <p:oleObj name="Equation" r:id="rId7" imgW="6984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664164" y="3288889"/>
                          <a:ext cx="1309687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589061" y="3514022"/>
            <a:ext cx="6218799" cy="487609"/>
            <a:chOff x="589061" y="3514022"/>
            <a:chExt cx="6218799" cy="487609"/>
          </a:xfrm>
        </p:grpSpPr>
        <p:sp>
          <p:nvSpPr>
            <p:cNvPr id="3" name="文本框 2"/>
            <p:cNvSpPr txBox="1"/>
            <p:nvPr/>
          </p:nvSpPr>
          <p:spPr>
            <a:xfrm>
              <a:off x="589061" y="3514022"/>
              <a:ext cx="62187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则称          为正定二次型，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为正定矩阵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1019682"/>
                </p:ext>
              </p:extLst>
            </p:nvPr>
          </p:nvGraphicFramePr>
          <p:xfrm>
            <a:off x="1395269" y="3533318"/>
            <a:ext cx="785812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82" name="Equation" r:id="rId9" imgW="419040" imgH="253800" progId="Equation.DSMT4">
                    <p:embed/>
                  </p:oleObj>
                </mc:Choice>
                <mc:Fallback>
                  <p:oleObj name="Equation" r:id="rId9" imgW="4190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395269" y="3533318"/>
                          <a:ext cx="785812" cy="468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/>
          <p:cNvGrpSpPr/>
          <p:nvPr/>
        </p:nvGrpSpPr>
        <p:grpSpPr>
          <a:xfrm>
            <a:off x="589061" y="4149187"/>
            <a:ext cx="3109399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圆角矩形 24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正定矩阵的两个命题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975624" y="5043436"/>
            <a:ext cx="5127373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可逆线性替换不改变二次型的正定性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210444"/>
              </p:ext>
            </p:extLst>
          </p:nvPr>
        </p:nvGraphicFramePr>
        <p:xfrm>
          <a:off x="8653749" y="2466712"/>
          <a:ext cx="3355975" cy="230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83" name="Equation" r:id="rId11" imgW="1688760" imgH="1206360" progId="Equation.DSMT4">
                  <p:embed/>
                </p:oleObj>
              </mc:Choice>
              <mc:Fallback>
                <p:oleObj name="Equation" r:id="rId11" imgW="168876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53749" y="2466712"/>
                        <a:ext cx="3355975" cy="2303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圆角矩形 48"/>
          <p:cNvSpPr/>
          <p:nvPr/>
        </p:nvSpPr>
        <p:spPr>
          <a:xfrm>
            <a:off x="536685" y="4948585"/>
            <a:ext cx="1199518" cy="651368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命题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41462" y="198049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圆角矩形 51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356477" y="5043435"/>
            <a:ext cx="4269467" cy="461665"/>
            <a:chOff x="7356477" y="5043435"/>
            <a:chExt cx="4269467" cy="461665"/>
          </a:xfrm>
        </p:grpSpPr>
        <p:grpSp>
          <p:nvGrpSpPr>
            <p:cNvPr id="16" name="组合 15"/>
            <p:cNvGrpSpPr/>
            <p:nvPr/>
          </p:nvGrpSpPr>
          <p:grpSpPr>
            <a:xfrm>
              <a:off x="7356477" y="5043435"/>
              <a:ext cx="4269467" cy="461665"/>
              <a:chOff x="2232255" y="5646119"/>
              <a:chExt cx="4269467" cy="461665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2232255" y="5646119"/>
                <a:ext cx="34708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P</a:t>
                </a:r>
                <a:r>
                  <a:rPr lang="zh-CN" altLang="en-US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可逆，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右箭头 43"/>
              <p:cNvSpPr/>
              <p:nvPr/>
            </p:nvSpPr>
            <p:spPr>
              <a:xfrm>
                <a:off x="5072034" y="5657916"/>
                <a:ext cx="631065" cy="355282"/>
              </a:xfrm>
              <a:prstGeom prst="right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45" name="对象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17618561"/>
                  </p:ext>
                </p:extLst>
              </p:nvPr>
            </p:nvGraphicFramePr>
            <p:xfrm>
              <a:off x="5811160" y="5657916"/>
              <a:ext cx="690562" cy="325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84" name="Equation" r:id="rId13" imgW="368280" imgH="177480" progId="Equation.DSMT4">
                      <p:embed/>
                    </p:oleObj>
                  </mc:Choice>
                  <mc:Fallback>
                    <p:oleObj name="Equation" r:id="rId13" imgW="3682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811160" y="5657916"/>
                            <a:ext cx="690562" cy="3254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1813639"/>
                </p:ext>
              </p:extLst>
            </p:nvPr>
          </p:nvGraphicFramePr>
          <p:xfrm>
            <a:off x="9196131" y="5108889"/>
            <a:ext cx="1000125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85" name="Equation" r:id="rId15" imgW="533160" imgH="164880" progId="Equation.DSMT4">
                    <p:embed/>
                  </p:oleObj>
                </mc:Choice>
                <mc:Fallback>
                  <p:oleObj name="Equation" r:id="rId15" imgW="5331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196131" y="5108889"/>
                          <a:ext cx="1000125" cy="3016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4401690"/>
                </p:ext>
              </p:extLst>
            </p:nvPr>
          </p:nvGraphicFramePr>
          <p:xfrm>
            <a:off x="7375471" y="5089325"/>
            <a:ext cx="833438" cy="369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86" name="Equation" r:id="rId17" imgW="444240" imgH="203040" progId="Equation.DSMT4">
                    <p:embed/>
                  </p:oleObj>
                </mc:Choice>
                <mc:Fallback>
                  <p:oleObj name="Equation" r:id="rId17" imgW="444240" imgH="203040" progId="Equation.DSMT4">
                    <p:embed/>
                    <p:pic>
                      <p:nvPicPr>
                        <p:cNvPr id="0" name="对象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75471" y="5089325"/>
                          <a:ext cx="833438" cy="369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" name="圆角矩形 54"/>
          <p:cNvSpPr/>
          <p:nvPr/>
        </p:nvSpPr>
        <p:spPr>
          <a:xfrm>
            <a:off x="520501" y="5752353"/>
            <a:ext cx="1199518" cy="651368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命题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942298" y="5752353"/>
            <a:ext cx="6077982" cy="836185"/>
            <a:chOff x="1942298" y="5843806"/>
            <a:chExt cx="6077982" cy="836185"/>
          </a:xfrm>
        </p:grpSpPr>
        <p:grpSp>
          <p:nvGrpSpPr>
            <p:cNvPr id="56" name="组合 55"/>
            <p:cNvGrpSpPr/>
            <p:nvPr/>
          </p:nvGrpSpPr>
          <p:grpSpPr>
            <a:xfrm>
              <a:off x="1942298" y="5843806"/>
              <a:ext cx="6077982" cy="830997"/>
              <a:chOff x="1910175" y="2222631"/>
              <a:chExt cx="4594600" cy="830997"/>
            </a:xfrm>
          </p:grpSpPr>
          <p:sp>
            <p:nvSpPr>
              <p:cNvPr id="57" name="文本框 7"/>
              <p:cNvSpPr txBox="1"/>
              <p:nvPr/>
            </p:nvSpPr>
            <p:spPr>
              <a:xfrm>
                <a:off x="1910175" y="2222631"/>
                <a:ext cx="4594600" cy="83099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标准形                                                     正定                                           </a:t>
                </a:r>
              </a:p>
            </p:txBody>
          </p:sp>
          <p:graphicFrame>
            <p:nvGraphicFramePr>
              <p:cNvPr id="58" name="对象 5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665407"/>
                  </p:ext>
                </p:extLst>
              </p:nvPr>
            </p:nvGraphicFramePr>
            <p:xfrm>
              <a:off x="2704423" y="2222631"/>
              <a:ext cx="3786188" cy="4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387" name="Equation" r:id="rId19" imgW="2019240" imgH="253800" progId="Equation.DSMT4">
                      <p:embed/>
                    </p:oleObj>
                  </mc:Choice>
                  <mc:Fallback>
                    <p:oleObj name="Equation" r:id="rId19" imgW="201924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2704423" y="2222631"/>
                            <a:ext cx="3786188" cy="4683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9" name="对象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982771"/>
                </p:ext>
              </p:extLst>
            </p:nvPr>
          </p:nvGraphicFramePr>
          <p:xfrm>
            <a:off x="2932760" y="6259304"/>
            <a:ext cx="3213100" cy="42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388" name="Equation" r:id="rId21" imgW="1295280" imgH="228600" progId="Equation.DSMT4">
                    <p:embed/>
                  </p:oleObj>
                </mc:Choice>
                <mc:Fallback>
                  <p:oleObj name="Equation" r:id="rId21" imgW="1295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932760" y="6259304"/>
                          <a:ext cx="3213100" cy="4206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 animBg="1"/>
      <p:bldP spid="49" grpId="0" animBg="1"/>
      <p:bldP spid="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11575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0500" y="1113905"/>
            <a:ext cx="2904870" cy="696036"/>
            <a:chOff x="745588" y="1310185"/>
            <a:chExt cx="3066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30665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61844" y="1427370"/>
              <a:ext cx="2796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正定二次型的判定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9062" y="1927126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819155" y="2036791"/>
            <a:ext cx="4644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阶实对称矩阵，则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98973" y="2805344"/>
            <a:ext cx="2134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是正定矩阵</a:t>
            </a:r>
          </a:p>
        </p:txBody>
      </p:sp>
      <p:sp>
        <p:nvSpPr>
          <p:cNvPr id="13" name="左右箭头 12"/>
          <p:cNvSpPr/>
          <p:nvPr/>
        </p:nvSpPr>
        <p:spPr>
          <a:xfrm>
            <a:off x="2616458" y="2918022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98630" y="2805344"/>
            <a:ext cx="492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是满秩矩阵，且正惯性指数为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左右箭头 14"/>
          <p:cNvSpPr/>
          <p:nvPr/>
        </p:nvSpPr>
        <p:spPr>
          <a:xfrm>
            <a:off x="2616458" y="3606537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298630" y="3493859"/>
            <a:ext cx="3570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个特征值均大于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左右箭头 16"/>
          <p:cNvSpPr/>
          <p:nvPr/>
        </p:nvSpPr>
        <p:spPr>
          <a:xfrm>
            <a:off x="2616458" y="4295051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3298630" y="4182373"/>
            <a:ext cx="4064907" cy="461665"/>
            <a:chOff x="4717143" y="4102335"/>
            <a:chExt cx="4064907" cy="461665"/>
          </a:xfrm>
        </p:grpSpPr>
        <p:sp>
          <p:nvSpPr>
            <p:cNvPr id="18" name="文本框 17"/>
            <p:cNvSpPr txBox="1"/>
            <p:nvPr/>
          </p:nvSpPr>
          <p:spPr>
            <a:xfrm>
              <a:off x="4717143" y="4102335"/>
              <a:ext cx="28593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存在可逆矩阵</a:t>
              </a:r>
              <a:r>
                <a:rPr lang="en-US" altLang="zh-CN" sz="24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8737016"/>
                </p:ext>
              </p:extLst>
            </p:nvPr>
          </p:nvGraphicFramePr>
          <p:xfrm>
            <a:off x="7472363" y="4145842"/>
            <a:ext cx="1309687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19" name="Equation" r:id="rId3" imgW="698400" imgH="203040" progId="Equation.DSMT4">
                    <p:embed/>
                  </p:oleObj>
                </mc:Choice>
                <mc:Fallback>
                  <p:oleObj name="Equation" r:id="rId3" imgW="6984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472363" y="4145842"/>
                          <a:ext cx="1309687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左右箭头 20"/>
          <p:cNvSpPr/>
          <p:nvPr/>
        </p:nvSpPr>
        <p:spPr>
          <a:xfrm>
            <a:off x="2616458" y="4983565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3298630" y="4867453"/>
            <a:ext cx="3898220" cy="508606"/>
            <a:chOff x="4717143" y="4787415"/>
            <a:chExt cx="3898220" cy="508606"/>
          </a:xfrm>
        </p:grpSpPr>
        <p:grpSp>
          <p:nvGrpSpPr>
            <p:cNvPr id="22" name="组合 21"/>
            <p:cNvGrpSpPr/>
            <p:nvPr/>
          </p:nvGrpSpPr>
          <p:grpSpPr>
            <a:xfrm>
              <a:off x="4717143" y="4787415"/>
              <a:ext cx="3898220" cy="508606"/>
              <a:chOff x="4717143" y="4055394"/>
              <a:chExt cx="3898220" cy="508606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4717143" y="4102335"/>
                <a:ext cx="28593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存在可逆矩阵</a:t>
                </a:r>
                <a:r>
                  <a:rPr lang="en-US" altLang="zh-CN" sz="2400" i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</a:t>
                </a:r>
                <a:endParaRPr lang="zh-CN" altLang="en-US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4" name="对象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09736720"/>
                  </p:ext>
                </p:extLst>
              </p:nvPr>
            </p:nvGraphicFramePr>
            <p:xfrm>
              <a:off x="7472363" y="4055394"/>
              <a:ext cx="1143000" cy="4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3320" name="Equation" r:id="rId5" imgW="609480" imgH="253800" progId="Equation.DSMT4">
                      <p:embed/>
                    </p:oleObj>
                  </mc:Choice>
                  <mc:Fallback>
                    <p:oleObj name="Equation" r:id="rId5" imgW="6094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472363" y="4055394"/>
                            <a:ext cx="1143000" cy="4683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1777382"/>
                </p:ext>
              </p:extLst>
            </p:nvPr>
          </p:nvGraphicFramePr>
          <p:xfrm>
            <a:off x="6662057" y="4822450"/>
            <a:ext cx="285750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1" name="Equation" r:id="rId7" imgW="152280" imgH="215640" progId="Equation.DSMT4">
                    <p:embed/>
                  </p:oleObj>
                </mc:Choice>
                <mc:Fallback>
                  <p:oleObj name="Equation" r:id="rId7" imgW="1522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662057" y="4822450"/>
                          <a:ext cx="285750" cy="3984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29" name="直接箭头连接符 28"/>
          <p:cNvCxnSpPr/>
          <p:nvPr/>
        </p:nvCxnSpPr>
        <p:spPr>
          <a:xfrm>
            <a:off x="7363537" y="4436038"/>
            <a:ext cx="50312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8047235" y="3842845"/>
            <a:ext cx="3548592" cy="1146085"/>
          </a:xfrm>
          <a:prstGeom prst="roundRect">
            <a:avLst/>
          </a:prstGeom>
          <a:noFill/>
          <a:ln w="25400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43104"/>
              </p:ext>
            </p:extLst>
          </p:nvPr>
        </p:nvGraphicFramePr>
        <p:xfrm>
          <a:off x="8048225" y="3967842"/>
          <a:ext cx="288925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2" name="Equation" r:id="rId9" imgW="1942920" imgH="304560" progId="Equation.DSMT4">
                  <p:embed/>
                </p:oleObj>
              </mc:Choice>
              <mc:Fallback>
                <p:oleObj name="Equation" r:id="rId9" imgW="1942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48225" y="3967842"/>
                        <a:ext cx="2889250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690648"/>
              </p:ext>
            </p:extLst>
          </p:nvPr>
        </p:nvGraphicFramePr>
        <p:xfrm>
          <a:off x="8205388" y="4479017"/>
          <a:ext cx="14351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323" name="Equation" r:id="rId11" imgW="965160" imgH="304560" progId="Equation.DSMT4">
                  <p:embed/>
                </p:oleObj>
              </mc:Choice>
              <mc:Fallback>
                <p:oleObj name="Equation" r:id="rId11" imgW="9651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205388" y="4479017"/>
                        <a:ext cx="1435100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10937475" y="3967842"/>
            <a:ext cx="525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endParaRPr lang="zh-CN" altLang="en-US" sz="2000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755951" y="4502005"/>
            <a:ext cx="1226918" cy="400110"/>
            <a:chOff x="9575376" y="4383851"/>
            <a:chExt cx="1226918" cy="400110"/>
          </a:xfrm>
        </p:grpSpPr>
        <p:sp>
          <p:nvSpPr>
            <p:cNvPr id="35" name="文本框 34"/>
            <p:cNvSpPr txBox="1"/>
            <p:nvPr/>
          </p:nvSpPr>
          <p:spPr>
            <a:xfrm>
              <a:off x="9575376" y="4383851"/>
              <a:ext cx="5256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accent5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记</a:t>
              </a: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4151277"/>
                </p:ext>
              </p:extLst>
            </p:nvPr>
          </p:nvGraphicFramePr>
          <p:xfrm>
            <a:off x="10010132" y="4406554"/>
            <a:ext cx="792162" cy="334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4" name="Equation" r:id="rId13" imgW="533160" imgH="228600" progId="Equation.DSMT4">
                    <p:embed/>
                  </p:oleObj>
                </mc:Choice>
                <mc:Fallback>
                  <p:oleObj name="Equation" r:id="rId13" imgW="5331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010132" y="4406554"/>
                          <a:ext cx="792162" cy="3349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左右箭头 43"/>
          <p:cNvSpPr/>
          <p:nvPr/>
        </p:nvSpPr>
        <p:spPr>
          <a:xfrm>
            <a:off x="2616410" y="5488505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425369" y="5376059"/>
            <a:ext cx="4189729" cy="461665"/>
            <a:chOff x="3425369" y="5376059"/>
            <a:chExt cx="4189729" cy="461665"/>
          </a:xfrm>
        </p:grpSpPr>
        <p:sp>
          <p:nvSpPr>
            <p:cNvPr id="45" name="文本框 22"/>
            <p:cNvSpPr txBox="1"/>
            <p:nvPr/>
          </p:nvSpPr>
          <p:spPr>
            <a:xfrm>
              <a:off x="3425369" y="5376059"/>
              <a:ext cx="41897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存在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正定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矩阵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5864357"/>
                </p:ext>
              </p:extLst>
            </p:nvPr>
          </p:nvGraphicFramePr>
          <p:xfrm>
            <a:off x="5385718" y="5420013"/>
            <a:ext cx="28575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5" name="Equation" r:id="rId15" imgW="152280" imgH="164880" progId="Equation.DSMT4">
                    <p:embed/>
                  </p:oleObj>
                </mc:Choice>
                <mc:Fallback>
                  <p:oleObj name="Equation" r:id="rId15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385718" y="5420013"/>
                          <a:ext cx="28575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818665"/>
                </p:ext>
              </p:extLst>
            </p:nvPr>
          </p:nvGraphicFramePr>
          <p:xfrm>
            <a:off x="6157944" y="5376059"/>
            <a:ext cx="928688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6" name="Equation" r:id="rId17" imgW="495000" imgH="203040" progId="Equation.DSMT4">
                    <p:embed/>
                  </p:oleObj>
                </mc:Choice>
                <mc:Fallback>
                  <p:oleObj name="Equation" r:id="rId17" imgW="4950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157944" y="5376059"/>
                          <a:ext cx="928688" cy="374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563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 animBg="1"/>
      <p:bldP spid="14" grpId="0"/>
      <p:bldP spid="15" grpId="0" animBg="1"/>
      <p:bldP spid="16" grpId="0"/>
      <p:bldP spid="17" grpId="0" animBg="1"/>
      <p:bldP spid="21" grpId="0" animBg="1"/>
      <p:bldP spid="30" grpId="0" animBg="1"/>
      <p:bldP spid="34" grpId="0"/>
      <p:bldP spid="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11575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5514" y="1156376"/>
            <a:ext cx="2904870" cy="696036"/>
            <a:chOff x="745588" y="1310185"/>
            <a:chExt cx="3066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30665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61844" y="1427370"/>
              <a:ext cx="2796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正定二次型的判定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6309" y="4209389"/>
            <a:ext cx="3614849" cy="651368"/>
            <a:chOff x="506043" y="2137359"/>
            <a:chExt cx="1334088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304127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3028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（霍尔维茨定理）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104204" y="4304240"/>
            <a:ext cx="4644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阶实对称矩阵，则</a:t>
            </a:r>
          </a:p>
        </p:txBody>
      </p:sp>
      <p:sp>
        <p:nvSpPr>
          <p:cNvPr id="13" name="左右箭头 12"/>
          <p:cNvSpPr/>
          <p:nvPr/>
        </p:nvSpPr>
        <p:spPr>
          <a:xfrm>
            <a:off x="2870970" y="5193759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左右箭头 14"/>
          <p:cNvSpPr/>
          <p:nvPr/>
        </p:nvSpPr>
        <p:spPr>
          <a:xfrm>
            <a:off x="2870970" y="5755190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741841" y="5081080"/>
            <a:ext cx="2230663" cy="461665"/>
            <a:chOff x="1731736" y="2725306"/>
            <a:chExt cx="2230663" cy="461665"/>
          </a:xfrm>
        </p:grpSpPr>
        <p:sp>
          <p:nvSpPr>
            <p:cNvPr id="12" name="文本框 11"/>
            <p:cNvSpPr txBox="1"/>
            <p:nvPr/>
          </p:nvSpPr>
          <p:spPr>
            <a:xfrm>
              <a:off x="2017486" y="2725306"/>
              <a:ext cx="19449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是正定矩阵</a:t>
              </a: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4023"/>
                </p:ext>
              </p:extLst>
            </p:nvPr>
          </p:nvGraphicFramePr>
          <p:xfrm>
            <a:off x="1731736" y="2771080"/>
            <a:ext cx="28575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0" name="Equation" r:id="rId3" imgW="152280" imgH="164880" progId="Equation.DSMT4">
                    <p:embed/>
                  </p:oleObj>
                </mc:Choice>
                <mc:Fallback>
                  <p:oleObj name="Equation" r:id="rId3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31736" y="2771080"/>
                          <a:ext cx="285750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689073" y="5645649"/>
            <a:ext cx="2286760" cy="461665"/>
            <a:chOff x="1513995" y="2716165"/>
            <a:chExt cx="2286760" cy="461665"/>
          </a:xfrm>
        </p:grpSpPr>
        <p:sp>
          <p:nvSpPr>
            <p:cNvPr id="29" name="文本框 28"/>
            <p:cNvSpPr txBox="1"/>
            <p:nvPr/>
          </p:nvSpPr>
          <p:spPr>
            <a:xfrm>
              <a:off x="1855842" y="2716165"/>
              <a:ext cx="19449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负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定矩阵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866480"/>
                </p:ext>
              </p:extLst>
            </p:nvPr>
          </p:nvGraphicFramePr>
          <p:xfrm>
            <a:off x="1513995" y="2766044"/>
            <a:ext cx="28575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1" name="Equation" r:id="rId5" imgW="152280" imgH="164880" progId="Equation.DSMT4">
                    <p:embed/>
                  </p:oleObj>
                </mc:Choice>
                <mc:Fallback>
                  <p:oleObj name="Equation" r:id="rId5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13995" y="2766044"/>
                          <a:ext cx="285750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406308" y="2046165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圆角矩形 20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498183" y="1914592"/>
            <a:ext cx="8101461" cy="1974440"/>
            <a:chOff x="1809522" y="1914592"/>
            <a:chExt cx="8101461" cy="1974440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1438054"/>
                </p:ext>
              </p:extLst>
            </p:nvPr>
          </p:nvGraphicFramePr>
          <p:xfrm>
            <a:off x="1809522" y="2155830"/>
            <a:ext cx="2752551" cy="1656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2" name="Equation" r:id="rId7" imgW="1562040" imgH="939600" progId="Equation.DSMT4">
                    <p:embed/>
                  </p:oleObj>
                </mc:Choice>
                <mc:Fallback>
                  <p:oleObj name="Equation" r:id="rId7" imgW="15620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09522" y="2155830"/>
                          <a:ext cx="2752551" cy="16560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Box 16"/>
            <p:cNvSpPr txBox="1"/>
            <p:nvPr/>
          </p:nvSpPr>
          <p:spPr>
            <a:xfrm>
              <a:off x="4528037" y="2670980"/>
              <a:ext cx="30405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24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r>
                <a:rPr lang="zh-CN" altLang="en-US" sz="24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阶顺序主子式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5649807"/>
                </p:ext>
              </p:extLst>
            </p:nvPr>
          </p:nvGraphicFramePr>
          <p:xfrm>
            <a:off x="7322370" y="1914592"/>
            <a:ext cx="2588613" cy="1974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3" name="Equation" r:id="rId9" imgW="1562040" imgH="939600" progId="Equation.DSMT4">
                    <p:embed/>
                  </p:oleObj>
                </mc:Choice>
                <mc:Fallback>
                  <p:oleObj name="Equation" r:id="rId9" imgW="15620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322370" y="1914592"/>
                          <a:ext cx="2588613" cy="197444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/>
          <p:cNvGrpSpPr/>
          <p:nvPr/>
        </p:nvGrpSpPr>
        <p:grpSpPr>
          <a:xfrm>
            <a:off x="3753012" y="5081079"/>
            <a:ext cx="6096069" cy="461665"/>
            <a:chOff x="3751302" y="5081079"/>
            <a:chExt cx="6174896" cy="461665"/>
          </a:xfrm>
        </p:grpSpPr>
        <p:sp>
          <p:nvSpPr>
            <p:cNvPr id="14" name="文本框 13"/>
            <p:cNvSpPr txBox="1"/>
            <p:nvPr/>
          </p:nvSpPr>
          <p:spPr>
            <a:xfrm>
              <a:off x="3751302" y="5081079"/>
              <a:ext cx="60409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的各阶顺序主子式均大于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0.  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84705819"/>
                </p:ext>
              </p:extLst>
            </p:nvPr>
          </p:nvGraphicFramePr>
          <p:xfrm>
            <a:off x="8070339" y="5142242"/>
            <a:ext cx="1855859" cy="386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4" name="Equation" r:id="rId11" imgW="1218960" imgH="253800" progId="Equation.DSMT4">
                    <p:embed/>
                  </p:oleObj>
                </mc:Choice>
                <mc:Fallback>
                  <p:oleObj name="Equation" r:id="rId11" imgW="12189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8070339" y="5142242"/>
                          <a:ext cx="1855859" cy="3866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/>
        </p:nvGrpSpPr>
        <p:grpSpPr>
          <a:xfrm>
            <a:off x="3714453" y="5642511"/>
            <a:ext cx="6040984" cy="860439"/>
            <a:chOff x="3714453" y="5642511"/>
            <a:chExt cx="6040984" cy="860439"/>
          </a:xfrm>
        </p:grpSpPr>
        <p:sp>
          <p:nvSpPr>
            <p:cNvPr id="16" name="文本框 15"/>
            <p:cNvSpPr txBox="1"/>
            <p:nvPr/>
          </p:nvSpPr>
          <p:spPr>
            <a:xfrm>
              <a:off x="3714453" y="5642511"/>
              <a:ext cx="60409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的顺序主子式奇数阶为负</a:t>
              </a:r>
              <a:r>
                <a:rPr lang="zh-CN" altLang="en-US" sz="24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偶数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阶为正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。</a:t>
              </a:r>
              <a:endPara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endPara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2673947"/>
                </p:ext>
              </p:extLst>
            </p:nvPr>
          </p:nvGraphicFramePr>
          <p:xfrm>
            <a:off x="5216461" y="6104177"/>
            <a:ext cx="2437543" cy="3987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5" name="Equation" r:id="rId13" imgW="1549080" imgH="253800" progId="Equation.DSMT4">
                    <p:embed/>
                  </p:oleObj>
                </mc:Choice>
                <mc:Fallback>
                  <p:oleObj name="Equation" r:id="rId13" imgW="1549080" imgH="253800" progId="Equation.DSMT4">
                    <p:embed/>
                    <p:pic>
                      <p:nvPicPr>
                        <p:cNvPr id="0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6461" y="6104177"/>
                          <a:ext cx="2437543" cy="3987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2043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1"/>
          <p:cNvGrpSpPr>
            <a:grpSpLocks/>
          </p:cNvGrpSpPr>
          <p:nvPr/>
        </p:nvGrpSpPr>
        <p:grpSpPr bwMode="auto">
          <a:xfrm>
            <a:off x="1035051" y="1147764"/>
            <a:ext cx="9478433" cy="1125628"/>
            <a:chOff x="582613" y="1457871"/>
            <a:chExt cx="7107532" cy="1123255"/>
          </a:xfrm>
        </p:grpSpPr>
        <p:sp>
          <p:nvSpPr>
            <p:cNvPr id="19469" name="Text Box 2"/>
            <p:cNvSpPr txBox="1">
              <a:spLocks noChangeArrowheads="1"/>
            </p:cNvSpPr>
            <p:nvPr/>
          </p:nvSpPr>
          <p:spPr bwMode="auto">
            <a:xfrm>
              <a:off x="582613" y="1457871"/>
              <a:ext cx="7107532" cy="1123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1  </a:t>
              </a:r>
              <a:r>
                <a:rPr lang="zh-CN" altLang="en-US" sz="2400" dirty="0"/>
                <a:t>判断下面二次型正定性</a:t>
              </a: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       </a:t>
              </a:r>
            </a:p>
          </p:txBody>
        </p:sp>
        <p:graphicFrame>
          <p:nvGraphicFramePr>
            <p:cNvPr id="1947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2714251"/>
                </p:ext>
              </p:extLst>
            </p:nvPr>
          </p:nvGraphicFramePr>
          <p:xfrm>
            <a:off x="1081534" y="2078361"/>
            <a:ext cx="5508642" cy="5027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87" name="Equation" r:id="rId3" imgW="2768400" imgH="253800" progId="Equation.DSMT4">
                    <p:embed/>
                  </p:oleObj>
                </mc:Choice>
                <mc:Fallback>
                  <p:oleObj name="Equation" r:id="rId3" imgW="276840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1534" y="2078361"/>
                          <a:ext cx="5508642" cy="5027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5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035051" y="2398343"/>
            <a:ext cx="8458200" cy="3459324"/>
            <a:chOff x="1259631" y="1938414"/>
            <a:chExt cx="6344748" cy="3458673"/>
          </a:xfrm>
        </p:grpSpPr>
        <p:sp>
          <p:nvSpPr>
            <p:cNvPr id="29" name="TextBox 28"/>
            <p:cNvSpPr txBox="1"/>
            <p:nvPr/>
          </p:nvSpPr>
          <p:spPr>
            <a:xfrm>
              <a:off x="1259631" y="2305219"/>
              <a:ext cx="6344748" cy="309186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解：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各阶顺序主子式均大于零，所以二次型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正定。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9467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345632"/>
                </p:ext>
              </p:extLst>
            </p:nvPr>
          </p:nvGraphicFramePr>
          <p:xfrm>
            <a:off x="1965967" y="2135345"/>
            <a:ext cx="1866879" cy="1255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88" name="Equation" r:id="rId5" imgW="1206360" imgH="711000" progId="Equation.DSMT4">
                    <p:embed/>
                  </p:oleObj>
                </mc:Choice>
                <mc:Fallback>
                  <p:oleObj name="Equation" r:id="rId5" imgW="12063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967" y="2135345"/>
                          <a:ext cx="1866879" cy="1255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7801623"/>
                </p:ext>
              </p:extLst>
            </p:nvPr>
          </p:nvGraphicFramePr>
          <p:xfrm>
            <a:off x="4644767" y="1938414"/>
            <a:ext cx="2897154" cy="2558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89" name="Equation" r:id="rId7" imgW="1714320" imgH="1447560" progId="Equation.DSMT4">
                    <p:embed/>
                  </p:oleObj>
                </mc:Choice>
                <mc:Fallback>
                  <p:oleObj name="Equation" r:id="rId7" imgW="1714320" imgH="1447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4767" y="1938414"/>
                          <a:ext cx="2897154" cy="2558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5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16" name="文本框 3"/>
          <p:cNvSpPr txBox="1"/>
          <p:nvPr/>
        </p:nvSpPr>
        <p:spPr>
          <a:xfrm>
            <a:off x="8937001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318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组合 1"/>
          <p:cNvGrpSpPr>
            <a:grpSpLocks/>
          </p:cNvGrpSpPr>
          <p:nvPr/>
        </p:nvGrpSpPr>
        <p:grpSpPr bwMode="auto">
          <a:xfrm>
            <a:off x="1132418" y="981076"/>
            <a:ext cx="9476316" cy="2308225"/>
            <a:chOff x="582613" y="1457871"/>
            <a:chExt cx="7107532" cy="2306157"/>
          </a:xfrm>
        </p:grpSpPr>
        <p:sp>
          <p:nvSpPr>
            <p:cNvPr id="20496" name="Text Box 2"/>
            <p:cNvSpPr txBox="1">
              <a:spLocks noChangeArrowheads="1"/>
            </p:cNvSpPr>
            <p:nvPr/>
          </p:nvSpPr>
          <p:spPr bwMode="auto">
            <a:xfrm>
              <a:off x="582613" y="1457871"/>
              <a:ext cx="7107532" cy="2306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/>
                  </a:solidFill>
                </a:rPr>
                <a:t>2  </a:t>
              </a:r>
              <a:r>
                <a:rPr lang="zh-CN" altLang="en-US" sz="2400" dirty="0"/>
                <a:t>当    满足什么条件时，二次型</a:t>
              </a: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正定？</a:t>
              </a:r>
              <a:endParaRPr lang="en-US" altLang="zh-CN" sz="2400" dirty="0"/>
            </a:p>
            <a:p>
              <a:pPr algn="l" eaLnBrk="1" hangingPunct="1">
                <a:lnSpc>
                  <a:spcPct val="150000"/>
                </a:lnSpc>
              </a:pPr>
              <a:r>
                <a:rPr lang="zh-CN" altLang="en-US" sz="2400" dirty="0"/>
                <a:t>       </a:t>
              </a:r>
            </a:p>
          </p:txBody>
        </p:sp>
        <p:graphicFrame>
          <p:nvGraphicFramePr>
            <p:cNvPr id="20497" name="Object 3"/>
            <p:cNvGraphicFramePr>
              <a:graphicFrameLocks noChangeAspect="1"/>
            </p:cNvGraphicFramePr>
            <p:nvPr/>
          </p:nvGraphicFramePr>
          <p:xfrm>
            <a:off x="1520967" y="2126219"/>
            <a:ext cx="6140468" cy="5027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1" name="Equation" r:id="rId3" imgW="3085920" imgH="253800" progId="Equation.DSMT4">
                    <p:embed/>
                  </p:oleObj>
                </mc:Choice>
                <mc:Fallback>
                  <p:oleObj name="Equation" r:id="rId3" imgW="308592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0967" y="2126219"/>
                          <a:ext cx="6140468" cy="5027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3657729"/>
                </p:ext>
              </p:extLst>
            </p:nvPr>
          </p:nvGraphicFramePr>
          <p:xfrm>
            <a:off x="1560012" y="1674462"/>
            <a:ext cx="176213" cy="3029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2" name="Equation" r:id="rId5" imgW="88560" imgH="152280" progId="Equation.DSMT4">
                    <p:embed/>
                  </p:oleObj>
                </mc:Choice>
                <mc:Fallback>
                  <p:oleObj name="Equation" r:id="rId5" imgW="88560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0012" y="1674462"/>
                          <a:ext cx="176213" cy="3029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3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284818" y="2732088"/>
            <a:ext cx="3754967" cy="1560512"/>
            <a:chOff x="1259631" y="1661689"/>
            <a:chExt cx="2816397" cy="1560461"/>
          </a:xfrm>
        </p:grpSpPr>
        <p:sp>
          <p:nvSpPr>
            <p:cNvPr id="29" name="TextBox 28"/>
            <p:cNvSpPr txBox="1"/>
            <p:nvPr/>
          </p:nvSpPr>
          <p:spPr>
            <a:xfrm>
              <a:off x="1259631" y="2074426"/>
              <a:ext cx="2816397" cy="11477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解：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20495" name="对象 30"/>
            <p:cNvGraphicFramePr>
              <a:graphicFrameLocks noChangeAspect="1"/>
            </p:cNvGraphicFramePr>
            <p:nvPr/>
          </p:nvGraphicFramePr>
          <p:xfrm>
            <a:off x="1904319" y="1661689"/>
            <a:ext cx="1837034" cy="13808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3" name="Equation" r:id="rId7" imgW="1079280" imgH="711000" progId="Equation.DSMT4">
                    <p:embed/>
                  </p:oleObj>
                </mc:Choice>
                <mc:Fallback>
                  <p:oleObj name="Equation" r:id="rId7" imgW="10792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4319" y="1661689"/>
                          <a:ext cx="1837034" cy="13808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9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1295401" y="4005263"/>
            <a:ext cx="10420351" cy="1941512"/>
            <a:chOff x="1259631" y="1641098"/>
            <a:chExt cx="7814661" cy="1940983"/>
          </a:xfrm>
        </p:grpSpPr>
        <p:sp>
          <p:nvSpPr>
            <p:cNvPr id="17" name="TextBox 16"/>
            <p:cNvSpPr txBox="1"/>
            <p:nvPr/>
          </p:nvSpPr>
          <p:spPr>
            <a:xfrm>
              <a:off x="1259631" y="2074367"/>
              <a:ext cx="6344749" cy="150771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400" dirty="0">
                  <a:solidFill>
                    <a:schemeClr val="tx1"/>
                  </a:solidFill>
                </a:rPr>
                <a:t>由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zh-CN" altLang="en-US" sz="2400" dirty="0" smtClean="0">
                  <a:solidFill>
                    <a:schemeClr val="tx1"/>
                  </a:solidFill>
                </a:rPr>
                <a:t>得                  </a:t>
              </a:r>
              <a:r>
                <a:rPr lang="zh-CN" altLang="en-US" sz="2400" dirty="0">
                  <a:solidFill>
                    <a:schemeClr val="tx1"/>
                  </a:solidFill>
                </a:rPr>
                <a:t>时二次型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正定</a:t>
              </a:r>
              <a:r>
                <a:rPr lang="en-US" altLang="zh-CN" sz="2400" dirty="0" smtClean="0">
                  <a:solidFill>
                    <a:schemeClr val="tx1"/>
                  </a:solidFill>
                </a:rPr>
                <a:t>.</a:t>
              </a:r>
              <a:r>
                <a:rPr lang="zh-CN" altLang="en-US" sz="2400" dirty="0" smtClean="0">
                  <a:solidFill>
                    <a:schemeClr val="tx1"/>
                  </a:solidFill>
                </a:rPr>
                <a:t>     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r>
                <a:rPr lang="en-US" altLang="zh-CN" sz="2400" dirty="0">
                  <a:solidFill>
                    <a:schemeClr val="tx1"/>
                  </a:solidFill>
                </a:rPr>
                <a:t>    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20492" name="对象 30"/>
            <p:cNvGraphicFramePr>
              <a:graphicFrameLocks noChangeAspect="1"/>
            </p:cNvGraphicFramePr>
            <p:nvPr/>
          </p:nvGraphicFramePr>
          <p:xfrm>
            <a:off x="1773463" y="1641098"/>
            <a:ext cx="7300829" cy="1380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4" name="Equation" r:id="rId9" imgW="4292280" imgH="711000" progId="Equation.DSMT4">
                    <p:embed/>
                  </p:oleObj>
                </mc:Choice>
                <mc:Fallback>
                  <p:oleObj name="Equation" r:id="rId9" imgW="42922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3463" y="1641098"/>
                          <a:ext cx="7300829" cy="1380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对象 30"/>
            <p:cNvGraphicFramePr>
              <a:graphicFrameLocks noChangeAspect="1"/>
            </p:cNvGraphicFramePr>
            <p:nvPr/>
          </p:nvGraphicFramePr>
          <p:xfrm>
            <a:off x="1791688" y="3235794"/>
            <a:ext cx="539744" cy="344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85" name="Equation" r:id="rId11" imgW="317160" imgH="177480" progId="Equation.DSMT4">
                    <p:embed/>
                  </p:oleObj>
                </mc:Choice>
                <mc:Fallback>
                  <p:oleObj name="Equation" r:id="rId11" imgW="31716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688" y="3235794"/>
                          <a:ext cx="539744" cy="344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8022585" y="395844"/>
            <a:ext cx="21900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</a:p>
        </p:txBody>
      </p:sp>
    </p:spTree>
    <p:extLst>
      <p:ext uri="{BB962C8B-B14F-4D97-AF65-F5344CB8AC3E}">
        <p14:creationId xmlns:p14="http://schemas.microsoft.com/office/powerpoint/2010/main" val="319373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11575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012578" y="86129"/>
            <a:ext cx="27049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正定矩阵的性质</a:t>
            </a: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313676"/>
              </p:ext>
            </p:extLst>
          </p:nvPr>
        </p:nvGraphicFramePr>
        <p:xfrm>
          <a:off x="4875213" y="3711575"/>
          <a:ext cx="53340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4" name="Equation" r:id="rId3" imgW="2844720" imgH="1143000" progId="Equation.DSMT4">
                  <p:embed/>
                </p:oleObj>
              </mc:Choice>
              <mc:Fallback>
                <p:oleObj name="Equation" r:id="rId3" imgW="28447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75213" y="3711575"/>
                        <a:ext cx="5334000" cy="210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/>
          <p:cNvGrpSpPr/>
          <p:nvPr/>
        </p:nvGrpSpPr>
        <p:grpSpPr>
          <a:xfrm>
            <a:off x="568628" y="1101933"/>
            <a:ext cx="2411716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圆角矩形 24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正定矩阵的性质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20501" y="3254629"/>
            <a:ext cx="6556038" cy="463837"/>
            <a:chOff x="3018800" y="4293737"/>
            <a:chExt cx="4514412" cy="463837"/>
          </a:xfrm>
        </p:grpSpPr>
        <p:sp>
          <p:nvSpPr>
            <p:cNvPr id="9" name="文本框 8"/>
            <p:cNvSpPr txBox="1"/>
            <p:nvPr/>
          </p:nvSpPr>
          <p:spPr>
            <a:xfrm>
              <a:off x="3018800" y="4295909"/>
              <a:ext cx="26348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半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右箭头 9"/>
            <p:cNvSpPr/>
            <p:nvPr/>
          </p:nvSpPr>
          <p:spPr>
            <a:xfrm>
              <a:off x="5162260" y="4381563"/>
              <a:ext cx="631065" cy="355282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793325" y="4293737"/>
              <a:ext cx="17398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88211" y="2601263"/>
            <a:ext cx="5572272" cy="482566"/>
            <a:chOff x="688879" y="3477939"/>
            <a:chExt cx="5572272" cy="482566"/>
          </a:xfrm>
        </p:grpSpPr>
        <p:sp>
          <p:nvSpPr>
            <p:cNvPr id="33" name="文本框 32"/>
            <p:cNvSpPr txBox="1"/>
            <p:nvPr/>
          </p:nvSpPr>
          <p:spPr>
            <a:xfrm>
              <a:off x="688879" y="3498840"/>
              <a:ext cx="26348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</a:t>
              </a:r>
            </a:p>
          </p:txBody>
        </p:sp>
        <p:sp>
          <p:nvSpPr>
            <p:cNvPr id="38" name="右箭头 37"/>
            <p:cNvSpPr/>
            <p:nvPr/>
          </p:nvSpPr>
          <p:spPr>
            <a:xfrm>
              <a:off x="2648236" y="3584322"/>
              <a:ext cx="631065" cy="355282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0" name="对象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09653575"/>
                </p:ext>
              </p:extLst>
            </p:nvPr>
          </p:nvGraphicFramePr>
          <p:xfrm>
            <a:off x="3356026" y="3477939"/>
            <a:ext cx="2905125" cy="466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5" name="Equation" r:id="rId5" imgW="1549080" imgH="253800" progId="Equation.DSMT4">
                    <p:embed/>
                  </p:oleObj>
                </mc:Choice>
                <mc:Fallback>
                  <p:oleObj name="Equation" r:id="rId5" imgW="15490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356026" y="3477939"/>
                          <a:ext cx="2905125" cy="4667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464925" y="1915285"/>
            <a:ext cx="6707056" cy="474394"/>
            <a:chOff x="813007" y="4104719"/>
            <a:chExt cx="6707056" cy="474394"/>
          </a:xfrm>
        </p:grpSpPr>
        <p:sp>
          <p:nvSpPr>
            <p:cNvPr id="43" name="文本框 42"/>
            <p:cNvSpPr txBox="1"/>
            <p:nvPr/>
          </p:nvSpPr>
          <p:spPr>
            <a:xfrm>
              <a:off x="813007" y="4117448"/>
              <a:ext cx="26348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正定</a:t>
              </a:r>
            </a:p>
          </p:txBody>
        </p:sp>
        <p:sp>
          <p:nvSpPr>
            <p:cNvPr id="44" name="右箭头 43"/>
            <p:cNvSpPr/>
            <p:nvPr/>
          </p:nvSpPr>
          <p:spPr>
            <a:xfrm>
              <a:off x="2704700" y="4170639"/>
              <a:ext cx="631065" cy="355282"/>
            </a:xfrm>
            <a:prstGeom prst="right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3352396" y="4104719"/>
              <a:ext cx="4167667" cy="461665"/>
              <a:chOff x="3352396" y="4104719"/>
              <a:chExt cx="4167667" cy="461665"/>
            </a:xfrm>
          </p:grpSpPr>
          <p:graphicFrame>
            <p:nvGraphicFramePr>
              <p:cNvPr id="45" name="对象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4103789"/>
                  </p:ext>
                </p:extLst>
              </p:nvPr>
            </p:nvGraphicFramePr>
            <p:xfrm>
              <a:off x="3352396" y="4138730"/>
              <a:ext cx="2905125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0246" name="Equation" r:id="rId7" imgW="1549080" imgH="228600" progId="Equation.DSMT4">
                      <p:embed/>
                    </p:oleObj>
                  </mc:Choice>
                  <mc:Fallback>
                    <p:oleObj name="Equation" r:id="rId7" imgW="154908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352396" y="4138730"/>
                            <a:ext cx="2905125" cy="419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文本框 10"/>
              <p:cNvSpPr txBox="1"/>
              <p:nvPr/>
            </p:nvSpPr>
            <p:spPr>
              <a:xfrm>
                <a:off x="5393537" y="4104719"/>
                <a:ext cx="21265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均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正定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6" name="文本框 26"/>
          <p:cNvSpPr txBox="1"/>
          <p:nvPr/>
        </p:nvSpPr>
        <p:spPr>
          <a:xfrm>
            <a:off x="520501" y="6066390"/>
            <a:ext cx="2349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正定矩阵的性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26"/>
          <p:cNvSpPr txBox="1"/>
          <p:nvPr/>
        </p:nvSpPr>
        <p:spPr>
          <a:xfrm>
            <a:off x="441516" y="5466226"/>
            <a:ext cx="4923518" cy="83099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思考题：</a:t>
            </a:r>
            <a:r>
              <a:rPr lang="en-US" altLang="zh-CN" sz="2400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正定，</a:t>
            </a:r>
            <a:r>
              <a:rPr lang="en-US" altLang="zh-CN" sz="2400" i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AB</a:t>
            </a:r>
            <a:r>
              <a:rPr lang="zh-CN" altLang="en-US" sz="2400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正定吗？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925" y="4511009"/>
            <a:ext cx="6473839" cy="461665"/>
            <a:chOff x="1996408" y="4548751"/>
            <a:chExt cx="6473839" cy="461665"/>
          </a:xfrm>
        </p:grpSpPr>
        <p:sp>
          <p:nvSpPr>
            <p:cNvPr id="47" name="文本框 7"/>
            <p:cNvSpPr txBox="1"/>
            <p:nvPr/>
          </p:nvSpPr>
          <p:spPr>
            <a:xfrm>
              <a:off x="1996408" y="4548751"/>
              <a:ext cx="64738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取                               二次型          </a:t>
              </a: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5225518"/>
                </p:ext>
              </p:extLst>
            </p:nvPr>
          </p:nvGraphicFramePr>
          <p:xfrm>
            <a:off x="2480888" y="4579113"/>
            <a:ext cx="2762250" cy="420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47" name="Equation" r:id="rId9" imgW="1473120" imgH="228600" progId="Equation.DSMT4">
                    <p:embed/>
                  </p:oleObj>
                </mc:Choice>
                <mc:Fallback>
                  <p:oleObj name="Equation" r:id="rId9" imgW="14731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480888" y="4579113"/>
                          <a:ext cx="2762250" cy="4206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文本框 8"/>
          <p:cNvSpPr txBox="1"/>
          <p:nvPr/>
        </p:nvSpPr>
        <p:spPr>
          <a:xfrm>
            <a:off x="528631" y="3856436"/>
            <a:ext cx="2571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正定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1"/>
          <p:cNvSpPr txBox="1"/>
          <p:nvPr/>
        </p:nvSpPr>
        <p:spPr>
          <a:xfrm>
            <a:off x="4926187" y="3899552"/>
            <a:ext cx="941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正定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6910818"/>
              </p:ext>
            </p:extLst>
          </p:nvPr>
        </p:nvGraphicFramePr>
        <p:xfrm>
          <a:off x="3988505" y="3805258"/>
          <a:ext cx="794342" cy="650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8" name="Equation" r:id="rId11" imgW="545760" imgH="457200" progId="Equation.DSMT4">
                  <p:embed/>
                </p:oleObj>
              </mc:Choice>
              <mc:Fallback>
                <p:oleObj name="Equation" r:id="rId11" imgW="545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88505" y="3805258"/>
                        <a:ext cx="794342" cy="650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右箭头 36"/>
          <p:cNvSpPr/>
          <p:nvPr/>
        </p:nvSpPr>
        <p:spPr>
          <a:xfrm>
            <a:off x="3210217" y="3909628"/>
            <a:ext cx="631065" cy="355282"/>
          </a:xfrm>
          <a:prstGeom prst="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75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8" grpId="0" animBg="1"/>
      <p:bldP spid="29" grpId="0"/>
      <p:bldP spid="34" grpId="0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937001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49527" y="1273562"/>
            <a:ext cx="1670421" cy="696036"/>
            <a:chOff x="745588" y="1310185"/>
            <a:chExt cx="30665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30665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61844" y="1427370"/>
              <a:ext cx="2796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知识拓展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49528" y="2304497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左右箭头 12"/>
          <p:cNvSpPr/>
          <p:nvPr/>
        </p:nvSpPr>
        <p:spPr>
          <a:xfrm>
            <a:off x="4562072" y="3447918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36763" y="3320391"/>
            <a:ext cx="2699480" cy="461665"/>
            <a:chOff x="1262919" y="2725306"/>
            <a:chExt cx="2699480" cy="461665"/>
          </a:xfrm>
        </p:grpSpPr>
        <p:sp>
          <p:nvSpPr>
            <p:cNvPr id="12" name="文本框 11"/>
            <p:cNvSpPr txBox="1"/>
            <p:nvPr/>
          </p:nvSpPr>
          <p:spPr>
            <a:xfrm>
              <a:off x="2017486" y="2725306"/>
              <a:ext cx="19449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是正定矩阵</a:t>
              </a: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9406705"/>
                </p:ext>
              </p:extLst>
            </p:nvPr>
          </p:nvGraphicFramePr>
          <p:xfrm>
            <a:off x="1262919" y="2741840"/>
            <a:ext cx="785812" cy="350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7" name="Equation" r:id="rId3" imgW="419040" imgH="190440" progId="Equation.DSMT4">
                    <p:embed/>
                  </p:oleObj>
                </mc:Choice>
                <mc:Fallback>
                  <p:oleObj name="Equation" r:id="rId3" imgW="41904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62919" y="2741840"/>
                          <a:ext cx="785812" cy="3508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1977952" y="2414162"/>
            <a:ext cx="7232149" cy="461665"/>
            <a:chOff x="1977952" y="2414162"/>
            <a:chExt cx="7232149" cy="461665"/>
          </a:xfrm>
        </p:grpSpPr>
        <p:sp>
          <p:nvSpPr>
            <p:cNvPr id="11" name="文本框 10"/>
            <p:cNvSpPr txBox="1"/>
            <p:nvPr/>
          </p:nvSpPr>
          <p:spPr>
            <a:xfrm>
              <a:off x="1977952" y="2414162"/>
              <a:ext cx="72321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阶实对称矩阵，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         阶实矩阵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</a:t>
              </a:r>
            </a:p>
          </p:txBody>
        </p: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088844"/>
                </p:ext>
              </p:extLst>
            </p:nvPr>
          </p:nvGraphicFramePr>
          <p:xfrm>
            <a:off x="6139899" y="2501593"/>
            <a:ext cx="850544" cy="3280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8" name="Equation" r:id="rId5" imgW="355320" imgH="139680" progId="Equation.DSMT4">
                    <p:embed/>
                  </p:oleObj>
                </mc:Choice>
                <mc:Fallback>
                  <p:oleObj name="Equation" r:id="rId5" imgW="3553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39899" y="2501593"/>
                          <a:ext cx="850544" cy="3280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224128"/>
              </p:ext>
            </p:extLst>
          </p:nvPr>
        </p:nvGraphicFramePr>
        <p:xfrm>
          <a:off x="5171673" y="3298017"/>
          <a:ext cx="406400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9" name="Equation" r:id="rId7" imgW="1701720" imgH="215640" progId="Equation.DSMT4">
                  <p:embed/>
                </p:oleObj>
              </mc:Choice>
              <mc:Fallback>
                <p:oleObj name="Equation" r:id="rId7" imgW="1701720" imgH="21564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673" y="3298017"/>
                        <a:ext cx="4064000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6"/>
          <p:cNvSpPr txBox="1"/>
          <p:nvPr/>
        </p:nvSpPr>
        <p:spPr>
          <a:xfrm>
            <a:off x="638076" y="4064256"/>
            <a:ext cx="646780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如何从定理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得出教材上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5.15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19" name="文本框 26"/>
          <p:cNvSpPr txBox="1"/>
          <p:nvPr/>
        </p:nvSpPr>
        <p:spPr>
          <a:xfrm>
            <a:off x="638076" y="4833601"/>
            <a:ext cx="6467804" cy="46166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思考题</a:t>
            </a:r>
            <a:r>
              <a:rPr lang="en-US" altLang="zh-CN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半正定二次型的判定定理是什么？</a:t>
            </a:r>
          </a:p>
        </p:txBody>
      </p:sp>
    </p:spTree>
    <p:extLst>
      <p:ext uri="{BB962C8B-B14F-4D97-AF65-F5344CB8AC3E}">
        <p14:creationId xmlns:p14="http://schemas.microsoft.com/office/powerpoint/2010/main" val="273143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23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9311575" y="455461"/>
            <a:ext cx="2314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5.4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正定二次型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0501" y="1113905"/>
            <a:ext cx="4307176" cy="696036"/>
            <a:chOff x="745588" y="1310185"/>
            <a:chExt cx="454695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34047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3872" y="1402074"/>
              <a:ext cx="4464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半正定二次型的判定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89062" y="1927126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819155" y="2036791"/>
            <a:ext cx="4644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阶实对称矩阵，则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74573" y="2805344"/>
            <a:ext cx="2359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是半正定矩阵</a:t>
            </a:r>
          </a:p>
        </p:txBody>
      </p:sp>
      <p:sp>
        <p:nvSpPr>
          <p:cNvPr id="13" name="左右箭头 12"/>
          <p:cNvSpPr/>
          <p:nvPr/>
        </p:nvSpPr>
        <p:spPr>
          <a:xfrm>
            <a:off x="2616458" y="2918022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298630" y="2805344"/>
            <a:ext cx="4920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的正惯性指数等于它的秩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左右箭头 14"/>
          <p:cNvSpPr/>
          <p:nvPr/>
        </p:nvSpPr>
        <p:spPr>
          <a:xfrm>
            <a:off x="2616458" y="3606537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298630" y="3493859"/>
            <a:ext cx="41487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个特征值均大于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等于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i="1" dirty="0" smtClean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左右箭头 16"/>
          <p:cNvSpPr/>
          <p:nvPr/>
        </p:nvSpPr>
        <p:spPr>
          <a:xfrm>
            <a:off x="2616458" y="4295051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3226010" y="4182373"/>
            <a:ext cx="8050439" cy="461665"/>
            <a:chOff x="4717143" y="4102335"/>
            <a:chExt cx="8050439" cy="461665"/>
          </a:xfrm>
        </p:grpSpPr>
        <p:sp>
          <p:nvSpPr>
            <p:cNvPr id="18" name="文本框 17"/>
            <p:cNvSpPr txBox="1"/>
            <p:nvPr/>
          </p:nvSpPr>
          <p:spPr>
            <a:xfrm>
              <a:off x="4717143" y="4102335"/>
              <a:ext cx="28593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存在可逆矩阵</a:t>
              </a:r>
              <a:r>
                <a:rPr lang="en-US" altLang="zh-CN" sz="2400" i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96648"/>
                </p:ext>
              </p:extLst>
            </p:nvPr>
          </p:nvGraphicFramePr>
          <p:xfrm>
            <a:off x="7576457" y="4102335"/>
            <a:ext cx="519112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2" name="Equation" r:id="rId3" imgW="2768400" imgH="241200" progId="Equation.DSMT4">
                    <p:embed/>
                  </p:oleObj>
                </mc:Choice>
                <mc:Fallback>
                  <p:oleObj name="Equation" r:id="rId3" imgW="27684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76457" y="4102335"/>
                          <a:ext cx="5191125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左右箭头 20"/>
          <p:cNvSpPr/>
          <p:nvPr/>
        </p:nvSpPr>
        <p:spPr>
          <a:xfrm>
            <a:off x="2616458" y="4983565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3298630" y="4867453"/>
            <a:ext cx="3898220" cy="508606"/>
            <a:chOff x="4717143" y="4787415"/>
            <a:chExt cx="3898220" cy="508606"/>
          </a:xfrm>
        </p:grpSpPr>
        <p:grpSp>
          <p:nvGrpSpPr>
            <p:cNvPr id="22" name="组合 21"/>
            <p:cNvGrpSpPr/>
            <p:nvPr/>
          </p:nvGrpSpPr>
          <p:grpSpPr>
            <a:xfrm>
              <a:off x="4717143" y="4787415"/>
              <a:ext cx="3898220" cy="508606"/>
              <a:chOff x="4717143" y="4055394"/>
              <a:chExt cx="3898220" cy="508606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4717143" y="4102335"/>
                <a:ext cx="305810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存在实矩阵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</a:t>
                </a:r>
                <a:endParaRPr lang="zh-CN" altLang="en-US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4" name="对象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34772986"/>
                  </p:ext>
                </p:extLst>
              </p:nvPr>
            </p:nvGraphicFramePr>
            <p:xfrm>
              <a:off x="7472363" y="4055394"/>
              <a:ext cx="1143000" cy="468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243" name="Equation" r:id="rId5" imgW="609480" imgH="253800" progId="Equation.DSMT4">
                      <p:embed/>
                    </p:oleObj>
                  </mc:Choice>
                  <mc:Fallback>
                    <p:oleObj name="Equation" r:id="rId5" imgW="609480" imgH="2538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7472363" y="4055394"/>
                            <a:ext cx="1143000" cy="468312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314434"/>
                </p:ext>
              </p:extLst>
            </p:nvPr>
          </p:nvGraphicFramePr>
          <p:xfrm>
            <a:off x="6367340" y="4870825"/>
            <a:ext cx="285750" cy="398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4" name="Equation" r:id="rId7" imgW="152280" imgH="215640" progId="Equation.DSMT4">
                    <p:embed/>
                  </p:oleObj>
                </mc:Choice>
                <mc:Fallback>
                  <p:oleObj name="Equation" r:id="rId7" imgW="1522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367340" y="4870825"/>
                          <a:ext cx="285750" cy="3984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左右箭头 43"/>
          <p:cNvSpPr/>
          <p:nvPr/>
        </p:nvSpPr>
        <p:spPr>
          <a:xfrm>
            <a:off x="2616410" y="5488505"/>
            <a:ext cx="609600" cy="236308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425369" y="5376059"/>
            <a:ext cx="4374573" cy="461665"/>
            <a:chOff x="3425369" y="5376059"/>
            <a:chExt cx="4374573" cy="461665"/>
          </a:xfrm>
        </p:grpSpPr>
        <p:sp>
          <p:nvSpPr>
            <p:cNvPr id="45" name="文本框 22"/>
            <p:cNvSpPr txBox="1"/>
            <p:nvPr/>
          </p:nvSpPr>
          <p:spPr>
            <a:xfrm>
              <a:off x="3425369" y="5376059"/>
              <a:ext cx="43745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的所有主子式皆大于或等于零。</a:t>
              </a:r>
              <a:endPara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4622327"/>
                </p:ext>
              </p:extLst>
            </p:nvPr>
          </p:nvGraphicFramePr>
          <p:xfrm>
            <a:off x="3425369" y="5443743"/>
            <a:ext cx="28575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45"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425369" y="5443743"/>
                          <a:ext cx="28575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4336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 animBg="1"/>
      <p:bldP spid="14" grpId="0"/>
      <p:bldP spid="15" grpId="0" animBg="1"/>
      <p:bldP spid="16" grpId="0"/>
      <p:bldP spid="17" grpId="0" animBg="1"/>
      <p:bldP spid="21" grpId="0" animBg="1"/>
      <p:bldP spid="4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380</Words>
  <Application>Microsoft Office PowerPoint</Application>
  <PresentationFormat>自定义</PresentationFormat>
  <Paragraphs>91</Paragraphs>
  <Slides>9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Office 主题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312</cp:revision>
  <dcterms:created xsi:type="dcterms:W3CDTF">2016-07-04T12:59:51Z</dcterms:created>
  <dcterms:modified xsi:type="dcterms:W3CDTF">2018-05-10T14:20:11Z</dcterms:modified>
</cp:coreProperties>
</file>
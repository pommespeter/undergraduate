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6" r:id="rId3"/>
    <p:sldId id="287" r:id="rId4"/>
    <p:sldId id="288" r:id="rId5"/>
    <p:sldId id="289" r:id="rId6"/>
    <p:sldId id="256" r:id="rId7"/>
    <p:sldId id="271" r:id="rId8"/>
    <p:sldId id="277" r:id="rId9"/>
    <p:sldId id="272" r:id="rId10"/>
    <p:sldId id="273" r:id="rId11"/>
    <p:sldId id="278" r:id="rId12"/>
    <p:sldId id="279" r:id="rId13"/>
    <p:sldId id="280" r:id="rId14"/>
    <p:sldId id="274" r:id="rId15"/>
    <p:sldId id="281" r:id="rId16"/>
    <p:sldId id="282" r:id="rId17"/>
    <p:sldId id="275" r:id="rId18"/>
    <p:sldId id="283" r:id="rId19"/>
    <p:sldId id="284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780"/>
    <a:srgbClr val="AFABAB"/>
    <a:srgbClr val="7F7F7F"/>
    <a:srgbClr val="004F8C"/>
    <a:srgbClr val="86A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>
        <p:scale>
          <a:sx n="91" d="100"/>
          <a:sy n="91" d="100"/>
        </p:scale>
        <p:origin x="42" y="10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2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12" Type="http://schemas.openxmlformats.org/officeDocument/2006/relationships/image" Target="../media/image21.wmf"/><Relationship Id="rId2" Type="http://schemas.openxmlformats.org/officeDocument/2006/relationships/image" Target="../media/image11.wmf"/><Relationship Id="rId16" Type="http://schemas.openxmlformats.org/officeDocument/2006/relationships/image" Target="../media/image25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5" Type="http://schemas.openxmlformats.org/officeDocument/2006/relationships/image" Target="../media/image14.wmf"/><Relationship Id="rId15" Type="http://schemas.openxmlformats.org/officeDocument/2006/relationships/image" Target="../media/image2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Relationship Id="rId14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e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0" Type="http://schemas.openxmlformats.org/officeDocument/2006/relationships/image" Target="../media/image85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wmf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第一章 行列式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1.1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行列式的概念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95127-9E48-465D-A7D3-181C842291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21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jpeg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1.docx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7.wmf"/><Relationship Id="rId26" Type="http://schemas.openxmlformats.org/officeDocument/2006/relationships/image" Target="../media/image21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25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0.wmf"/><Relationship Id="rId32" Type="http://schemas.openxmlformats.org/officeDocument/2006/relationships/image" Target="../media/image24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22.wmf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29" Type="http://schemas.openxmlformats.org/officeDocument/2006/relationships/oleObject" Target="../embeddings/oleObject41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49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Relationship Id="rId27" Type="http://schemas.openxmlformats.org/officeDocument/2006/relationships/oleObject" Target="../embeddings/oleObject4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7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77.bin"/><Relationship Id="rId26" Type="http://schemas.openxmlformats.org/officeDocument/2006/relationships/image" Target="../media/image84.w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9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81.wmf"/><Relationship Id="rId25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6.bin"/><Relationship Id="rId20" Type="http://schemas.openxmlformats.org/officeDocument/2006/relationships/image" Target="../media/image82.wmf"/><Relationship Id="rId29" Type="http://schemas.openxmlformats.org/officeDocument/2006/relationships/oleObject" Target="../embeddings/oleObject84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83.wmf"/><Relationship Id="rId32" Type="http://schemas.openxmlformats.org/officeDocument/2006/relationships/image" Target="../media/image87.wmf"/><Relationship Id="rId5" Type="http://schemas.openxmlformats.org/officeDocument/2006/relationships/oleObject" Target="../embeddings/oleObject69.bin"/><Relationship Id="rId15" Type="http://schemas.openxmlformats.org/officeDocument/2006/relationships/image" Target="../media/image80.wmf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5.wmf"/><Relationship Id="rId10" Type="http://schemas.openxmlformats.org/officeDocument/2006/relationships/oleObject" Target="../embeddings/oleObject72.bin"/><Relationship Id="rId19" Type="http://schemas.openxmlformats.org/officeDocument/2006/relationships/oleObject" Target="../embeddings/oleObject78.bin"/><Relationship Id="rId31" Type="http://schemas.openxmlformats.org/officeDocument/2006/relationships/oleObject" Target="../embeddings/oleObject85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1.bin"/><Relationship Id="rId14" Type="http://schemas.openxmlformats.org/officeDocument/2006/relationships/oleObject" Target="../embeddings/oleObject75.bin"/><Relationship Id="rId22" Type="http://schemas.openxmlformats.org/officeDocument/2006/relationships/oleObject" Target="../embeddings/oleObject80.bin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8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91.bin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8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6"/>
          <p:cNvGrpSpPr>
            <a:grpSpLocks/>
          </p:cNvGrpSpPr>
          <p:nvPr/>
        </p:nvGrpSpPr>
        <p:grpSpPr bwMode="auto">
          <a:xfrm>
            <a:off x="571500" y="1644123"/>
            <a:ext cx="3486150" cy="1701800"/>
            <a:chOff x="0" y="0"/>
            <a:chExt cx="4215759" cy="2057400"/>
          </a:xfrm>
        </p:grpSpPr>
        <p:grpSp>
          <p:nvGrpSpPr>
            <p:cNvPr id="18458" name="组合 20"/>
            <p:cNvGrpSpPr>
              <a:grpSpLocks/>
            </p:cNvGrpSpPr>
            <p:nvPr/>
          </p:nvGrpSpPr>
          <p:grpSpPr bwMode="auto">
            <a:xfrm>
              <a:off x="0" y="0"/>
              <a:ext cx="4215759" cy="2057400"/>
              <a:chOff x="0" y="0"/>
              <a:chExt cx="4215758" cy="2057400"/>
            </a:xfrm>
          </p:grpSpPr>
          <p:sp>
            <p:nvSpPr>
              <p:cNvPr id="18462" name="圆角矩形 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15758" cy="2057400"/>
              </a:xfrm>
              <a:prstGeom prst="roundRect">
                <a:avLst>
                  <a:gd name="adj" fmla="val 4167"/>
                </a:avLst>
              </a:prstGeom>
              <a:solidFill>
                <a:srgbClr val="F2F2F2"/>
              </a:solidFill>
              <a:ln w="12700">
                <a:solidFill>
                  <a:srgbClr val="D9D9D9">
                    <a:alpha val="52156"/>
                  </a:srgbClr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0000">
                    <a:alpha val="26999"/>
                  </a:srgb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rgbClr val="FFFFFF"/>
                  </a:solidFill>
                  <a:ea typeface="微软雅黑 Light" pitchFamily="2" charset="-122"/>
                </a:endParaRPr>
              </a:p>
            </p:txBody>
          </p:sp>
          <p:sp>
            <p:nvSpPr>
              <p:cNvPr id="18463" name="圆角矩形 2"/>
              <p:cNvSpPr>
                <a:spLocks noChangeArrowheads="1"/>
              </p:cNvSpPr>
              <p:nvPr/>
            </p:nvSpPr>
            <p:spPr bwMode="auto">
              <a:xfrm>
                <a:off x="2365526" y="217885"/>
                <a:ext cx="1621631" cy="1621631"/>
              </a:xfrm>
              <a:prstGeom prst="roundRect">
                <a:avLst>
                  <a:gd name="adj" fmla="val 4333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8464" name="组合 6"/>
              <p:cNvGrpSpPr>
                <a:grpSpLocks/>
              </p:cNvGrpSpPr>
              <p:nvPr/>
            </p:nvGrpSpPr>
            <p:grpSpPr bwMode="auto">
              <a:xfrm>
                <a:off x="2726896" y="600076"/>
                <a:ext cx="898890" cy="857248"/>
                <a:chOff x="0" y="0"/>
                <a:chExt cx="520963" cy="496831"/>
              </a:xfrm>
            </p:grpSpPr>
            <p:sp>
              <p:nvSpPr>
                <p:cNvPr id="18465" name="Freeform 7"/>
                <p:cNvSpPr>
                  <a:spLocks noEditPoints="1"/>
                </p:cNvSpPr>
                <p:nvPr/>
              </p:nvSpPr>
              <p:spPr bwMode="auto">
                <a:xfrm>
                  <a:off x="0" y="0"/>
                  <a:ext cx="520963" cy="496831"/>
                </a:xfrm>
                <a:custGeom>
                  <a:avLst/>
                  <a:gdLst>
                    <a:gd name="T0" fmla="*/ 1697659913 w 135"/>
                    <a:gd name="T1" fmla="*/ 1913496030 h 129"/>
                    <a:gd name="T2" fmla="*/ 893505408 w 135"/>
                    <a:gd name="T3" fmla="*/ 1913496030 h 129"/>
                    <a:gd name="T4" fmla="*/ 893505408 w 135"/>
                    <a:gd name="T5" fmla="*/ 1231162523 h 129"/>
                    <a:gd name="T6" fmla="*/ 640344517 w 135"/>
                    <a:gd name="T7" fmla="*/ 1231162523 h 129"/>
                    <a:gd name="T8" fmla="*/ 640344517 w 135"/>
                    <a:gd name="T9" fmla="*/ 1913496030 h 129"/>
                    <a:gd name="T10" fmla="*/ 312728280 w 135"/>
                    <a:gd name="T11" fmla="*/ 1913496030 h 129"/>
                    <a:gd name="T12" fmla="*/ 193593683 w 135"/>
                    <a:gd name="T13" fmla="*/ 1794830505 h 129"/>
                    <a:gd name="T14" fmla="*/ 193593683 w 135"/>
                    <a:gd name="T15" fmla="*/ 1112496998 h 129"/>
                    <a:gd name="T16" fmla="*/ 59567283 w 135"/>
                    <a:gd name="T17" fmla="*/ 1112496998 h 129"/>
                    <a:gd name="T18" fmla="*/ 44675466 w 135"/>
                    <a:gd name="T19" fmla="*/ 1097665251 h 129"/>
                    <a:gd name="T20" fmla="*/ 0 w 135"/>
                    <a:gd name="T21" fmla="*/ 1008662979 h 129"/>
                    <a:gd name="T22" fmla="*/ 44675466 w 135"/>
                    <a:gd name="T23" fmla="*/ 919664798 h 129"/>
                    <a:gd name="T24" fmla="*/ 923289042 w 135"/>
                    <a:gd name="T25" fmla="*/ 44499105 h 129"/>
                    <a:gd name="T26" fmla="*/ 1087099271 w 135"/>
                    <a:gd name="T27" fmla="*/ 44499105 h 129"/>
                    <a:gd name="T28" fmla="*/ 1965712621 w 135"/>
                    <a:gd name="T29" fmla="*/ 919664798 h 129"/>
                    <a:gd name="T30" fmla="*/ 2010388072 w 135"/>
                    <a:gd name="T31" fmla="*/ 1008662979 h 129"/>
                    <a:gd name="T32" fmla="*/ 1965712621 w 135"/>
                    <a:gd name="T33" fmla="*/ 1097665251 h 129"/>
                    <a:gd name="T34" fmla="*/ 1950820804 w 135"/>
                    <a:gd name="T35" fmla="*/ 1112496998 h 129"/>
                    <a:gd name="T36" fmla="*/ 1816794450 w 135"/>
                    <a:gd name="T37" fmla="*/ 1112496998 h 129"/>
                    <a:gd name="T38" fmla="*/ 1816794450 w 135"/>
                    <a:gd name="T39" fmla="*/ 1794830505 h 129"/>
                    <a:gd name="T40" fmla="*/ 1697659913 w 135"/>
                    <a:gd name="T41" fmla="*/ 1913496030 h 129"/>
                    <a:gd name="T42" fmla="*/ 148918231 w 135"/>
                    <a:gd name="T43" fmla="*/ 993831232 h 129"/>
                    <a:gd name="T44" fmla="*/ 312728280 w 135"/>
                    <a:gd name="T45" fmla="*/ 993831232 h 129"/>
                    <a:gd name="T46" fmla="*/ 312728280 w 135"/>
                    <a:gd name="T47" fmla="*/ 1794830505 h 129"/>
                    <a:gd name="T48" fmla="*/ 506318163 w 135"/>
                    <a:gd name="T49" fmla="*/ 1779994908 h 129"/>
                    <a:gd name="T50" fmla="*/ 506318163 w 135"/>
                    <a:gd name="T51" fmla="*/ 1216330776 h 129"/>
                    <a:gd name="T52" fmla="*/ 610560883 w 135"/>
                    <a:gd name="T53" fmla="*/ 1112496998 h 129"/>
                    <a:gd name="T54" fmla="*/ 923289042 w 135"/>
                    <a:gd name="T55" fmla="*/ 1112496998 h 129"/>
                    <a:gd name="T56" fmla="*/ 1012640186 w 135"/>
                    <a:gd name="T57" fmla="*/ 1216330776 h 129"/>
                    <a:gd name="T58" fmla="*/ 1012640186 w 135"/>
                    <a:gd name="T59" fmla="*/ 1779994908 h 129"/>
                    <a:gd name="T60" fmla="*/ 1697659913 w 135"/>
                    <a:gd name="T61" fmla="*/ 1779994908 h 129"/>
                    <a:gd name="T62" fmla="*/ 1697659913 w 135"/>
                    <a:gd name="T63" fmla="*/ 993831232 h 129"/>
                    <a:gd name="T64" fmla="*/ 1861469902 w 135"/>
                    <a:gd name="T65" fmla="*/ 993831232 h 129"/>
                    <a:gd name="T66" fmla="*/ 1012640186 w 135"/>
                    <a:gd name="T67" fmla="*/ 133501183 h 129"/>
                    <a:gd name="T68" fmla="*/ 148918231 w 135"/>
                    <a:gd name="T69" fmla="*/ 993831232 h 129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35"/>
                    <a:gd name="T106" fmla="*/ 0 h 129"/>
                    <a:gd name="T107" fmla="*/ 135 w 135"/>
                    <a:gd name="T108" fmla="*/ 129 h 129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35" h="129">
                      <a:moveTo>
                        <a:pt x="114" y="129"/>
                      </a:moveTo>
                      <a:cubicBezTo>
                        <a:pt x="60" y="129"/>
                        <a:pt x="60" y="129"/>
                        <a:pt x="60" y="129"/>
                      </a:cubicBezTo>
                      <a:cubicBezTo>
                        <a:pt x="60" y="83"/>
                        <a:pt x="60" y="83"/>
                        <a:pt x="60" y="83"/>
                      </a:cubicBezTo>
                      <a:cubicBezTo>
                        <a:pt x="43" y="83"/>
                        <a:pt x="43" y="83"/>
                        <a:pt x="43" y="83"/>
                      </a:cubicBezTo>
                      <a:cubicBezTo>
                        <a:pt x="43" y="129"/>
                        <a:pt x="43" y="129"/>
                        <a:pt x="43" y="129"/>
                      </a:cubicBezTo>
                      <a:cubicBezTo>
                        <a:pt x="21" y="129"/>
                        <a:pt x="21" y="129"/>
                        <a:pt x="21" y="129"/>
                      </a:cubicBezTo>
                      <a:cubicBezTo>
                        <a:pt x="16" y="129"/>
                        <a:pt x="13" y="125"/>
                        <a:pt x="13" y="121"/>
                      </a:cubicBezTo>
                      <a:cubicBezTo>
                        <a:pt x="13" y="75"/>
                        <a:pt x="13" y="75"/>
                        <a:pt x="13" y="75"/>
                      </a:cubicBezTo>
                      <a:cubicBezTo>
                        <a:pt x="4" y="75"/>
                        <a:pt x="4" y="75"/>
                        <a:pt x="4" y="75"/>
                      </a:cubicBezTo>
                      <a:cubicBezTo>
                        <a:pt x="3" y="74"/>
                        <a:pt x="3" y="74"/>
                        <a:pt x="3" y="74"/>
                      </a:cubicBezTo>
                      <a:cubicBezTo>
                        <a:pt x="1" y="72"/>
                        <a:pt x="0" y="70"/>
                        <a:pt x="0" y="68"/>
                      </a:cubicBezTo>
                      <a:cubicBezTo>
                        <a:pt x="0" y="66"/>
                        <a:pt x="1" y="64"/>
                        <a:pt x="3" y="62"/>
                      </a:cubicBezTo>
                      <a:cubicBezTo>
                        <a:pt x="62" y="3"/>
                        <a:pt x="62" y="3"/>
                        <a:pt x="62" y="3"/>
                      </a:cubicBezTo>
                      <a:cubicBezTo>
                        <a:pt x="65" y="0"/>
                        <a:pt x="70" y="0"/>
                        <a:pt x="73" y="3"/>
                      </a:cubicBezTo>
                      <a:cubicBezTo>
                        <a:pt x="132" y="62"/>
                        <a:pt x="132" y="62"/>
                        <a:pt x="132" y="62"/>
                      </a:cubicBezTo>
                      <a:cubicBezTo>
                        <a:pt x="134" y="64"/>
                        <a:pt x="135" y="66"/>
                        <a:pt x="135" y="68"/>
                      </a:cubicBezTo>
                      <a:cubicBezTo>
                        <a:pt x="135" y="70"/>
                        <a:pt x="134" y="72"/>
                        <a:pt x="132" y="74"/>
                      </a:cubicBezTo>
                      <a:cubicBezTo>
                        <a:pt x="131" y="75"/>
                        <a:pt x="131" y="75"/>
                        <a:pt x="131" y="75"/>
                      </a:cubicBezTo>
                      <a:cubicBezTo>
                        <a:pt x="122" y="75"/>
                        <a:pt x="122" y="75"/>
                        <a:pt x="122" y="75"/>
                      </a:cubicBezTo>
                      <a:cubicBezTo>
                        <a:pt x="122" y="121"/>
                        <a:pt x="122" y="121"/>
                        <a:pt x="122" y="121"/>
                      </a:cubicBezTo>
                      <a:cubicBezTo>
                        <a:pt x="122" y="125"/>
                        <a:pt x="119" y="129"/>
                        <a:pt x="114" y="129"/>
                      </a:cubicBezTo>
                      <a:close/>
                      <a:moveTo>
                        <a:pt x="10" y="67"/>
                      </a:moveTo>
                      <a:cubicBezTo>
                        <a:pt x="21" y="67"/>
                        <a:pt x="21" y="67"/>
                        <a:pt x="21" y="67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34" y="120"/>
                        <a:pt x="34" y="120"/>
                        <a:pt x="34" y="120"/>
                      </a:cubicBezTo>
                      <a:cubicBezTo>
                        <a:pt x="34" y="82"/>
                        <a:pt x="34" y="82"/>
                        <a:pt x="34" y="82"/>
                      </a:cubicBezTo>
                      <a:cubicBezTo>
                        <a:pt x="34" y="78"/>
                        <a:pt x="37" y="75"/>
                        <a:pt x="41" y="75"/>
                      </a:cubicBezTo>
                      <a:cubicBezTo>
                        <a:pt x="62" y="75"/>
                        <a:pt x="62" y="75"/>
                        <a:pt x="62" y="75"/>
                      </a:cubicBezTo>
                      <a:cubicBezTo>
                        <a:pt x="65" y="75"/>
                        <a:pt x="68" y="78"/>
                        <a:pt x="68" y="82"/>
                      </a:cubicBezTo>
                      <a:cubicBezTo>
                        <a:pt x="68" y="120"/>
                        <a:pt x="68" y="120"/>
                        <a:pt x="68" y="120"/>
                      </a:cubicBezTo>
                      <a:cubicBezTo>
                        <a:pt x="114" y="120"/>
                        <a:pt x="114" y="120"/>
                        <a:pt x="114" y="120"/>
                      </a:cubicBezTo>
                      <a:cubicBezTo>
                        <a:pt x="114" y="67"/>
                        <a:pt x="114" y="67"/>
                        <a:pt x="114" y="67"/>
                      </a:cubicBezTo>
                      <a:cubicBezTo>
                        <a:pt x="125" y="67"/>
                        <a:pt x="125" y="67"/>
                        <a:pt x="125" y="67"/>
                      </a:cubicBezTo>
                      <a:cubicBezTo>
                        <a:pt x="68" y="9"/>
                        <a:pt x="68" y="9"/>
                        <a:pt x="68" y="9"/>
                      </a:cubicBezTo>
                      <a:lnTo>
                        <a:pt x="10" y="6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9pPr>
                </a:lstStyle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466" name="Freeform 8"/>
                <p:cNvSpPr>
                  <a:spLocks noEditPoints="1"/>
                </p:cNvSpPr>
                <p:nvPr/>
              </p:nvSpPr>
              <p:spPr bwMode="auto">
                <a:xfrm>
                  <a:off x="289581" y="296679"/>
                  <a:ext cx="130595" cy="119239"/>
                </a:xfrm>
                <a:custGeom>
                  <a:avLst/>
                  <a:gdLst>
                    <a:gd name="T0" fmla="*/ 398345419 w 34"/>
                    <a:gd name="T1" fmla="*/ 458643205 h 31"/>
                    <a:gd name="T2" fmla="*/ 103273741 w 34"/>
                    <a:gd name="T3" fmla="*/ 458643205 h 31"/>
                    <a:gd name="T4" fmla="*/ 0 w 34"/>
                    <a:gd name="T5" fmla="*/ 355078389 h 31"/>
                    <a:gd name="T6" fmla="*/ 0 w 34"/>
                    <a:gd name="T7" fmla="*/ 88771520 h 31"/>
                    <a:gd name="T8" fmla="*/ 103273741 w 34"/>
                    <a:gd name="T9" fmla="*/ 0 h 31"/>
                    <a:gd name="T10" fmla="*/ 398345419 w 34"/>
                    <a:gd name="T11" fmla="*/ 0 h 31"/>
                    <a:gd name="T12" fmla="*/ 501619131 w 34"/>
                    <a:gd name="T13" fmla="*/ 88771520 h 31"/>
                    <a:gd name="T14" fmla="*/ 501619131 w 34"/>
                    <a:gd name="T15" fmla="*/ 355078389 h 31"/>
                    <a:gd name="T16" fmla="*/ 398345419 w 34"/>
                    <a:gd name="T17" fmla="*/ 458643205 h 31"/>
                    <a:gd name="T18" fmla="*/ 132780546 w 34"/>
                    <a:gd name="T19" fmla="*/ 340285064 h 31"/>
                    <a:gd name="T20" fmla="*/ 383592032 w 34"/>
                    <a:gd name="T21" fmla="*/ 340285064 h 31"/>
                    <a:gd name="T22" fmla="*/ 383592032 w 34"/>
                    <a:gd name="T23" fmla="*/ 118358171 h 31"/>
                    <a:gd name="T24" fmla="*/ 132780546 w 34"/>
                    <a:gd name="T25" fmla="*/ 118358171 h 31"/>
                    <a:gd name="T26" fmla="*/ 132780546 w 34"/>
                    <a:gd name="T27" fmla="*/ 340285064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4"/>
                    <a:gd name="T43" fmla="*/ 0 h 31"/>
                    <a:gd name="T44" fmla="*/ 34 w 34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4" h="31">
                      <a:moveTo>
                        <a:pt x="27" y="31"/>
                      </a:moveTo>
                      <a:cubicBezTo>
                        <a:pt x="7" y="31"/>
                        <a:pt x="7" y="31"/>
                        <a:pt x="7" y="31"/>
                      </a:cubicBezTo>
                      <a:cubicBezTo>
                        <a:pt x="3" y="31"/>
                        <a:pt x="0" y="28"/>
                        <a:pt x="0" y="24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31" y="0"/>
                        <a:pt x="34" y="3"/>
                        <a:pt x="34" y="6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28"/>
                        <a:pt x="31" y="31"/>
                        <a:pt x="27" y="31"/>
                      </a:cubicBezTo>
                      <a:close/>
                      <a:moveTo>
                        <a:pt x="9" y="23"/>
                      </a:moveTo>
                      <a:cubicBezTo>
                        <a:pt x="26" y="23"/>
                        <a:pt x="26" y="23"/>
                        <a:pt x="26" y="23"/>
                      </a:cubicBezTo>
                      <a:cubicBezTo>
                        <a:pt x="26" y="8"/>
                        <a:pt x="26" y="8"/>
                        <a:pt x="26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lnTo>
                        <a:pt x="9" y="2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9pPr>
                </a:lstStyle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467" name="Freeform 9"/>
                <p:cNvSpPr>
                  <a:spLocks noEditPoints="1"/>
                </p:cNvSpPr>
                <p:nvPr/>
              </p:nvSpPr>
              <p:spPr bwMode="auto">
                <a:xfrm>
                  <a:off x="350620" y="42585"/>
                  <a:ext cx="119239" cy="197313"/>
                </a:xfrm>
                <a:custGeom>
                  <a:avLst/>
                  <a:gdLst>
                    <a:gd name="T0" fmla="*/ 458643205 w 31"/>
                    <a:gd name="T1" fmla="*/ 763380797 h 51"/>
                    <a:gd name="T2" fmla="*/ 0 w 31"/>
                    <a:gd name="T3" fmla="*/ 299366410 h 51"/>
                    <a:gd name="T4" fmla="*/ 0 w 31"/>
                    <a:gd name="T5" fmla="*/ 104777071 h 51"/>
                    <a:gd name="T6" fmla="*/ 88771520 w 31"/>
                    <a:gd name="T7" fmla="*/ 0 h 51"/>
                    <a:gd name="T8" fmla="*/ 369871714 w 31"/>
                    <a:gd name="T9" fmla="*/ 0 h 51"/>
                    <a:gd name="T10" fmla="*/ 458643205 w 31"/>
                    <a:gd name="T11" fmla="*/ 104777071 h 51"/>
                    <a:gd name="T12" fmla="*/ 458643205 w 31"/>
                    <a:gd name="T13" fmla="*/ 763380797 h 51"/>
                    <a:gd name="T14" fmla="*/ 118358171 w 31"/>
                    <a:gd name="T15" fmla="*/ 254460306 h 51"/>
                    <a:gd name="T16" fmla="*/ 340285064 w 31"/>
                    <a:gd name="T17" fmla="*/ 478983088 h 51"/>
                    <a:gd name="T18" fmla="*/ 340285064 w 31"/>
                    <a:gd name="T19" fmla="*/ 119745772 h 51"/>
                    <a:gd name="T20" fmla="*/ 118358171 w 31"/>
                    <a:gd name="T21" fmla="*/ 119745772 h 51"/>
                    <a:gd name="T22" fmla="*/ 118358171 w 31"/>
                    <a:gd name="T23" fmla="*/ 254460306 h 5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31"/>
                    <a:gd name="T37" fmla="*/ 0 h 51"/>
                    <a:gd name="T38" fmla="*/ 31 w 31"/>
                    <a:gd name="T39" fmla="*/ 51 h 51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31" h="51">
                      <a:moveTo>
                        <a:pt x="31" y="51"/>
                      </a:move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8" y="0"/>
                        <a:pt x="31" y="3"/>
                        <a:pt x="31" y="7"/>
                      </a:cubicBezTo>
                      <a:lnTo>
                        <a:pt x="31" y="51"/>
                      </a:lnTo>
                      <a:close/>
                      <a:moveTo>
                        <a:pt x="8" y="17"/>
                      </a:moveTo>
                      <a:cubicBezTo>
                        <a:pt x="23" y="32"/>
                        <a:pt x="23" y="32"/>
                        <a:pt x="23" y="32"/>
                      </a:cubicBezTo>
                      <a:cubicBezTo>
                        <a:pt x="23" y="8"/>
                        <a:pt x="23" y="8"/>
                        <a:pt x="23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9pPr>
                </a:lstStyle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18461" name="文本框 25"/>
            <p:cNvSpPr txBox="1">
              <a:spLocks noChangeArrowheads="1"/>
            </p:cNvSpPr>
            <p:nvPr/>
          </p:nvSpPr>
          <p:spPr bwMode="auto">
            <a:xfrm>
              <a:off x="610082" y="451963"/>
              <a:ext cx="1091758" cy="1153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课程</a:t>
              </a:r>
              <a:endPara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性质</a:t>
              </a:r>
              <a:endPara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7437" name="矩形 40"/>
          <p:cNvSpPr>
            <a:spLocks noChangeArrowheads="1"/>
          </p:cNvSpPr>
          <p:nvPr/>
        </p:nvSpPr>
        <p:spPr bwMode="auto">
          <a:xfrm>
            <a:off x="761206" y="3712684"/>
            <a:ext cx="3106737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基础必修课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47"/>
          <p:cNvGrpSpPr>
            <a:grpSpLocks/>
          </p:cNvGrpSpPr>
          <p:nvPr/>
        </p:nvGrpSpPr>
        <p:grpSpPr bwMode="auto">
          <a:xfrm>
            <a:off x="2881313" y="282575"/>
            <a:ext cx="6429375" cy="809625"/>
            <a:chOff x="0" y="0"/>
            <a:chExt cx="6429492" cy="808970"/>
          </a:xfrm>
        </p:grpSpPr>
        <p:sp>
          <p:nvSpPr>
            <p:cNvPr id="18441" name="文本框 48"/>
            <p:cNvSpPr txBox="1">
              <a:spLocks noChangeArrowheads="1"/>
            </p:cNvSpPr>
            <p:nvPr/>
          </p:nvSpPr>
          <p:spPr bwMode="auto">
            <a:xfrm>
              <a:off x="1686095" y="0"/>
              <a:ext cx="3057304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线性代数课程简介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442" name="直接连接符 49"/>
            <p:cNvCxnSpPr>
              <a:cxnSpLocks noChangeShapeType="1"/>
            </p:cNvCxnSpPr>
            <p:nvPr/>
          </p:nvCxnSpPr>
          <p:spPr bwMode="auto">
            <a:xfrm>
              <a:off x="0" y="808970"/>
              <a:ext cx="6429492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4381500" y="1644123"/>
            <a:ext cx="3486150" cy="1701800"/>
            <a:chOff x="4381500" y="1644123"/>
            <a:chExt cx="3486150" cy="1701800"/>
          </a:xfrm>
        </p:grpSpPr>
        <p:grpSp>
          <p:nvGrpSpPr>
            <p:cNvPr id="18451" name="组合 21"/>
            <p:cNvGrpSpPr>
              <a:grpSpLocks/>
            </p:cNvGrpSpPr>
            <p:nvPr/>
          </p:nvGrpSpPr>
          <p:grpSpPr bwMode="auto">
            <a:xfrm>
              <a:off x="4381500" y="1644123"/>
              <a:ext cx="3486150" cy="1701800"/>
              <a:chOff x="0" y="0"/>
              <a:chExt cx="4214911" cy="2057400"/>
            </a:xfrm>
          </p:grpSpPr>
          <p:sp>
            <p:nvSpPr>
              <p:cNvPr id="18455" name="圆角矩形 1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14911" cy="2057400"/>
              </a:xfrm>
              <a:prstGeom prst="roundRect">
                <a:avLst>
                  <a:gd name="adj" fmla="val 4167"/>
                </a:avLst>
              </a:prstGeom>
              <a:solidFill>
                <a:srgbClr val="F2F2F2"/>
              </a:solidFill>
              <a:ln w="12700">
                <a:solidFill>
                  <a:srgbClr val="D9D9D9">
                    <a:alpha val="52156"/>
                  </a:srgbClr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0000">
                    <a:alpha val="26999"/>
                  </a:srgb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rgbClr val="FFFFFF"/>
                  </a:solidFill>
                  <a:ea typeface="微软雅黑 Light" pitchFamily="2" charset="-122"/>
                </a:endParaRPr>
              </a:p>
            </p:txBody>
          </p:sp>
          <p:sp>
            <p:nvSpPr>
              <p:cNvPr id="18456" name="圆角矩形 13"/>
              <p:cNvSpPr>
                <a:spLocks noChangeArrowheads="1"/>
              </p:cNvSpPr>
              <p:nvPr/>
            </p:nvSpPr>
            <p:spPr bwMode="auto">
              <a:xfrm>
                <a:off x="2364678" y="217885"/>
                <a:ext cx="1621631" cy="1621631"/>
              </a:xfrm>
              <a:prstGeom prst="roundRect">
                <a:avLst>
                  <a:gd name="adj" fmla="val 4333"/>
                </a:avLst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457" name="Freeform 6"/>
              <p:cNvSpPr>
                <a:spLocks noEditPoints="1"/>
              </p:cNvSpPr>
              <p:nvPr/>
            </p:nvSpPr>
            <p:spPr bwMode="auto">
              <a:xfrm>
                <a:off x="2740744" y="603750"/>
                <a:ext cx="869498" cy="849900"/>
              </a:xfrm>
              <a:custGeom>
                <a:avLst/>
                <a:gdLst>
                  <a:gd name="T0" fmla="*/ 2147483647 w 131"/>
                  <a:gd name="T1" fmla="*/ 264524713 h 128"/>
                  <a:gd name="T2" fmla="*/ 2147483647 w 131"/>
                  <a:gd name="T3" fmla="*/ 2147483647 h 128"/>
                  <a:gd name="T4" fmla="*/ 2147483647 w 131"/>
                  <a:gd name="T5" fmla="*/ 2147483647 h 128"/>
                  <a:gd name="T6" fmla="*/ 2147483647 w 131"/>
                  <a:gd name="T7" fmla="*/ 2147483647 h 128"/>
                  <a:gd name="T8" fmla="*/ 2147483647 w 131"/>
                  <a:gd name="T9" fmla="*/ 2147483647 h 128"/>
                  <a:gd name="T10" fmla="*/ 2147483647 w 131"/>
                  <a:gd name="T11" fmla="*/ 2147483647 h 128"/>
                  <a:gd name="T12" fmla="*/ 2147483647 w 131"/>
                  <a:gd name="T13" fmla="*/ 2147483647 h 128"/>
                  <a:gd name="T14" fmla="*/ 2147483647 w 131"/>
                  <a:gd name="T15" fmla="*/ 2147483647 h 128"/>
                  <a:gd name="T16" fmla="*/ 2147483647 w 131"/>
                  <a:gd name="T17" fmla="*/ 2147483647 h 128"/>
                  <a:gd name="T18" fmla="*/ 2147483647 w 131"/>
                  <a:gd name="T19" fmla="*/ 2147483647 h 128"/>
                  <a:gd name="T20" fmla="*/ 2147483647 w 131"/>
                  <a:gd name="T21" fmla="*/ 2147483647 h 128"/>
                  <a:gd name="T22" fmla="*/ 2147483647 w 131"/>
                  <a:gd name="T23" fmla="*/ 2147483647 h 128"/>
                  <a:gd name="T24" fmla="*/ 1497866001 w 131"/>
                  <a:gd name="T25" fmla="*/ 2147483647 h 128"/>
                  <a:gd name="T26" fmla="*/ 1630029635 w 131"/>
                  <a:gd name="T27" fmla="*/ 2147483647 h 128"/>
                  <a:gd name="T28" fmla="*/ 2026527591 w 131"/>
                  <a:gd name="T29" fmla="*/ 2147483647 h 128"/>
                  <a:gd name="T30" fmla="*/ 1453813668 w 131"/>
                  <a:gd name="T31" fmla="*/ 2147483647 h 128"/>
                  <a:gd name="T32" fmla="*/ 748936319 w 131"/>
                  <a:gd name="T33" fmla="*/ 2147483647 h 128"/>
                  <a:gd name="T34" fmla="*/ 1409754699 w 131"/>
                  <a:gd name="T35" fmla="*/ 2147483647 h 128"/>
                  <a:gd name="T36" fmla="*/ 1233538732 w 131"/>
                  <a:gd name="T37" fmla="*/ 2147483647 h 128"/>
                  <a:gd name="T38" fmla="*/ 2147483647 w 131"/>
                  <a:gd name="T39" fmla="*/ 2147483647 h 128"/>
                  <a:gd name="T40" fmla="*/ 2147483647 w 131"/>
                  <a:gd name="T41" fmla="*/ 2147483647 h 128"/>
                  <a:gd name="T42" fmla="*/ 2147483647 w 131"/>
                  <a:gd name="T43" fmla="*/ 2147483647 h 128"/>
                  <a:gd name="T44" fmla="*/ 2147483647 w 131"/>
                  <a:gd name="T45" fmla="*/ 2147483647 h 128"/>
                  <a:gd name="T46" fmla="*/ 1630029635 w 131"/>
                  <a:gd name="T47" fmla="*/ 2147483647 h 128"/>
                  <a:gd name="T48" fmla="*/ 1497866001 w 131"/>
                  <a:gd name="T49" fmla="*/ 2147483647 h 128"/>
                  <a:gd name="T50" fmla="*/ 1630029635 w 131"/>
                  <a:gd name="T51" fmla="*/ 2147483647 h 128"/>
                  <a:gd name="T52" fmla="*/ 2147483647 w 131"/>
                  <a:gd name="T53" fmla="*/ 2147483647 h 128"/>
                  <a:gd name="T54" fmla="*/ 2147483647 w 131"/>
                  <a:gd name="T55" fmla="*/ 1983938718 h 128"/>
                  <a:gd name="T56" fmla="*/ 2147483647 w 131"/>
                  <a:gd name="T57" fmla="*/ 2072115801 h 128"/>
                  <a:gd name="T58" fmla="*/ 2147483647 w 131"/>
                  <a:gd name="T59" fmla="*/ 2147483647 h 128"/>
                  <a:gd name="T60" fmla="*/ 2147483647 w 131"/>
                  <a:gd name="T61" fmla="*/ 2147483647 h 128"/>
                  <a:gd name="T62" fmla="*/ 528661382 w 131"/>
                  <a:gd name="T63" fmla="*/ 1851673093 h 128"/>
                  <a:gd name="T64" fmla="*/ 837040984 w 131"/>
                  <a:gd name="T65" fmla="*/ 2147483647 h 128"/>
                  <a:gd name="T66" fmla="*/ 1189486399 w 131"/>
                  <a:gd name="T67" fmla="*/ 2147483647 h 128"/>
                  <a:gd name="T68" fmla="*/ 1321650034 w 131"/>
                  <a:gd name="T69" fmla="*/ 2147483647 h 128"/>
                  <a:gd name="T70" fmla="*/ 2147483647 w 131"/>
                  <a:gd name="T71" fmla="*/ 1851673093 h 128"/>
                  <a:gd name="T72" fmla="*/ 2147483647 w 131"/>
                  <a:gd name="T73" fmla="*/ 2147483647 h 128"/>
                  <a:gd name="T74" fmla="*/ 2147483647 w 131"/>
                  <a:gd name="T75" fmla="*/ 2147483647 h 128"/>
                  <a:gd name="T76" fmla="*/ 2147483647 w 131"/>
                  <a:gd name="T77" fmla="*/ 1983938718 h 128"/>
                  <a:gd name="T78" fmla="*/ 2147483647 w 131"/>
                  <a:gd name="T79" fmla="*/ 1851673093 h 128"/>
                  <a:gd name="T80" fmla="*/ 2147483647 w 131"/>
                  <a:gd name="T81" fmla="*/ 1543066167 h 128"/>
                  <a:gd name="T82" fmla="*/ 1894363956 w 131"/>
                  <a:gd name="T83" fmla="*/ 2072115801 h 128"/>
                  <a:gd name="T84" fmla="*/ 2147483647 w 131"/>
                  <a:gd name="T85" fmla="*/ 1587148069 h 128"/>
                  <a:gd name="T86" fmla="*/ 2147483647 w 131"/>
                  <a:gd name="T87" fmla="*/ 1322623460 h 128"/>
                  <a:gd name="T88" fmla="*/ 1585977303 w 131"/>
                  <a:gd name="T89" fmla="*/ 2072115801 h 128"/>
                  <a:gd name="T90" fmla="*/ 1938416288 w 131"/>
                  <a:gd name="T91" fmla="*/ 1543066167 h 128"/>
                  <a:gd name="T92" fmla="*/ 2147483647 w 131"/>
                  <a:gd name="T93" fmla="*/ 1058098851 h 128"/>
                  <a:gd name="T94" fmla="*/ 2070579923 w 131"/>
                  <a:gd name="T95" fmla="*/ 573137967 h 128"/>
                  <a:gd name="T96" fmla="*/ 2147483647 w 131"/>
                  <a:gd name="T97" fmla="*/ 1278534919 h 128"/>
                  <a:gd name="T98" fmla="*/ 2147483647 w 131"/>
                  <a:gd name="T99" fmla="*/ 1763502650 h 128"/>
                  <a:gd name="T100" fmla="*/ 2147483647 w 131"/>
                  <a:gd name="T101" fmla="*/ 1719413694 h 128"/>
                  <a:gd name="T102" fmla="*/ 2147483647 w 131"/>
                  <a:gd name="T103" fmla="*/ 1675325152 h 128"/>
                  <a:gd name="T104" fmla="*/ 2147483647 w 131"/>
                  <a:gd name="T105" fmla="*/ 1763502650 h 128"/>
                  <a:gd name="T106" fmla="*/ 2147483647 w 131"/>
                  <a:gd name="T107" fmla="*/ 1190364476 h 128"/>
                  <a:gd name="T108" fmla="*/ 2147483647 w 131"/>
                  <a:gd name="T109" fmla="*/ 617226508 h 128"/>
                  <a:gd name="T110" fmla="*/ 2147483647 w 131"/>
                  <a:gd name="T111" fmla="*/ 881751325 h 128"/>
                  <a:gd name="T112" fmla="*/ 2147483647 w 131"/>
                  <a:gd name="T113" fmla="*/ 1234453017 h 128"/>
                  <a:gd name="T114" fmla="*/ 2147483647 w 131"/>
                  <a:gd name="T115" fmla="*/ 1454889085 h 128"/>
                  <a:gd name="T116" fmla="*/ 2147483647 w 131"/>
                  <a:gd name="T117" fmla="*/ 484960884 h 128"/>
                  <a:gd name="T118" fmla="*/ 2147483647 w 131"/>
                  <a:gd name="T119" fmla="*/ 837662576 h 128"/>
                  <a:gd name="T120" fmla="*/ 2147483647 w 131"/>
                  <a:gd name="T121" fmla="*/ 484960884 h 128"/>
                  <a:gd name="T122" fmla="*/ 2147483647 w 131"/>
                  <a:gd name="T123" fmla="*/ 264524713 h 128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31"/>
                  <a:gd name="T187" fmla="*/ 0 h 128"/>
                  <a:gd name="T188" fmla="*/ 131 w 131"/>
                  <a:gd name="T189" fmla="*/ 128 h 128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31" h="128">
                    <a:moveTo>
                      <a:pt x="65" y="128"/>
                    </a:moveTo>
                    <a:cubicBezTo>
                      <a:pt x="56" y="128"/>
                      <a:pt x="47" y="126"/>
                      <a:pt x="39" y="122"/>
                    </a:cubicBezTo>
                    <a:cubicBezTo>
                      <a:pt x="24" y="115"/>
                      <a:pt x="13" y="103"/>
                      <a:pt x="7" y="88"/>
                    </a:cubicBezTo>
                    <a:cubicBezTo>
                      <a:pt x="0" y="71"/>
                      <a:pt x="0" y="53"/>
                      <a:pt x="8" y="37"/>
                    </a:cubicBezTo>
                    <a:cubicBezTo>
                      <a:pt x="15" y="21"/>
                      <a:pt x="29" y="8"/>
                      <a:pt x="46" y="3"/>
                    </a:cubicBezTo>
                    <a:cubicBezTo>
                      <a:pt x="52" y="1"/>
                      <a:pt x="59" y="0"/>
                      <a:pt x="66" y="0"/>
                    </a:cubicBezTo>
                    <a:cubicBezTo>
                      <a:pt x="75" y="0"/>
                      <a:pt x="84" y="2"/>
                      <a:pt x="93" y="6"/>
                    </a:cubicBezTo>
                    <a:cubicBezTo>
                      <a:pt x="107" y="13"/>
                      <a:pt x="118" y="25"/>
                      <a:pt x="125" y="40"/>
                    </a:cubicBezTo>
                    <a:cubicBezTo>
                      <a:pt x="131" y="56"/>
                      <a:pt x="131" y="75"/>
                      <a:pt x="123" y="91"/>
                    </a:cubicBezTo>
                    <a:cubicBezTo>
                      <a:pt x="116" y="107"/>
                      <a:pt x="102" y="119"/>
                      <a:pt x="85" y="124"/>
                    </a:cubicBezTo>
                    <a:cubicBezTo>
                      <a:pt x="79" y="127"/>
                      <a:pt x="72" y="128"/>
                      <a:pt x="65" y="128"/>
                    </a:cubicBezTo>
                    <a:close/>
                    <a:moveTo>
                      <a:pt x="70" y="110"/>
                    </a:moveTo>
                    <a:cubicBezTo>
                      <a:pt x="69" y="110"/>
                      <a:pt x="69" y="110"/>
                      <a:pt x="69" y="110"/>
                    </a:cubicBezTo>
                    <a:cubicBezTo>
                      <a:pt x="69" y="111"/>
                      <a:pt x="67" y="112"/>
                      <a:pt x="67" y="112"/>
                    </a:cubicBezTo>
                    <a:cubicBezTo>
                      <a:pt x="67" y="112"/>
                      <a:pt x="65" y="113"/>
                      <a:pt x="65" y="113"/>
                    </a:cubicBezTo>
                    <a:cubicBezTo>
                      <a:pt x="64" y="114"/>
                      <a:pt x="63" y="114"/>
                      <a:pt x="62" y="115"/>
                    </a:cubicBezTo>
                    <a:cubicBezTo>
                      <a:pt x="62" y="115"/>
                      <a:pt x="62" y="115"/>
                      <a:pt x="62" y="115"/>
                    </a:cubicBezTo>
                    <a:cubicBezTo>
                      <a:pt x="61" y="115"/>
                      <a:pt x="61" y="115"/>
                      <a:pt x="60" y="116"/>
                    </a:cubicBezTo>
                    <a:cubicBezTo>
                      <a:pt x="60" y="116"/>
                      <a:pt x="58" y="117"/>
                      <a:pt x="58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6" y="117"/>
                      <a:pt x="54" y="118"/>
                      <a:pt x="54" y="118"/>
                    </a:cubicBezTo>
                    <a:cubicBezTo>
                      <a:pt x="54" y="119"/>
                      <a:pt x="53" y="119"/>
                      <a:pt x="52" y="119"/>
                    </a:cubicBezTo>
                    <a:cubicBezTo>
                      <a:pt x="51" y="119"/>
                      <a:pt x="51" y="119"/>
                      <a:pt x="51" y="119"/>
                    </a:cubicBezTo>
                    <a:cubicBezTo>
                      <a:pt x="52" y="120"/>
                      <a:pt x="52" y="120"/>
                      <a:pt x="52" y="120"/>
                    </a:cubicBezTo>
                    <a:cubicBezTo>
                      <a:pt x="56" y="121"/>
                      <a:pt x="61" y="121"/>
                      <a:pt x="65" y="121"/>
                    </a:cubicBezTo>
                    <a:cubicBezTo>
                      <a:pt x="70" y="121"/>
                      <a:pt x="75" y="121"/>
                      <a:pt x="79" y="120"/>
                    </a:cubicBezTo>
                    <a:cubicBezTo>
                      <a:pt x="80" y="120"/>
                      <a:pt x="80" y="120"/>
                      <a:pt x="80" y="120"/>
                    </a:cubicBezTo>
                    <a:cubicBezTo>
                      <a:pt x="79" y="119"/>
                      <a:pt x="79" y="119"/>
                      <a:pt x="79" y="119"/>
                    </a:cubicBezTo>
                    <a:cubicBezTo>
                      <a:pt x="79" y="118"/>
                      <a:pt x="79" y="118"/>
                      <a:pt x="78" y="117"/>
                    </a:cubicBezTo>
                    <a:cubicBezTo>
                      <a:pt x="78" y="116"/>
                      <a:pt x="78" y="116"/>
                      <a:pt x="78" y="116"/>
                    </a:cubicBezTo>
                    <a:cubicBezTo>
                      <a:pt x="78" y="115"/>
                      <a:pt x="77" y="115"/>
                      <a:pt x="77" y="114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3"/>
                      <a:pt x="75" y="112"/>
                      <a:pt x="75" y="111"/>
                    </a:cubicBezTo>
                    <a:cubicBezTo>
                      <a:pt x="74" y="111"/>
                      <a:pt x="74" y="111"/>
                      <a:pt x="74" y="111"/>
                    </a:cubicBezTo>
                    <a:cubicBezTo>
                      <a:pt x="74" y="110"/>
                      <a:pt x="74" y="109"/>
                      <a:pt x="73" y="109"/>
                    </a:cubicBezTo>
                    <a:cubicBezTo>
                      <a:pt x="73" y="108"/>
                      <a:pt x="73" y="108"/>
                      <a:pt x="73" y="108"/>
                    </a:cubicBezTo>
                    <a:cubicBezTo>
                      <a:pt x="73" y="108"/>
                      <a:pt x="71" y="109"/>
                      <a:pt x="70" y="110"/>
                    </a:cubicBezTo>
                    <a:close/>
                    <a:moveTo>
                      <a:pt x="94" y="82"/>
                    </a:moveTo>
                    <a:cubicBezTo>
                      <a:pt x="94" y="83"/>
                      <a:pt x="94" y="83"/>
                      <a:pt x="94" y="83"/>
                    </a:cubicBezTo>
                    <a:cubicBezTo>
                      <a:pt x="93" y="84"/>
                      <a:pt x="93" y="85"/>
                      <a:pt x="92" y="86"/>
                    </a:cubicBezTo>
                    <a:cubicBezTo>
                      <a:pt x="91" y="87"/>
                      <a:pt x="91" y="87"/>
                      <a:pt x="91" y="87"/>
                    </a:cubicBezTo>
                    <a:cubicBezTo>
                      <a:pt x="91" y="88"/>
                      <a:pt x="91" y="89"/>
                      <a:pt x="90" y="89"/>
                    </a:cubicBezTo>
                    <a:cubicBezTo>
                      <a:pt x="90" y="90"/>
                      <a:pt x="89" y="90"/>
                      <a:pt x="89" y="91"/>
                    </a:cubicBezTo>
                    <a:cubicBezTo>
                      <a:pt x="89" y="91"/>
                      <a:pt x="88" y="92"/>
                      <a:pt x="88" y="93"/>
                    </a:cubicBezTo>
                    <a:cubicBezTo>
                      <a:pt x="87" y="93"/>
                      <a:pt x="87" y="94"/>
                      <a:pt x="86" y="94"/>
                    </a:cubicBezTo>
                    <a:cubicBezTo>
                      <a:pt x="86" y="95"/>
                      <a:pt x="85" y="96"/>
                      <a:pt x="85" y="96"/>
                    </a:cubicBezTo>
                    <a:cubicBezTo>
                      <a:pt x="85" y="97"/>
                      <a:pt x="84" y="97"/>
                      <a:pt x="84" y="98"/>
                    </a:cubicBezTo>
                    <a:cubicBezTo>
                      <a:pt x="83" y="98"/>
                      <a:pt x="83" y="99"/>
                      <a:pt x="82" y="99"/>
                    </a:cubicBezTo>
                    <a:cubicBezTo>
                      <a:pt x="81" y="100"/>
                      <a:pt x="81" y="100"/>
                      <a:pt x="81" y="101"/>
                    </a:cubicBezTo>
                    <a:cubicBezTo>
                      <a:pt x="80" y="101"/>
                      <a:pt x="80" y="102"/>
                      <a:pt x="79" y="102"/>
                    </a:cubicBezTo>
                    <a:cubicBezTo>
                      <a:pt x="78" y="104"/>
                      <a:pt x="78" y="104"/>
                      <a:pt x="78" y="104"/>
                    </a:cubicBezTo>
                    <a:cubicBezTo>
                      <a:pt x="77" y="104"/>
                      <a:pt x="77" y="104"/>
                      <a:pt x="77" y="104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8" y="106"/>
                      <a:pt x="79" y="106"/>
                      <a:pt x="79" y="107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81" y="109"/>
                      <a:pt x="81" y="110"/>
                      <a:pt x="82" y="111"/>
                    </a:cubicBezTo>
                    <a:cubicBezTo>
                      <a:pt x="83" y="112"/>
                      <a:pt x="83" y="113"/>
                      <a:pt x="84" y="114"/>
                    </a:cubicBezTo>
                    <a:cubicBezTo>
                      <a:pt x="84" y="114"/>
                      <a:pt x="84" y="114"/>
                      <a:pt x="84" y="114"/>
                    </a:cubicBezTo>
                    <a:cubicBezTo>
                      <a:pt x="85" y="115"/>
                      <a:pt x="85" y="116"/>
                      <a:pt x="85" y="117"/>
                    </a:cubicBezTo>
                    <a:cubicBezTo>
                      <a:pt x="85" y="117"/>
                      <a:pt x="85" y="117"/>
                      <a:pt x="85" y="117"/>
                    </a:cubicBezTo>
                    <a:cubicBezTo>
                      <a:pt x="86" y="118"/>
                      <a:pt x="86" y="118"/>
                      <a:pt x="86" y="118"/>
                    </a:cubicBezTo>
                    <a:cubicBezTo>
                      <a:pt x="99" y="113"/>
                      <a:pt x="110" y="103"/>
                      <a:pt x="116" y="91"/>
                    </a:cubicBezTo>
                    <a:cubicBezTo>
                      <a:pt x="117" y="91"/>
                      <a:pt x="117" y="91"/>
                      <a:pt x="117" y="91"/>
                    </a:cubicBezTo>
                    <a:cubicBezTo>
                      <a:pt x="95" y="81"/>
                      <a:pt x="95" y="81"/>
                      <a:pt x="95" y="81"/>
                    </a:cubicBezTo>
                    <a:lnTo>
                      <a:pt x="94" y="82"/>
                    </a:lnTo>
                    <a:close/>
                    <a:moveTo>
                      <a:pt x="55" y="94"/>
                    </a:moveTo>
                    <a:cubicBezTo>
                      <a:pt x="45" y="115"/>
                      <a:pt x="45" y="115"/>
                      <a:pt x="45" y="115"/>
                    </a:cubicBezTo>
                    <a:cubicBezTo>
                      <a:pt x="47" y="114"/>
                      <a:pt x="47" y="114"/>
                      <a:pt x="47" y="114"/>
                    </a:cubicBezTo>
                    <a:cubicBezTo>
                      <a:pt x="48" y="114"/>
                      <a:pt x="48" y="114"/>
                      <a:pt x="48" y="114"/>
                    </a:cubicBezTo>
                    <a:cubicBezTo>
                      <a:pt x="49" y="114"/>
                      <a:pt x="50" y="113"/>
                      <a:pt x="52" y="113"/>
                    </a:cubicBezTo>
                    <a:cubicBezTo>
                      <a:pt x="53" y="112"/>
                      <a:pt x="54" y="112"/>
                      <a:pt x="56" y="111"/>
                    </a:cubicBezTo>
                    <a:cubicBezTo>
                      <a:pt x="57" y="111"/>
                      <a:pt x="57" y="111"/>
                      <a:pt x="57" y="111"/>
                    </a:cubicBezTo>
                    <a:cubicBezTo>
                      <a:pt x="58" y="110"/>
                      <a:pt x="58" y="110"/>
                      <a:pt x="59" y="109"/>
                    </a:cubicBezTo>
                    <a:cubicBezTo>
                      <a:pt x="60" y="109"/>
                      <a:pt x="60" y="109"/>
                      <a:pt x="61" y="109"/>
                    </a:cubicBezTo>
                    <a:cubicBezTo>
                      <a:pt x="61" y="108"/>
                      <a:pt x="62" y="108"/>
                      <a:pt x="63" y="107"/>
                    </a:cubicBezTo>
                    <a:cubicBezTo>
                      <a:pt x="63" y="107"/>
                      <a:pt x="64" y="107"/>
                      <a:pt x="64" y="106"/>
                    </a:cubicBezTo>
                    <a:cubicBezTo>
                      <a:pt x="65" y="106"/>
                      <a:pt x="66" y="105"/>
                      <a:pt x="67" y="105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8" y="103"/>
                      <a:pt x="68" y="103"/>
                      <a:pt x="68" y="103"/>
                    </a:cubicBezTo>
                    <a:cubicBezTo>
                      <a:pt x="68" y="103"/>
                      <a:pt x="66" y="102"/>
                      <a:pt x="66" y="102"/>
                    </a:cubicBezTo>
                    <a:cubicBezTo>
                      <a:pt x="66" y="101"/>
                      <a:pt x="65" y="101"/>
                      <a:pt x="64" y="100"/>
                    </a:cubicBezTo>
                    <a:cubicBezTo>
                      <a:pt x="64" y="100"/>
                      <a:pt x="64" y="100"/>
                      <a:pt x="64" y="100"/>
                    </a:cubicBezTo>
                    <a:cubicBezTo>
                      <a:pt x="64" y="99"/>
                      <a:pt x="63" y="99"/>
                      <a:pt x="62" y="98"/>
                    </a:cubicBezTo>
                    <a:cubicBezTo>
                      <a:pt x="62" y="98"/>
                      <a:pt x="61" y="97"/>
                      <a:pt x="60" y="97"/>
                    </a:cubicBezTo>
                    <a:cubicBezTo>
                      <a:pt x="60" y="97"/>
                      <a:pt x="58" y="96"/>
                      <a:pt x="58" y="95"/>
                    </a:cubicBezTo>
                    <a:cubicBezTo>
                      <a:pt x="57" y="95"/>
                      <a:pt x="57" y="95"/>
                      <a:pt x="57" y="95"/>
                    </a:cubicBezTo>
                    <a:cubicBezTo>
                      <a:pt x="56" y="94"/>
                      <a:pt x="56" y="94"/>
                      <a:pt x="55" y="94"/>
                    </a:cubicBezTo>
                    <a:cubicBezTo>
                      <a:pt x="55" y="94"/>
                      <a:pt x="55" y="94"/>
                      <a:pt x="55" y="94"/>
                    </a:cubicBezTo>
                    <a:close/>
                    <a:moveTo>
                      <a:pt x="33" y="88"/>
                    </a:moveTo>
                    <a:cubicBezTo>
                      <a:pt x="33" y="89"/>
                      <a:pt x="33" y="89"/>
                      <a:pt x="33" y="89"/>
                    </a:cubicBezTo>
                    <a:cubicBezTo>
                      <a:pt x="33" y="90"/>
                      <a:pt x="34" y="91"/>
                      <a:pt x="34" y="92"/>
                    </a:cubicBezTo>
                    <a:cubicBezTo>
                      <a:pt x="34" y="93"/>
                      <a:pt x="34" y="93"/>
                      <a:pt x="34" y="94"/>
                    </a:cubicBezTo>
                    <a:cubicBezTo>
                      <a:pt x="34" y="95"/>
                      <a:pt x="34" y="95"/>
                      <a:pt x="34" y="96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5" y="99"/>
                      <a:pt x="35" y="100"/>
                      <a:pt x="35" y="101"/>
                    </a:cubicBezTo>
                    <a:cubicBezTo>
                      <a:pt x="36" y="102"/>
                      <a:pt x="36" y="102"/>
                      <a:pt x="36" y="102"/>
                    </a:cubicBezTo>
                    <a:cubicBezTo>
                      <a:pt x="36" y="103"/>
                      <a:pt x="36" y="104"/>
                      <a:pt x="37" y="106"/>
                    </a:cubicBezTo>
                    <a:cubicBezTo>
                      <a:pt x="37" y="106"/>
                      <a:pt x="37" y="106"/>
                      <a:pt x="37" y="106"/>
                    </a:cubicBezTo>
                    <a:cubicBezTo>
                      <a:pt x="37" y="107"/>
                      <a:pt x="38" y="108"/>
                      <a:pt x="38" y="109"/>
                    </a:cubicBezTo>
                    <a:cubicBezTo>
                      <a:pt x="39" y="112"/>
                      <a:pt x="39" y="112"/>
                      <a:pt x="39" y="112"/>
                    </a:cubicBezTo>
                    <a:cubicBezTo>
                      <a:pt x="40" y="111"/>
                      <a:pt x="40" y="111"/>
                      <a:pt x="40" y="111"/>
                    </a:cubicBezTo>
                    <a:cubicBezTo>
                      <a:pt x="49" y="91"/>
                      <a:pt x="49" y="91"/>
                      <a:pt x="49" y="91"/>
                    </a:cubicBezTo>
                    <a:cubicBezTo>
                      <a:pt x="49" y="91"/>
                      <a:pt x="49" y="91"/>
                      <a:pt x="49" y="91"/>
                    </a:cubicBezTo>
                    <a:cubicBezTo>
                      <a:pt x="48" y="91"/>
                      <a:pt x="48" y="90"/>
                      <a:pt x="47" y="90"/>
                    </a:cubicBezTo>
                    <a:cubicBezTo>
                      <a:pt x="46" y="90"/>
                      <a:pt x="46" y="90"/>
                      <a:pt x="46" y="90"/>
                    </a:cubicBezTo>
                    <a:cubicBezTo>
                      <a:pt x="46" y="90"/>
                      <a:pt x="45" y="90"/>
                      <a:pt x="45" y="89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3" y="89"/>
                      <a:pt x="41" y="88"/>
                      <a:pt x="41" y="88"/>
                    </a:cubicBezTo>
                    <a:cubicBezTo>
                      <a:pt x="40" y="88"/>
                      <a:pt x="40" y="88"/>
                      <a:pt x="39" y="88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38" y="88"/>
                      <a:pt x="37" y="88"/>
                      <a:pt x="36" y="87"/>
                    </a:cubicBezTo>
                    <a:cubicBezTo>
                      <a:pt x="33" y="87"/>
                      <a:pt x="33" y="87"/>
                      <a:pt x="33" y="87"/>
                    </a:cubicBezTo>
                    <a:lnTo>
                      <a:pt x="33" y="88"/>
                    </a:lnTo>
                    <a:close/>
                    <a:moveTo>
                      <a:pt x="26" y="87"/>
                    </a:moveTo>
                    <a:cubicBezTo>
                      <a:pt x="25" y="87"/>
                      <a:pt x="25" y="87"/>
                      <a:pt x="24" y="87"/>
                    </a:cubicBezTo>
                    <a:cubicBezTo>
                      <a:pt x="23" y="87"/>
                      <a:pt x="23" y="87"/>
                      <a:pt x="23" y="87"/>
                    </a:cubicBezTo>
                    <a:cubicBezTo>
                      <a:pt x="22" y="87"/>
                      <a:pt x="21" y="87"/>
                      <a:pt x="21" y="87"/>
                    </a:cubicBezTo>
                    <a:cubicBezTo>
                      <a:pt x="20" y="87"/>
                      <a:pt x="20" y="87"/>
                      <a:pt x="20" y="87"/>
                    </a:cubicBezTo>
                    <a:cubicBezTo>
                      <a:pt x="19" y="88"/>
                      <a:pt x="18" y="88"/>
                      <a:pt x="17" y="88"/>
                    </a:cubicBezTo>
                    <a:cubicBezTo>
                      <a:pt x="17" y="88"/>
                      <a:pt x="17" y="88"/>
                      <a:pt x="17" y="88"/>
                    </a:cubicBezTo>
                    <a:cubicBezTo>
                      <a:pt x="16" y="88"/>
                      <a:pt x="15" y="88"/>
                      <a:pt x="14" y="88"/>
                    </a:cubicBezTo>
                    <a:cubicBezTo>
                      <a:pt x="13" y="89"/>
                      <a:pt x="13" y="89"/>
                      <a:pt x="13" y="89"/>
                    </a:cubicBezTo>
                    <a:cubicBezTo>
                      <a:pt x="14" y="89"/>
                      <a:pt x="14" y="89"/>
                      <a:pt x="14" y="89"/>
                    </a:cubicBezTo>
                    <a:cubicBezTo>
                      <a:pt x="18" y="97"/>
                      <a:pt x="24" y="105"/>
                      <a:pt x="31" y="110"/>
                    </a:cubicBezTo>
                    <a:cubicBezTo>
                      <a:pt x="32" y="111"/>
                      <a:pt x="32" y="111"/>
                      <a:pt x="32" y="111"/>
                    </a:cubicBezTo>
                    <a:cubicBezTo>
                      <a:pt x="32" y="110"/>
                      <a:pt x="32" y="110"/>
                      <a:pt x="32" y="110"/>
                    </a:cubicBezTo>
                    <a:cubicBezTo>
                      <a:pt x="31" y="108"/>
                      <a:pt x="31" y="108"/>
                      <a:pt x="31" y="108"/>
                    </a:cubicBezTo>
                    <a:cubicBezTo>
                      <a:pt x="31" y="106"/>
                      <a:pt x="30" y="105"/>
                      <a:pt x="30" y="104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29" y="101"/>
                      <a:pt x="29" y="100"/>
                      <a:pt x="29" y="99"/>
                    </a:cubicBezTo>
                    <a:cubicBezTo>
                      <a:pt x="29" y="98"/>
                      <a:pt x="29" y="98"/>
                      <a:pt x="29" y="98"/>
                    </a:cubicBezTo>
                    <a:cubicBezTo>
                      <a:pt x="28" y="97"/>
                      <a:pt x="28" y="96"/>
                      <a:pt x="28" y="94"/>
                    </a:cubicBezTo>
                    <a:cubicBezTo>
                      <a:pt x="28" y="94"/>
                      <a:pt x="28" y="94"/>
                      <a:pt x="28" y="94"/>
                    </a:cubicBezTo>
                    <a:cubicBezTo>
                      <a:pt x="28" y="92"/>
                      <a:pt x="27" y="91"/>
                      <a:pt x="27" y="89"/>
                    </a:cubicBezTo>
                    <a:cubicBezTo>
                      <a:pt x="27" y="87"/>
                      <a:pt x="27" y="87"/>
                      <a:pt x="27" y="87"/>
                    </a:cubicBezTo>
                    <a:lnTo>
                      <a:pt x="26" y="87"/>
                    </a:lnTo>
                    <a:close/>
                    <a:moveTo>
                      <a:pt x="58" y="88"/>
                    </a:moveTo>
                    <a:cubicBezTo>
                      <a:pt x="58" y="89"/>
                      <a:pt x="58" y="89"/>
                      <a:pt x="58" y="89"/>
                    </a:cubicBezTo>
                    <a:cubicBezTo>
                      <a:pt x="59" y="89"/>
                      <a:pt x="60" y="89"/>
                      <a:pt x="60" y="90"/>
                    </a:cubicBezTo>
                    <a:cubicBezTo>
                      <a:pt x="60" y="90"/>
                      <a:pt x="62" y="91"/>
                      <a:pt x="63" y="91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64" y="92"/>
                      <a:pt x="65" y="93"/>
                      <a:pt x="65" y="93"/>
                    </a:cubicBezTo>
                    <a:cubicBezTo>
                      <a:pt x="66" y="94"/>
                      <a:pt x="66" y="94"/>
                      <a:pt x="66" y="94"/>
                    </a:cubicBezTo>
                    <a:cubicBezTo>
                      <a:pt x="67" y="94"/>
                      <a:pt x="67" y="94"/>
                      <a:pt x="68" y="95"/>
                    </a:cubicBezTo>
                    <a:cubicBezTo>
                      <a:pt x="68" y="95"/>
                      <a:pt x="68" y="95"/>
                      <a:pt x="68" y="95"/>
                    </a:cubicBezTo>
                    <a:cubicBezTo>
                      <a:pt x="69" y="96"/>
                      <a:pt x="70" y="96"/>
                      <a:pt x="70" y="97"/>
                    </a:cubicBezTo>
                    <a:cubicBezTo>
                      <a:pt x="71" y="97"/>
                      <a:pt x="71" y="97"/>
                      <a:pt x="71" y="97"/>
                    </a:cubicBezTo>
                    <a:cubicBezTo>
                      <a:pt x="71" y="98"/>
                      <a:pt x="72" y="99"/>
                      <a:pt x="73" y="99"/>
                    </a:cubicBezTo>
                    <a:cubicBezTo>
                      <a:pt x="73" y="100"/>
                      <a:pt x="73" y="100"/>
                      <a:pt x="73" y="100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5" y="98"/>
                      <a:pt x="75" y="98"/>
                      <a:pt x="75" y="98"/>
                    </a:cubicBezTo>
                    <a:cubicBezTo>
                      <a:pt x="76" y="97"/>
                      <a:pt x="76" y="97"/>
                      <a:pt x="77" y="96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78" y="95"/>
                      <a:pt x="79" y="94"/>
                      <a:pt x="79" y="94"/>
                    </a:cubicBezTo>
                    <a:cubicBezTo>
                      <a:pt x="80" y="93"/>
                      <a:pt x="80" y="93"/>
                      <a:pt x="80" y="92"/>
                    </a:cubicBezTo>
                    <a:cubicBezTo>
                      <a:pt x="81" y="92"/>
                      <a:pt x="81" y="91"/>
                      <a:pt x="82" y="91"/>
                    </a:cubicBezTo>
                    <a:cubicBezTo>
                      <a:pt x="83" y="89"/>
                      <a:pt x="83" y="89"/>
                      <a:pt x="83" y="89"/>
                    </a:cubicBezTo>
                    <a:cubicBezTo>
                      <a:pt x="83" y="89"/>
                      <a:pt x="84" y="87"/>
                      <a:pt x="84" y="87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5" y="85"/>
                      <a:pt x="86" y="85"/>
                      <a:pt x="86" y="84"/>
                    </a:cubicBezTo>
                    <a:cubicBezTo>
                      <a:pt x="87" y="83"/>
                      <a:pt x="87" y="83"/>
                      <a:pt x="87" y="83"/>
                    </a:cubicBezTo>
                    <a:cubicBezTo>
                      <a:pt x="88" y="82"/>
                      <a:pt x="88" y="81"/>
                      <a:pt x="88" y="80"/>
                    </a:cubicBezTo>
                    <a:cubicBezTo>
                      <a:pt x="89" y="79"/>
                      <a:pt x="89" y="79"/>
                      <a:pt x="89" y="79"/>
                    </a:cubicBezTo>
                    <a:cubicBezTo>
                      <a:pt x="89" y="78"/>
                      <a:pt x="89" y="78"/>
                      <a:pt x="89" y="78"/>
                    </a:cubicBezTo>
                    <a:cubicBezTo>
                      <a:pt x="67" y="68"/>
                      <a:pt x="67" y="68"/>
                      <a:pt x="67" y="68"/>
                    </a:cubicBezTo>
                    <a:lnTo>
                      <a:pt x="58" y="88"/>
                    </a:lnTo>
                    <a:close/>
                    <a:moveTo>
                      <a:pt x="38" y="57"/>
                    </a:moveTo>
                    <a:cubicBezTo>
                      <a:pt x="38" y="58"/>
                      <a:pt x="37" y="58"/>
                      <a:pt x="37" y="59"/>
                    </a:cubicBezTo>
                    <a:cubicBezTo>
                      <a:pt x="37" y="60"/>
                      <a:pt x="37" y="60"/>
                      <a:pt x="37" y="61"/>
                    </a:cubicBezTo>
                    <a:cubicBezTo>
                      <a:pt x="36" y="62"/>
                      <a:pt x="36" y="62"/>
                      <a:pt x="36" y="63"/>
                    </a:cubicBezTo>
                    <a:cubicBezTo>
                      <a:pt x="36" y="64"/>
                      <a:pt x="36" y="64"/>
                      <a:pt x="36" y="65"/>
                    </a:cubicBezTo>
                    <a:cubicBezTo>
                      <a:pt x="35" y="65"/>
                      <a:pt x="35" y="66"/>
                      <a:pt x="35" y="67"/>
                    </a:cubicBezTo>
                    <a:cubicBezTo>
                      <a:pt x="35" y="67"/>
                      <a:pt x="35" y="68"/>
                      <a:pt x="35" y="69"/>
                    </a:cubicBezTo>
                    <a:cubicBezTo>
                      <a:pt x="34" y="69"/>
                      <a:pt x="34" y="70"/>
                      <a:pt x="34" y="71"/>
                    </a:cubicBezTo>
                    <a:cubicBezTo>
                      <a:pt x="34" y="71"/>
                      <a:pt x="34" y="72"/>
                      <a:pt x="34" y="72"/>
                    </a:cubicBezTo>
                    <a:cubicBezTo>
                      <a:pt x="34" y="73"/>
                      <a:pt x="34" y="74"/>
                      <a:pt x="34" y="75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7"/>
                      <a:pt x="33" y="78"/>
                      <a:pt x="33" y="79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4" y="81"/>
                      <a:pt x="35" y="81"/>
                      <a:pt x="36" y="81"/>
                    </a:cubicBezTo>
                    <a:cubicBezTo>
                      <a:pt x="37" y="81"/>
                      <a:pt x="37" y="81"/>
                      <a:pt x="37" y="81"/>
                    </a:cubicBezTo>
                    <a:cubicBezTo>
                      <a:pt x="38" y="82"/>
                      <a:pt x="39" y="82"/>
                      <a:pt x="39" y="82"/>
                    </a:cubicBezTo>
                    <a:cubicBezTo>
                      <a:pt x="39" y="82"/>
                      <a:pt x="42" y="82"/>
                      <a:pt x="42" y="82"/>
                    </a:cubicBezTo>
                    <a:cubicBezTo>
                      <a:pt x="43" y="83"/>
                      <a:pt x="43" y="83"/>
                      <a:pt x="43" y="83"/>
                    </a:cubicBezTo>
                    <a:cubicBezTo>
                      <a:pt x="44" y="83"/>
                      <a:pt x="45" y="83"/>
                      <a:pt x="45" y="83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7" y="84"/>
                      <a:pt x="49" y="84"/>
                      <a:pt x="49" y="84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50" y="85"/>
                      <a:pt x="50" y="85"/>
                      <a:pt x="51" y="85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2" y="85"/>
                      <a:pt x="52" y="85"/>
                      <a:pt x="52" y="85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39" y="55"/>
                      <a:pt x="39" y="55"/>
                      <a:pt x="39" y="55"/>
                    </a:cubicBezTo>
                    <a:lnTo>
                      <a:pt x="38" y="57"/>
                    </a:lnTo>
                    <a:close/>
                    <a:moveTo>
                      <a:pt x="119" y="45"/>
                    </a:moveTo>
                    <a:cubicBezTo>
                      <a:pt x="118" y="45"/>
                      <a:pt x="117" y="45"/>
                      <a:pt x="116" y="45"/>
                    </a:cubicBezTo>
                    <a:cubicBezTo>
                      <a:pt x="116" y="45"/>
                      <a:pt x="116" y="45"/>
                      <a:pt x="116" y="45"/>
                    </a:cubicBezTo>
                    <a:cubicBezTo>
                      <a:pt x="115" y="46"/>
                      <a:pt x="114" y="46"/>
                      <a:pt x="112" y="46"/>
                    </a:cubicBezTo>
                    <a:cubicBezTo>
                      <a:pt x="112" y="46"/>
                      <a:pt x="112" y="46"/>
                      <a:pt x="112" y="46"/>
                    </a:cubicBezTo>
                    <a:cubicBezTo>
                      <a:pt x="111" y="46"/>
                      <a:pt x="109" y="46"/>
                      <a:pt x="108" y="46"/>
                    </a:cubicBezTo>
                    <a:cubicBezTo>
                      <a:pt x="107" y="47"/>
                      <a:pt x="106" y="47"/>
                      <a:pt x="105" y="4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104" y="49"/>
                      <a:pt x="104" y="49"/>
                      <a:pt x="104" y="49"/>
                    </a:cubicBezTo>
                    <a:cubicBezTo>
                      <a:pt x="104" y="50"/>
                      <a:pt x="104" y="51"/>
                      <a:pt x="104" y="52"/>
                    </a:cubicBezTo>
                    <a:cubicBezTo>
                      <a:pt x="103" y="53"/>
                      <a:pt x="103" y="53"/>
                      <a:pt x="103" y="53"/>
                    </a:cubicBezTo>
                    <a:cubicBezTo>
                      <a:pt x="103" y="54"/>
                      <a:pt x="103" y="55"/>
                      <a:pt x="103" y="56"/>
                    </a:cubicBezTo>
                    <a:cubicBezTo>
                      <a:pt x="103" y="57"/>
                      <a:pt x="103" y="57"/>
                      <a:pt x="103" y="58"/>
                    </a:cubicBezTo>
                    <a:cubicBezTo>
                      <a:pt x="103" y="59"/>
                      <a:pt x="103" y="59"/>
                      <a:pt x="102" y="60"/>
                    </a:cubicBezTo>
                    <a:cubicBezTo>
                      <a:pt x="102" y="61"/>
                      <a:pt x="102" y="61"/>
                      <a:pt x="102" y="62"/>
                    </a:cubicBezTo>
                    <a:cubicBezTo>
                      <a:pt x="102" y="63"/>
                      <a:pt x="102" y="64"/>
                      <a:pt x="101" y="64"/>
                    </a:cubicBezTo>
                    <a:cubicBezTo>
                      <a:pt x="101" y="66"/>
                      <a:pt x="101" y="66"/>
                      <a:pt x="101" y="66"/>
                    </a:cubicBezTo>
                    <a:cubicBezTo>
                      <a:pt x="101" y="67"/>
                      <a:pt x="100" y="68"/>
                      <a:pt x="100" y="69"/>
                    </a:cubicBezTo>
                    <a:cubicBezTo>
                      <a:pt x="100" y="69"/>
                      <a:pt x="100" y="70"/>
                      <a:pt x="100" y="70"/>
                    </a:cubicBezTo>
                    <a:cubicBezTo>
                      <a:pt x="99" y="71"/>
                      <a:pt x="99" y="72"/>
                      <a:pt x="99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8" y="75"/>
                      <a:pt x="98" y="75"/>
                      <a:pt x="98" y="75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24" y="72"/>
                      <a:pt x="125" y="58"/>
                      <a:pt x="120" y="45"/>
                    </a:cubicBezTo>
                    <a:cubicBezTo>
                      <a:pt x="120" y="44"/>
                      <a:pt x="120" y="44"/>
                      <a:pt x="120" y="44"/>
                    </a:cubicBezTo>
                    <a:lnTo>
                      <a:pt x="119" y="45"/>
                    </a:lnTo>
                    <a:close/>
                    <a:moveTo>
                      <a:pt x="12" y="42"/>
                    </a:moveTo>
                    <a:cubicBezTo>
                      <a:pt x="7" y="55"/>
                      <a:pt x="6" y="70"/>
                      <a:pt x="11" y="83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2" y="83"/>
                      <a:pt x="12" y="83"/>
                      <a:pt x="12" y="83"/>
                    </a:cubicBezTo>
                    <a:cubicBezTo>
                      <a:pt x="13" y="83"/>
                      <a:pt x="14" y="82"/>
                      <a:pt x="15" y="82"/>
                    </a:cubicBezTo>
                    <a:cubicBezTo>
                      <a:pt x="16" y="82"/>
                      <a:pt x="16" y="82"/>
                      <a:pt x="16" y="82"/>
                    </a:cubicBezTo>
                    <a:cubicBezTo>
                      <a:pt x="17" y="82"/>
                      <a:pt x="18" y="82"/>
                      <a:pt x="19" y="82"/>
                    </a:cubicBezTo>
                    <a:cubicBezTo>
                      <a:pt x="19" y="81"/>
                      <a:pt x="19" y="81"/>
                      <a:pt x="19" y="81"/>
                    </a:cubicBezTo>
                    <a:cubicBezTo>
                      <a:pt x="20" y="81"/>
                      <a:pt x="21" y="81"/>
                      <a:pt x="22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4" y="81"/>
                      <a:pt x="25" y="81"/>
                      <a:pt x="26" y="81"/>
                    </a:cubicBezTo>
                    <a:cubicBezTo>
                      <a:pt x="26" y="81"/>
                      <a:pt x="26" y="81"/>
                      <a:pt x="26" y="81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7"/>
                      <a:pt x="27" y="77"/>
                      <a:pt x="27" y="7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8" y="73"/>
                      <a:pt x="28" y="72"/>
                      <a:pt x="28" y="72"/>
                    </a:cubicBezTo>
                    <a:cubicBezTo>
                      <a:pt x="28" y="71"/>
                      <a:pt x="28" y="70"/>
                      <a:pt x="28" y="70"/>
                    </a:cubicBezTo>
                    <a:cubicBezTo>
                      <a:pt x="28" y="69"/>
                      <a:pt x="29" y="68"/>
                      <a:pt x="29" y="67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5"/>
                      <a:pt x="30" y="64"/>
                      <a:pt x="30" y="63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0" y="61"/>
                      <a:pt x="31" y="60"/>
                      <a:pt x="31" y="59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2" y="57"/>
                      <a:pt x="32" y="56"/>
                      <a:pt x="32" y="55"/>
                    </a:cubicBezTo>
                    <a:cubicBezTo>
                      <a:pt x="33" y="53"/>
                      <a:pt x="33" y="53"/>
                      <a:pt x="33" y="53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12" y="42"/>
                      <a:pt x="12" y="42"/>
                      <a:pt x="12" y="42"/>
                    </a:cubicBezTo>
                    <a:close/>
                    <a:moveTo>
                      <a:pt x="79" y="42"/>
                    </a:moveTo>
                    <a:cubicBezTo>
                      <a:pt x="70" y="62"/>
                      <a:pt x="70" y="62"/>
                      <a:pt x="70" y="62"/>
                    </a:cubicBezTo>
                    <a:cubicBezTo>
                      <a:pt x="92" y="73"/>
                      <a:pt x="92" y="73"/>
                      <a:pt x="92" y="73"/>
                    </a:cubicBezTo>
                    <a:cubicBezTo>
                      <a:pt x="93" y="72"/>
                      <a:pt x="93" y="72"/>
                      <a:pt x="93" y="72"/>
                    </a:cubicBezTo>
                    <a:cubicBezTo>
                      <a:pt x="93" y="71"/>
                      <a:pt x="93" y="71"/>
                      <a:pt x="93" y="71"/>
                    </a:cubicBezTo>
                    <a:cubicBezTo>
                      <a:pt x="93" y="70"/>
                      <a:pt x="94" y="69"/>
                      <a:pt x="94" y="68"/>
                    </a:cubicBezTo>
                    <a:cubicBezTo>
                      <a:pt x="94" y="67"/>
                      <a:pt x="94" y="67"/>
                      <a:pt x="94" y="67"/>
                    </a:cubicBezTo>
                    <a:cubicBezTo>
                      <a:pt x="95" y="66"/>
                      <a:pt x="95" y="65"/>
                      <a:pt x="95" y="64"/>
                    </a:cubicBezTo>
                    <a:cubicBezTo>
                      <a:pt x="95" y="63"/>
                      <a:pt x="95" y="63"/>
                      <a:pt x="95" y="63"/>
                    </a:cubicBezTo>
                    <a:cubicBezTo>
                      <a:pt x="96" y="62"/>
                      <a:pt x="96" y="61"/>
                      <a:pt x="96" y="61"/>
                    </a:cubicBezTo>
                    <a:cubicBezTo>
                      <a:pt x="96" y="59"/>
                      <a:pt x="96" y="59"/>
                      <a:pt x="96" y="59"/>
                    </a:cubicBezTo>
                    <a:cubicBezTo>
                      <a:pt x="97" y="58"/>
                      <a:pt x="97" y="57"/>
                      <a:pt x="97" y="57"/>
                    </a:cubicBezTo>
                    <a:cubicBezTo>
                      <a:pt x="97" y="56"/>
                      <a:pt x="97" y="56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8" y="52"/>
                      <a:pt x="98" y="52"/>
                      <a:pt x="98" y="51"/>
                    </a:cubicBezTo>
                    <a:cubicBezTo>
                      <a:pt x="98" y="50"/>
                      <a:pt x="98" y="50"/>
                      <a:pt x="98" y="49"/>
                    </a:cubicBezTo>
                    <a:cubicBezTo>
                      <a:pt x="98" y="47"/>
                      <a:pt x="98" y="47"/>
                      <a:pt x="98" y="47"/>
                    </a:cubicBezTo>
                    <a:cubicBezTo>
                      <a:pt x="98" y="46"/>
                      <a:pt x="98" y="46"/>
                      <a:pt x="98" y="46"/>
                    </a:cubicBezTo>
                    <a:cubicBezTo>
                      <a:pt x="97" y="46"/>
                      <a:pt x="96" y="46"/>
                      <a:pt x="95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3" y="46"/>
                      <a:pt x="92" y="46"/>
                      <a:pt x="92" y="46"/>
                    </a:cubicBezTo>
                    <a:cubicBezTo>
                      <a:pt x="91" y="45"/>
                      <a:pt x="91" y="45"/>
                      <a:pt x="91" y="45"/>
                    </a:cubicBezTo>
                    <a:cubicBezTo>
                      <a:pt x="90" y="45"/>
                      <a:pt x="89" y="45"/>
                      <a:pt x="89" y="45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7" y="45"/>
                      <a:pt x="86" y="44"/>
                      <a:pt x="86" y="44"/>
                    </a:cubicBezTo>
                    <a:cubicBezTo>
                      <a:pt x="85" y="44"/>
                      <a:pt x="85" y="44"/>
                      <a:pt x="85" y="44"/>
                    </a:cubicBezTo>
                    <a:cubicBezTo>
                      <a:pt x="84" y="44"/>
                      <a:pt x="84" y="44"/>
                      <a:pt x="83" y="43"/>
                    </a:cubicBezTo>
                    <a:cubicBezTo>
                      <a:pt x="82" y="43"/>
                      <a:pt x="82" y="43"/>
                      <a:pt x="82" y="43"/>
                    </a:cubicBezTo>
                    <a:cubicBezTo>
                      <a:pt x="81" y="43"/>
                      <a:pt x="81" y="42"/>
                      <a:pt x="80" y="42"/>
                    </a:cubicBezTo>
                    <a:cubicBezTo>
                      <a:pt x="80" y="42"/>
                      <a:pt x="80" y="42"/>
                      <a:pt x="80" y="42"/>
                    </a:cubicBezTo>
                    <a:lnTo>
                      <a:pt x="79" y="42"/>
                    </a:lnTo>
                    <a:close/>
                    <a:moveTo>
                      <a:pt x="56" y="29"/>
                    </a:moveTo>
                    <a:cubicBezTo>
                      <a:pt x="56" y="30"/>
                      <a:pt x="55" y="30"/>
                      <a:pt x="55" y="31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3" y="33"/>
                      <a:pt x="52" y="33"/>
                      <a:pt x="52" y="34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0" y="36"/>
                      <a:pt x="50" y="36"/>
                      <a:pt x="49" y="37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9"/>
                      <a:pt x="47" y="40"/>
                      <a:pt x="47" y="40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5" y="43"/>
                      <a:pt x="45" y="43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6"/>
                      <a:pt x="43" y="46"/>
                      <a:pt x="43" y="47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74" y="39"/>
                      <a:pt x="74" y="39"/>
                      <a:pt x="74" y="39"/>
                    </a:cubicBezTo>
                    <a:cubicBezTo>
                      <a:pt x="73" y="39"/>
                      <a:pt x="73" y="39"/>
                      <a:pt x="73" y="39"/>
                    </a:cubicBezTo>
                    <a:cubicBezTo>
                      <a:pt x="72" y="39"/>
                      <a:pt x="72" y="38"/>
                      <a:pt x="71" y="38"/>
                    </a:cubicBezTo>
                    <a:cubicBezTo>
                      <a:pt x="71" y="38"/>
                      <a:pt x="69" y="37"/>
                      <a:pt x="68" y="36"/>
                    </a:cubicBezTo>
                    <a:cubicBezTo>
                      <a:pt x="68" y="36"/>
                      <a:pt x="68" y="36"/>
                      <a:pt x="67" y="36"/>
                    </a:cubicBezTo>
                    <a:cubicBezTo>
                      <a:pt x="67" y="35"/>
                      <a:pt x="66" y="35"/>
                      <a:pt x="66" y="35"/>
                    </a:cubicBezTo>
                    <a:cubicBezTo>
                      <a:pt x="65" y="34"/>
                      <a:pt x="65" y="34"/>
                      <a:pt x="65" y="34"/>
                    </a:cubicBezTo>
                    <a:cubicBezTo>
                      <a:pt x="64" y="33"/>
                      <a:pt x="64" y="33"/>
                      <a:pt x="63" y="33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2" y="32"/>
                      <a:pt x="62" y="31"/>
                      <a:pt x="61" y="31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0" y="29"/>
                      <a:pt x="59" y="29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lnTo>
                      <a:pt x="56" y="29"/>
                    </a:lnTo>
                    <a:close/>
                    <a:moveTo>
                      <a:pt x="45" y="10"/>
                    </a:moveTo>
                    <a:cubicBezTo>
                      <a:pt x="32" y="15"/>
                      <a:pt x="21" y="24"/>
                      <a:pt x="15" y="36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44"/>
                      <a:pt x="37" y="44"/>
                      <a:pt x="37" y="44"/>
                    </a:cubicBezTo>
                    <a:cubicBezTo>
                      <a:pt x="38" y="43"/>
                      <a:pt x="38" y="43"/>
                      <a:pt x="39" y="42"/>
                    </a:cubicBezTo>
                    <a:cubicBezTo>
                      <a:pt x="39" y="41"/>
                      <a:pt x="39" y="41"/>
                      <a:pt x="40" y="41"/>
                    </a:cubicBezTo>
                    <a:cubicBezTo>
                      <a:pt x="40" y="40"/>
                      <a:pt x="41" y="39"/>
                      <a:pt x="41" y="38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3" y="36"/>
                      <a:pt x="43" y="35"/>
                      <a:pt x="44" y="35"/>
                    </a:cubicBezTo>
                    <a:cubicBezTo>
                      <a:pt x="44" y="34"/>
                      <a:pt x="44" y="34"/>
                      <a:pt x="45" y="33"/>
                    </a:cubicBezTo>
                    <a:cubicBezTo>
                      <a:pt x="45" y="33"/>
                      <a:pt x="46" y="32"/>
                      <a:pt x="46" y="31"/>
                    </a:cubicBezTo>
                    <a:cubicBezTo>
                      <a:pt x="47" y="31"/>
                      <a:pt x="47" y="30"/>
                      <a:pt x="47" y="30"/>
                    </a:cubicBezTo>
                    <a:cubicBezTo>
                      <a:pt x="48" y="29"/>
                      <a:pt x="48" y="29"/>
                      <a:pt x="49" y="28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51" y="26"/>
                      <a:pt x="51" y="26"/>
                      <a:pt x="52" y="25"/>
                    </a:cubicBezTo>
                    <a:cubicBezTo>
                      <a:pt x="54" y="24"/>
                      <a:pt x="54" y="24"/>
                      <a:pt x="54" y="24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3" y="23"/>
                      <a:pt x="53" y="23"/>
                      <a:pt x="53" y="23"/>
                    </a:cubicBezTo>
                    <a:cubicBezTo>
                      <a:pt x="53" y="22"/>
                      <a:pt x="52" y="21"/>
                      <a:pt x="52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0" y="19"/>
                      <a:pt x="50" y="18"/>
                      <a:pt x="49" y="17"/>
                    </a:cubicBezTo>
                    <a:cubicBezTo>
                      <a:pt x="49" y="16"/>
                      <a:pt x="48" y="15"/>
                      <a:pt x="47" y="14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2"/>
                      <a:pt x="46" y="11"/>
                      <a:pt x="46" y="10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45" y="10"/>
                    </a:lnTo>
                    <a:close/>
                    <a:moveTo>
                      <a:pt x="100" y="20"/>
                    </a:moveTo>
                    <a:cubicBezTo>
                      <a:pt x="100" y="21"/>
                      <a:pt x="101" y="23"/>
                      <a:pt x="101" y="24"/>
                    </a:cubicBezTo>
                    <a:cubicBezTo>
                      <a:pt x="101" y="25"/>
                      <a:pt x="101" y="25"/>
                      <a:pt x="101" y="25"/>
                    </a:cubicBezTo>
                    <a:cubicBezTo>
                      <a:pt x="102" y="26"/>
                      <a:pt x="102" y="27"/>
                      <a:pt x="103" y="29"/>
                    </a:cubicBezTo>
                    <a:cubicBezTo>
                      <a:pt x="103" y="29"/>
                      <a:pt x="103" y="29"/>
                      <a:pt x="103" y="29"/>
                    </a:cubicBezTo>
                    <a:cubicBezTo>
                      <a:pt x="103" y="31"/>
                      <a:pt x="103" y="32"/>
                      <a:pt x="103" y="33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4" y="35"/>
                      <a:pt x="104" y="37"/>
                      <a:pt x="104" y="38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5" y="41"/>
                      <a:pt x="105" y="41"/>
                      <a:pt x="105" y="41"/>
                    </a:cubicBezTo>
                    <a:cubicBezTo>
                      <a:pt x="106" y="41"/>
                      <a:pt x="106" y="41"/>
                      <a:pt x="107" y="40"/>
                    </a:cubicBezTo>
                    <a:cubicBezTo>
                      <a:pt x="108" y="40"/>
                      <a:pt x="108" y="40"/>
                      <a:pt x="108" y="40"/>
                    </a:cubicBezTo>
                    <a:cubicBezTo>
                      <a:pt x="109" y="40"/>
                      <a:pt x="110" y="40"/>
                      <a:pt x="110" y="40"/>
                    </a:cubicBezTo>
                    <a:cubicBezTo>
                      <a:pt x="111" y="40"/>
                      <a:pt x="111" y="40"/>
                      <a:pt x="111" y="40"/>
                    </a:cubicBezTo>
                    <a:cubicBezTo>
                      <a:pt x="112" y="40"/>
                      <a:pt x="113" y="40"/>
                      <a:pt x="114" y="40"/>
                    </a:cubicBezTo>
                    <a:cubicBezTo>
                      <a:pt x="114" y="39"/>
                      <a:pt x="114" y="39"/>
                      <a:pt x="114" y="39"/>
                    </a:cubicBezTo>
                    <a:cubicBezTo>
                      <a:pt x="115" y="39"/>
                      <a:pt x="116" y="39"/>
                      <a:pt x="117" y="39"/>
                    </a:cubicBezTo>
                    <a:cubicBezTo>
                      <a:pt x="118" y="39"/>
                      <a:pt x="118" y="39"/>
                      <a:pt x="118" y="39"/>
                    </a:cubicBezTo>
                    <a:cubicBezTo>
                      <a:pt x="117" y="38"/>
                      <a:pt x="117" y="38"/>
                      <a:pt x="117" y="38"/>
                    </a:cubicBezTo>
                    <a:cubicBezTo>
                      <a:pt x="113" y="30"/>
                      <a:pt x="107" y="23"/>
                      <a:pt x="100" y="17"/>
                    </a:cubicBezTo>
                    <a:cubicBezTo>
                      <a:pt x="99" y="16"/>
                      <a:pt x="99" y="16"/>
                      <a:pt x="99" y="16"/>
                    </a:cubicBezTo>
                    <a:lnTo>
                      <a:pt x="100" y="20"/>
                    </a:lnTo>
                    <a:close/>
                    <a:moveTo>
                      <a:pt x="82" y="36"/>
                    </a:moveTo>
                    <a:cubicBezTo>
                      <a:pt x="82" y="36"/>
                      <a:pt x="83" y="37"/>
                      <a:pt x="84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5" y="38"/>
                      <a:pt x="86" y="38"/>
                      <a:pt x="86" y="38"/>
                    </a:cubicBezTo>
                    <a:cubicBezTo>
                      <a:pt x="87" y="38"/>
                      <a:pt x="87" y="38"/>
                      <a:pt x="87" y="38"/>
                    </a:cubicBezTo>
                    <a:cubicBezTo>
                      <a:pt x="88" y="39"/>
                      <a:pt x="90" y="39"/>
                      <a:pt x="90" y="39"/>
                    </a:cubicBezTo>
                    <a:cubicBezTo>
                      <a:pt x="91" y="39"/>
                      <a:pt x="91" y="39"/>
                      <a:pt x="92" y="40"/>
                    </a:cubicBezTo>
                    <a:cubicBezTo>
                      <a:pt x="93" y="40"/>
                      <a:pt x="93" y="40"/>
                      <a:pt x="93" y="40"/>
                    </a:cubicBezTo>
                    <a:cubicBezTo>
                      <a:pt x="93" y="40"/>
                      <a:pt x="94" y="40"/>
                      <a:pt x="95" y="40"/>
                    </a:cubicBezTo>
                    <a:cubicBezTo>
                      <a:pt x="98" y="40"/>
                      <a:pt x="98" y="40"/>
                      <a:pt x="98" y="40"/>
                    </a:cubicBezTo>
                    <a:cubicBezTo>
                      <a:pt x="98" y="39"/>
                      <a:pt x="98" y="39"/>
                      <a:pt x="98" y="39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8" y="37"/>
                      <a:pt x="98" y="36"/>
                      <a:pt x="97" y="35"/>
                    </a:cubicBezTo>
                    <a:cubicBezTo>
                      <a:pt x="97" y="34"/>
                      <a:pt x="97" y="34"/>
                      <a:pt x="97" y="34"/>
                    </a:cubicBezTo>
                    <a:cubicBezTo>
                      <a:pt x="97" y="33"/>
                      <a:pt x="97" y="32"/>
                      <a:pt x="97" y="31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96" y="29"/>
                      <a:pt x="96" y="28"/>
                      <a:pt x="96" y="27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5" y="24"/>
                      <a:pt x="95" y="23"/>
                      <a:pt x="94" y="22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0"/>
                      <a:pt x="93" y="19"/>
                      <a:pt x="93" y="18"/>
                    </a:cubicBezTo>
                    <a:cubicBezTo>
                      <a:pt x="91" y="15"/>
                      <a:pt x="91" y="15"/>
                      <a:pt x="91" y="15"/>
                    </a:cubicBezTo>
                    <a:lnTo>
                      <a:pt x="82" y="36"/>
                    </a:lnTo>
                    <a:close/>
                    <a:moveTo>
                      <a:pt x="83" y="14"/>
                    </a:moveTo>
                    <a:cubicBezTo>
                      <a:pt x="82" y="14"/>
                      <a:pt x="81" y="14"/>
                      <a:pt x="80" y="15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78" y="15"/>
                      <a:pt x="77" y="16"/>
                      <a:pt x="75" y="16"/>
                    </a:cubicBezTo>
                    <a:cubicBezTo>
                      <a:pt x="74" y="17"/>
                      <a:pt x="74" y="17"/>
                      <a:pt x="74" y="17"/>
                    </a:cubicBezTo>
                    <a:cubicBezTo>
                      <a:pt x="73" y="17"/>
                      <a:pt x="73" y="18"/>
                      <a:pt x="72" y="18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19"/>
                      <a:pt x="69" y="20"/>
                      <a:pt x="68" y="20"/>
                    </a:cubicBezTo>
                    <a:cubicBezTo>
                      <a:pt x="68" y="20"/>
                      <a:pt x="67" y="21"/>
                      <a:pt x="67" y="21"/>
                    </a:cubicBezTo>
                    <a:cubicBezTo>
                      <a:pt x="66" y="22"/>
                      <a:pt x="65" y="22"/>
                      <a:pt x="65" y="23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5" y="26"/>
                      <a:pt x="66" y="27"/>
                      <a:pt x="67" y="28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68" y="28"/>
                      <a:pt x="68" y="29"/>
                      <a:pt x="69" y="29"/>
                    </a:cubicBezTo>
                    <a:cubicBezTo>
                      <a:pt x="69" y="29"/>
                      <a:pt x="70" y="30"/>
                      <a:pt x="71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4" y="33"/>
                      <a:pt x="74" y="33"/>
                      <a:pt x="74" y="33"/>
                    </a:cubicBezTo>
                    <a:cubicBezTo>
                      <a:pt x="75" y="33"/>
                      <a:pt x="76" y="34"/>
                      <a:pt x="76" y="34"/>
                    </a:cubicBezTo>
                    <a:cubicBezTo>
                      <a:pt x="76" y="33"/>
                      <a:pt x="76" y="33"/>
                      <a:pt x="76" y="33"/>
                    </a:cubicBezTo>
                    <a:cubicBezTo>
                      <a:pt x="86" y="13"/>
                      <a:pt x="86" y="13"/>
                      <a:pt x="86" y="13"/>
                    </a:cubicBezTo>
                    <a:lnTo>
                      <a:pt x="83" y="14"/>
                    </a:lnTo>
                    <a:close/>
                    <a:moveTo>
                      <a:pt x="66" y="6"/>
                    </a:moveTo>
                    <a:cubicBezTo>
                      <a:pt x="61" y="6"/>
                      <a:pt x="56" y="7"/>
                      <a:pt x="52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2" y="9"/>
                      <a:pt x="52" y="10"/>
                      <a:pt x="53" y="11"/>
                    </a:cubicBezTo>
                    <a:cubicBezTo>
                      <a:pt x="53" y="11"/>
                      <a:pt x="53" y="11"/>
                      <a:pt x="53" y="11"/>
                    </a:cubicBezTo>
                    <a:cubicBezTo>
                      <a:pt x="53" y="12"/>
                      <a:pt x="54" y="13"/>
                      <a:pt x="54" y="14"/>
                    </a:cubicBezTo>
                    <a:cubicBezTo>
                      <a:pt x="55" y="14"/>
                      <a:pt x="55" y="14"/>
                      <a:pt x="55" y="14"/>
                    </a:cubicBezTo>
                    <a:cubicBezTo>
                      <a:pt x="55" y="15"/>
                      <a:pt x="56" y="16"/>
                      <a:pt x="56" y="16"/>
                    </a:cubicBezTo>
                    <a:cubicBezTo>
                      <a:pt x="57" y="17"/>
                      <a:pt x="57" y="17"/>
                      <a:pt x="57" y="17"/>
                    </a:cubicBezTo>
                    <a:cubicBezTo>
                      <a:pt x="57" y="18"/>
                      <a:pt x="58" y="18"/>
                      <a:pt x="58" y="19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62" y="17"/>
                      <a:pt x="64" y="16"/>
                      <a:pt x="64" y="16"/>
                    </a:cubicBezTo>
                    <a:cubicBezTo>
                      <a:pt x="65" y="15"/>
                      <a:pt x="66" y="14"/>
                      <a:pt x="66" y="14"/>
                    </a:cubicBezTo>
                    <a:cubicBezTo>
                      <a:pt x="67" y="14"/>
                      <a:pt x="68" y="13"/>
                      <a:pt x="69" y="13"/>
                    </a:cubicBezTo>
                    <a:cubicBezTo>
                      <a:pt x="69" y="13"/>
                      <a:pt x="70" y="12"/>
                      <a:pt x="71" y="12"/>
                    </a:cubicBezTo>
                    <a:cubicBezTo>
                      <a:pt x="71" y="12"/>
                      <a:pt x="73" y="11"/>
                      <a:pt x="73" y="11"/>
                    </a:cubicBezTo>
                    <a:cubicBezTo>
                      <a:pt x="74" y="10"/>
                      <a:pt x="74" y="10"/>
                      <a:pt x="74" y="10"/>
                    </a:cubicBezTo>
                    <a:cubicBezTo>
                      <a:pt x="75" y="10"/>
                      <a:pt x="75" y="10"/>
                      <a:pt x="76" y="10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8" y="9"/>
                      <a:pt x="78" y="9"/>
                      <a:pt x="79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5" y="7"/>
                      <a:pt x="70" y="6"/>
                      <a:pt x="66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6" name="文本框 25"/>
            <p:cNvSpPr txBox="1">
              <a:spLocks noChangeArrowheads="1"/>
            </p:cNvSpPr>
            <p:nvPr/>
          </p:nvSpPr>
          <p:spPr bwMode="auto">
            <a:xfrm>
              <a:off x="4907853" y="2043042"/>
              <a:ext cx="902811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课程</a:t>
              </a:r>
              <a:endPara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定位</a:t>
              </a:r>
              <a:endPara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193088" y="1631423"/>
            <a:ext cx="3486150" cy="1701800"/>
            <a:chOff x="8193088" y="1631423"/>
            <a:chExt cx="3486150" cy="1701800"/>
          </a:xfrm>
        </p:grpSpPr>
        <p:grpSp>
          <p:nvGrpSpPr>
            <p:cNvPr id="18444" name="组合 23"/>
            <p:cNvGrpSpPr>
              <a:grpSpLocks/>
            </p:cNvGrpSpPr>
            <p:nvPr/>
          </p:nvGrpSpPr>
          <p:grpSpPr bwMode="auto">
            <a:xfrm>
              <a:off x="8193088" y="1631423"/>
              <a:ext cx="3486150" cy="1701800"/>
              <a:chOff x="0" y="0"/>
              <a:chExt cx="4215757" cy="2057400"/>
            </a:xfrm>
          </p:grpSpPr>
          <p:sp>
            <p:nvSpPr>
              <p:cNvPr id="18448" name="圆角矩形 1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15757" cy="2057400"/>
              </a:xfrm>
              <a:prstGeom prst="roundRect">
                <a:avLst>
                  <a:gd name="adj" fmla="val 4167"/>
                </a:avLst>
              </a:prstGeom>
              <a:solidFill>
                <a:srgbClr val="F2F2F2"/>
              </a:solidFill>
              <a:ln w="12700">
                <a:solidFill>
                  <a:srgbClr val="D9D9D9">
                    <a:alpha val="52156"/>
                  </a:srgbClr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0000">
                    <a:alpha val="26999"/>
                  </a:srgb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rgbClr val="FFFFFF"/>
                  </a:solidFill>
                  <a:ea typeface="微软雅黑 Light" pitchFamily="2" charset="-122"/>
                </a:endParaRPr>
              </a:p>
            </p:txBody>
          </p:sp>
          <p:sp>
            <p:nvSpPr>
              <p:cNvPr id="18449" name="圆角矩形 16"/>
              <p:cNvSpPr>
                <a:spLocks noChangeArrowheads="1"/>
              </p:cNvSpPr>
              <p:nvPr/>
            </p:nvSpPr>
            <p:spPr bwMode="auto">
              <a:xfrm>
                <a:off x="2365526" y="217885"/>
                <a:ext cx="1621631" cy="1621631"/>
              </a:xfrm>
              <a:prstGeom prst="roundRect">
                <a:avLst>
                  <a:gd name="adj" fmla="val 4333"/>
                </a:avLst>
              </a:prstGeom>
              <a:solidFill>
                <a:srgbClr val="C63E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450" name="Freeform 5"/>
              <p:cNvSpPr>
                <a:spLocks noEditPoints="1"/>
              </p:cNvSpPr>
              <p:nvPr/>
            </p:nvSpPr>
            <p:spPr bwMode="auto">
              <a:xfrm>
                <a:off x="2734245" y="603750"/>
                <a:ext cx="884192" cy="849900"/>
              </a:xfrm>
              <a:custGeom>
                <a:avLst/>
                <a:gdLst>
                  <a:gd name="T0" fmla="*/ 1739710241 w 361"/>
                  <a:gd name="T1" fmla="*/ 2081642560 h 347"/>
                  <a:gd name="T2" fmla="*/ 1073820511 w 361"/>
                  <a:gd name="T3" fmla="*/ 1709707347 h 347"/>
                  <a:gd name="T4" fmla="*/ 389936041 w 361"/>
                  <a:gd name="T5" fmla="*/ 2069643544 h 347"/>
                  <a:gd name="T6" fmla="*/ 533909882 w 361"/>
                  <a:gd name="T7" fmla="*/ 1319772384 h 347"/>
                  <a:gd name="T8" fmla="*/ 0 w 361"/>
                  <a:gd name="T9" fmla="*/ 779865333 h 347"/>
                  <a:gd name="T10" fmla="*/ 749875695 w 361"/>
                  <a:gd name="T11" fmla="*/ 683883000 h 347"/>
                  <a:gd name="T12" fmla="*/ 1091817853 w 361"/>
                  <a:gd name="T13" fmla="*/ 0 h 347"/>
                  <a:gd name="T14" fmla="*/ 1415762976 w 361"/>
                  <a:gd name="T15" fmla="*/ 683883000 h 347"/>
                  <a:gd name="T16" fmla="*/ 2147483647 w 361"/>
                  <a:gd name="T17" fmla="*/ 797862632 h 347"/>
                  <a:gd name="T18" fmla="*/ 1625727888 w 361"/>
                  <a:gd name="T19" fmla="*/ 1319772384 h 347"/>
                  <a:gd name="T20" fmla="*/ 1739710241 w 361"/>
                  <a:gd name="T21" fmla="*/ 2081642560 h 347"/>
                  <a:gd name="T22" fmla="*/ 1073820511 w 361"/>
                  <a:gd name="T23" fmla="*/ 1577730414 h 347"/>
                  <a:gd name="T24" fmla="*/ 1577736608 w 361"/>
                  <a:gd name="T25" fmla="*/ 1841684279 h 347"/>
                  <a:gd name="T26" fmla="*/ 1481751598 w 361"/>
                  <a:gd name="T27" fmla="*/ 1289778517 h 347"/>
                  <a:gd name="T28" fmla="*/ 1901681424 w 361"/>
                  <a:gd name="T29" fmla="*/ 881848398 h 347"/>
                  <a:gd name="T30" fmla="*/ 1331777010 w 361"/>
                  <a:gd name="T31" fmla="*/ 797862632 h 347"/>
                  <a:gd name="T32" fmla="*/ 1091817853 w 361"/>
                  <a:gd name="T33" fmla="*/ 275952957 h 347"/>
                  <a:gd name="T34" fmla="*/ 827860913 w 361"/>
                  <a:gd name="T35" fmla="*/ 797862632 h 347"/>
                  <a:gd name="T36" fmla="*/ 257956270 w 361"/>
                  <a:gd name="T37" fmla="*/ 863851099 h 347"/>
                  <a:gd name="T38" fmla="*/ 665889730 w 361"/>
                  <a:gd name="T39" fmla="*/ 1271780912 h 347"/>
                  <a:gd name="T40" fmla="*/ 569904567 w 361"/>
                  <a:gd name="T41" fmla="*/ 1841684279 h 347"/>
                  <a:gd name="T42" fmla="*/ 1073820511 w 361"/>
                  <a:gd name="T43" fmla="*/ 1577730414 h 34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361"/>
                  <a:gd name="T67" fmla="*/ 0 h 347"/>
                  <a:gd name="T68" fmla="*/ 361 w 361"/>
                  <a:gd name="T69" fmla="*/ 347 h 34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361" h="347">
                    <a:moveTo>
                      <a:pt x="290" y="347"/>
                    </a:moveTo>
                    <a:lnTo>
                      <a:pt x="179" y="285"/>
                    </a:lnTo>
                    <a:lnTo>
                      <a:pt x="65" y="345"/>
                    </a:lnTo>
                    <a:lnTo>
                      <a:pt x="89" y="220"/>
                    </a:lnTo>
                    <a:lnTo>
                      <a:pt x="0" y="130"/>
                    </a:lnTo>
                    <a:lnTo>
                      <a:pt x="125" y="114"/>
                    </a:lnTo>
                    <a:lnTo>
                      <a:pt x="182" y="0"/>
                    </a:lnTo>
                    <a:lnTo>
                      <a:pt x="236" y="114"/>
                    </a:lnTo>
                    <a:lnTo>
                      <a:pt x="361" y="133"/>
                    </a:lnTo>
                    <a:lnTo>
                      <a:pt x="271" y="220"/>
                    </a:lnTo>
                    <a:lnTo>
                      <a:pt x="290" y="347"/>
                    </a:lnTo>
                    <a:close/>
                    <a:moveTo>
                      <a:pt x="179" y="263"/>
                    </a:moveTo>
                    <a:lnTo>
                      <a:pt x="263" y="307"/>
                    </a:lnTo>
                    <a:lnTo>
                      <a:pt x="247" y="215"/>
                    </a:lnTo>
                    <a:lnTo>
                      <a:pt x="317" y="147"/>
                    </a:lnTo>
                    <a:lnTo>
                      <a:pt x="222" y="133"/>
                    </a:lnTo>
                    <a:lnTo>
                      <a:pt x="182" y="46"/>
                    </a:lnTo>
                    <a:lnTo>
                      <a:pt x="138" y="133"/>
                    </a:lnTo>
                    <a:lnTo>
                      <a:pt x="43" y="144"/>
                    </a:lnTo>
                    <a:lnTo>
                      <a:pt x="111" y="212"/>
                    </a:lnTo>
                    <a:lnTo>
                      <a:pt x="95" y="307"/>
                    </a:lnTo>
                    <a:lnTo>
                      <a:pt x="179" y="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" name="文本框 25"/>
            <p:cNvSpPr txBox="1">
              <a:spLocks noChangeArrowheads="1"/>
            </p:cNvSpPr>
            <p:nvPr/>
          </p:nvSpPr>
          <p:spPr bwMode="auto">
            <a:xfrm>
              <a:off x="8719749" y="2043042"/>
              <a:ext cx="902811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课程</a:t>
              </a:r>
              <a:endPara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目标</a:t>
              </a:r>
              <a:endPara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71500" y="4978399"/>
            <a:ext cx="3486150" cy="64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185589" y="3665095"/>
            <a:ext cx="3897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是理工科、经管类专业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学生的</a:t>
            </a:r>
            <a:r>
              <a:rPr lang="zh-CN" altLang="en-US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专业基础课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，对本科阶段教育有着举足轻重的作用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85589" y="4698008"/>
            <a:ext cx="3979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是多种专业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课程的</a:t>
            </a:r>
            <a:r>
              <a:rPr lang="zh-CN" altLang="en-US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先修课程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185589" y="5453922"/>
            <a:ext cx="3897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对培养学生的抽象思维能力、逻辑推理能力、空间想象能力等有重要作用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193087" y="3649754"/>
            <a:ext cx="3914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线性代数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的发展历史，理解其广泛的应用背景及离散化的</a:t>
            </a:r>
            <a:r>
              <a:rPr lang="zh-CN" altLang="en-US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数学思想</a:t>
            </a:r>
            <a:endParaRPr lang="zh-CN" altLang="en-US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191996" y="4571671"/>
            <a:ext cx="3914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线性代数</a:t>
            </a:r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</a:t>
            </a:r>
            <a:r>
              <a:rPr lang="zh-CN" altLang="zh-CN" b="1" kern="0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基本</a:t>
            </a:r>
            <a:r>
              <a:rPr lang="zh-CN" altLang="en-US" b="1" kern="0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理论和计算</a:t>
            </a:r>
            <a:r>
              <a:rPr lang="zh-CN" altLang="zh-CN" b="1" kern="0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方法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、</a:t>
            </a:r>
            <a:r>
              <a:rPr lang="zh-CN" altLang="zh-CN" b="1" kern="0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手段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、</a:t>
            </a:r>
            <a:r>
              <a:rPr lang="zh-CN" altLang="zh-CN" b="1" kern="0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技巧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，并具备一定的分析论证能力和较强的运算</a:t>
            </a:r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能力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91996" y="5694677"/>
            <a:ext cx="391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培养理性思维和自主探索学习的意识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395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7" grpId="0"/>
      <p:bldP spid="5" grpId="0"/>
      <p:bldP spid="7" grpId="0"/>
      <p:bldP spid="45" grpId="0"/>
      <p:bldP spid="46" grpId="0"/>
      <p:bldP spid="47" grpId="0"/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矩形 54"/>
          <p:cNvSpPr>
            <a:spLocks noChangeArrowheads="1"/>
          </p:cNvSpPr>
          <p:nvPr/>
        </p:nvSpPr>
        <p:spPr bwMode="auto">
          <a:xfrm>
            <a:off x="669925" y="6210300"/>
            <a:ext cx="10850563" cy="200025"/>
          </a:xfrm>
          <a:prstGeom prst="rect">
            <a:avLst/>
          </a:prstGeom>
          <a:solidFill>
            <a:srgbClr val="FBFB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" name="组合 87"/>
          <p:cNvGrpSpPr>
            <a:grpSpLocks/>
          </p:cNvGrpSpPr>
          <p:nvPr/>
        </p:nvGrpSpPr>
        <p:grpSpPr bwMode="auto">
          <a:xfrm>
            <a:off x="-50800" y="282575"/>
            <a:ext cx="4283075" cy="809625"/>
            <a:chOff x="0" y="0"/>
            <a:chExt cx="4281735" cy="808970"/>
          </a:xfrm>
        </p:grpSpPr>
        <p:sp>
          <p:nvSpPr>
            <p:cNvPr id="10257" name="文本框 91"/>
            <p:cNvSpPr txBox="1">
              <a:spLocks noChangeArrowheads="1"/>
            </p:cNvSpPr>
            <p:nvPr/>
          </p:nvSpPr>
          <p:spPr bwMode="auto">
            <a:xfrm>
              <a:off x="284187" y="0"/>
              <a:ext cx="1620450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课程设计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258" name="直接连接符 92"/>
            <p:cNvCxnSpPr>
              <a:cxnSpLocks noChangeShapeType="1"/>
            </p:cNvCxnSpPr>
            <p:nvPr/>
          </p:nvCxnSpPr>
          <p:spPr bwMode="auto">
            <a:xfrm>
              <a:off x="0" y="808970"/>
              <a:ext cx="4281735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组合 3"/>
          <p:cNvGrpSpPr>
            <a:grpSpLocks/>
          </p:cNvGrpSpPr>
          <p:nvPr/>
        </p:nvGrpSpPr>
        <p:grpSpPr bwMode="auto">
          <a:xfrm>
            <a:off x="-273050" y="5538788"/>
            <a:ext cx="12738100" cy="1579562"/>
            <a:chOff x="0" y="0"/>
            <a:chExt cx="12737232" cy="1579028"/>
          </a:xfrm>
        </p:grpSpPr>
        <p:pic>
          <p:nvPicPr>
            <p:cNvPr id="10255" name="图片 5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579102" y="-5579102"/>
              <a:ext cx="1579028" cy="12737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6" name="文本框 99"/>
            <p:cNvSpPr txBox="1">
              <a:spLocks noChangeArrowheads="1"/>
            </p:cNvSpPr>
            <p:nvPr/>
          </p:nvSpPr>
          <p:spPr bwMode="auto">
            <a:xfrm>
              <a:off x="4688322" y="708327"/>
              <a:ext cx="2697991" cy="52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内容与学时分配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11078"/>
              </p:ext>
            </p:extLst>
          </p:nvPr>
        </p:nvGraphicFramePr>
        <p:xfrm>
          <a:off x="233476" y="2235200"/>
          <a:ext cx="7850188" cy="3569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文档" r:id="rId4" imgW="5271606" imgH="2213204" progId="Word.Document.12">
                  <p:embed/>
                </p:oleObj>
              </mc:Choice>
              <mc:Fallback>
                <p:oleObj name="文档" r:id="rId4" imgW="5271606" imgH="22132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476" y="2235200"/>
                        <a:ext cx="7850188" cy="3569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69925" y="1527178"/>
            <a:ext cx="6180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，基本课时安排为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pic>
        <p:nvPicPr>
          <p:cNvPr id="2110" name="Picture 62" descr="D:\lsg\职称申报(最新版)\职称评审相关材料\教材资料\新教材\封面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44" y="79288"/>
            <a:ext cx="4544256" cy="62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50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 bwMode="auto">
          <a:xfrm>
            <a:off x="1625601" y="653139"/>
            <a:ext cx="2670628" cy="1175657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99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矩阵的相似对角化</a:t>
            </a: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rgbClr val="000099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b="1" dirty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en-US" altLang="zh-CN" b="1" dirty="0" smtClean="0">
                <a:solidFill>
                  <a:srgbClr val="000099"/>
                </a:solidFill>
                <a:ea typeface="微软雅黑 Light" pitchFamily="2" charset="-122"/>
              </a:rPr>
              <a:t>  </a:t>
            </a:r>
            <a:r>
              <a:rPr lang="zh-CN" altLang="en-US" b="1" dirty="0" smtClean="0">
                <a:solidFill>
                  <a:schemeClr val="bg1"/>
                </a:solidFill>
                <a:ea typeface="微软雅黑 Light" pitchFamily="2" charset="-122"/>
              </a:rPr>
              <a:t>特征值与特征向量</a:t>
            </a:r>
            <a:endParaRPr lang="en-US" altLang="zh-CN" b="1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微软雅黑 Light" pitchFamily="2" charset="-122"/>
              </a:rPr>
              <a:t>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微软雅黑 Light" pitchFamily="2" charset="-122"/>
              </a:rPr>
              <a:t>矩阵相似对角化的条件</a:t>
            </a:r>
          </a:p>
        </p:txBody>
      </p:sp>
      <p:sp>
        <p:nvSpPr>
          <p:cNvPr id="3" name="圆角矩形 2"/>
          <p:cNvSpPr/>
          <p:nvPr/>
        </p:nvSpPr>
        <p:spPr bwMode="auto">
          <a:xfrm>
            <a:off x="8356595" y="4513942"/>
            <a:ext cx="1886857" cy="1233714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99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     行列式</a:t>
            </a: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rgbClr val="000099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b="1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b="1" dirty="0" smtClean="0">
                <a:solidFill>
                  <a:schemeClr val="bg1"/>
                </a:solidFill>
                <a:ea typeface="微软雅黑 Light" pitchFamily="2" charset="-122"/>
              </a:rPr>
              <a:t>          </a:t>
            </a:r>
            <a:r>
              <a:rPr lang="zh-CN" altLang="en-US" b="1" dirty="0" smtClean="0">
                <a:solidFill>
                  <a:schemeClr val="bg1"/>
                </a:solidFill>
                <a:ea typeface="微软雅黑 Light" pitchFamily="2" charset="-122"/>
              </a:rPr>
              <a:t>计算</a:t>
            </a:r>
            <a:endParaRPr lang="en-US" altLang="zh-CN" b="1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 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克莱姆法则</a:t>
            </a:r>
          </a:p>
        </p:txBody>
      </p:sp>
      <p:sp>
        <p:nvSpPr>
          <p:cNvPr id="4" name="圆角矩形 3"/>
          <p:cNvSpPr/>
          <p:nvPr/>
        </p:nvSpPr>
        <p:spPr bwMode="auto">
          <a:xfrm>
            <a:off x="8240481" y="638627"/>
            <a:ext cx="1683658" cy="134982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       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99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矩阵</a:t>
            </a: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rgbClr val="000099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dirty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rgbClr val="000099"/>
                </a:solidFill>
                <a:ea typeface="微软雅黑 Light" pitchFamily="2" charset="-122"/>
              </a:rPr>
              <a:t>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矩阵的概念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矩阵的运算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矩阵的秩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5315851" y="2271483"/>
            <a:ext cx="2217061" cy="184331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>
                <a:ea typeface="微软雅黑 Light" pitchFamily="2" charset="-122"/>
              </a:rPr>
              <a:t> </a:t>
            </a:r>
            <a:r>
              <a:rPr lang="zh-CN" altLang="en-US" b="1" dirty="0" smtClean="0">
                <a:solidFill>
                  <a:srgbClr val="000099"/>
                </a:solidFill>
                <a:ea typeface="微软雅黑 Light" pitchFamily="2" charset="-122"/>
              </a:rPr>
              <a:t>矩阵的初等变换</a:t>
            </a:r>
            <a:endParaRPr lang="en-US" altLang="zh-CN" b="1" dirty="0" smtClean="0">
              <a:solidFill>
                <a:srgbClr val="000099"/>
              </a:solidFill>
              <a:ea typeface="微软雅黑 Light" pitchFamily="2" charset="-122"/>
            </a:endParaRPr>
          </a:p>
          <a:p>
            <a:r>
              <a:rPr lang="en-US" altLang="zh-CN" b="1" dirty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zh-CN" altLang="en-US" b="1" dirty="0" smtClean="0">
                <a:solidFill>
                  <a:srgbClr val="000099"/>
                </a:solidFill>
                <a:ea typeface="微软雅黑 Light" pitchFamily="2" charset="-122"/>
              </a:rPr>
              <a:t>与线性方程组</a:t>
            </a:r>
            <a:endParaRPr lang="en-US" altLang="zh-CN" b="1" dirty="0" smtClean="0">
              <a:solidFill>
                <a:srgbClr val="000099"/>
              </a:solidFill>
              <a:ea typeface="微软雅黑 Light" pitchFamily="2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   矩阵的初等变换        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高斯消元法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解的判定定理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线性相关</a:t>
            </a:r>
            <a:r>
              <a:rPr lang="zh-CN" altLang="en-US" dirty="0">
                <a:solidFill>
                  <a:schemeClr val="bg1"/>
                </a:solidFill>
                <a:ea typeface="微软雅黑 Light" pitchFamily="2" charset="-122"/>
              </a:rPr>
              <a:t>性</a:t>
            </a:r>
            <a:endParaRPr lang="en-US" altLang="zh-CN" dirty="0">
              <a:solidFill>
                <a:schemeClr val="bg1"/>
              </a:solidFill>
              <a:ea typeface="微软雅黑 Light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625601" y="4804228"/>
            <a:ext cx="2799254" cy="1175657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ea typeface="微软雅黑 Light" pitchFamily="2" charset="-122"/>
              </a:rPr>
              <a:t> </a:t>
            </a:r>
            <a:r>
              <a:rPr lang="en-US" altLang="zh-CN" dirty="0" smtClean="0">
                <a:ea typeface="微软雅黑 Light" pitchFamily="2" charset="-122"/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  <a:ea typeface="微软雅黑 Light" pitchFamily="2" charset="-122"/>
              </a:rPr>
              <a:t>*</a:t>
            </a:r>
            <a:r>
              <a:rPr lang="zh-CN" altLang="en-US" b="1" dirty="0" smtClean="0">
                <a:solidFill>
                  <a:srgbClr val="FF0000"/>
                </a:solidFill>
                <a:ea typeface="微软雅黑 Light" pitchFamily="2" charset="-122"/>
              </a:rPr>
              <a:t>线性空间与线性变换</a:t>
            </a:r>
            <a:endParaRPr lang="en-US" altLang="zh-CN" b="1" dirty="0" smtClean="0">
              <a:solidFill>
                <a:srgbClr val="FF0000"/>
              </a:solidFill>
              <a:ea typeface="微软雅黑 Light" pitchFamily="2" charset="-122"/>
            </a:endParaRPr>
          </a:p>
          <a:p>
            <a:r>
              <a:rPr lang="en-US" altLang="zh-CN" dirty="0" smtClean="0">
                <a:solidFill>
                  <a:srgbClr val="000099"/>
                </a:solidFill>
                <a:ea typeface="微软雅黑 Light" pitchFamily="2" charset="-122"/>
              </a:rPr>
              <a:t>       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线性空间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     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线性变换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1625601" y="2721428"/>
            <a:ext cx="2271485" cy="1436914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>
                <a:solidFill>
                  <a:srgbClr val="FF0000"/>
                </a:solidFill>
                <a:ea typeface="微软雅黑 Light" pitchFamily="2" charset="-122"/>
              </a:rPr>
              <a:t> </a:t>
            </a:r>
            <a:r>
              <a:rPr lang="zh-CN" altLang="en-US" b="1" dirty="0" smtClean="0">
                <a:solidFill>
                  <a:srgbClr val="FF0000"/>
                </a:solidFill>
                <a:ea typeface="微软雅黑 Light" pitchFamily="2" charset="-122"/>
              </a:rPr>
              <a:t>二次型</a:t>
            </a:r>
            <a:endParaRPr lang="en-US" altLang="zh-CN" b="1" dirty="0" smtClean="0">
              <a:solidFill>
                <a:srgbClr val="FF0000"/>
              </a:solidFill>
              <a:ea typeface="微软雅黑 Light" pitchFamily="2" charset="-122"/>
            </a:endParaRPr>
          </a:p>
          <a:p>
            <a:r>
              <a:rPr lang="en-US" altLang="zh-CN" dirty="0" smtClean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二次型的矩阵表示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化二次型为标准形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正定二次型</a:t>
            </a:r>
            <a:endParaRPr lang="en-US" altLang="zh-CN" dirty="0">
              <a:solidFill>
                <a:schemeClr val="bg1"/>
              </a:solidFill>
              <a:ea typeface="微软雅黑 Light" pitchFamily="2" charset="-122"/>
            </a:endParaRPr>
          </a:p>
        </p:txBody>
      </p:sp>
      <p:sp>
        <p:nvSpPr>
          <p:cNvPr id="33" name="下箭头 32"/>
          <p:cNvSpPr/>
          <p:nvPr/>
        </p:nvSpPr>
        <p:spPr bwMode="auto">
          <a:xfrm>
            <a:off x="2728686" y="1828796"/>
            <a:ext cx="566057" cy="849090"/>
          </a:xfrm>
          <a:prstGeom prst="down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36" name="直角双向箭头 35"/>
          <p:cNvSpPr/>
          <p:nvPr/>
        </p:nvSpPr>
        <p:spPr bwMode="auto">
          <a:xfrm>
            <a:off x="4605194" y="4158343"/>
            <a:ext cx="2080990" cy="1589314"/>
          </a:xfrm>
          <a:prstGeom prst="leftUpArrow">
            <a:avLst>
              <a:gd name="adj1" fmla="val 15868"/>
              <a:gd name="adj2" fmla="val 25000"/>
              <a:gd name="adj3" fmla="val 25000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37" name="左箭头 36"/>
          <p:cNvSpPr/>
          <p:nvPr/>
        </p:nvSpPr>
        <p:spPr bwMode="auto">
          <a:xfrm>
            <a:off x="4096657" y="3131458"/>
            <a:ext cx="1190171" cy="529769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39" name="左箭头 38"/>
          <p:cNvSpPr/>
          <p:nvPr/>
        </p:nvSpPr>
        <p:spPr bwMode="auto">
          <a:xfrm rot="2065706">
            <a:off x="7285734" y="4048039"/>
            <a:ext cx="1140005" cy="638628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0" name="下箭头 39"/>
          <p:cNvSpPr/>
          <p:nvPr/>
        </p:nvSpPr>
        <p:spPr bwMode="auto">
          <a:xfrm>
            <a:off x="9044206" y="2116077"/>
            <a:ext cx="511633" cy="2251276"/>
          </a:xfrm>
          <a:prstGeom prst="down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1" name="左箭头 40"/>
          <p:cNvSpPr/>
          <p:nvPr/>
        </p:nvSpPr>
        <p:spPr bwMode="auto">
          <a:xfrm>
            <a:off x="4590135" y="976082"/>
            <a:ext cx="3459847" cy="529769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2" name="左箭头 41"/>
          <p:cNvSpPr/>
          <p:nvPr/>
        </p:nvSpPr>
        <p:spPr bwMode="auto">
          <a:xfrm rot="19520526">
            <a:off x="7317750" y="1944896"/>
            <a:ext cx="1075971" cy="468627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3" name="文本框 99"/>
          <p:cNvSpPr txBox="1">
            <a:spLocks noChangeArrowheads="1"/>
          </p:cNvSpPr>
          <p:nvPr/>
        </p:nvSpPr>
        <p:spPr bwMode="auto">
          <a:xfrm>
            <a:off x="5516633" y="6247355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知识结构框图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195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33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矩形 54"/>
          <p:cNvSpPr>
            <a:spLocks noChangeArrowheads="1"/>
          </p:cNvSpPr>
          <p:nvPr/>
        </p:nvSpPr>
        <p:spPr bwMode="auto">
          <a:xfrm>
            <a:off x="669925" y="6210300"/>
            <a:ext cx="10850563" cy="200025"/>
          </a:xfrm>
          <a:prstGeom prst="rect">
            <a:avLst/>
          </a:prstGeom>
          <a:solidFill>
            <a:srgbClr val="FBFB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" name="组合 87"/>
          <p:cNvGrpSpPr>
            <a:grpSpLocks/>
          </p:cNvGrpSpPr>
          <p:nvPr/>
        </p:nvGrpSpPr>
        <p:grpSpPr bwMode="auto">
          <a:xfrm>
            <a:off x="-50800" y="282575"/>
            <a:ext cx="4283075" cy="809625"/>
            <a:chOff x="0" y="0"/>
            <a:chExt cx="4281735" cy="808970"/>
          </a:xfrm>
        </p:grpSpPr>
        <p:sp>
          <p:nvSpPr>
            <p:cNvPr id="10257" name="文本框 91"/>
            <p:cNvSpPr txBox="1">
              <a:spLocks noChangeArrowheads="1"/>
            </p:cNvSpPr>
            <p:nvPr/>
          </p:nvSpPr>
          <p:spPr bwMode="auto">
            <a:xfrm>
              <a:off x="284187" y="0"/>
              <a:ext cx="1620450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课程设计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258" name="直接连接符 92"/>
            <p:cNvCxnSpPr>
              <a:cxnSpLocks noChangeShapeType="1"/>
            </p:cNvCxnSpPr>
            <p:nvPr/>
          </p:nvCxnSpPr>
          <p:spPr bwMode="auto">
            <a:xfrm>
              <a:off x="0" y="808970"/>
              <a:ext cx="4281735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组合 3"/>
          <p:cNvGrpSpPr>
            <a:grpSpLocks/>
          </p:cNvGrpSpPr>
          <p:nvPr/>
        </p:nvGrpSpPr>
        <p:grpSpPr bwMode="auto">
          <a:xfrm>
            <a:off x="-273050" y="5538788"/>
            <a:ext cx="12738100" cy="1579562"/>
            <a:chOff x="0" y="0"/>
            <a:chExt cx="12737232" cy="1579028"/>
          </a:xfrm>
        </p:grpSpPr>
        <p:pic>
          <p:nvPicPr>
            <p:cNvPr id="10255" name="图片 5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579102" y="-5579102"/>
              <a:ext cx="1579028" cy="12737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6" name="文本框 99"/>
            <p:cNvSpPr txBox="1">
              <a:spLocks noChangeArrowheads="1"/>
            </p:cNvSpPr>
            <p:nvPr/>
          </p:nvSpPr>
          <p:spPr bwMode="auto">
            <a:xfrm>
              <a:off x="4688322" y="708327"/>
              <a:ext cx="3775136" cy="52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教学重难点分析与处理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549698" y="1753891"/>
            <a:ext cx="820002" cy="3122342"/>
            <a:chOff x="4549698" y="1594624"/>
            <a:chExt cx="820002" cy="3122342"/>
          </a:xfrm>
        </p:grpSpPr>
        <p:sp>
          <p:nvSpPr>
            <p:cNvPr id="3" name="圆角矩形 2"/>
            <p:cNvSpPr/>
            <p:nvPr/>
          </p:nvSpPr>
          <p:spPr bwMode="auto">
            <a:xfrm>
              <a:off x="4549698" y="1594624"/>
              <a:ext cx="820002" cy="3122342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微软雅黑 Light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682700" y="2371424"/>
              <a:ext cx="553998" cy="154643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教学重点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561997" y="1718968"/>
            <a:ext cx="820002" cy="3122342"/>
            <a:chOff x="6561997" y="1532194"/>
            <a:chExt cx="820002" cy="3122342"/>
          </a:xfrm>
        </p:grpSpPr>
        <p:sp>
          <p:nvSpPr>
            <p:cNvPr id="16" name="圆角矩形 15"/>
            <p:cNvSpPr/>
            <p:nvPr/>
          </p:nvSpPr>
          <p:spPr bwMode="auto">
            <a:xfrm>
              <a:off x="6561997" y="1532194"/>
              <a:ext cx="820002" cy="3122342"/>
            </a:xfrm>
            <a:prstGeom prst="roundRect">
              <a:avLst/>
            </a:prstGeom>
            <a:solidFill>
              <a:srgbClr val="0000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微软雅黑 Light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694999" y="2351809"/>
              <a:ext cx="553998" cy="148311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教学难点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7834829" y="2946929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矩形 19"/>
          <p:cNvSpPr>
            <a:spLocks noChangeArrowheads="1"/>
          </p:cNvSpPr>
          <p:nvPr/>
        </p:nvSpPr>
        <p:spPr bwMode="auto">
          <a:xfrm>
            <a:off x="7834829" y="3784042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矩形 19"/>
          <p:cNvSpPr>
            <a:spLocks noChangeArrowheads="1"/>
          </p:cNvSpPr>
          <p:nvPr/>
        </p:nvSpPr>
        <p:spPr bwMode="auto">
          <a:xfrm>
            <a:off x="7739862" y="4601689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矩形 18"/>
          <p:cNvSpPr>
            <a:spLocks noChangeArrowheads="1"/>
          </p:cNvSpPr>
          <p:nvPr/>
        </p:nvSpPr>
        <p:spPr bwMode="auto">
          <a:xfrm>
            <a:off x="484400" y="2208164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矩形 18"/>
          <p:cNvSpPr>
            <a:spLocks noChangeArrowheads="1"/>
          </p:cNvSpPr>
          <p:nvPr/>
        </p:nvSpPr>
        <p:spPr bwMode="auto">
          <a:xfrm>
            <a:off x="484400" y="4046528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矩形 19"/>
          <p:cNvSpPr>
            <a:spLocks noChangeArrowheads="1"/>
          </p:cNvSpPr>
          <p:nvPr/>
        </p:nvSpPr>
        <p:spPr bwMode="auto">
          <a:xfrm>
            <a:off x="7739862" y="2032781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9811" y="1848115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的计算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与矩阵的初等变换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69061" y="4092229"/>
            <a:ext cx="285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特征值与特征向量的性质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739862" y="1569225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分块矩阵的计算与应用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34829" y="2382229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向量组的线性相关性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34829" y="3233211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含参数线性方程组的求解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18"/>
          <p:cNvSpPr>
            <a:spLocks noChangeArrowheads="1"/>
          </p:cNvSpPr>
          <p:nvPr/>
        </p:nvSpPr>
        <p:spPr bwMode="auto">
          <a:xfrm>
            <a:off x="485187" y="4889405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6" name="矩形 18"/>
          <p:cNvSpPr>
            <a:spLocks noChangeArrowheads="1"/>
          </p:cNvSpPr>
          <p:nvPr/>
        </p:nvSpPr>
        <p:spPr bwMode="auto">
          <a:xfrm>
            <a:off x="484400" y="3168781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79023" y="2751561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线性方程组的求解与判定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79022" y="3602543"/>
            <a:ext cx="397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矩阵的相似对角化及应用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3"/>
          <p:cNvSpPr txBox="1"/>
          <p:nvPr/>
        </p:nvSpPr>
        <p:spPr>
          <a:xfrm>
            <a:off x="641583" y="4293931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正定二次型的判定与应用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348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8" grpId="0"/>
      <p:bldP spid="29" grpId="0"/>
      <p:bldP spid="31" grpId="0"/>
      <p:bldP spid="32" grpId="0"/>
      <p:bldP spid="33" grpId="0"/>
      <p:bldP spid="35" grpId="0" animBg="1"/>
      <p:bldP spid="36" grpId="0" animBg="1"/>
      <p:bldP spid="37" grpId="0"/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91"/>
          <p:cNvSpPr txBox="1">
            <a:spLocks noChangeArrowheads="1"/>
          </p:cNvSpPr>
          <p:nvPr/>
        </p:nvSpPr>
        <p:spPr bwMode="auto">
          <a:xfrm>
            <a:off x="233476" y="282575"/>
            <a:ext cx="2396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教学实施</a:t>
            </a:r>
            <a:r>
              <a:rPr lang="en-US" altLang="zh-CN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2800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93"/>
          <p:cNvSpPr txBox="1">
            <a:spLocks noChangeArrowheads="1"/>
          </p:cNvSpPr>
          <p:nvPr/>
        </p:nvSpPr>
        <p:spPr bwMode="auto">
          <a:xfrm>
            <a:off x="2477042" y="319600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考核评价方法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连接符 46"/>
          <p:cNvCxnSpPr>
            <a:cxnSpLocks noChangeShapeType="1"/>
          </p:cNvCxnSpPr>
          <p:nvPr/>
        </p:nvCxnSpPr>
        <p:spPr bwMode="auto">
          <a:xfrm flipV="1">
            <a:off x="335504" y="991518"/>
            <a:ext cx="4683731" cy="3642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Plus 20"/>
          <p:cNvSpPr/>
          <p:nvPr/>
        </p:nvSpPr>
        <p:spPr>
          <a:xfrm>
            <a:off x="4170459" y="2965480"/>
            <a:ext cx="746125" cy="744538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vi-VN">
              <a:solidFill>
                <a:srgbClr val="C00000"/>
              </a:solidFill>
            </a:endParaRPr>
          </a:p>
        </p:txBody>
      </p:sp>
      <p:sp>
        <p:nvSpPr>
          <p:cNvPr id="30" name="Equal 27"/>
          <p:cNvSpPr/>
          <p:nvPr/>
        </p:nvSpPr>
        <p:spPr>
          <a:xfrm>
            <a:off x="7850001" y="2868641"/>
            <a:ext cx="814387" cy="814388"/>
          </a:xfrm>
          <a:prstGeom prst="mathEqual">
            <a:avLst/>
          </a:prstGeom>
          <a:solidFill>
            <a:srgbClr val="C63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vi-VN">
              <a:solidFill>
                <a:srgbClr val="C0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795959" y="2315399"/>
            <a:ext cx="1795462" cy="1798638"/>
            <a:chOff x="525463" y="2314575"/>
            <a:chExt cx="1795462" cy="1798638"/>
          </a:xfrm>
        </p:grpSpPr>
        <p:grpSp>
          <p:nvGrpSpPr>
            <p:cNvPr id="36" name="Group 14"/>
            <p:cNvGrpSpPr>
              <a:grpSpLocks/>
            </p:cNvGrpSpPr>
            <p:nvPr/>
          </p:nvGrpSpPr>
          <p:grpSpPr bwMode="auto">
            <a:xfrm>
              <a:off x="525463" y="2314575"/>
              <a:ext cx="1795462" cy="1798638"/>
              <a:chOff x="3692576" y="1742634"/>
              <a:chExt cx="2790379" cy="2796023"/>
            </a:xfrm>
          </p:grpSpPr>
          <p:grpSp>
            <p:nvGrpSpPr>
              <p:cNvPr id="37" name="组合 79"/>
              <p:cNvGrpSpPr>
                <a:grpSpLocks/>
              </p:cNvGrpSpPr>
              <p:nvPr/>
            </p:nvGrpSpPr>
            <p:grpSpPr bwMode="auto"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39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kern="0">
                    <a:solidFill>
                      <a:srgbClr val="C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0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zh-CN" altLang="en-US" kern="0" smtClean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38" name="椭圆 80"/>
              <p:cNvSpPr/>
              <p:nvPr/>
            </p:nvSpPr>
            <p:spPr bwMode="auto">
              <a:xfrm>
                <a:off x="4079531" y="2136608"/>
                <a:ext cx="2016472" cy="2020557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 smtClean="0">
                  <a:solidFill>
                    <a:srgbClr val="C00000"/>
                  </a:solidFill>
                </a:endParaRPr>
              </a:p>
            </p:txBody>
          </p:sp>
        </p:grpSp>
        <p:pic>
          <p:nvPicPr>
            <p:cNvPr id="41" name="Picture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00" y="2730500"/>
              <a:ext cx="661988" cy="661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TextBox 13"/>
            <p:cNvSpPr txBox="1">
              <a:spLocks noChangeArrowheads="1"/>
            </p:cNvSpPr>
            <p:nvPr/>
          </p:nvSpPr>
          <p:spPr bwMode="auto">
            <a:xfrm>
              <a:off x="1000125" y="3336925"/>
              <a:ext cx="11874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eaLnBrk="1" hangingPunct="1"/>
              <a:r>
                <a:rPr lang="zh-CN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平时成绩</a:t>
              </a:r>
              <a:endParaRPr lang="vi-VN" altLang="zh-CN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486838" y="2344014"/>
            <a:ext cx="1795462" cy="1798638"/>
            <a:chOff x="5486838" y="2344014"/>
            <a:chExt cx="1795462" cy="1798638"/>
          </a:xfrm>
        </p:grpSpPr>
        <p:grpSp>
          <p:nvGrpSpPr>
            <p:cNvPr id="25" name="Group 21"/>
            <p:cNvGrpSpPr>
              <a:grpSpLocks/>
            </p:cNvGrpSpPr>
            <p:nvPr/>
          </p:nvGrpSpPr>
          <p:grpSpPr bwMode="auto">
            <a:xfrm>
              <a:off x="5486838" y="2344014"/>
              <a:ext cx="1795462" cy="1798638"/>
              <a:chOff x="3692576" y="1742634"/>
              <a:chExt cx="2790379" cy="2796023"/>
            </a:xfrm>
          </p:grpSpPr>
          <p:grpSp>
            <p:nvGrpSpPr>
              <p:cNvPr id="26" name="组合 79"/>
              <p:cNvGrpSpPr>
                <a:grpSpLocks/>
              </p:cNvGrpSpPr>
              <p:nvPr/>
            </p:nvGrpSpPr>
            <p:grpSpPr bwMode="auto"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28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kern="0">
                    <a:solidFill>
                      <a:srgbClr val="C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9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zh-CN" altLang="en-US" kern="0" smtClean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27" name="椭圆 80"/>
              <p:cNvSpPr/>
              <p:nvPr/>
            </p:nvSpPr>
            <p:spPr bwMode="auto">
              <a:xfrm>
                <a:off x="4079531" y="2130365"/>
                <a:ext cx="2016472" cy="2020557"/>
              </a:xfrm>
              <a:prstGeom prst="ellipse">
                <a:avLst/>
              </a:prstGeom>
              <a:solidFill>
                <a:srgbClr val="C63E55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 smtClean="0">
                  <a:solidFill>
                    <a:srgbClr val="C00000"/>
                  </a:solidFill>
                </a:endParaRPr>
              </a:p>
            </p:txBody>
          </p:sp>
        </p:grpSp>
        <p:pic>
          <p:nvPicPr>
            <p:cNvPr id="43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1127" y="2731664"/>
              <a:ext cx="663575" cy="66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TextBox 34"/>
            <p:cNvSpPr txBox="1">
              <a:spLocks noChangeArrowheads="1"/>
            </p:cNvSpPr>
            <p:nvPr/>
          </p:nvSpPr>
          <p:spPr bwMode="auto">
            <a:xfrm>
              <a:off x="5967850" y="3360014"/>
              <a:ext cx="113506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eaLnBrk="1" hangingPunct="1"/>
              <a:r>
                <a:rPr lang="zh-CN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考试成绩</a:t>
              </a:r>
              <a:endParaRPr lang="vi-VN" altLang="zh-CN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225738" y="2345271"/>
            <a:ext cx="1795462" cy="1800225"/>
            <a:chOff x="9917113" y="2276475"/>
            <a:chExt cx="1795462" cy="1800225"/>
          </a:xfrm>
        </p:grpSpPr>
        <p:grpSp>
          <p:nvGrpSpPr>
            <p:cNvPr id="31" name="Group 28"/>
            <p:cNvGrpSpPr>
              <a:grpSpLocks/>
            </p:cNvGrpSpPr>
            <p:nvPr/>
          </p:nvGrpSpPr>
          <p:grpSpPr bwMode="auto">
            <a:xfrm>
              <a:off x="9917113" y="2276475"/>
              <a:ext cx="1795462" cy="1800225"/>
              <a:chOff x="3692576" y="1742634"/>
              <a:chExt cx="2790379" cy="2796023"/>
            </a:xfrm>
          </p:grpSpPr>
          <p:grpSp>
            <p:nvGrpSpPr>
              <p:cNvPr id="32" name="组合 79"/>
              <p:cNvGrpSpPr>
                <a:grpSpLocks/>
              </p:cNvGrpSpPr>
              <p:nvPr/>
            </p:nvGrpSpPr>
            <p:grpSpPr bwMode="auto"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34" name="任意多边形 82"/>
                <p:cNvSpPr/>
                <p:nvPr/>
              </p:nvSpPr>
              <p:spPr>
                <a:xfrm rot="3738964">
                  <a:off x="6379728" y="2488775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kern="0">
                    <a:solidFill>
                      <a:srgbClr val="C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5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zh-CN" altLang="en-US" kern="0" smtClean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33" name="椭圆 80"/>
              <p:cNvSpPr/>
              <p:nvPr/>
            </p:nvSpPr>
            <p:spPr bwMode="auto">
              <a:xfrm>
                <a:off x="4079531" y="2130365"/>
                <a:ext cx="2016472" cy="2020557"/>
              </a:xfrm>
              <a:prstGeom prst="ellipse">
                <a:avLst/>
              </a:prstGeom>
              <a:solidFill>
                <a:srgbClr val="003366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 smtClean="0">
                  <a:solidFill>
                    <a:srgbClr val="C00000"/>
                  </a:solidFill>
                </a:endParaRPr>
              </a:p>
            </p:txBody>
          </p:sp>
        </p:grpSp>
        <p:pic>
          <p:nvPicPr>
            <p:cNvPr id="45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83850" y="2730500"/>
              <a:ext cx="661988" cy="661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TextBox 35"/>
            <p:cNvSpPr txBox="1">
              <a:spLocks noChangeArrowheads="1"/>
            </p:cNvSpPr>
            <p:nvPr/>
          </p:nvSpPr>
          <p:spPr bwMode="auto">
            <a:xfrm>
              <a:off x="10409238" y="3336925"/>
              <a:ext cx="10033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eaLnBrk="1" hangingPunct="1"/>
              <a:r>
                <a:rPr lang="zh-CN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考核成绩</a:t>
              </a:r>
              <a:endParaRPr lang="vi-VN" altLang="zh-CN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044944" y="4315522"/>
            <a:ext cx="185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作业和考勤</a:t>
            </a:r>
            <a:endParaRPr lang="zh-CN" altLang="en-US" dirty="0"/>
          </a:p>
        </p:txBody>
      </p:sp>
      <p:sp>
        <p:nvSpPr>
          <p:cNvPr id="47" name="文本框 9"/>
          <p:cNvSpPr txBox="1"/>
          <p:nvPr/>
        </p:nvSpPr>
        <p:spPr>
          <a:xfrm>
            <a:off x="5852747" y="4272116"/>
            <a:ext cx="185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卷面成绩</a:t>
            </a:r>
            <a:endParaRPr lang="zh-CN" altLang="en-US" dirty="0"/>
          </a:p>
        </p:txBody>
      </p:sp>
      <p:sp>
        <p:nvSpPr>
          <p:cNvPr id="48" name="文本框 9"/>
          <p:cNvSpPr txBox="1"/>
          <p:nvPr/>
        </p:nvSpPr>
        <p:spPr>
          <a:xfrm>
            <a:off x="9717863" y="4315522"/>
            <a:ext cx="185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总评成绩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619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 animBg="1"/>
      <p:bldP spid="10" grpId="0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02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二、三阶行列式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467342" y="1378829"/>
            <a:ext cx="1151643" cy="567841"/>
            <a:chOff x="467342" y="1378829"/>
            <a:chExt cx="1151643" cy="5678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67342" y="1378829"/>
              <a:ext cx="911082" cy="56784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86221" y="1446292"/>
              <a:ext cx="11327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 言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378424" y="1209815"/>
            <a:ext cx="4487767" cy="1012044"/>
            <a:chOff x="1378424" y="1209815"/>
            <a:chExt cx="4487767" cy="1012044"/>
          </a:xfrm>
        </p:grpSpPr>
        <p:grpSp>
          <p:nvGrpSpPr>
            <p:cNvPr id="9" name="组合 8"/>
            <p:cNvGrpSpPr/>
            <p:nvPr/>
          </p:nvGrpSpPr>
          <p:grpSpPr>
            <a:xfrm>
              <a:off x="3762493" y="1209815"/>
              <a:ext cx="2103698" cy="1012044"/>
              <a:chOff x="1665027" y="1405719"/>
              <a:chExt cx="2103698" cy="1012044"/>
            </a:xfrm>
          </p:grpSpPr>
          <p:graphicFrame>
            <p:nvGraphicFramePr>
              <p:cNvPr id="6" name="对象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2352612"/>
                  </p:ext>
                </p:extLst>
              </p:nvPr>
            </p:nvGraphicFramePr>
            <p:xfrm>
              <a:off x="1879505" y="1405719"/>
              <a:ext cx="1854670" cy="4225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125" name="Equation" r:id="rId3" imgW="1002960" imgH="228600" progId="Equation.DSMT4">
                      <p:embed/>
                    </p:oleObj>
                  </mc:Choice>
                  <mc:Fallback>
                    <p:oleObj name="Equation" r:id="rId3" imgW="10029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879505" y="1405719"/>
                            <a:ext cx="1854670" cy="42258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对象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81423537"/>
                  </p:ext>
                </p:extLst>
              </p:nvPr>
            </p:nvGraphicFramePr>
            <p:xfrm>
              <a:off x="1844675" y="1995488"/>
              <a:ext cx="1924050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126" name="Equation" r:id="rId5" imgW="1041120" imgH="228600" progId="Equation.DSMT4">
                      <p:embed/>
                    </p:oleObj>
                  </mc:Choice>
                  <mc:Fallback>
                    <p:oleObj name="Equation" r:id="rId5" imgW="10411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844675" y="1995488"/>
                            <a:ext cx="1924050" cy="4222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左大括号 7"/>
              <p:cNvSpPr/>
              <p:nvPr/>
            </p:nvSpPr>
            <p:spPr>
              <a:xfrm>
                <a:off x="1665027" y="1574733"/>
                <a:ext cx="179648" cy="704443"/>
              </a:xfrm>
              <a:prstGeom prst="lef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378424" y="1485005"/>
              <a:ext cx="2524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求解线性方程组</a:t>
              </a:r>
            </a:p>
          </p:txBody>
        </p:sp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639697"/>
              </p:ext>
            </p:extLst>
          </p:nvPr>
        </p:nvGraphicFramePr>
        <p:xfrm>
          <a:off x="3656012" y="2921000"/>
          <a:ext cx="28178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7" name="Equation" r:id="rId7" imgW="1523880" imgH="228600" progId="Equation.DSMT4">
                  <p:embed/>
                </p:oleObj>
              </mc:Choice>
              <mc:Fallback>
                <p:oleObj name="Equation" r:id="rId7" imgW="152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6012" y="2921000"/>
                        <a:ext cx="2817813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467342" y="2524944"/>
            <a:ext cx="2524836" cy="461665"/>
            <a:chOff x="467342" y="2524944"/>
            <a:chExt cx="2524836" cy="461665"/>
          </a:xfrm>
        </p:grpSpPr>
        <p:sp>
          <p:nvSpPr>
            <p:cNvPr id="13" name="文本框 12"/>
            <p:cNvSpPr txBox="1"/>
            <p:nvPr/>
          </p:nvSpPr>
          <p:spPr>
            <a:xfrm>
              <a:off x="467342" y="2524944"/>
              <a:ext cx="25248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思路：消</a:t>
              </a: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5372789"/>
                </p:ext>
              </p:extLst>
            </p:nvPr>
          </p:nvGraphicFramePr>
          <p:xfrm>
            <a:off x="1889171" y="2542464"/>
            <a:ext cx="308117" cy="426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28"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89171" y="2542464"/>
                          <a:ext cx="308117" cy="4266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左大括号 15"/>
          <p:cNvSpPr/>
          <p:nvPr/>
        </p:nvSpPr>
        <p:spPr>
          <a:xfrm>
            <a:off x="3439469" y="2557070"/>
            <a:ext cx="179648" cy="704443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4749421" y="2879174"/>
            <a:ext cx="928048" cy="64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749421" y="3343275"/>
            <a:ext cx="9280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378424" y="3589371"/>
            <a:ext cx="1187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相减得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586295"/>
              </p:ext>
            </p:extLst>
          </p:nvPr>
        </p:nvGraphicFramePr>
        <p:xfrm>
          <a:off x="3656012" y="2431476"/>
          <a:ext cx="27955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9" name="Equation" r:id="rId11" imgW="1511280" imgH="228600" progId="Equation.DSMT4">
                  <p:embed/>
                </p:oleObj>
              </mc:Choice>
              <mc:Fallback>
                <p:oleObj name="Equation" r:id="rId11" imgW="1511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6012" y="2431476"/>
                        <a:ext cx="2795588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1399963" y="4422965"/>
            <a:ext cx="3184430" cy="461665"/>
            <a:chOff x="1442394" y="4540560"/>
            <a:chExt cx="3184430" cy="461665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1321237"/>
                </p:ext>
              </p:extLst>
            </p:nvPr>
          </p:nvGraphicFramePr>
          <p:xfrm>
            <a:off x="1442394" y="4556280"/>
            <a:ext cx="1997075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30" name="Equation" r:id="rId13" imgW="1079280" imgH="228600" progId="Equation.DSMT4">
                    <p:embed/>
                  </p:oleObj>
                </mc:Choice>
                <mc:Fallback>
                  <p:oleObj name="Equation" r:id="rId13" imgW="1079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42394" y="4556280"/>
                          <a:ext cx="1997075" cy="4222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4"/>
            <p:cNvSpPr txBox="1"/>
            <p:nvPr/>
          </p:nvSpPr>
          <p:spPr>
            <a:xfrm>
              <a:off x="3439469" y="4540560"/>
              <a:ext cx="11873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5224"/>
              </p:ext>
            </p:extLst>
          </p:nvPr>
        </p:nvGraphicFramePr>
        <p:xfrm>
          <a:off x="8292070" y="2013247"/>
          <a:ext cx="3746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1" name="Equation" r:id="rId15" imgW="203040" imgH="228600" progId="Equation.DSMT4">
                  <p:embed/>
                </p:oleObj>
              </mc:Choice>
              <mc:Fallback>
                <p:oleObj name="Equation" r:id="rId15" imgW="203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92070" y="2013247"/>
                        <a:ext cx="374650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408981"/>
              </p:ext>
            </p:extLst>
          </p:nvPr>
        </p:nvGraphicFramePr>
        <p:xfrm>
          <a:off x="4156964" y="4255334"/>
          <a:ext cx="211296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2" name="Equation" r:id="rId17" imgW="1143000" imgH="431640" progId="Equation.DSMT4">
                  <p:embed/>
                </p:oleObj>
              </mc:Choice>
              <mc:Fallback>
                <p:oleObj name="Equation" r:id="rId17" imgW="1143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56964" y="4255334"/>
                        <a:ext cx="2112962" cy="79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椭圆 28"/>
          <p:cNvSpPr/>
          <p:nvPr/>
        </p:nvSpPr>
        <p:spPr>
          <a:xfrm>
            <a:off x="4584393" y="4636937"/>
            <a:ext cx="1675434" cy="495385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676759"/>
              </p:ext>
            </p:extLst>
          </p:nvPr>
        </p:nvGraphicFramePr>
        <p:xfrm>
          <a:off x="3597063" y="3556917"/>
          <a:ext cx="35941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3" name="Equation" r:id="rId19" imgW="1942920" imgH="253800" progId="Equation.DSMT4">
                  <p:embed/>
                </p:oleObj>
              </mc:Choice>
              <mc:Fallback>
                <p:oleObj name="Equation" r:id="rId19" imgW="19429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97063" y="3556917"/>
                        <a:ext cx="359410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24420"/>
              </p:ext>
            </p:extLst>
          </p:nvPr>
        </p:nvGraphicFramePr>
        <p:xfrm>
          <a:off x="8946326" y="2691456"/>
          <a:ext cx="3984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4" name="Equation" r:id="rId21" imgW="215640" imgH="228600" progId="Equation.DSMT4">
                  <p:embed/>
                </p:oleObj>
              </mc:Choice>
              <mc:Fallback>
                <p:oleObj name="Equation" r:id="rId21" imgW="215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946326" y="2691456"/>
                        <a:ext cx="398462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直接连接符 32"/>
          <p:cNvCxnSpPr/>
          <p:nvPr/>
        </p:nvCxnSpPr>
        <p:spPr>
          <a:xfrm>
            <a:off x="8666720" y="2467889"/>
            <a:ext cx="279606" cy="25683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121820"/>
              </p:ext>
            </p:extLst>
          </p:nvPr>
        </p:nvGraphicFramePr>
        <p:xfrm>
          <a:off x="8946326" y="1972256"/>
          <a:ext cx="3746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5" name="Equation" r:id="rId23" imgW="203040" imgH="228600" progId="Equation.DSMT4">
                  <p:embed/>
                </p:oleObj>
              </mc:Choice>
              <mc:Fallback>
                <p:oleObj name="Equation" r:id="rId23" imgW="203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946326" y="1972256"/>
                        <a:ext cx="374650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212712"/>
              </p:ext>
            </p:extLst>
          </p:nvPr>
        </p:nvGraphicFramePr>
        <p:xfrm>
          <a:off x="8326614" y="2691456"/>
          <a:ext cx="3746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6" name="Equation" r:id="rId25" imgW="203040" imgH="228600" progId="Equation.DSMT4">
                  <p:embed/>
                </p:oleObj>
              </mc:Choice>
              <mc:Fallback>
                <p:oleObj name="Equation" r:id="rId25" imgW="203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26614" y="2691456"/>
                        <a:ext cx="374650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连接符 37"/>
          <p:cNvCxnSpPr/>
          <p:nvPr/>
        </p:nvCxnSpPr>
        <p:spPr>
          <a:xfrm flipV="1">
            <a:off x="8654518" y="2465823"/>
            <a:ext cx="304010" cy="25683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172825" y="2057447"/>
            <a:ext cx="0" cy="9643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9422505" y="2057448"/>
            <a:ext cx="0" cy="9643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382058"/>
              </p:ext>
            </p:extLst>
          </p:nvPr>
        </p:nvGraphicFramePr>
        <p:xfrm>
          <a:off x="9587122" y="2456899"/>
          <a:ext cx="17605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7" name="Equation" r:id="rId27" imgW="952200" imgH="228600" progId="Equation.DSMT4">
                  <p:embed/>
                </p:oleObj>
              </mc:Choice>
              <mc:Fallback>
                <p:oleObj name="Equation" r:id="rId27" imgW="952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587122" y="2456899"/>
                        <a:ext cx="1760538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7835381" y="1111858"/>
            <a:ext cx="3882684" cy="2492015"/>
            <a:chOff x="7751298" y="1946670"/>
            <a:chExt cx="3882684" cy="2492015"/>
          </a:xfrm>
        </p:grpSpPr>
        <p:sp>
          <p:nvSpPr>
            <p:cNvPr id="18" name="文本框 17"/>
            <p:cNvSpPr txBox="1"/>
            <p:nvPr/>
          </p:nvSpPr>
          <p:spPr>
            <a:xfrm>
              <a:off x="8025862" y="2262717"/>
              <a:ext cx="27149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r>
                <a:rPr lang="zh-CN" altLang="en-US" sz="24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阶行列式：</a:t>
              </a: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7751298" y="1946670"/>
              <a:ext cx="3882684" cy="2492015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875103"/>
              </p:ext>
            </p:extLst>
          </p:nvPr>
        </p:nvGraphicFramePr>
        <p:xfrm>
          <a:off x="3990715" y="5661751"/>
          <a:ext cx="21590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8" name="Equation" r:id="rId29" imgW="1168200" imgH="431640" progId="Equation.DSMT4">
                  <p:embed/>
                </p:oleObj>
              </mc:Choice>
              <mc:Fallback>
                <p:oleObj name="Equation" r:id="rId29" imgW="1168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990715" y="5661751"/>
                        <a:ext cx="2159000" cy="79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1729760" y="5338586"/>
            <a:ext cx="26902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b="1" dirty="0" smtClean="0"/>
              <a:t>同理得</a:t>
            </a:r>
            <a:endParaRPr lang="zh-CN" altLang="en-US" sz="2400" b="1" dirty="0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816763"/>
              </p:ext>
            </p:extLst>
          </p:nvPr>
        </p:nvGraphicFramePr>
        <p:xfrm>
          <a:off x="6399320" y="4010022"/>
          <a:ext cx="2267399" cy="1328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9" name="Equation" r:id="rId31" imgW="1066680" imgH="914400" progId="Equation.DSMT4">
                  <p:embed/>
                </p:oleObj>
              </mc:Choice>
              <mc:Fallback>
                <p:oleObj name="Equation" r:id="rId31" imgW="10666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99320" y="4010022"/>
                        <a:ext cx="2267399" cy="1328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12133"/>
              </p:ext>
            </p:extLst>
          </p:nvPr>
        </p:nvGraphicFramePr>
        <p:xfrm>
          <a:off x="6386513" y="5332413"/>
          <a:ext cx="2293937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40" name="Equation" r:id="rId33" imgW="1079280" imgH="914400" progId="Equation.DSMT4">
                  <p:embed/>
                </p:oleObj>
              </mc:Choice>
              <mc:Fallback>
                <p:oleObj name="Equation" r:id="rId33" imgW="1079280" imgH="914400" progId="Equation.DSMT4">
                  <p:embed/>
                  <p:pic>
                    <p:nvPicPr>
                      <p:cNvPr id="0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513" y="5332413"/>
                        <a:ext cx="2293937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318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 animBg="1"/>
      <p:bldP spid="23" grpId="0"/>
      <p:bldP spid="29" grpId="0" animBg="1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719667" y="823914"/>
            <a:ext cx="104648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>
                <a:solidFill>
                  <a:schemeClr val="accent2"/>
                </a:solidFill>
              </a:rPr>
              <a:t>例</a:t>
            </a:r>
            <a:r>
              <a:rPr lang="en-US" altLang="zh-CN" sz="2400">
                <a:solidFill>
                  <a:schemeClr val="accent2"/>
                </a:solidFill>
              </a:rPr>
              <a:t>1</a:t>
            </a:r>
            <a:r>
              <a:rPr lang="en-US" altLang="zh-CN" sz="2400"/>
              <a:t>  </a:t>
            </a:r>
            <a:r>
              <a:rPr lang="zh-CN" altLang="en-US" sz="2400"/>
              <a:t>求解二元线性方程组</a:t>
            </a:r>
            <a:r>
              <a:rPr lang="zh-CN" altLang="en-US"/>
              <a:t> </a:t>
            </a:r>
          </a:p>
        </p:txBody>
      </p:sp>
      <p:graphicFrame>
        <p:nvGraphicFramePr>
          <p:cNvPr id="9219" name="Object 4"/>
          <p:cNvGraphicFramePr>
            <a:graphicFrameLocks noChangeAspect="1"/>
          </p:cNvGraphicFramePr>
          <p:nvPr/>
        </p:nvGraphicFramePr>
        <p:xfrm>
          <a:off x="3407834" y="1557339"/>
          <a:ext cx="259291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9" name="Equation" r:id="rId3" imgW="952087" imgH="482391" progId="Equation.DSMT4">
                  <p:embed/>
                </p:oleObj>
              </mc:Choice>
              <mc:Fallback>
                <p:oleObj name="Equation" r:id="rId3" imgW="952087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834" y="1557339"/>
                        <a:ext cx="2592917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11" name="Group 19"/>
          <p:cNvGrpSpPr>
            <a:grpSpLocks/>
          </p:cNvGrpSpPr>
          <p:nvPr/>
        </p:nvGrpSpPr>
        <p:grpSpPr bwMode="auto">
          <a:xfrm>
            <a:off x="1295400" y="2598738"/>
            <a:ext cx="6944784" cy="939800"/>
            <a:chOff x="612" y="1637"/>
            <a:chExt cx="3281" cy="592"/>
          </a:xfrm>
        </p:grpSpPr>
        <p:sp>
          <p:nvSpPr>
            <p:cNvPr id="9225" name="Text Box 11"/>
            <p:cNvSpPr txBox="1">
              <a:spLocks noChangeArrowheads="1"/>
            </p:cNvSpPr>
            <p:nvPr/>
          </p:nvSpPr>
          <p:spPr bwMode="auto">
            <a:xfrm>
              <a:off x="612" y="1649"/>
              <a:ext cx="81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解：</a:t>
              </a:r>
            </a:p>
          </p:txBody>
        </p:sp>
        <p:graphicFrame>
          <p:nvGraphicFramePr>
            <p:cNvPr id="9226" name="Object 15"/>
            <p:cNvGraphicFramePr>
              <a:graphicFrameLocks noChangeAspect="1"/>
            </p:cNvGraphicFramePr>
            <p:nvPr/>
          </p:nvGraphicFramePr>
          <p:xfrm>
            <a:off x="1067" y="1637"/>
            <a:ext cx="2826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0" name="Equation" r:id="rId5" imgW="2197100" imgH="457200" progId="Equation.DSMT4">
                    <p:embed/>
                  </p:oleObj>
                </mc:Choice>
                <mc:Fallback>
                  <p:oleObj name="Equation" r:id="rId5" imgW="21971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7" y="1637"/>
                          <a:ext cx="2826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00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328689"/>
              </p:ext>
            </p:extLst>
          </p:nvPr>
        </p:nvGraphicFramePr>
        <p:xfrm>
          <a:off x="2178051" y="3649663"/>
          <a:ext cx="587586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name="Equation" r:id="rId7" imgW="2158920" imgH="457200" progId="Equation.DSMT4">
                  <p:embed/>
                </p:oleObj>
              </mc:Choice>
              <mc:Fallback>
                <p:oleObj name="Equation" r:id="rId7" imgW="2158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1" y="3649663"/>
                        <a:ext cx="587586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30448"/>
              </p:ext>
            </p:extLst>
          </p:nvPr>
        </p:nvGraphicFramePr>
        <p:xfrm>
          <a:off x="2152651" y="4608513"/>
          <a:ext cx="542713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2" name="Equation" r:id="rId9" imgW="1993680" imgH="457200" progId="Equation.DSMT4">
                  <p:embed/>
                </p:oleObj>
              </mc:Choice>
              <mc:Fallback>
                <p:oleObj name="Equation" r:id="rId9" imgW="1993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1" y="4608513"/>
                        <a:ext cx="542713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0" name="Object 18"/>
          <p:cNvGraphicFramePr>
            <a:graphicFrameLocks noChangeAspect="1"/>
          </p:cNvGraphicFramePr>
          <p:nvPr/>
        </p:nvGraphicFramePr>
        <p:xfrm>
          <a:off x="1735667" y="5653089"/>
          <a:ext cx="726016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3" name="Equation" r:id="rId11" imgW="2667000" imgH="393700" progId="Equation.DSMT4">
                  <p:embed/>
                </p:oleObj>
              </mc:Choice>
              <mc:Fallback>
                <p:oleObj name="Equation" r:id="rId11" imgW="26670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667" y="5653089"/>
                        <a:ext cx="726016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2"/>
          <p:cNvSpPr>
            <a:spLocks noGrp="1" noChangeArrowheads="1"/>
          </p:cNvSpPr>
          <p:nvPr>
            <p:ph type="title"/>
          </p:nvPr>
        </p:nvSpPr>
        <p:spPr>
          <a:xfrm>
            <a:off x="6946900" y="441325"/>
            <a:ext cx="4224867" cy="323850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            1.1.1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二、三阶行列式</a:t>
            </a:r>
          </a:p>
        </p:txBody>
      </p:sp>
    </p:spTree>
    <p:extLst>
      <p:ext uri="{BB962C8B-B14F-4D97-AF65-F5344CB8AC3E}">
        <p14:creationId xmlns:p14="http://schemas.microsoft.com/office/powerpoint/2010/main" val="204420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5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14718" y="436727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二、三阶行列式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75022" y="1127637"/>
            <a:ext cx="4408466" cy="1499676"/>
            <a:chOff x="1275022" y="1127637"/>
            <a:chExt cx="4408466" cy="1499676"/>
          </a:xfrm>
        </p:grpSpPr>
        <p:grpSp>
          <p:nvGrpSpPr>
            <p:cNvPr id="17" name="组合 16"/>
            <p:cNvGrpSpPr/>
            <p:nvPr/>
          </p:nvGrpSpPr>
          <p:grpSpPr>
            <a:xfrm>
              <a:off x="1275022" y="1127637"/>
              <a:ext cx="4408466" cy="1288017"/>
              <a:chOff x="442508" y="1127637"/>
              <a:chExt cx="4408466" cy="128801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810375" y="1127637"/>
                <a:ext cx="3040599" cy="1288017"/>
                <a:chOff x="-287091" y="1323541"/>
                <a:chExt cx="3040599" cy="1288017"/>
              </a:xfrm>
            </p:grpSpPr>
            <p:graphicFrame>
              <p:nvGraphicFramePr>
                <p:cNvPr id="6" name="对象 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57615230"/>
                    </p:ext>
                  </p:extLst>
                </p:nvPr>
              </p:nvGraphicFramePr>
              <p:xfrm>
                <a:off x="57624" y="1323541"/>
                <a:ext cx="2628900" cy="4222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8701" name="Equation" r:id="rId3" imgW="1422360" imgH="228600" progId="Equation.DSMT4">
                        <p:embed/>
                      </p:oleObj>
                    </mc:Choice>
                    <mc:Fallback>
                      <p:oleObj name="Equation" r:id="rId3" imgW="142236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7624" y="1323541"/>
                              <a:ext cx="2628900" cy="4222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" name="对象 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0095492"/>
                    </p:ext>
                  </p:extLst>
                </p:nvPr>
              </p:nvGraphicFramePr>
              <p:xfrm>
                <a:off x="32533" y="1876866"/>
                <a:ext cx="2720975" cy="4222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8702" name="Equation" r:id="rId5" imgW="1473120" imgH="228600" progId="Equation.DSMT4">
                        <p:embed/>
                      </p:oleObj>
                    </mc:Choice>
                    <mc:Fallback>
                      <p:oleObj name="Equation" r:id="rId5" imgW="147312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533" y="1876866"/>
                              <a:ext cx="2720975" cy="4222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" name="左大括号 7"/>
                <p:cNvSpPr/>
                <p:nvPr/>
              </p:nvSpPr>
              <p:spPr>
                <a:xfrm>
                  <a:off x="-287091" y="1525040"/>
                  <a:ext cx="252640" cy="1086518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" name="文本框 9"/>
              <p:cNvSpPr txBox="1"/>
              <p:nvPr/>
            </p:nvSpPr>
            <p:spPr>
              <a:xfrm>
                <a:off x="442508" y="1430435"/>
                <a:ext cx="14466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推广之：</a:t>
                </a:r>
              </a:p>
            </p:txBody>
          </p:sp>
        </p:grpSp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7011656"/>
                </p:ext>
              </p:extLst>
            </p:nvPr>
          </p:nvGraphicFramePr>
          <p:xfrm>
            <a:off x="2953414" y="2205038"/>
            <a:ext cx="2697163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3" name="Equation" r:id="rId7" imgW="1460160" imgH="228600" progId="Equation.DSMT4">
                    <p:embed/>
                  </p:oleObj>
                </mc:Choice>
                <mc:Fallback>
                  <p:oleObj name="Equation" r:id="rId7" imgW="14601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53414" y="2205038"/>
                          <a:ext cx="2697163" cy="4222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/>
          <p:nvPr/>
        </p:nvGrpSpPr>
        <p:grpSpPr>
          <a:xfrm>
            <a:off x="1284889" y="2899210"/>
            <a:ext cx="5562507" cy="1314450"/>
            <a:chOff x="1284889" y="2899210"/>
            <a:chExt cx="5562507" cy="1314450"/>
          </a:xfrm>
        </p:grpSpPr>
        <p:sp>
          <p:nvSpPr>
            <p:cNvPr id="40" name="文本框 39"/>
            <p:cNvSpPr txBox="1"/>
            <p:nvPr/>
          </p:nvSpPr>
          <p:spPr>
            <a:xfrm>
              <a:off x="1284889" y="3329675"/>
              <a:ext cx="5562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当系数行列式                                时，</a:t>
              </a:r>
            </a:p>
          </p:txBody>
        </p:sp>
        <p:graphicFrame>
          <p:nvGraphicFramePr>
            <p:cNvPr id="41" name="对象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7350171"/>
                </p:ext>
              </p:extLst>
            </p:nvPr>
          </p:nvGraphicFramePr>
          <p:xfrm>
            <a:off x="3338571" y="2899210"/>
            <a:ext cx="2603500" cy="1314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4" name="Equation" r:id="rId9" imgW="1409400" imgH="711000" progId="Equation.DSMT4">
                    <p:embed/>
                  </p:oleObj>
                </mc:Choice>
                <mc:Fallback>
                  <p:oleObj name="Equation" r:id="rId9" imgW="140940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38571" y="2899210"/>
                          <a:ext cx="2603500" cy="1314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" name="组合 43"/>
          <p:cNvGrpSpPr/>
          <p:nvPr/>
        </p:nvGrpSpPr>
        <p:grpSpPr>
          <a:xfrm>
            <a:off x="1275022" y="4453976"/>
            <a:ext cx="6580141" cy="727075"/>
            <a:chOff x="1275022" y="4453976"/>
            <a:chExt cx="6580141" cy="727075"/>
          </a:xfrm>
        </p:grpSpPr>
        <p:sp>
          <p:nvSpPr>
            <p:cNvPr id="42" name="文本框 41"/>
            <p:cNvSpPr txBox="1"/>
            <p:nvPr/>
          </p:nvSpPr>
          <p:spPr>
            <a:xfrm>
              <a:off x="1275022" y="4587313"/>
              <a:ext cx="2488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方程组有唯一解：</a:t>
              </a:r>
            </a:p>
          </p:txBody>
        </p:sp>
        <p:graphicFrame>
          <p:nvGraphicFramePr>
            <p:cNvPr id="43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524281"/>
                </p:ext>
              </p:extLst>
            </p:nvPr>
          </p:nvGraphicFramePr>
          <p:xfrm>
            <a:off x="4056275" y="4453976"/>
            <a:ext cx="3798888" cy="727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5" name="Equation" r:id="rId11" imgW="2057400" imgH="393480" progId="Equation.DSMT4">
                    <p:embed/>
                  </p:oleObj>
                </mc:Choice>
                <mc:Fallback>
                  <p:oleObj name="Equation" r:id="rId11" imgW="205740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56275" y="4453976"/>
                          <a:ext cx="3798888" cy="727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/>
          <p:cNvGrpSpPr/>
          <p:nvPr/>
        </p:nvGrpSpPr>
        <p:grpSpPr>
          <a:xfrm>
            <a:off x="8011236" y="1892100"/>
            <a:ext cx="2729552" cy="1899240"/>
            <a:chOff x="8011236" y="1892100"/>
            <a:chExt cx="2729552" cy="1899240"/>
          </a:xfrm>
        </p:grpSpPr>
        <p:grpSp>
          <p:nvGrpSpPr>
            <p:cNvPr id="47" name="组合 46"/>
            <p:cNvGrpSpPr/>
            <p:nvPr/>
          </p:nvGrpSpPr>
          <p:grpSpPr>
            <a:xfrm>
              <a:off x="8215263" y="2103237"/>
              <a:ext cx="2348104" cy="1314450"/>
              <a:chOff x="8215263" y="2103237"/>
              <a:chExt cx="2348104" cy="1314450"/>
            </a:xfrm>
          </p:grpSpPr>
          <p:graphicFrame>
            <p:nvGraphicFramePr>
              <p:cNvPr id="45" name="对象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3420466"/>
                  </p:ext>
                </p:extLst>
              </p:nvPr>
            </p:nvGraphicFramePr>
            <p:xfrm>
              <a:off x="8215263" y="2103237"/>
              <a:ext cx="1900238" cy="1314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706" name="Equation" r:id="rId13" imgW="1028520" imgH="711000" progId="Equation.DSMT4">
                      <p:embed/>
                    </p:oleObj>
                  </mc:Choice>
                  <mc:Fallback>
                    <p:oleObj name="Equation" r:id="rId13" imgW="1028520" imgH="7110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215263" y="2103237"/>
                            <a:ext cx="1900238" cy="13144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文本框 45"/>
              <p:cNvSpPr txBox="1"/>
              <p:nvPr/>
            </p:nvSpPr>
            <p:spPr>
              <a:xfrm>
                <a:off x="9938080" y="2344963"/>
                <a:ext cx="6252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8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</a:p>
            </p:txBody>
          </p:sp>
        </p:grpSp>
        <p:sp>
          <p:nvSpPr>
            <p:cNvPr id="48" name="圆角矩形 47"/>
            <p:cNvSpPr/>
            <p:nvPr/>
          </p:nvSpPr>
          <p:spPr>
            <a:xfrm>
              <a:off x="8011236" y="1892100"/>
              <a:ext cx="2729552" cy="189924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521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14264" y="1298077"/>
            <a:ext cx="2830905" cy="668845"/>
            <a:chOff x="392448" y="1160585"/>
            <a:chExt cx="2830905" cy="6688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392448" y="1160585"/>
              <a:ext cx="2174906" cy="668845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08427" y="1264174"/>
              <a:ext cx="27149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三阶行列式：</a:t>
              </a: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456588"/>
              </p:ext>
            </p:extLst>
          </p:nvPr>
        </p:nvGraphicFramePr>
        <p:xfrm>
          <a:off x="4187825" y="1366838"/>
          <a:ext cx="2232025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3" name="Equation" r:id="rId3" imgW="914400" imgH="711000" progId="Equation.DSMT4">
                  <p:embed/>
                </p:oleObj>
              </mc:Choice>
              <mc:Fallback>
                <p:oleObj name="Equation" r:id="rId3" imgW="9144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7825" y="1366838"/>
                        <a:ext cx="2232025" cy="173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4685680" y="1822581"/>
            <a:ext cx="1307286" cy="99095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二、三阶行列式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101729"/>
              </p:ext>
            </p:extLst>
          </p:nvPr>
        </p:nvGraphicFramePr>
        <p:xfrm>
          <a:off x="4121479" y="3907062"/>
          <a:ext cx="13017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4" name="Equation" r:id="rId5" imgW="533160" imgH="228600" progId="Equation.DSMT4">
                  <p:embed/>
                </p:oleObj>
              </mc:Choice>
              <mc:Fallback>
                <p:oleObj name="Equation" r:id="rId5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21479" y="3907062"/>
                        <a:ext cx="130175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4715848" y="2396398"/>
            <a:ext cx="1277118" cy="1038094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6006905" y="2489623"/>
            <a:ext cx="875035" cy="928826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180628" y="1822581"/>
            <a:ext cx="701311" cy="667042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560584" y="2954036"/>
            <a:ext cx="1332527" cy="1144906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5893112" y="3053241"/>
            <a:ext cx="969706" cy="1047192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339323" y="1807639"/>
            <a:ext cx="1523495" cy="1244111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515553"/>
              </p:ext>
            </p:extLst>
          </p:nvPr>
        </p:nvGraphicFramePr>
        <p:xfrm>
          <a:off x="5767790" y="3907062"/>
          <a:ext cx="13017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5" name="Equation" r:id="rId7" imgW="533160" imgH="228600" progId="Equation.DSMT4">
                  <p:embed/>
                </p:oleObj>
              </mc:Choice>
              <mc:Fallback>
                <p:oleObj name="Equation" r:id="rId7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7790" y="3907062"/>
                        <a:ext cx="130175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74991"/>
              </p:ext>
            </p:extLst>
          </p:nvPr>
        </p:nvGraphicFramePr>
        <p:xfrm>
          <a:off x="7414101" y="3907062"/>
          <a:ext cx="13017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6" name="Equation" r:id="rId9" imgW="533160" imgH="228600" progId="Equation.DSMT4">
                  <p:embed/>
                </p:oleObj>
              </mc:Choice>
              <mc:Fallback>
                <p:oleObj name="Equation" r:id="rId9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14101" y="3907062"/>
                        <a:ext cx="130175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563130"/>
              </p:ext>
            </p:extLst>
          </p:nvPr>
        </p:nvGraphicFramePr>
        <p:xfrm>
          <a:off x="5518855" y="4067334"/>
          <a:ext cx="34131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7" name="Equation" r:id="rId11" imgW="139680" imgH="139680" progId="Equation.DSMT4">
                  <p:embed/>
                </p:oleObj>
              </mc:Choice>
              <mc:Fallback>
                <p:oleObj name="Equation" r:id="rId11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18855" y="4067334"/>
                        <a:ext cx="341313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555828"/>
              </p:ext>
            </p:extLst>
          </p:nvPr>
        </p:nvGraphicFramePr>
        <p:xfrm>
          <a:off x="7077273" y="4067334"/>
          <a:ext cx="34131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8" name="Equation" r:id="rId13" imgW="139680" imgH="139680" progId="Equation.DSMT4">
                  <p:embed/>
                </p:oleObj>
              </mc:Choice>
              <mc:Fallback>
                <p:oleObj name="Equation" r:id="rId13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77273" y="4067334"/>
                        <a:ext cx="341313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4" name="直接连接符 53"/>
          <p:cNvCxnSpPr/>
          <p:nvPr/>
        </p:nvCxnSpPr>
        <p:spPr>
          <a:xfrm flipH="1">
            <a:off x="3671991" y="1753711"/>
            <a:ext cx="749678" cy="806484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46454" y="2560195"/>
            <a:ext cx="970218" cy="894300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4701909" y="2312998"/>
            <a:ext cx="1180839" cy="1121494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对象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128088"/>
              </p:ext>
            </p:extLst>
          </p:nvPr>
        </p:nvGraphicFramePr>
        <p:xfrm>
          <a:off x="4159335" y="4571512"/>
          <a:ext cx="13017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9" name="Equation" r:id="rId15" imgW="533160" imgH="228600" progId="Equation.DSMT4">
                  <p:embed/>
                </p:oleObj>
              </mc:Choice>
              <mc:Fallback>
                <p:oleObj name="Equation" r:id="rId15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59335" y="4571512"/>
                        <a:ext cx="130175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1" name="直接连接符 60"/>
          <p:cNvCxnSpPr/>
          <p:nvPr/>
        </p:nvCxnSpPr>
        <p:spPr>
          <a:xfrm flipH="1">
            <a:off x="3716097" y="1829430"/>
            <a:ext cx="1365185" cy="1367951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3716097" y="3222713"/>
            <a:ext cx="985812" cy="904313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>
            <a:off x="4727036" y="2892827"/>
            <a:ext cx="1186070" cy="1234199"/>
          </a:xfrm>
          <a:prstGeom prst="line">
            <a:avLst/>
          </a:prstGeom>
          <a:ln w="254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218251"/>
              </p:ext>
            </p:extLst>
          </p:nvPr>
        </p:nvGraphicFramePr>
        <p:xfrm>
          <a:off x="5767790" y="4571512"/>
          <a:ext cx="13017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0" name="Equation" r:id="rId17" imgW="533160" imgH="228600" progId="Equation.DSMT4">
                  <p:embed/>
                </p:oleObj>
              </mc:Choice>
              <mc:Fallback>
                <p:oleObj name="Equation" r:id="rId17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67790" y="4571512"/>
                        <a:ext cx="130175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812543"/>
              </p:ext>
            </p:extLst>
          </p:nvPr>
        </p:nvGraphicFramePr>
        <p:xfrm>
          <a:off x="7438270" y="4587555"/>
          <a:ext cx="13017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1" name="Equation" r:id="rId19" imgW="533160" imgH="228600" progId="Equation.DSMT4">
                  <p:embed/>
                </p:oleObj>
              </mc:Choice>
              <mc:Fallback>
                <p:oleObj name="Equation" r:id="rId19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38270" y="4587555"/>
                        <a:ext cx="130175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" name="组合 68"/>
          <p:cNvGrpSpPr/>
          <p:nvPr/>
        </p:nvGrpSpPr>
        <p:grpSpPr>
          <a:xfrm>
            <a:off x="3782971" y="4775347"/>
            <a:ext cx="3590085" cy="279461"/>
            <a:chOff x="3226640" y="4967227"/>
            <a:chExt cx="3590085" cy="279461"/>
          </a:xfrm>
        </p:grpSpPr>
        <p:graphicFrame>
          <p:nvGraphicFramePr>
            <p:cNvPr id="66" name="对象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8491326"/>
                </p:ext>
              </p:extLst>
            </p:nvPr>
          </p:nvGraphicFramePr>
          <p:xfrm>
            <a:off x="4948238" y="4997450"/>
            <a:ext cx="309562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2" name="Equation" r:id="rId21" imgW="126720" imgH="101520" progId="Equation.DSMT4">
                    <p:embed/>
                  </p:oleObj>
                </mc:Choice>
                <mc:Fallback>
                  <p:oleObj name="Equation" r:id="rId21" imgW="126720" imgH="101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948238" y="4997450"/>
                          <a:ext cx="309562" cy="249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3311134"/>
                </p:ext>
              </p:extLst>
            </p:nvPr>
          </p:nvGraphicFramePr>
          <p:xfrm>
            <a:off x="6505575" y="4997450"/>
            <a:ext cx="311150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3" name="Equation" r:id="rId23" imgW="126720" imgH="101520" progId="Equation.DSMT4">
                    <p:embed/>
                  </p:oleObj>
                </mc:Choice>
                <mc:Fallback>
                  <p:oleObj name="Equation" r:id="rId23" imgW="126720" imgH="101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505575" y="4997450"/>
                          <a:ext cx="311150" cy="249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对象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498750"/>
                </p:ext>
              </p:extLst>
            </p:nvPr>
          </p:nvGraphicFramePr>
          <p:xfrm>
            <a:off x="3226640" y="4967227"/>
            <a:ext cx="311150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04" name="Equation" r:id="rId25" imgW="126720" imgH="101520" progId="Equation.DSMT4">
                    <p:embed/>
                  </p:oleObj>
                </mc:Choice>
                <mc:Fallback>
                  <p:oleObj name="Equation" r:id="rId25" imgW="126720" imgH="101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226640" y="4967227"/>
                          <a:ext cx="311150" cy="249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0" name="直接连接符 69"/>
          <p:cNvCxnSpPr/>
          <p:nvPr/>
        </p:nvCxnSpPr>
        <p:spPr>
          <a:xfrm flipH="1">
            <a:off x="4528867" y="1697242"/>
            <a:ext cx="1333467" cy="1257014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对象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125599"/>
              </p:ext>
            </p:extLst>
          </p:nvPr>
        </p:nvGraphicFramePr>
        <p:xfrm>
          <a:off x="3453042" y="2115652"/>
          <a:ext cx="68262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5" name="Equation" r:id="rId27" imgW="279360" imgH="164880" progId="Equation.DSMT4">
                  <p:embed/>
                </p:oleObj>
              </mc:Choice>
              <mc:Fallback>
                <p:oleObj name="Equation" r:id="rId27" imgW="2793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53042" y="2115652"/>
                        <a:ext cx="682625" cy="40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043412"/>
              </p:ext>
            </p:extLst>
          </p:nvPr>
        </p:nvGraphicFramePr>
        <p:xfrm>
          <a:off x="3455715" y="4003834"/>
          <a:ext cx="68262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06" name="Equation" r:id="rId29" imgW="279360" imgH="164880" progId="Equation.DSMT4">
                  <p:embed/>
                </p:oleObj>
              </mc:Choice>
              <mc:Fallback>
                <p:oleObj name="Equation" r:id="rId29" imgW="2793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55715" y="4003834"/>
                        <a:ext cx="682625" cy="40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436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19667" y="1074739"/>
            <a:ext cx="104648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chemeClr val="accent2"/>
                </a:solidFill>
              </a:rPr>
              <a:t>例</a:t>
            </a:r>
            <a:r>
              <a:rPr lang="en-US" altLang="zh-CN">
                <a:solidFill>
                  <a:schemeClr val="accent2"/>
                </a:solidFill>
              </a:rPr>
              <a:t>2   </a:t>
            </a:r>
            <a:r>
              <a:rPr lang="zh-CN" altLang="en-US"/>
              <a:t>计算三阶行列式 </a:t>
            </a:r>
          </a:p>
        </p:txBody>
      </p:sp>
      <p:graphicFrame>
        <p:nvGraphicFramePr>
          <p:cNvPr id="12291" name="Object 4"/>
          <p:cNvGraphicFramePr>
            <a:graphicFrameLocks noChangeAspect="1"/>
          </p:cNvGraphicFramePr>
          <p:nvPr/>
        </p:nvGraphicFramePr>
        <p:xfrm>
          <a:off x="3517901" y="1895475"/>
          <a:ext cx="2561167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Equation" r:id="rId3" imgW="876300" imgH="711200" progId="Equation.DSMT4">
                  <p:embed/>
                </p:oleObj>
              </mc:Choice>
              <mc:Fallback>
                <p:oleObj name="Equation" r:id="rId3" imgW="8763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1" y="1895475"/>
                        <a:ext cx="2561167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1295401" y="3487738"/>
            <a:ext cx="7008284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解：由对角线法则</a:t>
            </a:r>
            <a:r>
              <a:rPr lang="zh-CN" altLang="en-US" dirty="0" smtClean="0"/>
              <a:t>有</a:t>
            </a:r>
            <a:endParaRPr lang="zh-CN" altLang="en-US" dirty="0"/>
          </a:p>
        </p:txBody>
      </p:sp>
      <p:graphicFrame>
        <p:nvGraphicFramePr>
          <p:cNvPr id="87050" name="Object 10"/>
          <p:cNvGraphicFramePr>
            <a:graphicFrameLocks noChangeAspect="1"/>
          </p:cNvGraphicFramePr>
          <p:nvPr/>
        </p:nvGraphicFramePr>
        <p:xfrm>
          <a:off x="2053167" y="4422775"/>
          <a:ext cx="8566151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9" name="Equation" r:id="rId5" imgW="2552700" imgH="431800" progId="Equation.DSMT4">
                  <p:embed/>
                </p:oleObj>
              </mc:Choice>
              <mc:Fallback>
                <p:oleObj name="Equation" r:id="rId5" imgW="2552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3167" y="4422775"/>
                        <a:ext cx="8566151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1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5" name="Rectangle 2"/>
          <p:cNvSpPr>
            <a:spLocks noGrp="1" noChangeArrowheads="1"/>
          </p:cNvSpPr>
          <p:nvPr>
            <p:ph type="title"/>
          </p:nvPr>
        </p:nvSpPr>
        <p:spPr>
          <a:xfrm>
            <a:off x="6946900" y="441325"/>
            <a:ext cx="4224867" cy="323850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1.1.1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二、三阶行列式</a:t>
            </a:r>
          </a:p>
        </p:txBody>
      </p:sp>
    </p:spTree>
    <p:extLst>
      <p:ext uri="{BB962C8B-B14F-4D97-AF65-F5344CB8AC3E}">
        <p14:creationId xmlns:p14="http://schemas.microsoft.com/office/powerpoint/2010/main" val="65709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719667" y="1039814"/>
            <a:ext cx="104648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chemeClr val="accent2"/>
                </a:solidFill>
              </a:rPr>
              <a:t>例</a:t>
            </a:r>
            <a:r>
              <a:rPr lang="en-US" altLang="zh-CN">
                <a:solidFill>
                  <a:schemeClr val="accent2"/>
                </a:solidFill>
              </a:rPr>
              <a:t>3    </a:t>
            </a:r>
            <a:r>
              <a:rPr lang="zh-CN" altLang="en-US"/>
              <a:t>求解方程 </a:t>
            </a: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3475567" y="1989138"/>
          <a:ext cx="2813051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6" name="Equation" r:id="rId3" imgW="901309" imgH="710891" progId="Equation.DSMT4">
                  <p:embed/>
                </p:oleObj>
              </mc:Choice>
              <mc:Fallback>
                <p:oleObj name="Equation" r:id="rId3" imgW="901309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567" y="1989138"/>
                        <a:ext cx="2813051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137" name="Group 25"/>
          <p:cNvGrpSpPr>
            <a:grpSpLocks/>
          </p:cNvGrpSpPr>
          <p:nvPr/>
        </p:nvGrpSpPr>
        <p:grpSpPr bwMode="auto">
          <a:xfrm>
            <a:off x="1102784" y="3652839"/>
            <a:ext cx="10081683" cy="733425"/>
            <a:chOff x="521" y="2301"/>
            <a:chExt cx="4763" cy="462"/>
          </a:xfrm>
        </p:grpSpPr>
        <p:sp>
          <p:nvSpPr>
            <p:cNvPr id="13327" name="Text Box 5"/>
            <p:cNvSpPr txBox="1">
              <a:spLocks noChangeArrowheads="1"/>
            </p:cNvSpPr>
            <p:nvPr/>
          </p:nvSpPr>
          <p:spPr bwMode="auto">
            <a:xfrm>
              <a:off x="521" y="2301"/>
              <a:ext cx="4763" cy="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/>
                <a:t>解：左式</a:t>
              </a:r>
            </a:p>
          </p:txBody>
        </p:sp>
        <p:graphicFrame>
          <p:nvGraphicFramePr>
            <p:cNvPr id="13328" name="Object 6"/>
            <p:cNvGraphicFramePr>
              <a:graphicFrameLocks noChangeAspect="1"/>
            </p:cNvGraphicFramePr>
            <p:nvPr/>
          </p:nvGraphicFramePr>
          <p:xfrm>
            <a:off x="1510" y="2414"/>
            <a:ext cx="3765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7" name="Equation" r:id="rId5" imgW="2514600" imgH="203200" progId="Equation.DSMT4">
                    <p:embed/>
                  </p:oleObj>
                </mc:Choice>
                <mc:Fallback>
                  <p:oleObj name="Equation" r:id="rId5" imgW="25146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0" y="2414"/>
                          <a:ext cx="3765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135" name="Group 23"/>
          <p:cNvGrpSpPr>
            <a:grpSpLocks/>
          </p:cNvGrpSpPr>
          <p:nvPr/>
        </p:nvGrpSpPr>
        <p:grpSpPr bwMode="auto">
          <a:xfrm>
            <a:off x="1775884" y="4508504"/>
            <a:ext cx="8352367" cy="671513"/>
            <a:chOff x="839" y="2800"/>
            <a:chExt cx="3946" cy="423"/>
          </a:xfrm>
        </p:grpSpPr>
        <p:sp>
          <p:nvSpPr>
            <p:cNvPr id="13323" name="Text Box 9"/>
            <p:cNvSpPr txBox="1">
              <a:spLocks noChangeArrowheads="1"/>
            </p:cNvSpPr>
            <p:nvPr/>
          </p:nvSpPr>
          <p:spPr bwMode="auto">
            <a:xfrm>
              <a:off x="839" y="2800"/>
              <a:ext cx="3946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dirty="0" smtClean="0"/>
                <a:t>由                              得          </a:t>
              </a:r>
              <a:r>
                <a:rPr lang="zh-CN" altLang="en-US" dirty="0"/>
                <a:t>或</a:t>
              </a:r>
            </a:p>
          </p:txBody>
        </p:sp>
        <p:graphicFrame>
          <p:nvGraphicFramePr>
            <p:cNvPr id="13324" name="Object 10"/>
            <p:cNvGraphicFramePr>
              <a:graphicFrameLocks noChangeAspect="1"/>
            </p:cNvGraphicFramePr>
            <p:nvPr/>
          </p:nvGraphicFramePr>
          <p:xfrm>
            <a:off x="1145" y="2918"/>
            <a:ext cx="136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8" name="Equation" r:id="rId7" imgW="914400" imgH="203200" progId="Equation.DSMT4">
                    <p:embed/>
                  </p:oleObj>
                </mc:Choice>
                <mc:Fallback>
                  <p:oleObj name="Equation" r:id="rId7" imgW="9144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2918"/>
                          <a:ext cx="136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4499772"/>
                </p:ext>
              </p:extLst>
            </p:nvPr>
          </p:nvGraphicFramePr>
          <p:xfrm>
            <a:off x="2972" y="2911"/>
            <a:ext cx="594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9" name="Equation" r:id="rId9" imgW="355138" imgH="177569" progId="Equation.DSMT4">
                    <p:embed/>
                  </p:oleObj>
                </mc:Choice>
                <mc:Fallback>
                  <p:oleObj name="Equation" r:id="rId9" imgW="35513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2" y="2911"/>
                          <a:ext cx="594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0771048"/>
                </p:ext>
              </p:extLst>
            </p:nvPr>
          </p:nvGraphicFramePr>
          <p:xfrm>
            <a:off x="3766" y="2909"/>
            <a:ext cx="72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90" name="Equation" r:id="rId11" imgW="431425" imgH="177646" progId="Equation.DSMT4">
                    <p:embed/>
                  </p:oleObj>
                </mc:Choice>
                <mc:Fallback>
                  <p:oleObj name="Equation" r:id="rId11" imgW="43142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" y="2909"/>
                          <a:ext cx="726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136" name="Group 24"/>
          <p:cNvGrpSpPr>
            <a:grpSpLocks/>
          </p:cNvGrpSpPr>
          <p:nvPr/>
        </p:nvGrpSpPr>
        <p:grpSpPr bwMode="auto">
          <a:xfrm>
            <a:off x="7156305" y="2565400"/>
            <a:ext cx="3744383" cy="863600"/>
            <a:chOff x="3515" y="1616"/>
            <a:chExt cx="1769" cy="544"/>
          </a:xfrm>
        </p:grpSpPr>
        <p:sp>
          <p:nvSpPr>
            <p:cNvPr id="13320" name="AutoShape 17"/>
            <p:cNvSpPr>
              <a:spLocks noChangeArrowheads="1"/>
            </p:cNvSpPr>
            <p:nvPr/>
          </p:nvSpPr>
          <p:spPr bwMode="auto">
            <a:xfrm>
              <a:off x="3515" y="1616"/>
              <a:ext cx="1582" cy="544"/>
            </a:xfrm>
            <a:prstGeom prst="wedgeEllipseCallout">
              <a:avLst>
                <a:gd name="adj1" fmla="val 27796"/>
                <a:gd name="adj2" fmla="val 1025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" name="Text Box 18"/>
            <p:cNvSpPr txBox="1">
              <a:spLocks noChangeArrowheads="1"/>
            </p:cNvSpPr>
            <p:nvPr/>
          </p:nvSpPr>
          <p:spPr bwMode="auto">
            <a:xfrm>
              <a:off x="3595" y="1764"/>
              <a:ext cx="16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关于    </a:t>
              </a:r>
              <a:r>
                <a:rPr lang="zh-CN" altLang="en-US" sz="2400" dirty="0">
                  <a:solidFill>
                    <a:schemeClr val="accent2"/>
                  </a:solidFill>
                </a:rPr>
                <a:t>的多项式</a:t>
              </a:r>
            </a:p>
          </p:txBody>
        </p:sp>
        <p:graphicFrame>
          <p:nvGraphicFramePr>
            <p:cNvPr id="13322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6538789"/>
                </p:ext>
              </p:extLst>
            </p:nvPr>
          </p:nvGraphicFramePr>
          <p:xfrm>
            <a:off x="3866" y="1794"/>
            <a:ext cx="23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91" name="Equation" r:id="rId13" imgW="104737" imgH="123900" progId="Equation.DSMT4">
                    <p:embed/>
                  </p:oleObj>
                </mc:Choice>
                <mc:Fallback>
                  <p:oleObj name="Equation" r:id="rId13" imgW="104737" imgH="123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6" y="1794"/>
                          <a:ext cx="238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9" name="Rectangle 2"/>
          <p:cNvSpPr>
            <a:spLocks noGrp="1" noChangeArrowheads="1"/>
          </p:cNvSpPr>
          <p:nvPr>
            <p:ph type="title"/>
          </p:nvPr>
        </p:nvSpPr>
        <p:spPr>
          <a:xfrm>
            <a:off x="6946900" y="441325"/>
            <a:ext cx="4224867" cy="32385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zh-CN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1.1.1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二、三阶行列式</a:t>
            </a:r>
            <a:b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endParaRPr lang="zh-CN" alt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00846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0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9"/>
          <p:cNvSpPr>
            <a:spLocks noChangeArrowheads="1"/>
          </p:cNvSpPr>
          <p:nvPr/>
        </p:nvSpPr>
        <p:spPr bwMode="auto">
          <a:xfrm>
            <a:off x="0" y="2977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0" name="Rectangle 14"/>
          <p:cNvSpPr>
            <a:spLocks noChangeArrowheads="1"/>
          </p:cNvSpPr>
          <p:nvPr/>
        </p:nvSpPr>
        <p:spPr bwMode="auto">
          <a:xfrm>
            <a:off x="0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1" name="Text Box 12"/>
          <p:cNvSpPr txBox="1">
            <a:spLocks noChangeArrowheads="1"/>
          </p:cNvSpPr>
          <p:nvPr/>
        </p:nvSpPr>
        <p:spPr bwMode="auto">
          <a:xfrm>
            <a:off x="688063" y="1143713"/>
            <a:ext cx="642393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3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chemeClr val="accent2"/>
              </a:buClr>
            </a:pPr>
            <a:r>
              <a:rPr lang="zh-CN" altLang="en-US" sz="2800" dirty="0" smtClean="0"/>
              <a:t>三阶行列式与二阶行列式的关系</a:t>
            </a:r>
            <a:endParaRPr lang="en-US" altLang="zh-CN" sz="2800" dirty="0"/>
          </a:p>
        </p:txBody>
      </p:sp>
      <p:graphicFrame>
        <p:nvGraphicFramePr>
          <p:cNvPr id="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050215"/>
              </p:ext>
            </p:extLst>
          </p:nvPr>
        </p:nvGraphicFramePr>
        <p:xfrm>
          <a:off x="4064000" y="2114739"/>
          <a:ext cx="6705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1" name="Equation" r:id="rId3" imgW="5029200" imgH="1016000" progId="Equation.3">
                  <p:embed/>
                </p:oleObj>
              </mc:Choice>
              <mc:Fallback>
                <p:oleObj name="Equation" r:id="rId3" imgW="50292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2114739"/>
                        <a:ext cx="6705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632856"/>
              </p:ext>
            </p:extLst>
          </p:nvPr>
        </p:nvGraphicFramePr>
        <p:xfrm>
          <a:off x="1306786" y="1884387"/>
          <a:ext cx="27432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2" name="Equation" r:id="rId5" imgW="2057400" imgH="1536700" progId="Equation.3">
                  <p:embed/>
                </p:oleObj>
              </mc:Choice>
              <mc:Fallback>
                <p:oleObj name="Equation" r:id="rId5" imgW="2057400" imgH="153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786" y="1884387"/>
                        <a:ext cx="27432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1296276" y="1993135"/>
            <a:ext cx="2743200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6"/>
          <p:cNvSpPr>
            <a:spLocks noChangeShapeType="1"/>
          </p:cNvSpPr>
          <p:nvPr/>
        </p:nvSpPr>
        <p:spPr bwMode="auto">
          <a:xfrm>
            <a:off x="4663090" y="2611220"/>
            <a:ext cx="1422400" cy="0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4978400" y="3189288"/>
            <a:ext cx="1422400" cy="0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Line 8"/>
          <p:cNvSpPr>
            <a:spLocks noChangeShapeType="1"/>
          </p:cNvSpPr>
          <p:nvPr/>
        </p:nvSpPr>
        <p:spPr bwMode="auto">
          <a:xfrm>
            <a:off x="6765158" y="2611220"/>
            <a:ext cx="1524000" cy="0"/>
          </a:xfrm>
          <a:prstGeom prst="line">
            <a:avLst/>
          </a:prstGeom>
          <a:noFill/>
          <a:ln w="1905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>
            <a:off x="7038427" y="3189288"/>
            <a:ext cx="1524000" cy="0"/>
          </a:xfrm>
          <a:prstGeom prst="line">
            <a:avLst/>
          </a:prstGeom>
          <a:noFill/>
          <a:ln w="19050">
            <a:solidFill>
              <a:srgbClr val="66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Line 10"/>
          <p:cNvSpPr>
            <a:spLocks noChangeShapeType="1"/>
          </p:cNvSpPr>
          <p:nvPr/>
        </p:nvSpPr>
        <p:spPr bwMode="auto">
          <a:xfrm>
            <a:off x="8891752" y="2657915"/>
            <a:ext cx="1524000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Line 11"/>
          <p:cNvSpPr>
            <a:spLocks noChangeShapeType="1"/>
          </p:cNvSpPr>
          <p:nvPr/>
        </p:nvSpPr>
        <p:spPr bwMode="auto">
          <a:xfrm>
            <a:off x="9245600" y="3214688"/>
            <a:ext cx="1524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072430"/>
              </p:ext>
            </p:extLst>
          </p:nvPr>
        </p:nvGraphicFramePr>
        <p:xfrm>
          <a:off x="92365" y="3809398"/>
          <a:ext cx="396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3" name="Equation" r:id="rId7" imgW="2971800" imgH="431800" progId="Equation.3">
                  <p:embed/>
                </p:oleObj>
              </mc:Choice>
              <mc:Fallback>
                <p:oleObj name="Equation" r:id="rId7" imgW="2971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65" y="3809398"/>
                        <a:ext cx="3962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14549"/>
              </p:ext>
            </p:extLst>
          </p:nvPr>
        </p:nvGraphicFramePr>
        <p:xfrm>
          <a:off x="4112756" y="3798889"/>
          <a:ext cx="394546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4" name="Equation" r:id="rId9" imgW="2959100" imgH="431800" progId="Equation.3">
                  <p:embed/>
                </p:oleObj>
              </mc:Choice>
              <mc:Fallback>
                <p:oleObj name="Equation" r:id="rId9" imgW="2959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2756" y="3798889"/>
                        <a:ext cx="394546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46297"/>
              </p:ext>
            </p:extLst>
          </p:nvPr>
        </p:nvGraphicFramePr>
        <p:xfrm>
          <a:off x="8034866" y="3785749"/>
          <a:ext cx="394546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5" name="Equation" r:id="rId11" imgW="2959100" imgH="431800" progId="Equation.3">
                  <p:embed/>
                </p:oleObj>
              </mc:Choice>
              <mc:Fallback>
                <p:oleObj name="Equation" r:id="rId11" imgW="2959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4866" y="3785749"/>
                        <a:ext cx="394546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609639"/>
              </p:ext>
            </p:extLst>
          </p:nvPr>
        </p:nvGraphicFramePr>
        <p:xfrm>
          <a:off x="1202267" y="4710660"/>
          <a:ext cx="804333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6" name="Equation" r:id="rId13" imgW="6032500" imgH="990600" progId="Equation.DSMT4">
                  <p:embed/>
                </p:oleObj>
              </mc:Choice>
              <mc:Fallback>
                <p:oleObj name="Equation" r:id="rId13" imgW="6032500" imgH="990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2267" y="4710660"/>
                        <a:ext cx="804333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423353" y="417051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1.1.1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二、三阶行列式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688291"/>
              </p:ext>
            </p:extLst>
          </p:nvPr>
        </p:nvGraphicFramePr>
        <p:xfrm>
          <a:off x="5374290" y="4969477"/>
          <a:ext cx="6000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7" name="Equation" r:id="rId15" imgW="279360" imgH="228600" progId="Equation.DSMT4">
                  <p:embed/>
                </p:oleObj>
              </mc:Choice>
              <mc:Fallback>
                <p:oleObj name="Equation" r:id="rId15" imgW="27936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4290" y="4969477"/>
                        <a:ext cx="6000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832546"/>
              </p:ext>
            </p:extLst>
          </p:nvPr>
        </p:nvGraphicFramePr>
        <p:xfrm>
          <a:off x="2614613" y="4979988"/>
          <a:ext cx="5715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8" name="Equation" r:id="rId17" imgW="266400" imgH="228600" progId="Equation.DSMT4">
                  <p:embed/>
                </p:oleObj>
              </mc:Choice>
              <mc:Fallback>
                <p:oleObj name="Equation" r:id="rId17" imgW="2664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4979988"/>
                        <a:ext cx="57150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146271"/>
              </p:ext>
            </p:extLst>
          </p:nvPr>
        </p:nvGraphicFramePr>
        <p:xfrm>
          <a:off x="8003408" y="4964223"/>
          <a:ext cx="5715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9" name="Equation" r:id="rId19" imgW="266400" imgH="228600" progId="Equation.DSMT4">
                  <p:embed/>
                </p:oleObj>
              </mc:Choice>
              <mc:Fallback>
                <p:oleObj name="Equation" r:id="rId19" imgW="26640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3408" y="4964223"/>
                        <a:ext cx="57150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216976"/>
              </p:ext>
            </p:extLst>
          </p:nvPr>
        </p:nvGraphicFramePr>
        <p:xfrm>
          <a:off x="1219802" y="5913329"/>
          <a:ext cx="344328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0" name="Equation" r:id="rId21" imgW="1460500" imgH="228600" progId="Equation.DSMT4">
                  <p:embed/>
                </p:oleObj>
              </mc:Choice>
              <mc:Fallback>
                <p:oleObj name="Equation" r:id="rId21" imgW="14605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802" y="5913329"/>
                        <a:ext cx="344328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881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1.1.2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</a:t>
            </a:r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n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阶行列式 的 概 念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05506" y="1292046"/>
            <a:ext cx="3683346" cy="551964"/>
            <a:chOff x="347246" y="1227400"/>
            <a:chExt cx="2375841" cy="551964"/>
          </a:xfrm>
        </p:grpSpPr>
        <p:sp>
          <p:nvSpPr>
            <p:cNvPr id="2" name="圆角矩形 1"/>
            <p:cNvSpPr/>
            <p:nvPr/>
          </p:nvSpPr>
          <p:spPr>
            <a:xfrm>
              <a:off x="347246" y="1227400"/>
              <a:ext cx="2375841" cy="5519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26798" y="1227400"/>
              <a:ext cx="21044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阶行列式的递推定义：</a:t>
              </a: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240439"/>
              </p:ext>
            </p:extLst>
          </p:nvPr>
        </p:nvGraphicFramePr>
        <p:xfrm>
          <a:off x="794513" y="1995449"/>
          <a:ext cx="2770187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1" name="Equation" r:id="rId3" imgW="1498320" imgH="939600" progId="Equation.DSMT4">
                  <p:embed/>
                </p:oleObj>
              </mc:Choice>
              <mc:Fallback>
                <p:oleObj name="Equation" r:id="rId3" imgW="14983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513" y="1995449"/>
                        <a:ext cx="2770187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889106" y="3971440"/>
            <a:ext cx="2201483" cy="464325"/>
            <a:chOff x="1992692" y="3953688"/>
            <a:chExt cx="2201483" cy="464325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2595267"/>
                </p:ext>
              </p:extLst>
            </p:nvPr>
          </p:nvGraphicFramePr>
          <p:xfrm>
            <a:off x="1992692" y="3953688"/>
            <a:ext cx="328612" cy="44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62" name="Equation" r:id="rId5" imgW="177480" imgH="241200" progId="Equation.DSMT4">
                    <p:embed/>
                  </p:oleObj>
                </mc:Choice>
                <mc:Fallback>
                  <p:oleObj name="Equation" r:id="rId5" imgW="1774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92692" y="3953688"/>
                          <a:ext cx="328612" cy="4460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2306995" y="3953688"/>
              <a:ext cx="1815153" cy="464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的余子式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4039065"/>
                </p:ext>
              </p:extLst>
            </p:nvPr>
          </p:nvGraphicFramePr>
          <p:xfrm>
            <a:off x="3606800" y="3971925"/>
            <a:ext cx="587375" cy="44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63" name="Equation" r:id="rId7" imgW="317160" imgH="241200" progId="Equation.DSMT4">
                    <p:embed/>
                  </p:oleObj>
                </mc:Choice>
                <mc:Fallback>
                  <p:oleObj name="Equation" r:id="rId7" imgW="3171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06800" y="3971925"/>
                          <a:ext cx="587375" cy="4460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3417955" y="3938111"/>
            <a:ext cx="7824716" cy="461665"/>
            <a:chOff x="4122148" y="3938111"/>
            <a:chExt cx="7824716" cy="461665"/>
          </a:xfrm>
        </p:grpSpPr>
        <p:sp>
          <p:nvSpPr>
            <p:cNvPr id="12" name="文本框 11"/>
            <p:cNvSpPr txBox="1"/>
            <p:nvPr/>
          </p:nvSpPr>
          <p:spPr>
            <a:xfrm>
              <a:off x="4122148" y="3938111"/>
              <a:ext cx="7824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去掉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中第 </a:t>
              </a:r>
              <a:r>
                <a:rPr lang="en-US" altLang="zh-CN" sz="2400" dirty="0" err="1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行，第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列，其余元素构成的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n-1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阶行列式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5078128"/>
                </p:ext>
              </p:extLst>
            </p:nvPr>
          </p:nvGraphicFramePr>
          <p:xfrm>
            <a:off x="4874999" y="3973769"/>
            <a:ext cx="376238" cy="423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64" name="Equation" r:id="rId9" imgW="203040" imgH="228600" progId="Equation.DSMT4">
                    <p:embed/>
                  </p:oleObj>
                </mc:Choice>
                <mc:Fallback>
                  <p:oleObj name="Equation" r:id="rId9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74999" y="3973769"/>
                          <a:ext cx="376238" cy="423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931491" y="4613299"/>
            <a:ext cx="4174141" cy="515938"/>
            <a:chOff x="1992692" y="3934518"/>
            <a:chExt cx="4174141" cy="515938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8019827"/>
                </p:ext>
              </p:extLst>
            </p:nvPr>
          </p:nvGraphicFramePr>
          <p:xfrm>
            <a:off x="1992692" y="3953688"/>
            <a:ext cx="328612" cy="44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65" name="Equation" r:id="rId11" imgW="177480" imgH="241200" progId="Equation.DSMT4">
                    <p:embed/>
                  </p:oleObj>
                </mc:Choice>
                <mc:Fallback>
                  <p:oleObj name="Equation" r:id="rId11" imgW="1774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92692" y="3953688"/>
                          <a:ext cx="328612" cy="4460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/>
            <p:cNvSpPr txBox="1"/>
            <p:nvPr/>
          </p:nvSpPr>
          <p:spPr>
            <a:xfrm>
              <a:off x="2306995" y="3953688"/>
              <a:ext cx="2943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代数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余子式</a:t>
              </a: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1719722"/>
                </p:ext>
              </p:extLst>
            </p:nvPr>
          </p:nvGraphicFramePr>
          <p:xfrm>
            <a:off x="4333270" y="3934518"/>
            <a:ext cx="1833563" cy="515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66" name="Equation" r:id="rId13" imgW="990360" imgH="279360" progId="Equation.DSMT4">
                    <p:embed/>
                  </p:oleObj>
                </mc:Choice>
                <mc:Fallback>
                  <p:oleObj name="Equation" r:id="rId13" imgW="9903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33270" y="3934518"/>
                          <a:ext cx="1833563" cy="515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159276"/>
              </p:ext>
            </p:extLst>
          </p:nvPr>
        </p:nvGraphicFramePr>
        <p:xfrm>
          <a:off x="3567276" y="2627532"/>
          <a:ext cx="42973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7" name="Equation" r:id="rId15" imgW="2323800" imgH="228600" progId="Equation.DSMT4">
                  <p:embed/>
                </p:oleObj>
              </mc:Choice>
              <mc:Fallback>
                <p:oleObj name="Equation" r:id="rId15" imgW="2323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67276" y="2627532"/>
                        <a:ext cx="4297363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6"/>
          <p:cNvSpPr txBox="1"/>
          <p:nvPr/>
        </p:nvSpPr>
        <p:spPr>
          <a:xfrm>
            <a:off x="434028" y="5241777"/>
            <a:ext cx="87217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】n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阶行列式的本质是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n!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项取自不同行不同列元素的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代数和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2396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624417" y="2941639"/>
            <a:ext cx="10464800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chemeClr val="accent2"/>
                </a:solidFill>
              </a:rPr>
              <a:t>例</a:t>
            </a:r>
            <a:r>
              <a:rPr lang="en-US" altLang="zh-CN">
                <a:solidFill>
                  <a:schemeClr val="accent2"/>
                </a:solidFill>
              </a:rPr>
              <a:t>1   </a:t>
            </a:r>
            <a:r>
              <a:rPr lang="zh-CN" altLang="en-US"/>
              <a:t>计算行列式 </a:t>
            </a:r>
          </a:p>
        </p:txBody>
      </p:sp>
      <p:graphicFrame>
        <p:nvGraphicFramePr>
          <p:cNvPr id="10243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020994"/>
              </p:ext>
            </p:extLst>
          </p:nvPr>
        </p:nvGraphicFramePr>
        <p:xfrm>
          <a:off x="4549775" y="1798638"/>
          <a:ext cx="4341284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Equation" r:id="rId3" imgW="1282700" imgH="1143000" progId="Equation.DSMT4">
                  <p:embed/>
                </p:oleObj>
              </mc:Choice>
              <mc:Fallback>
                <p:oleObj name="Equation" r:id="rId3" imgW="128270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1798638"/>
                        <a:ext cx="4341284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圆角矩形 9"/>
          <p:cNvSpPr/>
          <p:nvPr/>
        </p:nvSpPr>
        <p:spPr>
          <a:xfrm>
            <a:off x="4656667" y="2492375"/>
            <a:ext cx="4127500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6959600" y="441325"/>
            <a:ext cx="4224867" cy="323850"/>
          </a:xfrm>
          <a:prstGeom prst="rect">
            <a:avLst/>
          </a:prstGeom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r" eaLnBrk="1" hangingPunct="1">
              <a:defRPr/>
            </a:pPr>
            <a:endParaRPr lang="zh-CN" altLang="en-US" sz="2000" kern="0" dirty="0" smtClean="0"/>
          </a:p>
        </p:txBody>
      </p:sp>
      <p:sp>
        <p:nvSpPr>
          <p:cNvPr id="4" name="矩形 3"/>
          <p:cNvSpPr/>
          <p:nvPr/>
        </p:nvSpPr>
        <p:spPr>
          <a:xfrm>
            <a:off x="8049656" y="441325"/>
            <a:ext cx="2714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1.1.2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n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阶行列式 的 概 念</a:t>
            </a:r>
          </a:p>
        </p:txBody>
      </p:sp>
    </p:spTree>
    <p:extLst>
      <p:ext uri="{BB962C8B-B14F-4D97-AF65-F5344CB8AC3E}">
        <p14:creationId xmlns:p14="http://schemas.microsoft.com/office/powerpoint/2010/main" val="267322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140200" y="2225676"/>
          <a:ext cx="738505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2" name="Equation" r:id="rId3" imgW="2514600" imgH="228600" progId="Equation.DSMT4">
                  <p:embed/>
                </p:oleObj>
              </mc:Choice>
              <mc:Fallback>
                <p:oleObj name="Equation" r:id="rId3" imgW="2514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225676"/>
                        <a:ext cx="7385051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对象 7"/>
          <p:cNvGraphicFramePr>
            <a:graphicFrameLocks noChangeAspect="1"/>
          </p:cNvGraphicFramePr>
          <p:nvPr/>
        </p:nvGraphicFramePr>
        <p:xfrm>
          <a:off x="412751" y="1125538"/>
          <a:ext cx="3765549" cy="274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3" name="Equation" r:id="rId5" imgW="1282700" imgH="1143000" progId="Equation.DSMT4">
                  <p:embed/>
                </p:oleObj>
              </mc:Choice>
              <mc:Fallback>
                <p:oleObj name="Equation" r:id="rId5" imgW="128270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1" y="1125538"/>
                        <a:ext cx="3765549" cy="274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76251" y="1711325"/>
          <a:ext cx="39793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4" name="Equation" r:id="rId7" imgW="126725" imgH="177415" progId="Equation.DSMT4">
                  <p:embed/>
                </p:oleObj>
              </mc:Choice>
              <mc:Fallback>
                <p:oleObj name="Equation" r:id="rId7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1" y="1711325"/>
                        <a:ext cx="39793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123952" y="1711325"/>
          <a:ext cx="400049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5" name="Equation" r:id="rId9" imgW="126725" imgH="177415" progId="Equation.DSMT4">
                  <p:embed/>
                </p:oleObj>
              </mc:Choice>
              <mc:Fallback>
                <p:oleObj name="Equation" r:id="rId9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2" y="1711325"/>
                        <a:ext cx="400049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85952" y="1708150"/>
          <a:ext cx="400049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6" name="Equation" r:id="rId10" imgW="126725" imgH="177415" progId="Equation.DSMT4">
                  <p:embed/>
                </p:oleObj>
              </mc:Choice>
              <mc:Fallback>
                <p:oleObj name="Equation" r:id="rId10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2" y="1708150"/>
                        <a:ext cx="400049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49552" y="1708150"/>
          <a:ext cx="400049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" name="Equation" r:id="rId11" imgW="126725" imgH="177415" progId="Equation.DSMT4">
                  <p:embed/>
                </p:oleObj>
              </mc:Choice>
              <mc:Fallback>
                <p:oleObj name="Equation" r:id="rId11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2" y="1708150"/>
                        <a:ext cx="400049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678767" y="1719264"/>
          <a:ext cx="277284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8" name="Equation" r:id="rId12" imgW="88707" imgH="164742" progId="Equation.DSMT4">
                  <p:embed/>
                </p:oleObj>
              </mc:Choice>
              <mc:Fallback>
                <p:oleObj name="Equation" r:id="rId12" imgW="88707" imgH="1647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767" y="1719264"/>
                        <a:ext cx="277284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圆角矩形 15"/>
          <p:cNvSpPr/>
          <p:nvPr/>
        </p:nvSpPr>
        <p:spPr>
          <a:xfrm>
            <a:off x="4559301" y="2211388"/>
            <a:ext cx="5473700" cy="576262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=0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140200" y="2133600"/>
          <a:ext cx="2051051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9" name="Equation" r:id="rId14" imgW="698500" imgH="279400" progId="Equation.DSMT4">
                  <p:embed/>
                </p:oleObj>
              </mc:Choice>
              <mc:Fallback>
                <p:oleObj name="Equation" r:id="rId14" imgW="698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133600"/>
                        <a:ext cx="2051051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圆角矩形 17"/>
          <p:cNvSpPr/>
          <p:nvPr/>
        </p:nvSpPr>
        <p:spPr>
          <a:xfrm>
            <a:off x="6316133" y="1458913"/>
            <a:ext cx="2592917" cy="3603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231218" y="3924300"/>
          <a:ext cx="693843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0" name="Equation" r:id="rId16" imgW="2362200" imgH="254000" progId="Equation.DSMT4">
                  <p:embed/>
                </p:oleObj>
              </mc:Choice>
              <mc:Fallback>
                <p:oleObj name="Equation" r:id="rId16" imgW="23622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1218" y="3924300"/>
                        <a:ext cx="693843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258985" y="1450975"/>
          <a:ext cx="400049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1" name="Equation" r:id="rId18" imgW="126725" imgH="177415" progId="Equation.DSMT4">
                  <p:embed/>
                </p:oleObj>
              </mc:Choice>
              <mc:Fallback>
                <p:oleObj name="Equation" r:id="rId18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8985" y="1450975"/>
                        <a:ext cx="400049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908800" y="1452564"/>
          <a:ext cx="39793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2" name="Equation" r:id="rId19" imgW="126780" imgH="164814" progId="Equation.DSMT4">
                  <p:embed/>
                </p:oleObj>
              </mc:Choice>
              <mc:Fallback>
                <p:oleObj name="Equation" r:id="rId19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8800" y="1452564"/>
                        <a:ext cx="39793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7670800" y="1449388"/>
          <a:ext cx="39793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3" name="Equation" r:id="rId21" imgW="126725" imgH="177415" progId="Equation.DSMT4">
                  <p:embed/>
                </p:oleObj>
              </mc:Choice>
              <mc:Fallback>
                <p:oleObj name="Equation" r:id="rId21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1449388"/>
                        <a:ext cx="39793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544984" y="1449388"/>
          <a:ext cx="39793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4" name="Equation" r:id="rId22" imgW="126725" imgH="177415" progId="Equation.DSMT4">
                  <p:embed/>
                </p:oleObj>
              </mc:Choice>
              <mc:Fallback>
                <p:oleObj name="Equation" r:id="rId22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984" y="1449388"/>
                        <a:ext cx="39793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233333" y="4083050"/>
          <a:ext cx="186266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5" name="Equation" r:id="rId23" imgW="634725" imgH="228501" progId="Equation.DSMT4">
                  <p:embed/>
                </p:oleObj>
              </mc:Choice>
              <mc:Fallback>
                <p:oleObj name="Equation" r:id="rId23" imgW="63472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333" y="4083050"/>
                        <a:ext cx="186266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096001" y="3506789"/>
          <a:ext cx="4398433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6" name="Equation" r:id="rId25" imgW="1497950" imgH="710891" progId="Equation.DSMT4">
                  <p:embed/>
                </p:oleObj>
              </mc:Choice>
              <mc:Fallback>
                <p:oleObj name="Equation" r:id="rId25" imgW="1497950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506789"/>
                        <a:ext cx="4398433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圆角矩形 25"/>
          <p:cNvSpPr/>
          <p:nvPr/>
        </p:nvSpPr>
        <p:spPr>
          <a:xfrm>
            <a:off x="8358718" y="3563938"/>
            <a:ext cx="1962149" cy="3603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237568" y="5208589"/>
          <a:ext cx="3875617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7" name="Equation" r:id="rId27" imgW="1320800" imgH="457200" progId="Equation.DSMT4">
                  <p:embed/>
                </p:oleObj>
              </mc:Choice>
              <mc:Fallback>
                <p:oleObj name="Equation" r:id="rId27" imgW="1320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568" y="5208589"/>
                        <a:ext cx="3875617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113184" y="5516564"/>
          <a:ext cx="16764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8" name="Equation" r:id="rId29" imgW="571004" imgH="177646" progId="Equation.DSMT4">
                  <p:embed/>
                </p:oleObj>
              </mc:Choice>
              <mc:Fallback>
                <p:oleObj name="Equation" r:id="rId29" imgW="571004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3184" y="5516564"/>
                        <a:ext cx="16764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180667" y="1400176"/>
          <a:ext cx="2870200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9" name="Equation" r:id="rId31" imgW="977900" imgH="914400" progId="Equation.DSMT4">
                  <p:embed/>
                </p:oleObj>
              </mc:Choice>
              <mc:Fallback>
                <p:oleObj name="Equation" r:id="rId31" imgW="9779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667" y="1400176"/>
                        <a:ext cx="2870200" cy="220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6959600" y="441325"/>
            <a:ext cx="4224867" cy="323850"/>
          </a:xfrm>
          <a:prstGeom prst="rect">
            <a:avLst/>
          </a:prstGeom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r" eaLnBrk="1" hangingPunct="1">
              <a:defRPr/>
            </a:pPr>
            <a:endParaRPr lang="zh-CN" altLang="en-US" sz="2000" kern="0" dirty="0" smtClean="0"/>
          </a:p>
        </p:txBody>
      </p:sp>
      <p:sp>
        <p:nvSpPr>
          <p:cNvPr id="4" name="矩形 3"/>
          <p:cNvSpPr/>
          <p:nvPr/>
        </p:nvSpPr>
        <p:spPr>
          <a:xfrm>
            <a:off x="8186290" y="395843"/>
            <a:ext cx="2714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1.1.2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n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阶行列式 的 概 念</a:t>
            </a:r>
          </a:p>
        </p:txBody>
      </p:sp>
    </p:spTree>
    <p:extLst>
      <p:ext uri="{BB962C8B-B14F-4D97-AF65-F5344CB8AC3E}">
        <p14:creationId xmlns:p14="http://schemas.microsoft.com/office/powerpoint/2010/main" val="144866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00069 L 0.16632 -0.00069 C 0.24115 -0.00069 0.33334 0.02153 0.33334 0.04051 L 0.33334 0.08195 " pathEditMode="relative" rAng="0" ptsTypes="FfFF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67" y="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0.00069 L 0.2 -0.00069 C 0.28993 -0.00069 0.40104 0.02176 0.40104 0.04144 L 0.40104 0.08426 " pathEditMode="relative" rAng="0" ptsTypes="FfFF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52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0.0007 L 0.22691 -0.0007 C 0.32882 -0.0007 0.45503 0.02176 0.45503 0.04143 L 0.45503 0.08426 " pathEditMode="relative" rAng="0" ptsTypes="FfFF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43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0.0007 L 0.25034 -0.0007 C 0.36284 -0.0007 0.50225 0.02176 0.50225 0.04143 L 0.50225 0.08426 " pathEditMode="relative" rAng="0" ptsTypes="FfFF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04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069 L 0.27379 -0.00069 C 0.3967 -0.00069 0.54931 0.02176 0.54931 0.04144 L 0.54931 0.08426 " pathEditMode="relative" rAng="0" ptsTypes="FfFF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65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23 L -0.04479 0.15486 C -0.05591 0.21667 -0.06181 0.3213 -0.06684 0.37037 " pathEditMode="relative" rAng="0" ptsTypes="FfF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16" y="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255 L -0.0191 0.13912 C -0.01841 0.20208 -0.00348 0.32453 0.00312 0.37476 " pathEditMode="relative" rAng="0" ptsTypes="FfF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7" y="1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0023 L 0.0335 0.15648 C 0.04288 0.21852 0.04757 0.32222 0.0592 0.37199 " pathEditMode="relative" rAng="0" ptsTypes="FfF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" y="1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23 L 0.04097 0.13194 L 0.10504 0.36921 " pathEditMode="relative" rAng="0" ptsTypes="FFF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1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8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特 殊 类 型 行 列 式 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44650" y="1608547"/>
            <a:ext cx="2842094" cy="696036"/>
            <a:chOff x="586854" y="1214651"/>
            <a:chExt cx="284209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86854" y="1214651"/>
              <a:ext cx="2333767" cy="696036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99396" y="1330657"/>
              <a:ext cx="2729552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对角行列式</a:t>
              </a:r>
            </a:p>
          </p:txBody>
        </p:sp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007423"/>
              </p:ext>
            </p:extLst>
          </p:nvPr>
        </p:nvGraphicFramePr>
        <p:xfrm>
          <a:off x="544650" y="2690513"/>
          <a:ext cx="2064274" cy="1702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3" name="Equation" r:id="rId3" imgW="1054080" imgH="939600" progId="Equation.DSMT4">
                  <p:embed/>
                </p:oleObj>
              </mc:Choice>
              <mc:Fallback>
                <p:oleObj name="Equation" r:id="rId3" imgW="10540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650" y="2690513"/>
                        <a:ext cx="2064274" cy="1702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741746"/>
              </p:ext>
            </p:extLst>
          </p:nvPr>
        </p:nvGraphicFramePr>
        <p:xfrm>
          <a:off x="2500313" y="3376613"/>
          <a:ext cx="13271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4" name="Equation" r:id="rId5" imgW="685800" imgH="228600" progId="Equation.DSMT4">
                  <p:embed/>
                </p:oleObj>
              </mc:Choice>
              <mc:Fallback>
                <p:oleObj name="Equation" r:id="rId5" imgW="685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0313" y="3376613"/>
                        <a:ext cx="1327150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4202639" y="1591456"/>
            <a:ext cx="2729552" cy="696036"/>
            <a:chOff x="586854" y="1214651"/>
            <a:chExt cx="272955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圆角矩形 10"/>
            <p:cNvSpPr/>
            <p:nvPr/>
          </p:nvSpPr>
          <p:spPr>
            <a:xfrm>
              <a:off x="586854" y="1214651"/>
              <a:ext cx="2333767" cy="696036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AFAB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86854" y="1330657"/>
              <a:ext cx="2729552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上三角行列式</a:t>
              </a:r>
            </a:p>
          </p:txBody>
        </p:sp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407315"/>
              </p:ext>
            </p:extLst>
          </p:nvPr>
        </p:nvGraphicFramePr>
        <p:xfrm>
          <a:off x="4202639" y="2719756"/>
          <a:ext cx="2172758" cy="176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5" name="Equation" r:id="rId7" imgW="1155600" imgH="939600" progId="Equation.DSMT4">
                  <p:embed/>
                </p:oleObj>
              </mc:Choice>
              <mc:Fallback>
                <p:oleObj name="Equation" r:id="rId7" imgW="11556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02639" y="2719756"/>
                        <a:ext cx="2172758" cy="1767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976810"/>
              </p:ext>
            </p:extLst>
          </p:nvPr>
        </p:nvGraphicFramePr>
        <p:xfrm>
          <a:off x="6375397" y="3359868"/>
          <a:ext cx="15748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6" name="Equation" r:id="rId9" imgW="812520" imgH="228600" progId="Equation.DSMT4">
                  <p:embed/>
                </p:oleObj>
              </mc:Choice>
              <mc:Fallback>
                <p:oleObj name="Equation" r:id="rId9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75397" y="3359868"/>
                        <a:ext cx="1574800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8256413" y="1591456"/>
            <a:ext cx="2729552" cy="696036"/>
            <a:chOff x="586854" y="1214651"/>
            <a:chExt cx="272955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586854" y="1214651"/>
              <a:ext cx="2333767" cy="696036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86854" y="1330657"/>
              <a:ext cx="2729552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下三角行列式</a:t>
              </a: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305"/>
              </p:ext>
            </p:extLst>
          </p:nvPr>
        </p:nvGraphicFramePr>
        <p:xfrm>
          <a:off x="8256413" y="2743633"/>
          <a:ext cx="2159000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7" name="Equation" r:id="rId11" imgW="1168200" imgH="939600" progId="Equation.DSMT4">
                  <p:embed/>
                </p:oleObj>
              </mc:Choice>
              <mc:Fallback>
                <p:oleObj name="Equation" r:id="rId11" imgW="11682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56413" y="2743633"/>
                        <a:ext cx="2159000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862978"/>
              </p:ext>
            </p:extLst>
          </p:nvPr>
        </p:nvGraphicFramePr>
        <p:xfrm>
          <a:off x="10415413" y="3391333"/>
          <a:ext cx="15748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8" name="Equation" r:id="rId13" imgW="812520" imgH="228600" progId="Equation.DSMT4">
                  <p:embed/>
                </p:oleObj>
              </mc:Choice>
              <mc:Fallback>
                <p:oleObj name="Equation" r:id="rId13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15413" y="3391333"/>
                        <a:ext cx="1574800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087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 bwMode="auto">
          <a:xfrm>
            <a:off x="334434" y="981076"/>
            <a:ext cx="10945284" cy="576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计算下列行列式的值，找出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规律</a:t>
            </a:r>
            <a:endParaRPr lang="en-US" altLang="zh-CN" sz="2800" b="1" dirty="0" smtClean="0">
              <a:solidFill>
                <a:srgbClr val="0000FF"/>
              </a:solidFill>
            </a:endParaRPr>
          </a:p>
          <a:p>
            <a:endParaRPr lang="zh-CN" altLang="en-US" dirty="0" smtClean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27051" y="1484314"/>
          <a:ext cx="8879416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3" imgW="2832100" imgH="914400" progId="Equation.DSMT4">
                  <p:embed/>
                </p:oleObj>
              </mc:Choice>
              <mc:Fallback>
                <p:oleObj name="Equation" r:id="rId3" imgW="2832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1" y="1484314"/>
                        <a:ext cx="8879416" cy="254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4417" y="3573463"/>
          <a:ext cx="4459816" cy="318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Equation" r:id="rId5" imgW="1422400" imgH="1143000" progId="Equation.DSMT4">
                  <p:embed/>
                </p:oleObj>
              </mc:Choice>
              <mc:Fallback>
                <p:oleObj name="Equation" r:id="rId5" imgW="142240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417" y="3573463"/>
                        <a:ext cx="4459816" cy="318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96000" y="4652963"/>
          <a:ext cx="3600451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Equation" r:id="rId7" imgW="1015920" imgH="342720" progId="Equation.DSMT4">
                  <p:embed/>
                </p:oleObj>
              </mc:Choice>
              <mc:Fallback>
                <p:oleObj name="Equation" r:id="rId7" imgW="10159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652963"/>
                        <a:ext cx="3600451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3"/>
          <p:cNvSpPr txBox="1"/>
          <p:nvPr/>
        </p:nvSpPr>
        <p:spPr>
          <a:xfrm>
            <a:off x="8330781" y="18744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1.1.1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课堂练习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对象 6"/>
          <p:cNvGraphicFramePr>
            <a:graphicFrameLocks noChangeAspect="1"/>
          </p:cNvGraphicFramePr>
          <p:nvPr/>
        </p:nvGraphicFramePr>
        <p:xfrm>
          <a:off x="723901" y="1196975"/>
          <a:ext cx="2876551" cy="217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6" name="Equation" r:id="rId3" imgW="1104840" imgH="939600" progId="Equation.DSMT4">
                  <p:embed/>
                </p:oleObj>
              </mc:Choice>
              <mc:Fallback>
                <p:oleObj name="Equation" r:id="rId3" imgW="110484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1" y="1196975"/>
                        <a:ext cx="2876551" cy="217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600451" y="1508125"/>
          <a:ext cx="8261349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5" imgW="3124080" imgH="711000" progId="Equation.DSMT4">
                  <p:embed/>
                </p:oleObj>
              </mc:Choice>
              <mc:Fallback>
                <p:oleObj name="Equation" r:id="rId5" imgW="31240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1" y="1508125"/>
                        <a:ext cx="8261349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316567" y="3716338"/>
          <a:ext cx="919691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Equation" r:id="rId7" imgW="2882880" imgH="482400" progId="Equation.DSMT4">
                  <p:embed/>
                </p:oleObj>
              </mc:Choice>
              <mc:Fallback>
                <p:oleObj name="Equation" r:id="rId7" imgW="2882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567" y="3716338"/>
                        <a:ext cx="919691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390652" y="5445126"/>
          <a:ext cx="465243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name="Equation" r:id="rId9" imgW="1460160" imgH="203040" progId="Equation.DSMT4">
                  <p:embed/>
                </p:oleObj>
              </mc:Choice>
              <mc:Fallback>
                <p:oleObj name="Equation" r:id="rId9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2" y="5445126"/>
                        <a:ext cx="465243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4155674" y="289801"/>
            <a:ext cx="4800600" cy="323850"/>
          </a:xfrm>
          <a:prstGeom prst="rect">
            <a:avLst/>
          </a:prstGeom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r" eaLnBrk="1" hangingPunct="1">
              <a:defRPr/>
            </a:pPr>
            <a:r>
              <a:rPr lang="en-US" altLang="zh-CN" sz="2000" kern="0" dirty="0" smtClean="0"/>
              <a:t>1.1.1  n</a:t>
            </a:r>
            <a:r>
              <a:rPr lang="zh-CN" altLang="en-US" sz="2000" kern="0" dirty="0" smtClean="0"/>
              <a:t>阶行列式定义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思 考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4024" y="1610436"/>
            <a:ext cx="9853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若用第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行元素对应乘第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行的代数余子式之和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4024" y="2169994"/>
            <a:ext cx="97581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高阶行列式的计算仅按展开定义，计算繁复，利用行列式的性质可以等值化简行列式的计算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82288" y="4201621"/>
            <a:ext cx="2842094" cy="696036"/>
            <a:chOff x="586854" y="1214651"/>
            <a:chExt cx="284209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圆角矩形 7"/>
            <p:cNvSpPr/>
            <p:nvPr/>
          </p:nvSpPr>
          <p:spPr>
            <a:xfrm>
              <a:off x="586854" y="1214651"/>
              <a:ext cx="2333767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99396" y="1330657"/>
              <a:ext cx="2729552" cy="464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行列式的性质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464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545</Words>
  <Application>Microsoft Office PowerPoint</Application>
  <PresentationFormat>自定义</PresentationFormat>
  <Paragraphs>110</Paragraphs>
  <Slides>20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Office 主题</vt:lpstr>
      <vt:lpstr>文档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1.1.1 二、三阶行列式</vt:lpstr>
      <vt:lpstr>PowerPoint 演示文稿</vt:lpstr>
      <vt:lpstr>PowerPoint 演示文稿</vt:lpstr>
      <vt:lpstr>1.1.1 二、三阶行列式</vt:lpstr>
      <vt:lpstr>1.1.1 二、三阶行列式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138</cp:revision>
  <dcterms:created xsi:type="dcterms:W3CDTF">2016-07-04T12:59:51Z</dcterms:created>
  <dcterms:modified xsi:type="dcterms:W3CDTF">2018-09-26T11:08:45Z</dcterms:modified>
</cp:coreProperties>
</file>
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7"/>
  </p:notesMasterIdLst>
  <p:sldIdLst>
    <p:sldId id="275" r:id="rId3"/>
    <p:sldId id="276" r:id="rId4"/>
    <p:sldId id="272" r:id="rId5"/>
    <p:sldId id="273" r:id="rId6"/>
    <p:sldId id="277" r:id="rId7"/>
    <p:sldId id="279" r:id="rId8"/>
    <p:sldId id="274" r:id="rId9"/>
    <p:sldId id="278" r:id="rId10"/>
    <p:sldId id="280" r:id="rId11"/>
    <p:sldId id="281" r:id="rId12"/>
    <p:sldId id="282" r:id="rId13"/>
    <p:sldId id="285" r:id="rId14"/>
    <p:sldId id="283" r:id="rId15"/>
    <p:sldId id="28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C"/>
    <a:srgbClr val="9DC3E6"/>
    <a:srgbClr val="2E75B6"/>
    <a:srgbClr val="1F4E79"/>
    <a:srgbClr val="FFFFFF"/>
    <a:srgbClr val="548235"/>
    <a:srgbClr val="385723"/>
    <a:srgbClr val="3B3838"/>
    <a:srgbClr val="A6A6A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3" autoAdjust="0"/>
    <p:restoredTop sz="94745" autoAdjust="0"/>
  </p:normalViewPr>
  <p:slideViewPr>
    <p:cSldViewPr snapToGrid="0">
      <p:cViewPr>
        <p:scale>
          <a:sx n="91" d="100"/>
          <a:sy n="91" d="100"/>
        </p:scale>
        <p:origin x="1056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15.wmf"/><Relationship Id="rId7" Type="http://schemas.openxmlformats.org/officeDocument/2006/relationships/image" Target="../media/image39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10" Type="http://schemas.openxmlformats.org/officeDocument/2006/relationships/image" Target="../media/image23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D36CA-0F65-41DD-80BE-943697E48694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12B2CF-9492-437A-A43D-CA9F462026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951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12B2CF-9492-437A-A43D-CA9F462026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772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第三章 线性方程组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3.5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线性方程组解的结构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60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19BC5-49F7-418A-80DA-4ABBEAA9162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371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3592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54486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8711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1507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0507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2511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740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8312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2907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2715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1647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第三章 线性方程组</a:t>
            </a:r>
            <a:endParaRPr lang="en-US" altLang="zh-CN" sz="4000" b="1" dirty="0">
              <a:solidFill>
                <a:prstClr val="white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3.4  </a:t>
            </a:r>
            <a:r>
              <a:rPr lang="zh-CN" altLang="en-US" sz="3200" smtClean="0">
                <a:solidFill>
                  <a:prstClr val="white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向量组的线性相关性</a:t>
            </a:r>
            <a:endParaRPr lang="zh-CN" altLang="en-US" sz="3200" dirty="0">
              <a:solidFill>
                <a:prstClr val="white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62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17D10-EB71-441F-A43C-BAC099820168}" type="slidenum">
              <a:rPr lang="en-US" altLang="zh-CN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12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5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2018/4/3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174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2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10.wmf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image" Target="../media/image18.wmf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.bin"/><Relationship Id="rId14" Type="http://schemas.openxmlformats.org/officeDocument/2006/relationships/oleObject" Target="../embeddings/oleObject1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6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.bin"/><Relationship Id="rId13" Type="http://schemas.openxmlformats.org/officeDocument/2006/relationships/image" Target="../media/image37.wmf"/><Relationship Id="rId18" Type="http://schemas.openxmlformats.org/officeDocument/2006/relationships/image" Target="../media/image39.wmf"/><Relationship Id="rId3" Type="http://schemas.openxmlformats.org/officeDocument/2006/relationships/notesSlide" Target="../notesSlides/notesSlide1.xml"/><Relationship Id="rId21" Type="http://schemas.openxmlformats.org/officeDocument/2006/relationships/oleObject" Target="../embeddings/oleObject43.bin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8.bin"/><Relationship Id="rId17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0.bin"/><Relationship Id="rId20" Type="http://schemas.openxmlformats.org/officeDocument/2006/relationships/image" Target="../media/image40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5.bin"/><Relationship Id="rId11" Type="http://schemas.openxmlformats.org/officeDocument/2006/relationships/image" Target="../media/image36.wmf"/><Relationship Id="rId24" Type="http://schemas.openxmlformats.org/officeDocument/2006/relationships/image" Target="../media/image23.wmf"/><Relationship Id="rId5" Type="http://schemas.openxmlformats.org/officeDocument/2006/relationships/image" Target="../media/image34.wmf"/><Relationship Id="rId15" Type="http://schemas.openxmlformats.org/officeDocument/2006/relationships/image" Target="../media/image38.wmf"/><Relationship Id="rId23" Type="http://schemas.openxmlformats.org/officeDocument/2006/relationships/oleObject" Target="../embeddings/oleObject44.bin"/><Relationship Id="rId10" Type="http://schemas.openxmlformats.org/officeDocument/2006/relationships/oleObject" Target="../embeddings/oleObject37.bin"/><Relationship Id="rId19" Type="http://schemas.openxmlformats.org/officeDocument/2006/relationships/oleObject" Target="../embeddings/oleObject42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39.bin"/><Relationship Id="rId22" Type="http://schemas.openxmlformats.org/officeDocument/2006/relationships/image" Target="../media/image4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44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8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0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57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6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6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7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7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1685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1"/>
          <p:cNvGrpSpPr>
            <a:grpSpLocks/>
          </p:cNvGrpSpPr>
          <p:nvPr/>
        </p:nvGrpSpPr>
        <p:grpSpPr bwMode="auto">
          <a:xfrm>
            <a:off x="764774" y="1403367"/>
            <a:ext cx="10435167" cy="1477329"/>
            <a:chOff x="582613" y="1359822"/>
            <a:chExt cx="7826747" cy="1477134"/>
          </a:xfrm>
        </p:grpSpPr>
        <p:sp>
          <p:nvSpPr>
            <p:cNvPr id="9238" name="Text Box 2"/>
            <p:cNvSpPr txBox="1">
              <a:spLocks noChangeArrowheads="1"/>
            </p:cNvSpPr>
            <p:nvPr/>
          </p:nvSpPr>
          <p:spPr bwMode="auto">
            <a:xfrm>
              <a:off x="582613" y="1359822"/>
              <a:ext cx="7826747" cy="1477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rgbClr val="AC66BB"/>
                  </a:solidFill>
                </a:rPr>
                <a:t>例</a:t>
              </a:r>
              <a:r>
                <a:rPr lang="en-US" altLang="zh-CN" sz="2000" dirty="0">
                  <a:solidFill>
                    <a:srgbClr val="AC66BB"/>
                  </a:solidFill>
                </a:rPr>
                <a:t>1</a:t>
              </a:r>
              <a:r>
                <a:rPr lang="en-US" altLang="zh-CN" sz="2000" dirty="0" smtClean="0">
                  <a:solidFill>
                    <a:srgbClr val="AC66BB"/>
                  </a:solidFill>
                </a:rPr>
                <a:t> </a:t>
              </a:r>
              <a:r>
                <a:rPr lang="en-US" altLang="zh-CN" sz="2000" dirty="0" smtClean="0">
                  <a:solidFill>
                    <a:prstClr val="black"/>
                  </a:solidFill>
                </a:rPr>
                <a:t> </a:t>
              </a:r>
              <a:r>
                <a:rPr lang="zh-CN" altLang="en-US" sz="2000" dirty="0">
                  <a:solidFill>
                    <a:prstClr val="black"/>
                  </a:solidFill>
                </a:rPr>
                <a:t>记</a:t>
              </a:r>
              <a:r>
                <a:rPr lang="zh-CN" altLang="en-US" sz="2000" dirty="0" smtClean="0">
                  <a:solidFill>
                    <a:prstClr val="black"/>
                  </a:solidFill>
                </a:rPr>
                <a:t>齐次线性方程组                                全体</a:t>
              </a:r>
              <a:r>
                <a:rPr lang="zh-CN" altLang="en-US" sz="2000" dirty="0">
                  <a:solidFill>
                    <a:prstClr val="black"/>
                  </a:solidFill>
                </a:rPr>
                <a:t>解向量构成</a:t>
              </a:r>
              <a:r>
                <a:rPr lang="zh-CN" altLang="en-US" sz="2000" dirty="0" smtClean="0">
                  <a:solidFill>
                    <a:prstClr val="black"/>
                  </a:solidFill>
                </a:rPr>
                <a:t>集合为   </a:t>
              </a:r>
              <a:r>
                <a:rPr lang="zh-CN" altLang="en-US" sz="2000" dirty="0">
                  <a:solidFill>
                    <a:prstClr val="black"/>
                  </a:solidFill>
                </a:rPr>
                <a:t>，</a:t>
              </a:r>
              <a:r>
                <a:rPr lang="zh-CN" altLang="en-US" sz="2000" dirty="0" smtClean="0">
                  <a:solidFill>
                    <a:prstClr val="black"/>
                  </a:solidFill>
                </a:rPr>
                <a:t>求    的一</a:t>
              </a:r>
              <a:endParaRPr lang="en-US" altLang="zh-CN" sz="2000" dirty="0" smtClean="0">
                <a:solidFill>
                  <a:prstClr val="black"/>
                </a:solidFill>
              </a:endParaRPr>
            </a:p>
            <a:p>
              <a:pPr algn="just" eaLnBrk="1" hangingPunct="1">
                <a:lnSpc>
                  <a:spcPct val="150000"/>
                </a:lnSpc>
              </a:pPr>
              <a:endParaRPr lang="en-US" altLang="zh-CN" sz="2000" dirty="0">
                <a:solidFill>
                  <a:prstClr val="black"/>
                </a:solidFill>
              </a:endParaRPr>
            </a:p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prstClr val="black"/>
                  </a:solidFill>
                </a:rPr>
                <a:t>个极大无关组及                                              </a:t>
              </a:r>
              <a:endParaRPr lang="en-US" altLang="zh-CN" sz="2000" dirty="0" smtClean="0">
                <a:solidFill>
                  <a:prstClr val="black"/>
                </a:solidFill>
              </a:endParaRPr>
            </a:p>
          </p:txBody>
        </p:sp>
        <p:graphicFrame>
          <p:nvGraphicFramePr>
            <p:cNvPr id="924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8427270"/>
                </p:ext>
              </p:extLst>
            </p:nvPr>
          </p:nvGraphicFramePr>
          <p:xfrm>
            <a:off x="7252026" y="1543435"/>
            <a:ext cx="228594" cy="273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2" name="Equation" r:id="rId3" imgW="139579" imgH="177646" progId="Equation.DSMT4">
                    <p:embed/>
                  </p:oleObj>
                </mc:Choice>
                <mc:Fallback>
                  <p:oleObj name="Equation" r:id="rId3" imgW="139579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2026" y="1543435"/>
                          <a:ext cx="228594" cy="273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7521651"/>
                </p:ext>
              </p:extLst>
            </p:nvPr>
          </p:nvGraphicFramePr>
          <p:xfrm>
            <a:off x="2033108" y="2419314"/>
            <a:ext cx="623871" cy="417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3" name="Equation" r:id="rId5" imgW="380835" imgH="253890" progId="Equation.DSMT4">
                    <p:embed/>
                  </p:oleObj>
                </mc:Choice>
                <mc:Fallback>
                  <p:oleObj name="Equation" r:id="rId5" imgW="380835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3108" y="2419314"/>
                          <a:ext cx="623871" cy="417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2223468"/>
                </p:ext>
              </p:extLst>
            </p:nvPr>
          </p:nvGraphicFramePr>
          <p:xfrm>
            <a:off x="3832777" y="1575676"/>
            <a:ext cx="186937" cy="2920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4" name="Equation" r:id="rId7" imgW="114120" imgH="177480" progId="Equation.DSMT4">
                    <p:embed/>
                  </p:oleObj>
                </mc:Choice>
                <mc:Fallback>
                  <p:oleObj name="Equation" r:id="rId7" imgW="11412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2777" y="1575676"/>
                          <a:ext cx="186937" cy="2920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39444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zh-CN" altLang="en-US" kern="0" smtClean="0">
              <a:solidFill>
                <a:srgbClr val="000000"/>
              </a:solidFill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zh-CN" altLang="en-US" kern="0" smtClean="0">
              <a:solidFill>
                <a:srgbClr val="000000"/>
              </a:solidFill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zh-CN" altLang="en-US" kern="0" smtClean="0">
              <a:solidFill>
                <a:srgbClr val="000000"/>
              </a:solidFill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zh-CN" altLang="en-US" kern="0" smtClean="0">
              <a:solidFill>
                <a:srgbClr val="000000"/>
              </a:solidFill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zh-CN" altLang="en-US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zh-CN" altLang="en-US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zh-CN" altLang="en-US" kern="0" smtClean="0">
              <a:solidFill>
                <a:srgbClr val="000000"/>
              </a:solidFill>
            </a:endParaRP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172634" y="3082925"/>
            <a:ext cx="6788151" cy="1220788"/>
            <a:chOff x="533400" y="726864"/>
            <a:chExt cx="5090974" cy="1220787"/>
          </a:xfrm>
        </p:grpSpPr>
        <p:sp>
          <p:nvSpPr>
            <p:cNvPr id="31" name="Text Box 3"/>
            <p:cNvSpPr txBox="1">
              <a:spLocks noChangeArrowheads="1"/>
            </p:cNvSpPr>
            <p:nvPr/>
          </p:nvSpPr>
          <p:spPr bwMode="auto">
            <a:xfrm>
              <a:off x="533400" y="1120564"/>
              <a:ext cx="955649" cy="706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hangingPunct="1">
                <a:defRPr/>
              </a:pPr>
              <a:r>
                <a:rPr lang="zh-CN" altLang="en-US" sz="2000" kern="0" dirty="0" smtClean="0">
                  <a:solidFill>
                    <a:srgbClr val="000000"/>
                  </a:solidFill>
                  <a:latin typeface="宋体"/>
                </a:rPr>
                <a:t>解：</a:t>
              </a:r>
            </a:p>
            <a:p>
              <a:pPr algn="just" eaLnBrk="1" hangingPunct="1">
                <a:defRPr/>
              </a:pPr>
              <a:endParaRPr lang="zh-CN" altLang="en-US" sz="2000" kern="0" dirty="0" smtClean="0">
                <a:solidFill>
                  <a:srgbClr val="000000"/>
                </a:solidFill>
                <a:latin typeface="宋体"/>
              </a:endParaRPr>
            </a:p>
          </p:txBody>
        </p:sp>
        <p:graphicFrame>
          <p:nvGraphicFramePr>
            <p:cNvPr id="9236" name="Object 15"/>
            <p:cNvGraphicFramePr>
              <a:graphicFrameLocks noChangeAspect="1"/>
            </p:cNvGraphicFramePr>
            <p:nvPr/>
          </p:nvGraphicFramePr>
          <p:xfrm>
            <a:off x="1071242" y="726864"/>
            <a:ext cx="4553132" cy="1220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5" name="Equation" r:id="rId9" imgW="2667000" imgH="711200" progId="Equation.DSMT4">
                    <p:embed/>
                  </p:oleObj>
                </mc:Choice>
                <mc:Fallback>
                  <p:oleObj name="Equation" r:id="rId9" imgW="26670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242" y="726864"/>
                          <a:ext cx="4553132" cy="1220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17"/>
            <p:cNvGraphicFramePr>
              <a:graphicFrameLocks noChangeAspect="1"/>
            </p:cNvGraphicFramePr>
            <p:nvPr/>
          </p:nvGraphicFramePr>
          <p:xfrm>
            <a:off x="3547641" y="1107647"/>
            <a:ext cx="171450" cy="192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836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7641" y="1107647"/>
                          <a:ext cx="171450" cy="192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endParaRPr lang="zh-CN" altLang="en-US" kern="0" smtClean="0">
              <a:solidFill>
                <a:srgbClr val="000000"/>
              </a:solidFill>
            </a:endParaRPr>
          </a:p>
        </p:txBody>
      </p:sp>
      <p:graphicFrame>
        <p:nvGraphicFramePr>
          <p:cNvPr id="33" name="Object 26"/>
          <p:cNvGraphicFramePr>
            <a:graphicFrameLocks noChangeAspect="1"/>
          </p:cNvGraphicFramePr>
          <p:nvPr/>
        </p:nvGraphicFramePr>
        <p:xfrm>
          <a:off x="1471084" y="4378325"/>
          <a:ext cx="4817533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7" name="Equation" r:id="rId13" imgW="2209800" imgH="914400" progId="Equation.DSMT4">
                  <p:embed/>
                </p:oleObj>
              </mc:Choice>
              <mc:Fallback>
                <p:oleObj name="Equation" r:id="rId13" imgW="22098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084" y="4378325"/>
                        <a:ext cx="4817533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278215"/>
              </p:ext>
            </p:extLst>
          </p:nvPr>
        </p:nvGraphicFramePr>
        <p:xfrm>
          <a:off x="7710388" y="5347849"/>
          <a:ext cx="132926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8" name="Equation" r:id="rId15" imgW="609336" imgH="253890" progId="Equation.DSMT4">
                  <p:embed/>
                </p:oleObj>
              </mc:Choice>
              <mc:Fallback>
                <p:oleObj name="Equation" r:id="rId15" imgW="609336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0388" y="5347849"/>
                        <a:ext cx="132926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8007160" y="438072"/>
            <a:ext cx="30812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687566"/>
              </p:ext>
            </p:extLst>
          </p:nvPr>
        </p:nvGraphicFramePr>
        <p:xfrm>
          <a:off x="6711293" y="4739728"/>
          <a:ext cx="4881617" cy="5362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39" name="Equation" r:id="rId17" imgW="1841400" imgH="228600" progId="Equation.DSMT4">
                  <p:embed/>
                </p:oleObj>
              </mc:Choice>
              <mc:Fallback>
                <p:oleObj name="Equation" r:id="rId17" imgW="1841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11293" y="4739728"/>
                        <a:ext cx="4881617" cy="5362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3328579"/>
              </p:ext>
            </p:extLst>
          </p:nvPr>
        </p:nvGraphicFramePr>
        <p:xfrm>
          <a:off x="8953963" y="1602772"/>
          <a:ext cx="304778" cy="27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0" name="Equation" r:id="rId19" imgW="139579" imgH="177646" progId="Equation.DSMT4">
                  <p:embed/>
                </p:oleObj>
              </mc:Choice>
              <mc:Fallback>
                <p:oleObj name="Equation" r:id="rId19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963" y="1602772"/>
                        <a:ext cx="304778" cy="273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418827"/>
              </p:ext>
            </p:extLst>
          </p:nvPr>
        </p:nvGraphicFramePr>
        <p:xfrm>
          <a:off x="3822919" y="1268685"/>
          <a:ext cx="2339108" cy="1159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41" name="Equation" r:id="rId20" imgW="1434960" imgH="711000" progId="Equation.DSMT4">
                  <p:embed/>
                </p:oleObj>
              </mc:Choice>
              <mc:Fallback>
                <p:oleObj name="Equation" r:id="rId20" imgW="14349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22919" y="1268685"/>
                        <a:ext cx="2339108" cy="11592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168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结构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20504" y="1146832"/>
            <a:ext cx="4024199" cy="696036"/>
            <a:chOff x="745588" y="1310185"/>
            <a:chExt cx="1868803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27794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齐次线性方程组解的结构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20504" y="2075027"/>
            <a:ext cx="5050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设齐次线性方程组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Ax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的解集为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                         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176791"/>
              </p:ext>
            </p:extLst>
          </p:nvPr>
        </p:nvGraphicFramePr>
        <p:xfrm>
          <a:off x="5601457" y="2075027"/>
          <a:ext cx="18684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6" name="Equation" r:id="rId3" imgW="1002960" imgH="279360" progId="Equation.DSMT4">
                  <p:embed/>
                </p:oleObj>
              </mc:Choice>
              <mc:Fallback>
                <p:oleObj name="Equation" r:id="rId3" imgW="100296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01457" y="2075027"/>
                        <a:ext cx="1868487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355272"/>
              </p:ext>
            </p:extLst>
          </p:nvPr>
        </p:nvGraphicFramePr>
        <p:xfrm>
          <a:off x="2222500" y="2786063"/>
          <a:ext cx="249396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7" name="Equation" r:id="rId5" imgW="850680" imgH="228600" progId="Equation.DSMT4">
                  <p:embed/>
                </p:oleObj>
              </mc:Choice>
              <mc:Fallback>
                <p:oleObj name="Equation" r:id="rId5" imgW="850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22500" y="2786063"/>
                        <a:ext cx="2493963" cy="619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083080"/>
              </p:ext>
            </p:extLst>
          </p:nvPr>
        </p:nvGraphicFramePr>
        <p:xfrm>
          <a:off x="4863118" y="2877275"/>
          <a:ext cx="707687" cy="422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8" name="Equation" r:id="rId7" imgW="190440" imgH="152280" progId="Equation.DSMT4">
                  <p:embed/>
                </p:oleObj>
              </mc:Choice>
              <mc:Fallback>
                <p:oleObj name="Equation" r:id="rId7" imgW="1904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63118" y="2877275"/>
                        <a:ext cx="707687" cy="4229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0864911"/>
              </p:ext>
            </p:extLst>
          </p:nvPr>
        </p:nvGraphicFramePr>
        <p:xfrm>
          <a:off x="5402263" y="2824163"/>
          <a:ext cx="170815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29" name="Equation" r:id="rId9" imgW="672840" imgH="228600" progId="Equation.DSMT4">
                  <p:embed/>
                </p:oleObj>
              </mc:Choice>
              <mc:Fallback>
                <p:oleObj name="Equation" r:id="rId9" imgW="6728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02263" y="2824163"/>
                        <a:ext cx="1708150" cy="601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539833"/>
              </p:ext>
            </p:extLst>
          </p:nvPr>
        </p:nvGraphicFramePr>
        <p:xfrm>
          <a:off x="2293938" y="3565525"/>
          <a:ext cx="25908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0" name="Equation" r:id="rId11" imgW="1155600" imgH="203040" progId="Equation.DSMT4">
                  <p:embed/>
                </p:oleObj>
              </mc:Choice>
              <mc:Fallback>
                <p:oleObj name="Equation" r:id="rId11" imgW="1155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93938" y="3565525"/>
                        <a:ext cx="2590800" cy="585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402659"/>
              </p:ext>
            </p:extLst>
          </p:nvPr>
        </p:nvGraphicFramePr>
        <p:xfrm>
          <a:off x="4893215" y="3602301"/>
          <a:ext cx="509101" cy="444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1" name="Equation" r:id="rId13" imgW="190440" imgH="152280" progId="Equation.DSMT4">
                  <p:embed/>
                </p:oleObj>
              </mc:Choice>
              <mc:Fallback>
                <p:oleObj name="Equation" r:id="rId13" imgW="1904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93215" y="3602301"/>
                        <a:ext cx="509101" cy="444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065605"/>
              </p:ext>
            </p:extLst>
          </p:nvPr>
        </p:nvGraphicFramePr>
        <p:xfrm>
          <a:off x="5476164" y="3615504"/>
          <a:ext cx="113506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2" name="Equation" r:id="rId14" imgW="444240" imgH="203040" progId="Equation.DSMT4">
                  <p:embed/>
                </p:oleObj>
              </mc:Choice>
              <mc:Fallback>
                <p:oleObj name="Equation" r:id="rId14" imgW="444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476164" y="3615504"/>
                        <a:ext cx="1135062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520504" y="4330026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圆角矩形 22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1750597" y="4439691"/>
            <a:ext cx="782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Ax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的解集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一个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极大无关组称为 </a:t>
            </a:r>
            <a:r>
              <a:rPr lang="en-US" altLang="zh-CN" sz="2400" i="1" dirty="0" smtClean="0">
                <a:solidFill>
                  <a:srgbClr val="004F8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Ax</a:t>
            </a:r>
            <a:r>
              <a:rPr lang="en-US" altLang="zh-CN" sz="2400" dirty="0" smtClean="0">
                <a:solidFill>
                  <a:srgbClr val="004F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 smtClean="0">
                <a:solidFill>
                  <a:srgbClr val="004F8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 smtClean="0">
                <a:solidFill>
                  <a:srgbClr val="004F8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的基础解</a:t>
            </a:r>
            <a:r>
              <a:rPr lang="zh-CN" altLang="en-US" sz="2400" b="1" dirty="0">
                <a:solidFill>
                  <a:srgbClr val="004F8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61800" y="2075026"/>
            <a:ext cx="2375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的性质有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0504" y="5223640"/>
            <a:ext cx="2686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基础解系的特点：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7848" y="5223639"/>
            <a:ext cx="2188346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线性无关；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5655" y="5796451"/>
            <a:ext cx="6634373" cy="46166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方程组的解。（且可以表示方程的所有解）</a:t>
            </a:r>
          </a:p>
        </p:txBody>
      </p:sp>
    </p:spTree>
    <p:extLst>
      <p:ext uri="{BB962C8B-B14F-4D97-AF65-F5344CB8AC3E}">
        <p14:creationId xmlns:p14="http://schemas.microsoft.com/office/powerpoint/2010/main" val="167309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25" grpId="0"/>
      <p:bldP spid="26" grpId="0"/>
      <p:bldP spid="2" grpId="0"/>
      <p:bldP spid="3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结构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20504" y="1146832"/>
            <a:ext cx="4024199" cy="696036"/>
            <a:chOff x="745588" y="1310185"/>
            <a:chExt cx="1868803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27794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齐次线性方程组解的结构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0504" y="2219749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872824" y="2329414"/>
            <a:ext cx="3121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Ax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有无穷多解，                         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94031" y="2329414"/>
            <a:ext cx="2954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则必存在基础解系，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789985" y="2329414"/>
            <a:ext cx="3974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且基础解系所含向量个数为：</a:t>
            </a: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890403"/>
              </p:ext>
            </p:extLst>
          </p:nvPr>
        </p:nvGraphicFramePr>
        <p:xfrm>
          <a:off x="4655308" y="3017929"/>
          <a:ext cx="11096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3" name="Equation" r:id="rId3" imgW="596880" imgH="253800" progId="Equation.DSMT4">
                  <p:embed/>
                </p:oleObj>
              </mc:Choice>
              <mc:Fallback>
                <p:oleObj name="Equation" r:id="rId3" imgW="5968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55308" y="3017929"/>
                        <a:ext cx="1109663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829920"/>
              </p:ext>
            </p:extLst>
          </p:nvPr>
        </p:nvGraphicFramePr>
        <p:xfrm>
          <a:off x="5764971" y="3124291"/>
          <a:ext cx="825500" cy="26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4" name="Equation" r:id="rId5" imgW="444240" imgH="139680" progId="Equation.DSMT4">
                  <p:embed/>
                </p:oleObj>
              </mc:Choice>
              <mc:Fallback>
                <p:oleObj name="Equation" r:id="rId5" imgW="44424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64971" y="3124291"/>
                        <a:ext cx="825500" cy="26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圆角矩形 18"/>
          <p:cNvSpPr/>
          <p:nvPr/>
        </p:nvSpPr>
        <p:spPr>
          <a:xfrm>
            <a:off x="520504" y="3727105"/>
            <a:ext cx="11243604" cy="2726449"/>
          </a:xfrm>
          <a:prstGeom prst="roundRect">
            <a:avLst/>
          </a:prstGeom>
          <a:solidFill>
            <a:srgbClr val="004F8C"/>
          </a:solidFill>
          <a:ln>
            <a:solidFill>
              <a:srgbClr val="004F8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/>
          <p:cNvGrpSpPr/>
          <p:nvPr/>
        </p:nvGrpSpPr>
        <p:grpSpPr>
          <a:xfrm>
            <a:off x="766814" y="3880389"/>
            <a:ext cx="6703130" cy="624266"/>
            <a:chOff x="766814" y="3880389"/>
            <a:chExt cx="6703130" cy="624266"/>
          </a:xfrm>
        </p:grpSpPr>
        <p:sp>
          <p:nvSpPr>
            <p:cNvPr id="22" name="文本框 21"/>
            <p:cNvSpPr txBox="1"/>
            <p:nvPr/>
          </p:nvSpPr>
          <p:spPr>
            <a:xfrm>
              <a:off x="766814" y="3980822"/>
              <a:ext cx="67031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                   为</a:t>
              </a:r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的一个基础解系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，                        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7804329"/>
                </p:ext>
              </p:extLst>
            </p:nvPr>
          </p:nvGraphicFramePr>
          <p:xfrm>
            <a:off x="1296067" y="3880389"/>
            <a:ext cx="2137360" cy="624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5" name="Equation" r:id="rId7" imgW="787320" imgH="228600" progId="Equation.DSMT4">
                    <p:embed/>
                  </p:oleObj>
                </mc:Choice>
                <mc:Fallback>
                  <p:oleObj name="Equation" r:id="rId7" imgW="7873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96067" y="3880389"/>
                          <a:ext cx="2137360" cy="6242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文本框 23"/>
          <p:cNvSpPr txBox="1"/>
          <p:nvPr/>
        </p:nvSpPr>
        <p:spPr>
          <a:xfrm>
            <a:off x="7209692" y="3980822"/>
            <a:ext cx="4026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则解的结构式为</a:t>
            </a: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330044"/>
              </p:ext>
            </p:extLst>
          </p:nvPr>
        </p:nvGraphicFramePr>
        <p:xfrm>
          <a:off x="2605089" y="4551364"/>
          <a:ext cx="5343157" cy="717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56" name="Equation" r:id="rId9" imgW="1676160" imgH="228600" progId="Equation.DSMT4">
                  <p:embed/>
                </p:oleObj>
              </mc:Choice>
              <mc:Fallback>
                <p:oleObj name="Equation" r:id="rId9" imgW="1676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05089" y="4551364"/>
                        <a:ext cx="5343157" cy="7170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1037492" y="5566380"/>
            <a:ext cx="5433646" cy="538017"/>
            <a:chOff x="3696161" y="5655506"/>
            <a:chExt cx="5433646" cy="538017"/>
          </a:xfrm>
        </p:grpSpPr>
        <p:graphicFrame>
          <p:nvGraphicFramePr>
            <p:cNvPr id="26" name="对象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5985780"/>
                </p:ext>
              </p:extLst>
            </p:nvPr>
          </p:nvGraphicFramePr>
          <p:xfrm>
            <a:off x="4531493" y="5655506"/>
            <a:ext cx="2020643" cy="5380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57" name="Equation" r:id="rId11" imgW="863280" imgH="228600" progId="Equation.DSMT4">
                    <p:embed/>
                  </p:oleObj>
                </mc:Choice>
                <mc:Fallback>
                  <p:oleObj name="Equation" r:id="rId11" imgW="863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31493" y="5655506"/>
                          <a:ext cx="2020643" cy="5380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文本框 26"/>
            <p:cNvSpPr txBox="1"/>
            <p:nvPr/>
          </p:nvSpPr>
          <p:spPr>
            <a:xfrm>
              <a:off x="3696161" y="5655506"/>
              <a:ext cx="54336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其中                        为任意常数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099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4" grpId="0"/>
      <p:bldP spid="19" grpId="0" animBg="1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组合 1"/>
          <p:cNvGrpSpPr>
            <a:grpSpLocks/>
          </p:cNvGrpSpPr>
          <p:nvPr/>
        </p:nvGrpSpPr>
        <p:grpSpPr bwMode="auto">
          <a:xfrm>
            <a:off x="859367" y="1235623"/>
            <a:ext cx="10435167" cy="1546225"/>
            <a:chOff x="582613" y="980989"/>
            <a:chExt cx="7826747" cy="1546020"/>
          </a:xfrm>
        </p:grpSpPr>
        <p:sp>
          <p:nvSpPr>
            <p:cNvPr id="7183" name="Text Box 2"/>
            <p:cNvSpPr txBox="1">
              <a:spLocks noChangeArrowheads="1"/>
            </p:cNvSpPr>
            <p:nvPr/>
          </p:nvSpPr>
          <p:spPr bwMode="auto">
            <a:xfrm>
              <a:off x="582613" y="1359822"/>
              <a:ext cx="7826747" cy="553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000" dirty="0" smtClean="0">
                  <a:solidFill>
                    <a:schemeClr val="accent2"/>
                  </a:solidFill>
                </a:rPr>
                <a:t>2  </a:t>
              </a:r>
              <a:r>
                <a:rPr lang="zh-CN" altLang="en-US" sz="2000" dirty="0"/>
                <a:t>求齐次线性方程组        </a:t>
              </a:r>
              <a:r>
                <a:rPr lang="zh-CN" altLang="en-US" sz="2000" dirty="0" smtClean="0"/>
                <a:t>                                       的一个基础</a:t>
              </a:r>
              <a:r>
                <a:rPr lang="zh-CN" altLang="en-US" sz="2000" dirty="0"/>
                <a:t>解</a:t>
              </a:r>
              <a:r>
                <a:rPr lang="zh-CN" altLang="en-US" sz="2000" dirty="0" smtClean="0"/>
                <a:t>系，给出解</a:t>
              </a:r>
              <a:r>
                <a:rPr lang="en-US" altLang="zh-CN" sz="2000" dirty="0" smtClean="0"/>
                <a:t>.</a:t>
              </a:r>
              <a:endParaRPr lang="zh-CN" altLang="en-US" sz="2000" dirty="0"/>
            </a:p>
          </p:txBody>
        </p:sp>
        <p:graphicFrame>
          <p:nvGraphicFramePr>
            <p:cNvPr id="718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6883449"/>
                </p:ext>
              </p:extLst>
            </p:nvPr>
          </p:nvGraphicFramePr>
          <p:xfrm>
            <a:off x="2738703" y="980989"/>
            <a:ext cx="3013218" cy="15460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50" name="Equation" r:id="rId3" imgW="1841500" imgH="939800" progId="Equation.DSMT4">
                    <p:embed/>
                  </p:oleObj>
                </mc:Choice>
                <mc:Fallback>
                  <p:oleObj name="Equation" r:id="rId3" imgW="1841500" imgH="939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8703" y="980989"/>
                          <a:ext cx="3013218" cy="15460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71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942501" y="3160713"/>
            <a:ext cx="6587067" cy="1403350"/>
            <a:chOff x="533400" y="640760"/>
            <a:chExt cx="5293142" cy="1401964"/>
          </a:xfrm>
        </p:grpSpPr>
        <p:sp>
          <p:nvSpPr>
            <p:cNvPr id="31" name="Text Box 3"/>
            <p:cNvSpPr txBox="1">
              <a:spLocks noChangeArrowheads="1"/>
            </p:cNvSpPr>
            <p:nvPr/>
          </p:nvSpPr>
          <p:spPr bwMode="auto">
            <a:xfrm>
              <a:off x="533400" y="1119712"/>
              <a:ext cx="955895" cy="707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解：</a:t>
              </a:r>
            </a:p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7181" name="Object 15"/>
            <p:cNvGraphicFramePr>
              <a:graphicFrameLocks noChangeAspect="1"/>
            </p:cNvGraphicFramePr>
            <p:nvPr/>
          </p:nvGraphicFramePr>
          <p:xfrm>
            <a:off x="1076227" y="640760"/>
            <a:ext cx="4750315" cy="14019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51" name="Equation" r:id="rId5" imgW="3035300" imgH="914400" progId="Equation.DSMT4">
                    <p:embed/>
                  </p:oleObj>
                </mc:Choice>
                <mc:Fallback>
                  <p:oleObj name="Equation" r:id="rId5" imgW="30353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6227" y="640760"/>
                          <a:ext cx="4750315" cy="14019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2" name="Object 17"/>
            <p:cNvGraphicFramePr>
              <a:graphicFrameLocks noChangeAspect="1"/>
            </p:cNvGraphicFramePr>
            <p:nvPr/>
          </p:nvGraphicFramePr>
          <p:xfrm>
            <a:off x="3664051" y="1107647"/>
            <a:ext cx="171450" cy="192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52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4051" y="1107647"/>
                          <a:ext cx="171450" cy="192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7178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lvl="0"/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       3.5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线性方程组解的结构</a:t>
            </a:r>
          </a:p>
        </p:txBody>
      </p:sp>
      <p:graphicFrame>
        <p:nvGraphicFramePr>
          <p:cNvPr id="3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477066"/>
              </p:ext>
            </p:extLst>
          </p:nvPr>
        </p:nvGraphicFramePr>
        <p:xfrm>
          <a:off x="8095337" y="2802590"/>
          <a:ext cx="2552700" cy="194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3" name="Equation" r:id="rId9" imgW="1333440" imgH="1143000" progId="Equation.DSMT4">
                  <p:embed/>
                </p:oleObj>
              </mc:Choice>
              <mc:Fallback>
                <p:oleObj name="Equation" r:id="rId9" imgW="133344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5337" y="2802590"/>
                        <a:ext cx="2552700" cy="194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028684"/>
              </p:ext>
            </p:extLst>
          </p:nvPr>
        </p:nvGraphicFramePr>
        <p:xfrm>
          <a:off x="942501" y="4855123"/>
          <a:ext cx="6065838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4" name="Equation" r:id="rId11" imgW="2603160" imgH="228600" progId="Equation.DSMT4">
                  <p:embed/>
                </p:oleObj>
              </mc:Choice>
              <mc:Fallback>
                <p:oleObj name="Equation" r:id="rId11" imgW="260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2501" y="4855123"/>
                        <a:ext cx="6065838" cy="420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290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78" name="Group 2"/>
          <p:cNvGrpSpPr>
            <a:grpSpLocks/>
          </p:cNvGrpSpPr>
          <p:nvPr/>
        </p:nvGrpSpPr>
        <p:grpSpPr bwMode="auto">
          <a:xfrm>
            <a:off x="938925" y="1052512"/>
            <a:ext cx="4320115" cy="523876"/>
            <a:chOff x="528" y="466"/>
            <a:chExt cx="2041" cy="330"/>
          </a:xfrm>
        </p:grpSpPr>
        <p:sp>
          <p:nvSpPr>
            <p:cNvPr id="126985" name="Text Box 3"/>
            <p:cNvSpPr txBox="1">
              <a:spLocks noChangeArrowheads="1"/>
            </p:cNvSpPr>
            <p:nvPr/>
          </p:nvSpPr>
          <p:spPr bwMode="auto">
            <a:xfrm>
              <a:off x="528" y="466"/>
              <a:ext cx="34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例</a:t>
              </a:r>
              <a:r>
                <a:rPr lang="en-US" altLang="zh-CN" sz="2800" b="1" dirty="0">
                  <a:solidFill>
                    <a:srgbClr val="FF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  <a:endParaRPr lang="en-US" altLang="zh-CN" sz="2800" b="1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2698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8756134"/>
                </p:ext>
              </p:extLst>
            </p:nvPr>
          </p:nvGraphicFramePr>
          <p:xfrm>
            <a:off x="932" y="513"/>
            <a:ext cx="1637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752" name="Equation" r:id="rId3" imgW="1320480" imgH="228600" progId="Equation.DSMT4">
                    <p:embed/>
                  </p:oleObj>
                </mc:Choice>
                <mc:Fallback>
                  <p:oleObj name="Equation" r:id="rId3" imgW="13204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513"/>
                          <a:ext cx="1637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1117601" y="1576388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b="1">
                <a:ea typeface="黑体" pitchFamily="2" charset="-122"/>
              </a:rPr>
              <a:t>证</a:t>
            </a:r>
          </a:p>
        </p:txBody>
      </p:sp>
      <p:graphicFrame>
        <p:nvGraphicFramePr>
          <p:cNvPr id="1638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361197"/>
              </p:ext>
            </p:extLst>
          </p:nvPr>
        </p:nvGraphicFramePr>
        <p:xfrm>
          <a:off x="1773894" y="1681655"/>
          <a:ext cx="5605487" cy="417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3" name="Equation" r:id="rId5" imgW="2171520" imgH="215640" progId="Equation.DSMT4">
                  <p:embed/>
                </p:oleObj>
              </mc:Choice>
              <mc:Fallback>
                <p:oleObj name="Equation" r:id="rId5" imgW="2171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3894" y="1681655"/>
                        <a:ext cx="5605487" cy="417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416107"/>
              </p:ext>
            </p:extLst>
          </p:nvPr>
        </p:nvGraphicFramePr>
        <p:xfrm>
          <a:off x="1524000" y="2199290"/>
          <a:ext cx="7535918" cy="928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4" name="Equation" r:id="rId7" imgW="6184900" imgH="1016000" progId="Equation.3">
                  <p:embed/>
                </p:oleObj>
              </mc:Choice>
              <mc:Fallback>
                <p:oleObj name="Equation" r:id="rId7" imgW="6184900" imgH="1016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199290"/>
                        <a:ext cx="7535918" cy="928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366393"/>
              </p:ext>
            </p:extLst>
          </p:nvPr>
        </p:nvGraphicFramePr>
        <p:xfrm>
          <a:off x="1390272" y="3255798"/>
          <a:ext cx="8683325" cy="991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5" name="Equation" r:id="rId9" imgW="6921500" imgH="1054100" progId="Equation.3">
                  <p:embed/>
                </p:oleObj>
              </mc:Choice>
              <mc:Fallback>
                <p:oleObj name="Equation" r:id="rId9" imgW="69215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272" y="3255798"/>
                        <a:ext cx="8683325" cy="991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071792"/>
              </p:ext>
            </p:extLst>
          </p:nvPr>
        </p:nvGraphicFramePr>
        <p:xfrm>
          <a:off x="1474355" y="4519448"/>
          <a:ext cx="855133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6" name="Equation" r:id="rId11" imgW="6413500" imgH="457200" progId="Equation.3">
                  <p:embed/>
                </p:oleObj>
              </mc:Choice>
              <mc:Fallback>
                <p:oleObj name="Equation" r:id="rId11" imgW="64135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355" y="4519448"/>
                        <a:ext cx="855133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333781"/>
              </p:ext>
            </p:extLst>
          </p:nvPr>
        </p:nvGraphicFramePr>
        <p:xfrm>
          <a:off x="1494778" y="5268310"/>
          <a:ext cx="3655291" cy="407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57" name="Equation" r:id="rId13" imgW="3962400" imgH="457200" progId="Equation.3">
                  <p:embed/>
                </p:oleObj>
              </mc:Choice>
              <mc:Fallback>
                <p:oleObj name="Equation" r:id="rId13" imgW="3962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778" y="5268310"/>
                        <a:ext cx="3655291" cy="407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3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结构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20504" y="1146832"/>
            <a:ext cx="4324451" cy="696036"/>
            <a:chOff x="745588" y="1310185"/>
            <a:chExt cx="1868803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27794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齐次线性方程组解的结构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520504" y="2075027"/>
            <a:ext cx="541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设非齐次线性方程组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Ax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的解集为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490247" y="2069321"/>
            <a:ext cx="2055813" cy="473075"/>
            <a:chOff x="2651430" y="3263620"/>
            <a:chExt cx="2055813" cy="473075"/>
          </a:xfrm>
        </p:grpSpPr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7070118"/>
                </p:ext>
              </p:extLst>
            </p:nvPr>
          </p:nvGraphicFramePr>
          <p:xfrm>
            <a:off x="2651430" y="3263620"/>
            <a:ext cx="2055813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13" name="Equation" r:id="rId4" imgW="1104840" imgH="253800" progId="Equation.DSMT4">
                    <p:embed/>
                  </p:oleObj>
                </mc:Choice>
                <mc:Fallback>
                  <p:oleObj name="Equation" r:id="rId4" imgW="11048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651430" y="3263620"/>
                          <a:ext cx="2055813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4" name="直接连接符 13"/>
            <p:cNvCxnSpPr/>
            <p:nvPr/>
          </p:nvCxnSpPr>
          <p:spPr>
            <a:xfrm>
              <a:off x="3595945" y="3338158"/>
              <a:ext cx="0" cy="324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400145"/>
              </p:ext>
            </p:extLst>
          </p:nvPr>
        </p:nvGraphicFramePr>
        <p:xfrm>
          <a:off x="903281" y="3075754"/>
          <a:ext cx="32861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4" name="Equation" r:id="rId6" imgW="1346040" imgH="228600" progId="Equation.DSMT4">
                  <p:embed/>
                </p:oleObj>
              </mc:Choice>
              <mc:Fallback>
                <p:oleObj name="Equation" r:id="rId6" imgW="13460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3281" y="3075754"/>
                        <a:ext cx="3286125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623598"/>
              </p:ext>
            </p:extLst>
          </p:nvPr>
        </p:nvGraphicFramePr>
        <p:xfrm>
          <a:off x="4131636" y="3168430"/>
          <a:ext cx="539927" cy="47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5" name="Equation" r:id="rId8" imgW="190440" imgH="152280" progId="Equation.DSMT4">
                  <p:embed/>
                </p:oleObj>
              </mc:Choice>
              <mc:Fallback>
                <p:oleObj name="Equation" r:id="rId8" imgW="1904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31636" y="3168430"/>
                        <a:ext cx="539927" cy="47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751612"/>
              </p:ext>
            </p:extLst>
          </p:nvPr>
        </p:nvGraphicFramePr>
        <p:xfrm>
          <a:off x="4844955" y="3031795"/>
          <a:ext cx="1492051" cy="6137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6" name="Equation" r:id="rId10" imgW="647640" imgH="228600" progId="Equation.DSMT4">
                  <p:embed/>
                </p:oleObj>
              </mc:Choice>
              <mc:Fallback>
                <p:oleObj name="Equation" r:id="rId10" imgW="647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44955" y="3031795"/>
                        <a:ext cx="1492051" cy="6137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7633480" y="2075024"/>
            <a:ext cx="2375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的性质有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018721" y="2454020"/>
            <a:ext cx="3353593" cy="714410"/>
            <a:chOff x="4932093" y="2860114"/>
            <a:chExt cx="2483657" cy="461665"/>
          </a:xfrm>
        </p:grpSpPr>
        <p:sp>
          <p:nvSpPr>
            <p:cNvPr id="3" name="文本框 2"/>
            <p:cNvSpPr txBox="1"/>
            <p:nvPr/>
          </p:nvSpPr>
          <p:spPr>
            <a:xfrm>
              <a:off x="4932093" y="2860114"/>
              <a:ext cx="12146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即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8522668"/>
                </p:ext>
              </p:extLst>
            </p:nvPr>
          </p:nvGraphicFramePr>
          <p:xfrm>
            <a:off x="5241889" y="2886827"/>
            <a:ext cx="2173861" cy="3272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17" name="Equation" r:id="rId12" imgW="1168200" imgH="228600" progId="Equation.DSMT4">
                    <p:embed/>
                  </p:oleObj>
                </mc:Choice>
                <mc:Fallback>
                  <p:oleObj name="Equation" r:id="rId12" imgW="11682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241889" y="2886827"/>
                          <a:ext cx="2173861" cy="32725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243048"/>
              </p:ext>
            </p:extLst>
          </p:nvPr>
        </p:nvGraphicFramePr>
        <p:xfrm>
          <a:off x="996288" y="2444070"/>
          <a:ext cx="2815382" cy="670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8" name="Equation" r:id="rId14" imgW="876240" imgH="228600" progId="Equation.DSMT4">
                  <p:embed/>
                </p:oleObj>
              </mc:Choice>
              <mc:Fallback>
                <p:oleObj name="Equation" r:id="rId14" imgW="876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96288" y="2444070"/>
                        <a:ext cx="2815382" cy="670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111967"/>
              </p:ext>
            </p:extLst>
          </p:nvPr>
        </p:nvGraphicFramePr>
        <p:xfrm>
          <a:off x="3730859" y="2514377"/>
          <a:ext cx="582384" cy="535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9" name="Equation" r:id="rId16" imgW="190440" imgH="152280" progId="Equation.DSMT4">
                  <p:embed/>
                </p:oleObj>
              </mc:Choice>
              <mc:Fallback>
                <p:oleObj name="Equation" r:id="rId16" imgW="1904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30859" y="2514377"/>
                        <a:ext cx="582384" cy="535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/>
          <p:cNvGrpSpPr/>
          <p:nvPr/>
        </p:nvGrpSpPr>
        <p:grpSpPr>
          <a:xfrm>
            <a:off x="4361570" y="2513595"/>
            <a:ext cx="3165832" cy="654835"/>
            <a:chOff x="2497597" y="2785145"/>
            <a:chExt cx="2876771" cy="478542"/>
          </a:xfrm>
        </p:grpSpPr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2567537"/>
                </p:ext>
              </p:extLst>
            </p:nvPr>
          </p:nvGraphicFramePr>
          <p:xfrm>
            <a:off x="2497597" y="2785145"/>
            <a:ext cx="80327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20" name="Equation" r:id="rId17" imgW="431640" imgH="228600" progId="Equation.DSMT4">
                    <p:embed/>
                  </p:oleObj>
                </mc:Choice>
                <mc:Fallback>
                  <p:oleObj name="Equation" r:id="rId17" imgW="431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497597" y="2785145"/>
                          <a:ext cx="80327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文本框 30"/>
            <p:cNvSpPr txBox="1"/>
            <p:nvPr/>
          </p:nvSpPr>
          <p:spPr>
            <a:xfrm>
              <a:off x="3344927" y="2802022"/>
              <a:ext cx="20294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满足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=0,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圆角矩形 31"/>
          <p:cNvSpPr/>
          <p:nvPr/>
        </p:nvSpPr>
        <p:spPr>
          <a:xfrm>
            <a:off x="710729" y="3786002"/>
            <a:ext cx="8705383" cy="2111322"/>
          </a:xfrm>
          <a:prstGeom prst="roundRect">
            <a:avLst/>
          </a:prstGeom>
          <a:solidFill>
            <a:srgbClr val="004F8C"/>
          </a:solidFill>
          <a:ln>
            <a:solidFill>
              <a:srgbClr val="004F8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3" name="组合 32"/>
          <p:cNvGrpSpPr/>
          <p:nvPr/>
        </p:nvGrpSpPr>
        <p:grpSpPr>
          <a:xfrm>
            <a:off x="4131636" y="4092375"/>
            <a:ext cx="4791345" cy="563562"/>
            <a:chOff x="784662" y="3749989"/>
            <a:chExt cx="4791345" cy="563562"/>
          </a:xfrm>
        </p:grpSpPr>
        <p:sp>
          <p:nvSpPr>
            <p:cNvPr id="34" name="文本框 33"/>
            <p:cNvSpPr txBox="1"/>
            <p:nvPr/>
          </p:nvSpPr>
          <p:spPr>
            <a:xfrm>
              <a:off x="784662" y="3749989"/>
              <a:ext cx="47730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Ax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的基础解系为                                                  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5529155"/>
                </p:ext>
              </p:extLst>
            </p:nvPr>
          </p:nvGraphicFramePr>
          <p:xfrm>
            <a:off x="3521782" y="3749989"/>
            <a:ext cx="2054225" cy="563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21" name="Equation" r:id="rId19" imgW="838080" imgH="228600" progId="Equation.DSMT4">
                    <p:embed/>
                  </p:oleObj>
                </mc:Choice>
                <mc:Fallback>
                  <p:oleObj name="Equation" r:id="rId19" imgW="8380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21782" y="3749989"/>
                          <a:ext cx="2054225" cy="563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组合 46"/>
          <p:cNvGrpSpPr/>
          <p:nvPr/>
        </p:nvGrpSpPr>
        <p:grpSpPr>
          <a:xfrm>
            <a:off x="1040294" y="4706125"/>
            <a:ext cx="7306176" cy="722528"/>
            <a:chOff x="964789" y="5013006"/>
            <a:chExt cx="6924602" cy="560387"/>
          </a:xfrm>
        </p:grpSpPr>
        <p:sp>
          <p:nvSpPr>
            <p:cNvPr id="36" name="文本框 35"/>
            <p:cNvSpPr txBox="1"/>
            <p:nvPr/>
          </p:nvSpPr>
          <p:spPr>
            <a:xfrm>
              <a:off x="964789" y="5048904"/>
              <a:ext cx="5606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则</a:t>
              </a:r>
            </a:p>
          </p:txBody>
        </p:sp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7026145"/>
                </p:ext>
              </p:extLst>
            </p:nvPr>
          </p:nvGraphicFramePr>
          <p:xfrm>
            <a:off x="1882291" y="5013006"/>
            <a:ext cx="6007100" cy="560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22" name="Equation" r:id="rId21" imgW="2603160" imgH="241200" progId="Equation.DSMT4">
                    <p:embed/>
                  </p:oleObj>
                </mc:Choice>
                <mc:Fallback>
                  <p:oleObj name="Equation" r:id="rId21" imgW="26031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882291" y="5013006"/>
                          <a:ext cx="6007100" cy="560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/>
        </p:nvGrpSpPr>
        <p:grpSpPr>
          <a:xfrm>
            <a:off x="1338643" y="5359306"/>
            <a:ext cx="8410439" cy="538017"/>
            <a:chOff x="3667015" y="5398132"/>
            <a:chExt cx="5433646" cy="538017"/>
          </a:xfrm>
        </p:grpSpPr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3901528"/>
                </p:ext>
              </p:extLst>
            </p:nvPr>
          </p:nvGraphicFramePr>
          <p:xfrm>
            <a:off x="5212117" y="5398132"/>
            <a:ext cx="2020643" cy="5380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023" name="Equation" r:id="rId23" imgW="863280" imgH="228600" progId="Equation.DSMT4">
                    <p:embed/>
                  </p:oleObj>
                </mc:Choice>
                <mc:Fallback>
                  <p:oleObj name="Equation" r:id="rId23" imgW="863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212117" y="5398132"/>
                          <a:ext cx="2020643" cy="5380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文本框 39"/>
            <p:cNvSpPr txBox="1"/>
            <p:nvPr/>
          </p:nvSpPr>
          <p:spPr>
            <a:xfrm>
              <a:off x="3667015" y="5474484"/>
              <a:ext cx="54336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         其中                                  为任意常数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040294" y="4074811"/>
            <a:ext cx="3149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 </a:t>
            </a:r>
            <a:r>
              <a:rPr lang="en-US" altLang="zh-CN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Ax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有无穷多解，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1338643" y="6079774"/>
            <a:ext cx="8575873" cy="558192"/>
            <a:chOff x="6189724" y="4033350"/>
            <a:chExt cx="8575873" cy="55819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1" name="组合 40"/>
            <p:cNvGrpSpPr/>
            <p:nvPr/>
          </p:nvGrpSpPr>
          <p:grpSpPr>
            <a:xfrm>
              <a:off x="6189724" y="4033350"/>
              <a:ext cx="7853390" cy="558192"/>
              <a:chOff x="494413" y="4727993"/>
              <a:chExt cx="13790269" cy="558192"/>
            </a:xfrm>
          </p:grpSpPr>
          <p:sp>
            <p:nvSpPr>
              <p:cNvPr id="42" name="圆角矩形 41"/>
              <p:cNvSpPr/>
              <p:nvPr/>
            </p:nvSpPr>
            <p:spPr>
              <a:xfrm>
                <a:off x="494413" y="4727993"/>
                <a:ext cx="13790269" cy="558192"/>
              </a:xfrm>
              <a:prstGeom prst="roundRect">
                <a:avLst/>
              </a:prstGeom>
              <a:solidFill>
                <a:srgbClr val="F17623"/>
              </a:solidFill>
              <a:ln>
                <a:solidFill>
                  <a:srgbClr val="F1762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2481069" y="4727993"/>
                <a:ext cx="3516383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6375156" y="4118400"/>
              <a:ext cx="83904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非齐次方程的通解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非齐次方程的特解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齐次方程的通解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36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26" grpId="0"/>
      <p:bldP spid="32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组合 1"/>
          <p:cNvGrpSpPr>
            <a:grpSpLocks/>
          </p:cNvGrpSpPr>
          <p:nvPr/>
        </p:nvGrpSpPr>
        <p:grpSpPr bwMode="auto">
          <a:xfrm>
            <a:off x="859367" y="1138239"/>
            <a:ext cx="10435167" cy="1169987"/>
            <a:chOff x="582613" y="1094727"/>
            <a:chExt cx="7826747" cy="1169832"/>
          </a:xfrm>
        </p:grpSpPr>
        <p:sp>
          <p:nvSpPr>
            <p:cNvPr id="11285" name="Text Box 2"/>
            <p:cNvSpPr txBox="1">
              <a:spLocks noChangeArrowheads="1"/>
            </p:cNvSpPr>
            <p:nvPr/>
          </p:nvSpPr>
          <p:spPr bwMode="auto">
            <a:xfrm>
              <a:off x="582613" y="1359822"/>
              <a:ext cx="7826747" cy="5539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000" dirty="0" smtClean="0">
                  <a:solidFill>
                    <a:schemeClr val="accent2"/>
                  </a:solidFill>
                </a:rPr>
                <a:t>4  </a:t>
              </a:r>
              <a:r>
                <a:rPr lang="zh-CN" altLang="en-US" sz="2000" dirty="0"/>
                <a:t>求线性方程组        </a:t>
              </a:r>
              <a:r>
                <a:rPr lang="zh-CN" altLang="en-US" sz="2000" dirty="0" smtClean="0"/>
                <a:t>                                        </a:t>
              </a:r>
              <a:r>
                <a:rPr lang="zh-CN" altLang="en-US" sz="2000" dirty="0"/>
                <a:t>的通解，并写出</a:t>
              </a:r>
              <a:r>
                <a:rPr lang="zh-CN" altLang="en-US" sz="2000" dirty="0" smtClean="0"/>
                <a:t>结构式</a:t>
              </a:r>
              <a:endParaRPr lang="zh-CN" altLang="en-US" sz="2000" dirty="0"/>
            </a:p>
          </p:txBody>
        </p:sp>
        <p:graphicFrame>
          <p:nvGraphicFramePr>
            <p:cNvPr id="1128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3910759"/>
                </p:ext>
              </p:extLst>
            </p:nvPr>
          </p:nvGraphicFramePr>
          <p:xfrm>
            <a:off x="2867661" y="1094727"/>
            <a:ext cx="2430579" cy="11698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8" name="Equation" r:id="rId3" imgW="1485720" imgH="711000" progId="Equation.DSMT4">
                    <p:embed/>
                  </p:oleObj>
                </mc:Choice>
                <mc:Fallback>
                  <p:oleObj name="Equation" r:id="rId3" imgW="148572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7661" y="1094727"/>
                          <a:ext cx="2430579" cy="11698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267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859367" y="2363788"/>
            <a:ext cx="8735483" cy="1741487"/>
            <a:chOff x="533400" y="470925"/>
            <a:chExt cx="7019079" cy="1742233"/>
          </a:xfrm>
        </p:grpSpPr>
        <p:sp>
          <p:nvSpPr>
            <p:cNvPr id="31" name="Text Box 3"/>
            <p:cNvSpPr txBox="1">
              <a:spLocks noChangeArrowheads="1"/>
            </p:cNvSpPr>
            <p:nvPr/>
          </p:nvSpPr>
          <p:spPr bwMode="auto">
            <a:xfrm>
              <a:off x="533400" y="1120490"/>
              <a:ext cx="955833" cy="7067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解：</a:t>
              </a:r>
            </a:p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1128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3650549"/>
                </p:ext>
              </p:extLst>
            </p:nvPr>
          </p:nvGraphicFramePr>
          <p:xfrm>
            <a:off x="1135868" y="470925"/>
            <a:ext cx="6416611" cy="1742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89" name="Equation" r:id="rId5" imgW="3822480" imgH="939600" progId="Equation.DSMT4">
                    <p:embed/>
                  </p:oleObj>
                </mc:Choice>
                <mc:Fallback>
                  <p:oleObj name="Equation" r:id="rId5" imgW="3822480" imgH="939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5868" y="470925"/>
                          <a:ext cx="6416611" cy="1742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17"/>
            <p:cNvGraphicFramePr>
              <a:graphicFrameLocks noChangeAspect="1"/>
            </p:cNvGraphicFramePr>
            <p:nvPr/>
          </p:nvGraphicFramePr>
          <p:xfrm>
            <a:off x="4358401" y="1107647"/>
            <a:ext cx="171450" cy="192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90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8401" y="1107647"/>
                          <a:ext cx="171450" cy="192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11275" name="Rectangle 13"/>
          <p:cNvSpPr>
            <a:spLocks noChangeArrowheads="1"/>
          </p:cNvSpPr>
          <p:nvPr/>
        </p:nvSpPr>
        <p:spPr bwMode="auto">
          <a:xfrm>
            <a:off x="7693572" y="260351"/>
            <a:ext cx="3600961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线性方程组解的结构</a:t>
            </a:r>
            <a:endParaRPr lang="zh-CN" altLang="en-US" sz="2000" dirty="0">
              <a:solidFill>
                <a:srgbClr val="FF0000"/>
              </a:solidFill>
              <a:latin typeface="方正舒体" pitchFamily="2" charset="-122"/>
              <a:ea typeface="方正舒体" pitchFamily="2" charset="-122"/>
            </a:endParaRPr>
          </a:p>
        </p:txBody>
      </p:sp>
      <p:graphicFrame>
        <p:nvGraphicFramePr>
          <p:cNvPr id="3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029162"/>
              </p:ext>
            </p:extLst>
          </p:nvPr>
        </p:nvGraphicFramePr>
        <p:xfrm>
          <a:off x="1690961" y="4024534"/>
          <a:ext cx="4540250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91" name="Equation" r:id="rId9" imgW="2158920" imgH="1346040" progId="Equation.DSMT4">
                  <p:embed/>
                </p:oleObj>
              </mc:Choice>
              <mc:Fallback>
                <p:oleObj name="Equation" r:id="rId9" imgW="2158920" imgH="1346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961" y="4024534"/>
                        <a:ext cx="4540250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1"/>
          <p:cNvGrpSpPr>
            <a:grpSpLocks/>
          </p:cNvGrpSpPr>
          <p:nvPr/>
        </p:nvGrpSpPr>
        <p:grpSpPr bwMode="auto">
          <a:xfrm>
            <a:off x="6441600" y="4622857"/>
            <a:ext cx="4464051" cy="1015663"/>
            <a:chOff x="447536" y="1570168"/>
            <a:chExt cx="3348131" cy="1015338"/>
          </a:xfrm>
        </p:grpSpPr>
        <p:sp>
          <p:nvSpPr>
            <p:cNvPr id="11278" name="Text Box 2"/>
            <p:cNvSpPr txBox="1">
              <a:spLocks noChangeArrowheads="1"/>
            </p:cNvSpPr>
            <p:nvPr/>
          </p:nvSpPr>
          <p:spPr bwMode="auto">
            <a:xfrm>
              <a:off x="447536" y="1570168"/>
              <a:ext cx="3348131" cy="10153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 smtClean="0"/>
                <a:t>    其中，      为一个特解； </a:t>
              </a:r>
              <a:endParaRPr lang="en-US" altLang="zh-CN" sz="2000" dirty="0" smtClean="0"/>
            </a:p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 smtClean="0"/>
                <a:t>                   为导出组的通解</a:t>
              </a:r>
              <a:r>
                <a:rPr lang="en-US" altLang="zh-CN" sz="2000" dirty="0" smtClean="0"/>
                <a:t>.</a:t>
              </a:r>
              <a:endParaRPr lang="zh-CN" altLang="en-US" sz="2000" dirty="0"/>
            </a:p>
          </p:txBody>
        </p:sp>
        <p:graphicFrame>
          <p:nvGraphicFramePr>
            <p:cNvPr id="1127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9526082"/>
                </p:ext>
              </p:extLst>
            </p:nvPr>
          </p:nvGraphicFramePr>
          <p:xfrm>
            <a:off x="787613" y="2077836"/>
            <a:ext cx="958479" cy="4094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92" name="Equation" r:id="rId11" imgW="634680" imgH="228600" progId="Equation.DSMT4">
                    <p:embed/>
                  </p:oleObj>
                </mc:Choice>
                <mc:Fallback>
                  <p:oleObj name="Equation" r:id="rId11" imgW="634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7613" y="2077836"/>
                          <a:ext cx="958479" cy="4094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4335927"/>
                </p:ext>
              </p:extLst>
            </p:nvPr>
          </p:nvGraphicFramePr>
          <p:xfrm>
            <a:off x="1383995" y="1669937"/>
            <a:ext cx="350053" cy="333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93" name="Equation" r:id="rId13" imgW="215640" imgH="203040" progId="Equation.DSMT4">
                    <p:embed/>
                  </p:oleObj>
                </mc:Choice>
                <mc:Fallback>
                  <p:oleObj name="Equation" r:id="rId13" imgW="2156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995" y="1669937"/>
                          <a:ext cx="350053" cy="333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5815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370" name="Group 2"/>
          <p:cNvGrpSpPr>
            <a:grpSpLocks/>
          </p:cNvGrpSpPr>
          <p:nvPr/>
        </p:nvGrpSpPr>
        <p:grpSpPr bwMode="auto">
          <a:xfrm>
            <a:off x="515009" y="2020341"/>
            <a:ext cx="10346266" cy="3327402"/>
            <a:chOff x="576" y="1127"/>
            <a:chExt cx="4888" cy="2096"/>
          </a:xfrm>
        </p:grpSpPr>
        <p:graphicFrame>
          <p:nvGraphicFramePr>
            <p:cNvPr id="14950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5290566"/>
                </p:ext>
              </p:extLst>
            </p:nvPr>
          </p:nvGraphicFramePr>
          <p:xfrm>
            <a:off x="657" y="1127"/>
            <a:ext cx="4807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8" name="Equation" r:id="rId3" imgW="7493000" imgH="1003300" progId="Equation.3">
                    <p:embed/>
                  </p:oleObj>
                </mc:Choice>
                <mc:Fallback>
                  <p:oleObj name="Equation" r:id="rId3" imgW="7493000" imgH="1003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127"/>
                          <a:ext cx="4807" cy="6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09" name="Object 4"/>
            <p:cNvGraphicFramePr>
              <a:graphicFrameLocks noChangeAspect="1"/>
            </p:cNvGraphicFramePr>
            <p:nvPr/>
          </p:nvGraphicFramePr>
          <p:xfrm>
            <a:off x="864" y="1920"/>
            <a:ext cx="1272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59" name="Equation" r:id="rId5" imgW="2019300" imgH="1511300" progId="Equation.3">
                    <p:embed/>
                  </p:oleObj>
                </mc:Choice>
                <mc:Fallback>
                  <p:oleObj name="Equation" r:id="rId5" imgW="2019300" imgH="151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1920"/>
                          <a:ext cx="1272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1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7406951"/>
                </p:ext>
              </p:extLst>
            </p:nvPr>
          </p:nvGraphicFramePr>
          <p:xfrm>
            <a:off x="2247" y="1940"/>
            <a:ext cx="1488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0" name="Equation" r:id="rId7" imgW="2362200" imgH="1511300" progId="Equation.3">
                    <p:embed/>
                  </p:oleObj>
                </mc:Choice>
                <mc:Fallback>
                  <p:oleObj name="Equation" r:id="rId7" imgW="2362200" imgH="151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1940"/>
                          <a:ext cx="1488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1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9518087"/>
                </p:ext>
              </p:extLst>
            </p:nvPr>
          </p:nvGraphicFramePr>
          <p:xfrm>
            <a:off x="3835" y="1887"/>
            <a:ext cx="1368" cy="9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1" name="Equation" r:id="rId9" imgW="2171700" imgH="1511300" progId="Equation.3">
                    <p:embed/>
                  </p:oleObj>
                </mc:Choice>
                <mc:Fallback>
                  <p:oleObj name="Equation" r:id="rId9" imgW="2171700" imgH="151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5" y="1887"/>
                          <a:ext cx="1368" cy="9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9512" name="Object 7"/>
            <p:cNvGraphicFramePr>
              <a:graphicFrameLocks noChangeAspect="1"/>
            </p:cNvGraphicFramePr>
            <p:nvPr/>
          </p:nvGraphicFramePr>
          <p:xfrm>
            <a:off x="576" y="2976"/>
            <a:ext cx="159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62" name="Equation" r:id="rId11" imgW="2527300" imgH="393700" progId="Equation.3">
                    <p:embed/>
                  </p:oleObj>
                </mc:Choice>
                <mc:Fallback>
                  <p:oleObj name="Equation" r:id="rId11" imgW="25273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" y="2976"/>
                          <a:ext cx="159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6376" name="Rectangle 8"/>
          <p:cNvSpPr>
            <a:spLocks noGrp="1" noChangeArrowheads="1"/>
          </p:cNvSpPr>
          <p:nvPr>
            <p:ph type="title"/>
          </p:nvPr>
        </p:nvSpPr>
        <p:spPr>
          <a:xfrm>
            <a:off x="609600" y="1282262"/>
            <a:ext cx="2091559" cy="68851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dirty="0" smtClean="0"/>
              <a:t>思考题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7693572" y="260351"/>
            <a:ext cx="3600961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线性方程组解的结构</a:t>
            </a:r>
            <a:endParaRPr lang="zh-CN" altLang="en-US" sz="2000" dirty="0">
              <a:solidFill>
                <a:srgbClr val="FF0000"/>
              </a:solidFill>
              <a:latin typeface="方正舒体" pitchFamily="2" charset="-122"/>
              <a:ea typeface="方正舒体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142148"/>
              </p:ext>
            </p:extLst>
          </p:nvPr>
        </p:nvGraphicFramePr>
        <p:xfrm>
          <a:off x="224221" y="1269124"/>
          <a:ext cx="699346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4" name="Equation" r:id="rId3" imgW="5245100" imgH="431800" progId="Equation.3">
                  <p:embed/>
                </p:oleObj>
              </mc:Choice>
              <mc:Fallback>
                <p:oleObj name="Equation" r:id="rId3" imgW="5245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221" y="1269124"/>
                        <a:ext cx="699346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395" name="Rectangle 3"/>
          <p:cNvSpPr>
            <a:spLocks noGrp="1" noChangeArrowheads="1"/>
          </p:cNvSpPr>
          <p:nvPr>
            <p:ph type="title"/>
          </p:nvPr>
        </p:nvSpPr>
        <p:spPr>
          <a:xfrm>
            <a:off x="3878317" y="283779"/>
            <a:ext cx="2774732" cy="50984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0000"/>
                </a:solidFill>
              </a:rPr>
              <a:t>思考题解答</a:t>
            </a:r>
          </a:p>
        </p:txBody>
      </p:sp>
      <p:graphicFrame>
        <p:nvGraphicFramePr>
          <p:cNvPr id="1873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948736"/>
              </p:ext>
            </p:extLst>
          </p:nvPr>
        </p:nvGraphicFramePr>
        <p:xfrm>
          <a:off x="1008993" y="1765738"/>
          <a:ext cx="1014306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5" name="Equation" r:id="rId5" imgW="7607300" imgH="939800" progId="Equation.DSMT4">
                  <p:embed/>
                </p:oleObj>
              </mc:Choice>
              <mc:Fallback>
                <p:oleObj name="Equation" r:id="rId5" imgW="7607300" imgH="93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993" y="1765738"/>
                        <a:ext cx="1014306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859766"/>
              </p:ext>
            </p:extLst>
          </p:nvPr>
        </p:nvGraphicFramePr>
        <p:xfrm>
          <a:off x="1206353" y="2766848"/>
          <a:ext cx="765386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6" name="Equation" r:id="rId7" imgW="5740400" imgH="457200" progId="Equation.3">
                  <p:embed/>
                </p:oleObj>
              </mc:Choice>
              <mc:Fallback>
                <p:oleObj name="Equation" r:id="rId7" imgW="5740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353" y="2766848"/>
                        <a:ext cx="765386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178507"/>
              </p:ext>
            </p:extLst>
          </p:nvPr>
        </p:nvGraphicFramePr>
        <p:xfrm>
          <a:off x="1295400" y="3158359"/>
          <a:ext cx="49276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7" name="Equation" r:id="rId9" imgW="3695700" imgH="1511300" progId="Equation.3">
                  <p:embed/>
                </p:oleObj>
              </mc:Choice>
              <mc:Fallback>
                <p:oleObj name="Equation" r:id="rId9" imgW="36957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158359"/>
                        <a:ext cx="49276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9" name="Object 7"/>
          <p:cNvGraphicFramePr>
            <a:graphicFrameLocks noChangeAspect="1"/>
          </p:cNvGraphicFramePr>
          <p:nvPr/>
        </p:nvGraphicFramePr>
        <p:xfrm>
          <a:off x="1286933" y="4648200"/>
          <a:ext cx="531706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8" name="Equation" r:id="rId11" imgW="3987800" imgH="1511300" progId="Equation.3">
                  <p:embed/>
                </p:oleObj>
              </mc:Choice>
              <mc:Fallback>
                <p:oleObj name="Equation" r:id="rId11" imgW="39878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6933" y="4648200"/>
                        <a:ext cx="5317067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4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13341"/>
              </p:ext>
            </p:extLst>
          </p:nvPr>
        </p:nvGraphicFramePr>
        <p:xfrm>
          <a:off x="6298033" y="3210911"/>
          <a:ext cx="494453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9" name="Equation" r:id="rId13" imgW="3708400" imgH="1511300" progId="Equation.3">
                  <p:embed/>
                </p:oleObj>
              </mc:Choice>
              <mc:Fallback>
                <p:oleObj name="Equation" r:id="rId13" imgW="37084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8033" y="3210911"/>
                        <a:ext cx="494453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7693572" y="260351"/>
            <a:ext cx="3600961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线性方程组解的结构</a:t>
            </a:r>
            <a:endParaRPr lang="zh-CN" altLang="en-US" sz="2000" dirty="0">
              <a:solidFill>
                <a:srgbClr val="FF0000"/>
              </a:solidFill>
              <a:latin typeface="方正舒体" pitchFamily="2" charset="-122"/>
              <a:ea typeface="方正舒体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7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7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93916"/>
              </p:ext>
            </p:extLst>
          </p:nvPr>
        </p:nvGraphicFramePr>
        <p:xfrm>
          <a:off x="1796684" y="1092638"/>
          <a:ext cx="313266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8" name="Equation" r:id="rId3" imgW="2349500" imgH="1511300" progId="Equation.3">
                  <p:embed/>
                </p:oleObj>
              </mc:Choice>
              <mc:Fallback>
                <p:oleObj name="Equation" r:id="rId3" imgW="23495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684" y="1092638"/>
                        <a:ext cx="3132667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6154570"/>
              </p:ext>
            </p:extLst>
          </p:nvPr>
        </p:nvGraphicFramePr>
        <p:xfrm>
          <a:off x="5265683" y="1145189"/>
          <a:ext cx="25400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9" name="Equation" r:id="rId5" imgW="1905000" imgH="1511300" progId="Equation.3">
                  <p:embed/>
                </p:oleObj>
              </mc:Choice>
              <mc:Fallback>
                <p:oleObj name="Equation" r:id="rId5" imgW="19050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683" y="1145189"/>
                        <a:ext cx="25400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057414"/>
              </p:ext>
            </p:extLst>
          </p:nvPr>
        </p:nvGraphicFramePr>
        <p:xfrm>
          <a:off x="966952" y="2585983"/>
          <a:ext cx="667173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0" name="Equation" r:id="rId7" imgW="5003800" imgH="393700" progId="Equation.3">
                  <p:embed/>
                </p:oleObj>
              </mc:Choice>
              <mc:Fallback>
                <p:oleObj name="Equation" r:id="rId7" imgW="50038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952" y="2585983"/>
                        <a:ext cx="667173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096471"/>
              </p:ext>
            </p:extLst>
          </p:nvPr>
        </p:nvGraphicFramePr>
        <p:xfrm>
          <a:off x="926078" y="3195583"/>
          <a:ext cx="369146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1" name="Equation" r:id="rId9" imgW="2768600" imgH="393700" progId="Equation.3">
                  <p:embed/>
                </p:oleObj>
              </mc:Choice>
              <mc:Fallback>
                <p:oleObj name="Equation" r:id="rId9" imgW="2768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6078" y="3195583"/>
                        <a:ext cx="369146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356368"/>
              </p:ext>
            </p:extLst>
          </p:nvPr>
        </p:nvGraphicFramePr>
        <p:xfrm>
          <a:off x="2451248" y="3770148"/>
          <a:ext cx="6366933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2" name="Equation" r:id="rId11" imgW="4775200" imgH="1511300" progId="Equation.3">
                  <p:embed/>
                </p:oleObj>
              </mc:Choice>
              <mc:Fallback>
                <p:oleObj name="Equation" r:id="rId11" imgW="4775200" imgH="151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248" y="3770148"/>
                        <a:ext cx="6366933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3" name="Object 7"/>
          <p:cNvGraphicFramePr>
            <a:graphicFrameLocks noChangeAspect="1"/>
          </p:cNvGraphicFramePr>
          <p:nvPr/>
        </p:nvGraphicFramePr>
        <p:xfrm>
          <a:off x="1117600" y="5524500"/>
          <a:ext cx="463973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3" name="Equation" r:id="rId13" imgW="3479800" imgH="419100" progId="Equation.3">
                  <p:embed/>
                </p:oleObj>
              </mc:Choice>
              <mc:Fallback>
                <p:oleObj name="Equation" r:id="rId13" imgW="3479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7600" y="5524500"/>
                        <a:ext cx="463973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7693572" y="260351"/>
            <a:ext cx="3600961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线性方程组解的结构</a:t>
            </a:r>
            <a:endParaRPr lang="zh-CN" altLang="en-US" sz="2000" dirty="0">
              <a:solidFill>
                <a:srgbClr val="FF0000"/>
              </a:solidFill>
              <a:latin typeface="方正舒体" pitchFamily="2" charset="-122"/>
              <a:ea typeface="方正舒体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1"/>
          <p:cNvSpPr>
            <a:spLocks noChangeArrowheads="1"/>
          </p:cNvSpPr>
          <p:nvPr/>
        </p:nvSpPr>
        <p:spPr bwMode="auto">
          <a:xfrm>
            <a:off x="814918" y="1052514"/>
            <a:ext cx="52341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课堂练习：</a:t>
            </a:r>
            <a:r>
              <a:rPr lang="zh-CN" altLang="zh-CN"/>
              <a:t>计算下列线性方程组</a:t>
            </a:r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0" y="-123110"/>
            <a:ext cx="537327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r>
              <a:rPr lang="zh-CN" altLang="en-US" sz="1000"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1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1000">
                <a:latin typeface="Times New Roman" pitchFamily="18" charset="0"/>
                <a:cs typeface="Times New Roman" pitchFamily="18" charset="0"/>
              </a:rPr>
              <a:t>） </a:t>
            </a:r>
            <a:endParaRPr lang="zh-CN" altLang="en-US"/>
          </a:p>
        </p:txBody>
      </p:sp>
      <p:graphicFrame>
        <p:nvGraphicFramePr>
          <p:cNvPr id="28676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049164"/>
              </p:ext>
            </p:extLst>
          </p:nvPr>
        </p:nvGraphicFramePr>
        <p:xfrm>
          <a:off x="1194822" y="1575734"/>
          <a:ext cx="6278033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8" name="Equation" r:id="rId3" imgW="1727200" imgH="711200" progId="Equation.DSMT4">
                  <p:embed/>
                </p:oleObj>
              </mc:Choice>
              <mc:Fallback>
                <p:oleObj name="Equation" r:id="rId3" imgW="17272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4822" y="1575734"/>
                        <a:ext cx="6278033" cy="194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0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867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710839"/>
              </p:ext>
            </p:extLst>
          </p:nvPr>
        </p:nvGraphicFramePr>
        <p:xfrm>
          <a:off x="1067604" y="3566511"/>
          <a:ext cx="6555316" cy="216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9" name="Equation" r:id="rId5" imgW="1625600" imgH="711200" progId="Equation.DSMT4">
                  <p:embed/>
                </p:oleObj>
              </mc:Choice>
              <mc:Fallback>
                <p:oleObj name="Equation" r:id="rId5" imgW="1625600" imgH="71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604" y="3566511"/>
                        <a:ext cx="6555316" cy="216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7693572" y="260351"/>
            <a:ext cx="3600961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线性方程组解的结构</a:t>
            </a:r>
            <a:endParaRPr lang="zh-CN" altLang="en-US" sz="2000" dirty="0">
              <a:solidFill>
                <a:srgbClr val="FF0000"/>
              </a:solidFill>
              <a:latin typeface="方正舒体" pitchFamily="2" charset="-122"/>
              <a:ea typeface="方正舒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730252" y="1196976"/>
          <a:ext cx="10687049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7" name="Equation" r:id="rId3" imgW="4546440" imgH="711000" progId="Equation.DSMT4">
                  <p:embed/>
                </p:oleObj>
              </mc:Choice>
              <mc:Fallback>
                <p:oleObj name="Equation" r:id="rId3" imgW="45464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2" y="1196976"/>
                        <a:ext cx="10687049" cy="136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49964" y="2719981"/>
            <a:ext cx="5676023" cy="1051088"/>
            <a:chOff x="628298" y="5156839"/>
            <a:chExt cx="3571692" cy="1050342"/>
          </a:xfrm>
        </p:grpSpPr>
        <p:sp>
          <p:nvSpPr>
            <p:cNvPr id="29705" name="Text Box 4"/>
            <p:cNvSpPr txBox="1">
              <a:spLocks noChangeArrowheads="1"/>
            </p:cNvSpPr>
            <p:nvPr/>
          </p:nvSpPr>
          <p:spPr bwMode="auto">
            <a:xfrm>
              <a:off x="628298" y="5156839"/>
              <a:ext cx="2064672" cy="7850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200000"/>
                </a:lnSpc>
              </a:pPr>
              <a:r>
                <a:rPr lang="zh-CN" altLang="en-US" sz="2400"/>
                <a:t>同解方程组为：                                       </a:t>
              </a:r>
            </a:p>
            <a:p>
              <a:pPr algn="just" eaLnBrk="1" hangingPunct="1">
                <a:lnSpc>
                  <a:spcPct val="200000"/>
                </a:lnSpc>
              </a:pPr>
              <a:endParaRPr lang="zh-CN" altLang="en-US" sz="2400"/>
            </a:p>
          </p:txBody>
        </p:sp>
        <p:graphicFrame>
          <p:nvGraphicFramePr>
            <p:cNvPr id="2970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004185"/>
                </p:ext>
              </p:extLst>
            </p:nvPr>
          </p:nvGraphicFramePr>
          <p:xfrm>
            <a:off x="2008985" y="5245156"/>
            <a:ext cx="2191005" cy="962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8" name="Equation" r:id="rId5" imgW="1091880" imgH="482400" progId="Equation.DSMT4">
                    <p:embed/>
                  </p:oleObj>
                </mc:Choice>
                <mc:Fallback>
                  <p:oleObj name="Equation" r:id="rId5" imgW="109188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985" y="5245156"/>
                          <a:ext cx="2191005" cy="962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649963" y="3379434"/>
            <a:ext cx="10196069" cy="1871663"/>
            <a:chOff x="744304" y="4932516"/>
            <a:chExt cx="4979824" cy="1871663"/>
          </a:xfrm>
        </p:grpSpPr>
        <p:grpSp>
          <p:nvGrpSpPr>
            <p:cNvPr id="29701" name="组合 17"/>
            <p:cNvGrpSpPr>
              <a:grpSpLocks/>
            </p:cNvGrpSpPr>
            <p:nvPr/>
          </p:nvGrpSpPr>
          <p:grpSpPr bwMode="auto">
            <a:xfrm>
              <a:off x="744304" y="5442095"/>
              <a:ext cx="4979824" cy="785019"/>
              <a:chOff x="628297" y="5009694"/>
              <a:chExt cx="4979824" cy="785019"/>
            </a:xfrm>
          </p:grpSpPr>
          <p:sp>
            <p:nvSpPr>
              <p:cNvPr id="29703" name="Text Box 4"/>
              <p:cNvSpPr txBox="1">
                <a:spLocks noChangeArrowheads="1"/>
              </p:cNvSpPr>
              <p:nvPr/>
            </p:nvSpPr>
            <p:spPr bwMode="auto">
              <a:xfrm>
                <a:off x="628297" y="5009694"/>
                <a:ext cx="4979824" cy="7850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charset="-122"/>
                  </a:defRPr>
                </a:lvl9pPr>
              </a:lstStyle>
              <a:p>
                <a:pPr algn="just" eaLnBrk="1" hangingPunct="1">
                  <a:lnSpc>
                    <a:spcPct val="200000"/>
                  </a:lnSpc>
                </a:pPr>
                <a:r>
                  <a:rPr lang="zh-CN" altLang="en-US" sz="2400" dirty="0"/>
                  <a:t>取                          为自由变量，得解                     </a:t>
                </a:r>
              </a:p>
            </p:txBody>
          </p:sp>
          <p:graphicFrame>
            <p:nvGraphicFramePr>
              <p:cNvPr id="29704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7206276"/>
                  </p:ext>
                </p:extLst>
              </p:nvPr>
            </p:nvGraphicFramePr>
            <p:xfrm>
              <a:off x="822534" y="5325398"/>
              <a:ext cx="1320911" cy="3319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799" name="Equation" r:id="rId7" imgW="901440" imgH="228600" progId="Equation.DSMT4">
                      <p:embed/>
                    </p:oleObj>
                  </mc:Choice>
                  <mc:Fallback>
                    <p:oleObj name="Equation" r:id="rId7" imgW="90144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2534" y="5325398"/>
                            <a:ext cx="1320911" cy="3319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70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5031981"/>
                </p:ext>
              </p:extLst>
            </p:nvPr>
          </p:nvGraphicFramePr>
          <p:xfrm>
            <a:off x="3485594" y="4932516"/>
            <a:ext cx="1858983" cy="1871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00" name="Equation" r:id="rId9" imgW="927000" imgH="939600" progId="Equation.DSMT4">
                    <p:embed/>
                  </p:oleObj>
                </mc:Choice>
                <mc:Fallback>
                  <p:oleObj name="Equation" r:id="rId9" imgW="927000" imgH="939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5594" y="4932516"/>
                          <a:ext cx="1858983" cy="1871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820330"/>
              </p:ext>
            </p:extLst>
          </p:nvPr>
        </p:nvGraphicFramePr>
        <p:xfrm>
          <a:off x="764998" y="4758114"/>
          <a:ext cx="4521705" cy="1886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" name="Equation" r:id="rId11" imgW="1638000" imgH="914400" progId="Equation.DSMT4">
                  <p:embed/>
                </p:oleObj>
              </mc:Choice>
              <mc:Fallback>
                <p:oleObj name="Equation" r:id="rId11" imgW="1638000" imgH="9144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998" y="4758114"/>
                        <a:ext cx="4521705" cy="1886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7693572" y="260351"/>
            <a:ext cx="3600961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线性方程组解的结构</a:t>
            </a:r>
            <a:endParaRPr lang="zh-CN" altLang="en-US" sz="2000" dirty="0">
              <a:solidFill>
                <a:srgbClr val="FF0000"/>
              </a:solidFill>
              <a:latin typeface="方正舒体" pitchFamily="2" charset="-122"/>
              <a:ea typeface="方正舒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0" y="-26161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2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3070705"/>
              </p:ext>
            </p:extLst>
          </p:nvPr>
        </p:nvGraphicFramePr>
        <p:xfrm>
          <a:off x="708463" y="1710010"/>
          <a:ext cx="6445250" cy="258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1" name="Equation" r:id="rId3" imgW="1701720" imgH="914400" progId="Equation.DSMT4">
                  <p:embed/>
                </p:oleObj>
              </mc:Choice>
              <mc:Fallback>
                <p:oleObj name="Equation" r:id="rId3" imgW="170172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463" y="1710010"/>
                        <a:ext cx="6445250" cy="2589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7693572" y="260351"/>
            <a:ext cx="3600961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3.5 </a:t>
            </a:r>
            <a:r>
              <a:rPr lang="zh-CN" altLang="en-US" sz="24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线性方程组解的结构</a:t>
            </a:r>
            <a:endParaRPr lang="zh-CN" altLang="en-US" sz="2000" dirty="0">
              <a:solidFill>
                <a:srgbClr val="FF0000"/>
              </a:solidFill>
              <a:latin typeface="方正舒体" pitchFamily="2" charset="-122"/>
              <a:ea typeface="方正舒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329</Words>
  <Application>Microsoft Office PowerPoint</Application>
  <PresentationFormat>自定义</PresentationFormat>
  <Paragraphs>57</Paragraphs>
  <Slides>14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Office 主题</vt:lpstr>
      <vt:lpstr>1_Office 主题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思考题</vt:lpstr>
      <vt:lpstr>思考题解答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158</cp:revision>
  <dcterms:created xsi:type="dcterms:W3CDTF">2016-07-04T12:59:51Z</dcterms:created>
  <dcterms:modified xsi:type="dcterms:W3CDTF">2018-04-03T09:40:58Z</dcterms:modified>
</cp:coreProperties>
</file>
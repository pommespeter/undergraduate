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0" r:id="rId2"/>
    <p:sldId id="286" r:id="rId3"/>
    <p:sldId id="298" r:id="rId4"/>
    <p:sldId id="271" r:id="rId5"/>
    <p:sldId id="287" r:id="rId6"/>
    <p:sldId id="288" r:id="rId7"/>
    <p:sldId id="284" r:id="rId8"/>
    <p:sldId id="289" r:id="rId9"/>
    <p:sldId id="290" r:id="rId10"/>
    <p:sldId id="291" r:id="rId11"/>
    <p:sldId id="292" r:id="rId12"/>
    <p:sldId id="293" r:id="rId13"/>
    <p:sldId id="294" r:id="rId14"/>
    <p:sldId id="296" r:id="rId15"/>
    <p:sldId id="295" r:id="rId16"/>
    <p:sldId id="299" r:id="rId17"/>
    <p:sldId id="297" r:id="rId18"/>
    <p:sldId id="300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4F8C"/>
    <a:srgbClr val="C48170"/>
    <a:srgbClr val="9DC3E6"/>
    <a:srgbClr val="2E75B6"/>
    <a:srgbClr val="1F4E79"/>
    <a:srgbClr val="FFFFFF"/>
    <a:srgbClr val="548235"/>
    <a:srgbClr val="385723"/>
    <a:srgbClr val="3B3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 snapToGrid="0">
      <p:cViewPr>
        <p:scale>
          <a:sx n="90" d="100"/>
          <a:sy n="90" d="100"/>
        </p:scale>
        <p:origin x="0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C53BBC-CC16-4DF1-8CAB-40307B860A9C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C3290261-7C30-4A04-8A52-778CB30A329A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pPr rtl="0"/>
          <a:r>
            <a:rPr lang="zh-CN" b="1" dirty="0" smtClean="0">
              <a:latin typeface="楷体" panose="02010609060101010101" pitchFamily="49" charset="-122"/>
              <a:ea typeface="楷体" panose="02010609060101010101" pitchFamily="49" charset="-122"/>
            </a:rPr>
            <a:t>求出所有特征值</a:t>
          </a:r>
          <a:endParaRPr lang="zh-CN" dirty="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51E8E0C8-8C51-4EB8-A465-12C781681FC2}" type="parTrans" cxnId="{ECAEB8A0-56ED-4139-8000-03CFFC469BEA}">
      <dgm:prSet/>
      <dgm:spPr/>
      <dgm:t>
        <a:bodyPr/>
        <a:lstStyle/>
        <a:p>
          <a:endParaRPr lang="zh-CN" altLang="en-US"/>
        </a:p>
      </dgm:t>
    </dgm:pt>
    <dgm:pt modelId="{BA2EAF9B-2A5E-4ADF-A623-2A8745BAD097}" type="sibTrans" cxnId="{ECAEB8A0-56ED-4139-8000-03CFFC469BEA}">
      <dgm:prSet/>
      <dgm:spPr/>
      <dgm:t>
        <a:bodyPr/>
        <a:lstStyle/>
        <a:p>
          <a:endParaRPr lang="zh-CN" altLang="en-US"/>
        </a:p>
      </dgm:t>
    </dgm:pt>
    <dgm:pt modelId="{23450FF9-2F38-4CC0-B0F1-F4144EAB0DFF}">
      <dgm:prSet/>
      <dgm:spPr/>
      <dgm:t>
        <a:bodyPr/>
        <a:lstStyle/>
        <a:p>
          <a:pPr rtl="0"/>
          <a:r>
            <a:rPr lang="zh-CN" b="1" dirty="0" smtClean="0">
              <a:latin typeface="楷体" panose="02010609060101010101" pitchFamily="49" charset="-122"/>
              <a:ea typeface="楷体" panose="02010609060101010101" pitchFamily="49" charset="-122"/>
            </a:rPr>
            <a:t>求所有特征值对应特征向量，取出线性无关的特征向量</a:t>
          </a:r>
          <a:endParaRPr lang="zh-CN" dirty="0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FD8615D5-4AAD-473F-9E61-AF7E9DC2EAA9}" type="parTrans" cxnId="{00914B54-1474-4DCF-BA2B-BC9D813A613A}">
      <dgm:prSet/>
      <dgm:spPr/>
      <dgm:t>
        <a:bodyPr/>
        <a:lstStyle/>
        <a:p>
          <a:endParaRPr lang="zh-CN" altLang="en-US"/>
        </a:p>
      </dgm:t>
    </dgm:pt>
    <dgm:pt modelId="{8A6D28D9-1F03-45FE-A6AE-01ABFEE4B8D7}" type="sibTrans" cxnId="{00914B54-1474-4DCF-BA2B-BC9D813A613A}">
      <dgm:prSet/>
      <dgm:spPr/>
      <dgm:t>
        <a:bodyPr/>
        <a:lstStyle/>
        <a:p>
          <a:endParaRPr lang="zh-CN" altLang="en-US"/>
        </a:p>
      </dgm:t>
    </dgm:pt>
    <dgm:pt modelId="{6D214907-6FCA-468D-9F5F-9E94E84424F5}">
      <dgm:prSet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pPr rtl="0"/>
          <a:r>
            <a:rPr lang="zh-CN" b="1" smtClean="0">
              <a:latin typeface="楷体" panose="02010609060101010101" pitchFamily="49" charset="-122"/>
              <a:ea typeface="楷体" panose="02010609060101010101" pitchFamily="49" charset="-122"/>
            </a:rPr>
            <a:t>写结论</a:t>
          </a:r>
          <a:endParaRPr lang="zh-CN">
            <a:latin typeface="楷体" panose="02010609060101010101" pitchFamily="49" charset="-122"/>
            <a:ea typeface="楷体" panose="02010609060101010101" pitchFamily="49" charset="-122"/>
          </a:endParaRPr>
        </a:p>
      </dgm:t>
    </dgm:pt>
    <dgm:pt modelId="{98CB1F63-5489-49A0-81CD-E58CD6A8021C}" type="parTrans" cxnId="{F8A54811-D4C2-4835-82D8-1841CC42289F}">
      <dgm:prSet/>
      <dgm:spPr/>
      <dgm:t>
        <a:bodyPr/>
        <a:lstStyle/>
        <a:p>
          <a:endParaRPr lang="zh-CN" altLang="en-US"/>
        </a:p>
      </dgm:t>
    </dgm:pt>
    <dgm:pt modelId="{2E0B11A6-351E-4688-BD5E-95D3323081C2}" type="sibTrans" cxnId="{F8A54811-D4C2-4835-82D8-1841CC42289F}">
      <dgm:prSet/>
      <dgm:spPr/>
      <dgm:t>
        <a:bodyPr/>
        <a:lstStyle/>
        <a:p>
          <a:endParaRPr lang="zh-CN" altLang="en-US"/>
        </a:p>
      </dgm:t>
    </dgm:pt>
    <dgm:pt modelId="{51312F1F-8B7F-4D07-B1A9-D51FEB91DC4D}" type="pres">
      <dgm:prSet presAssocID="{19C53BBC-CC16-4DF1-8CAB-40307B860A9C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004147D-6AA1-4AE2-92CA-7938AF1C8418}" type="pres">
      <dgm:prSet presAssocID="{19C53BBC-CC16-4DF1-8CAB-40307B860A9C}" presName="dummyMaxCanvas" presStyleCnt="0">
        <dgm:presLayoutVars/>
      </dgm:prSet>
      <dgm:spPr/>
    </dgm:pt>
    <dgm:pt modelId="{5450B5B5-F15F-489D-A382-E9A51B37EF94}" type="pres">
      <dgm:prSet presAssocID="{19C53BBC-CC16-4DF1-8CAB-40307B860A9C}" presName="ThreeNodes_1" presStyleLbl="node1" presStyleIdx="0" presStyleCnt="3" custLinFactNeighborX="84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BBF1EEB-F417-41BB-8B9C-7BE9389DE113}" type="pres">
      <dgm:prSet presAssocID="{19C53BBC-CC16-4DF1-8CAB-40307B860A9C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B93C86F-17CD-4F3B-9F34-DD9395B6F0FF}" type="pres">
      <dgm:prSet presAssocID="{19C53BBC-CC16-4DF1-8CAB-40307B860A9C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65EC52B-D4C7-4393-8CD3-15C38C2C1EB9}" type="pres">
      <dgm:prSet presAssocID="{19C53BBC-CC16-4DF1-8CAB-40307B860A9C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C3EF9A3-D041-4CAF-8E28-C3028D896C30}" type="pres">
      <dgm:prSet presAssocID="{19C53BBC-CC16-4DF1-8CAB-40307B860A9C}" presName="ThreeConn_2-3" presStyleLbl="fgAccFollowNode1" presStyleIdx="1" presStyleCnt="2" custScaleY="90909" custLinFactNeighborY="5192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CB4E7DB-184B-4ECC-B0BA-48C5AE00D65A}" type="pres">
      <dgm:prSet presAssocID="{19C53BBC-CC16-4DF1-8CAB-40307B860A9C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70ECB7A-AE49-415C-8A74-511DECCFE23C}" type="pres">
      <dgm:prSet presAssocID="{19C53BBC-CC16-4DF1-8CAB-40307B860A9C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61BF8A2-36C0-471B-B53E-44695181C558}" type="pres">
      <dgm:prSet presAssocID="{19C53BBC-CC16-4DF1-8CAB-40307B860A9C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FAB48D6-0ED4-4C7E-8D05-D786A70C4983}" type="presOf" srcId="{6D214907-6FCA-468D-9F5F-9E94E84424F5}" destId="{B61BF8A2-36C0-471B-B53E-44695181C558}" srcOrd="1" destOrd="0" presId="urn:microsoft.com/office/officeart/2005/8/layout/vProcess5"/>
    <dgm:cxn modelId="{61363F01-0153-4B1C-A627-781CC7B3A89E}" type="presOf" srcId="{BA2EAF9B-2A5E-4ADF-A623-2A8745BAD097}" destId="{865EC52B-D4C7-4393-8CD3-15C38C2C1EB9}" srcOrd="0" destOrd="0" presId="urn:microsoft.com/office/officeart/2005/8/layout/vProcess5"/>
    <dgm:cxn modelId="{F8A54811-D4C2-4835-82D8-1841CC42289F}" srcId="{19C53BBC-CC16-4DF1-8CAB-40307B860A9C}" destId="{6D214907-6FCA-468D-9F5F-9E94E84424F5}" srcOrd="2" destOrd="0" parTransId="{98CB1F63-5489-49A0-81CD-E58CD6A8021C}" sibTransId="{2E0B11A6-351E-4688-BD5E-95D3323081C2}"/>
    <dgm:cxn modelId="{93BEA16E-F93D-48A2-BD02-CD20B5C5B49B}" type="presOf" srcId="{23450FF9-2F38-4CC0-B0F1-F4144EAB0DFF}" destId="{F70ECB7A-AE49-415C-8A74-511DECCFE23C}" srcOrd="1" destOrd="0" presId="urn:microsoft.com/office/officeart/2005/8/layout/vProcess5"/>
    <dgm:cxn modelId="{41B4EC4B-5DC3-4EB4-966D-12E8D81B10A9}" type="presOf" srcId="{23450FF9-2F38-4CC0-B0F1-F4144EAB0DFF}" destId="{1BBF1EEB-F417-41BB-8B9C-7BE9389DE113}" srcOrd="0" destOrd="0" presId="urn:microsoft.com/office/officeart/2005/8/layout/vProcess5"/>
    <dgm:cxn modelId="{ECAEB8A0-56ED-4139-8000-03CFFC469BEA}" srcId="{19C53BBC-CC16-4DF1-8CAB-40307B860A9C}" destId="{C3290261-7C30-4A04-8A52-778CB30A329A}" srcOrd="0" destOrd="0" parTransId="{51E8E0C8-8C51-4EB8-A465-12C781681FC2}" sibTransId="{BA2EAF9B-2A5E-4ADF-A623-2A8745BAD097}"/>
    <dgm:cxn modelId="{D948D787-A023-4AFE-9B24-092C67B60477}" type="presOf" srcId="{C3290261-7C30-4A04-8A52-778CB30A329A}" destId="{5450B5B5-F15F-489D-A382-E9A51B37EF94}" srcOrd="0" destOrd="0" presId="urn:microsoft.com/office/officeart/2005/8/layout/vProcess5"/>
    <dgm:cxn modelId="{C5EDCBF2-97FF-43E5-BDF7-68CFDADB7C31}" type="presOf" srcId="{6D214907-6FCA-468D-9F5F-9E94E84424F5}" destId="{BB93C86F-17CD-4F3B-9F34-DD9395B6F0FF}" srcOrd="0" destOrd="0" presId="urn:microsoft.com/office/officeart/2005/8/layout/vProcess5"/>
    <dgm:cxn modelId="{49401560-0284-40B5-B0DA-560F9DDF7BAF}" type="presOf" srcId="{19C53BBC-CC16-4DF1-8CAB-40307B860A9C}" destId="{51312F1F-8B7F-4D07-B1A9-D51FEB91DC4D}" srcOrd="0" destOrd="0" presId="urn:microsoft.com/office/officeart/2005/8/layout/vProcess5"/>
    <dgm:cxn modelId="{6130CE7D-CF8D-47BA-9BB1-6937D8A213AE}" type="presOf" srcId="{8A6D28D9-1F03-45FE-A6AE-01ABFEE4B8D7}" destId="{9C3EF9A3-D041-4CAF-8E28-C3028D896C30}" srcOrd="0" destOrd="0" presId="urn:microsoft.com/office/officeart/2005/8/layout/vProcess5"/>
    <dgm:cxn modelId="{547BE7A0-F22F-4FA5-A459-CEA9AD6CE78E}" type="presOf" srcId="{C3290261-7C30-4A04-8A52-778CB30A329A}" destId="{4CB4E7DB-184B-4ECC-B0BA-48C5AE00D65A}" srcOrd="1" destOrd="0" presId="urn:microsoft.com/office/officeart/2005/8/layout/vProcess5"/>
    <dgm:cxn modelId="{00914B54-1474-4DCF-BA2B-BC9D813A613A}" srcId="{19C53BBC-CC16-4DF1-8CAB-40307B860A9C}" destId="{23450FF9-2F38-4CC0-B0F1-F4144EAB0DFF}" srcOrd="1" destOrd="0" parTransId="{FD8615D5-4AAD-473F-9E61-AF7E9DC2EAA9}" sibTransId="{8A6D28D9-1F03-45FE-A6AE-01ABFEE4B8D7}"/>
    <dgm:cxn modelId="{7D42ACAB-F5F0-42BB-AA5F-F064DB56A377}" type="presParOf" srcId="{51312F1F-8B7F-4D07-B1A9-D51FEB91DC4D}" destId="{9004147D-6AA1-4AE2-92CA-7938AF1C8418}" srcOrd="0" destOrd="0" presId="urn:microsoft.com/office/officeart/2005/8/layout/vProcess5"/>
    <dgm:cxn modelId="{52F52F66-CD14-4A88-B250-FC775F64C873}" type="presParOf" srcId="{51312F1F-8B7F-4D07-B1A9-D51FEB91DC4D}" destId="{5450B5B5-F15F-489D-A382-E9A51B37EF94}" srcOrd="1" destOrd="0" presId="urn:microsoft.com/office/officeart/2005/8/layout/vProcess5"/>
    <dgm:cxn modelId="{E441B818-FE48-430A-BA78-F27255C71ACB}" type="presParOf" srcId="{51312F1F-8B7F-4D07-B1A9-D51FEB91DC4D}" destId="{1BBF1EEB-F417-41BB-8B9C-7BE9389DE113}" srcOrd="2" destOrd="0" presId="urn:microsoft.com/office/officeart/2005/8/layout/vProcess5"/>
    <dgm:cxn modelId="{D36A6B45-A8D4-4BBA-86DF-33398BED9628}" type="presParOf" srcId="{51312F1F-8B7F-4D07-B1A9-D51FEB91DC4D}" destId="{BB93C86F-17CD-4F3B-9F34-DD9395B6F0FF}" srcOrd="3" destOrd="0" presId="urn:microsoft.com/office/officeart/2005/8/layout/vProcess5"/>
    <dgm:cxn modelId="{4334F42C-B2B2-46B8-9207-9A33E970DFFA}" type="presParOf" srcId="{51312F1F-8B7F-4D07-B1A9-D51FEB91DC4D}" destId="{865EC52B-D4C7-4393-8CD3-15C38C2C1EB9}" srcOrd="4" destOrd="0" presId="urn:microsoft.com/office/officeart/2005/8/layout/vProcess5"/>
    <dgm:cxn modelId="{40D96F09-B61F-4FAC-B9C3-E1108AC8DAA1}" type="presParOf" srcId="{51312F1F-8B7F-4D07-B1A9-D51FEB91DC4D}" destId="{9C3EF9A3-D041-4CAF-8E28-C3028D896C30}" srcOrd="5" destOrd="0" presId="urn:microsoft.com/office/officeart/2005/8/layout/vProcess5"/>
    <dgm:cxn modelId="{91090369-3918-49ED-9067-36CE481FAADA}" type="presParOf" srcId="{51312F1F-8B7F-4D07-B1A9-D51FEB91DC4D}" destId="{4CB4E7DB-184B-4ECC-B0BA-48C5AE00D65A}" srcOrd="6" destOrd="0" presId="urn:microsoft.com/office/officeart/2005/8/layout/vProcess5"/>
    <dgm:cxn modelId="{29C69E83-3A59-44F7-8707-D0BDF1E9323F}" type="presParOf" srcId="{51312F1F-8B7F-4D07-B1A9-D51FEB91DC4D}" destId="{F70ECB7A-AE49-415C-8A74-511DECCFE23C}" srcOrd="7" destOrd="0" presId="urn:microsoft.com/office/officeart/2005/8/layout/vProcess5"/>
    <dgm:cxn modelId="{AD3CCCD6-CAFD-4D30-9D30-3249A5BFAE4F}" type="presParOf" srcId="{51312F1F-8B7F-4D07-B1A9-D51FEB91DC4D}" destId="{B61BF8A2-36C0-471B-B53E-44695181C55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50B5B5-F15F-489D-A382-E9A51B37EF94}">
      <dsp:nvSpPr>
        <dsp:cNvPr id="0" name=""/>
        <dsp:cNvSpPr/>
      </dsp:nvSpPr>
      <dsp:spPr>
        <a:xfrm>
          <a:off x="67180" y="0"/>
          <a:ext cx="7997688" cy="136095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400" b="1" kern="1200" dirty="0" smtClean="0">
              <a:latin typeface="楷体" panose="02010609060101010101" pitchFamily="49" charset="-122"/>
              <a:ea typeface="楷体" panose="02010609060101010101" pitchFamily="49" charset="-122"/>
            </a:rPr>
            <a:t>求出所有特征值</a:t>
          </a:r>
          <a:endParaRPr lang="zh-CN" sz="3400" kern="1200" dirty="0">
            <a:latin typeface="楷体" panose="02010609060101010101" pitchFamily="49" charset="-122"/>
            <a:ea typeface="楷体" panose="02010609060101010101" pitchFamily="49" charset="-122"/>
          </a:endParaRPr>
        </a:p>
      </dsp:txBody>
      <dsp:txXfrm>
        <a:off x="107041" y="39861"/>
        <a:ext cx="6529115" cy="1281229"/>
      </dsp:txXfrm>
    </dsp:sp>
    <dsp:sp modelId="{1BBF1EEB-F417-41BB-8B9C-7BE9389DE113}">
      <dsp:nvSpPr>
        <dsp:cNvPr id="0" name=""/>
        <dsp:cNvSpPr/>
      </dsp:nvSpPr>
      <dsp:spPr>
        <a:xfrm>
          <a:off x="705678" y="1587776"/>
          <a:ext cx="7997688" cy="1360951"/>
        </a:xfrm>
        <a:prstGeom prst="roundRect">
          <a:avLst>
            <a:gd name="adj" fmla="val 10000"/>
          </a:avLst>
        </a:prstGeom>
        <a:solidFill>
          <a:schemeClr val="accent5">
            <a:hueOff val="-3676673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400" b="1" kern="1200" dirty="0" smtClean="0">
              <a:latin typeface="楷体" panose="02010609060101010101" pitchFamily="49" charset="-122"/>
              <a:ea typeface="楷体" panose="02010609060101010101" pitchFamily="49" charset="-122"/>
            </a:rPr>
            <a:t>求所有特征值对应特征向量，取出线性无关的特征向量</a:t>
          </a:r>
          <a:endParaRPr lang="zh-CN" sz="3400" kern="1200" dirty="0">
            <a:latin typeface="楷体" panose="02010609060101010101" pitchFamily="49" charset="-122"/>
            <a:ea typeface="楷体" panose="02010609060101010101" pitchFamily="49" charset="-122"/>
          </a:endParaRPr>
        </a:p>
      </dsp:txBody>
      <dsp:txXfrm>
        <a:off x="745539" y="1627637"/>
        <a:ext cx="6327669" cy="1281229"/>
      </dsp:txXfrm>
    </dsp:sp>
    <dsp:sp modelId="{BB93C86F-17CD-4F3B-9F34-DD9395B6F0FF}">
      <dsp:nvSpPr>
        <dsp:cNvPr id="0" name=""/>
        <dsp:cNvSpPr/>
      </dsp:nvSpPr>
      <dsp:spPr>
        <a:xfrm>
          <a:off x="1411356" y="3175552"/>
          <a:ext cx="7997688" cy="1360951"/>
        </a:xfrm>
        <a:prstGeom prst="roundRect">
          <a:avLst>
            <a:gd name="adj" fmla="val 10000"/>
          </a:avLst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400" b="1" kern="1200" smtClean="0">
              <a:latin typeface="楷体" panose="02010609060101010101" pitchFamily="49" charset="-122"/>
              <a:ea typeface="楷体" panose="02010609060101010101" pitchFamily="49" charset="-122"/>
            </a:rPr>
            <a:t>写结论</a:t>
          </a:r>
          <a:endParaRPr lang="zh-CN" sz="3400" kern="1200">
            <a:latin typeface="楷体" panose="02010609060101010101" pitchFamily="49" charset="-122"/>
            <a:ea typeface="楷体" panose="02010609060101010101" pitchFamily="49" charset="-122"/>
          </a:endParaRPr>
        </a:p>
      </dsp:txBody>
      <dsp:txXfrm>
        <a:off x="1451217" y="3215413"/>
        <a:ext cx="6327669" cy="1281229"/>
      </dsp:txXfrm>
    </dsp:sp>
    <dsp:sp modelId="{865EC52B-D4C7-4393-8CD3-15C38C2C1EB9}">
      <dsp:nvSpPr>
        <dsp:cNvPr id="0" name=""/>
        <dsp:cNvSpPr/>
      </dsp:nvSpPr>
      <dsp:spPr>
        <a:xfrm>
          <a:off x="7113069" y="1032054"/>
          <a:ext cx="884618" cy="884618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>
        <a:off x="7312108" y="1032054"/>
        <a:ext cx="486540" cy="665675"/>
      </dsp:txXfrm>
    </dsp:sp>
    <dsp:sp modelId="{9C3EF9A3-D041-4CAF-8E28-C3028D896C30}">
      <dsp:nvSpPr>
        <dsp:cNvPr id="0" name=""/>
        <dsp:cNvSpPr/>
      </dsp:nvSpPr>
      <dsp:spPr>
        <a:xfrm>
          <a:off x="7818748" y="2696897"/>
          <a:ext cx="884618" cy="80419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391754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>
        <a:off x="8017787" y="2696897"/>
        <a:ext cx="486540" cy="6051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12" Type="http://schemas.openxmlformats.org/officeDocument/2006/relationships/image" Target="../media/image23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11" Type="http://schemas.openxmlformats.org/officeDocument/2006/relationships/image" Target="../media/image22.wmf"/><Relationship Id="rId5" Type="http://schemas.openxmlformats.org/officeDocument/2006/relationships/image" Target="../media/image16.wmf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12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0.wmf"/><Relationship Id="rId5" Type="http://schemas.openxmlformats.org/officeDocument/2006/relationships/image" Target="../media/image61.wmf"/><Relationship Id="rId4" Type="http://schemas.openxmlformats.org/officeDocument/2006/relationships/image" Target="../media/image6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image" Target="../media/image81.wmf"/><Relationship Id="rId3" Type="http://schemas.openxmlformats.org/officeDocument/2006/relationships/image" Target="../media/image73.wmf"/><Relationship Id="rId7" Type="http://schemas.openxmlformats.org/officeDocument/2006/relationships/image" Target="../media/image76.wmf"/><Relationship Id="rId12" Type="http://schemas.openxmlformats.org/officeDocument/2006/relationships/image" Target="../media/image80.wmf"/><Relationship Id="rId2" Type="http://schemas.openxmlformats.org/officeDocument/2006/relationships/image" Target="../media/image72.wmf"/><Relationship Id="rId16" Type="http://schemas.openxmlformats.org/officeDocument/2006/relationships/image" Target="../media/image84.wmf"/><Relationship Id="rId1" Type="http://schemas.openxmlformats.org/officeDocument/2006/relationships/image" Target="../media/image71.wmf"/><Relationship Id="rId6" Type="http://schemas.openxmlformats.org/officeDocument/2006/relationships/image" Target="../media/image75.wmf"/><Relationship Id="rId11" Type="http://schemas.openxmlformats.org/officeDocument/2006/relationships/image" Target="../media/image79.wmf"/><Relationship Id="rId5" Type="http://schemas.openxmlformats.org/officeDocument/2006/relationships/image" Target="../media/image55.wmf"/><Relationship Id="rId15" Type="http://schemas.openxmlformats.org/officeDocument/2006/relationships/image" Target="../media/image83.wmf"/><Relationship Id="rId10" Type="http://schemas.openxmlformats.org/officeDocument/2006/relationships/image" Target="../media/image78.wmf"/><Relationship Id="rId4" Type="http://schemas.openxmlformats.org/officeDocument/2006/relationships/image" Target="../media/image74.wmf"/><Relationship Id="rId9" Type="http://schemas.openxmlformats.org/officeDocument/2006/relationships/image" Target="../media/image77.wmf"/><Relationship Id="rId14" Type="http://schemas.openxmlformats.org/officeDocument/2006/relationships/image" Target="../media/image8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10" Type="http://schemas.openxmlformats.org/officeDocument/2006/relationships/image" Target="../media/image94.wmf"/><Relationship Id="rId4" Type="http://schemas.openxmlformats.org/officeDocument/2006/relationships/image" Target="../media/image88.wmf"/><Relationship Id="rId9" Type="http://schemas.openxmlformats.org/officeDocument/2006/relationships/image" Target="../media/image9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4.wmf"/><Relationship Id="rId7" Type="http://schemas.openxmlformats.org/officeDocument/2006/relationships/image" Target="../media/image107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6" Type="http://schemas.openxmlformats.org/officeDocument/2006/relationships/image" Target="../media/image106.wmf"/><Relationship Id="rId5" Type="http://schemas.openxmlformats.org/officeDocument/2006/relationships/image" Target="../media/image67.wmf"/><Relationship Id="rId4" Type="http://schemas.openxmlformats.org/officeDocument/2006/relationships/image" Target="../media/image105.wmf"/><Relationship Id="rId9" Type="http://schemas.openxmlformats.org/officeDocument/2006/relationships/image" Target="../media/image109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7" Type="http://schemas.openxmlformats.org/officeDocument/2006/relationships/image" Target="../media/image116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6" Type="http://schemas.openxmlformats.org/officeDocument/2006/relationships/image" Target="../media/image115.wmf"/><Relationship Id="rId5" Type="http://schemas.openxmlformats.org/officeDocument/2006/relationships/image" Target="../media/image114.wmf"/><Relationship Id="rId4" Type="http://schemas.openxmlformats.org/officeDocument/2006/relationships/image" Target="../media/image11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4" Type="http://schemas.openxmlformats.org/officeDocument/2006/relationships/image" Target="../media/image1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FA301-845D-425A-BD8B-92C2912188AE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5DF3D-F602-47D2-81AF-FFA7EB3996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963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4DAEFA1D-7C67-467F-88A0-00E0779CEAAF}" type="slidenum">
              <a:rPr lang="zh-CN" altLang="en-US" smtClean="0">
                <a:latin typeface="Verdana" pitchFamily="34" charset="0"/>
              </a:rPr>
              <a:pPr/>
              <a:t>2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5DF3D-F602-47D2-81AF-FFA7EB3996C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4DAEFA1D-7C67-467F-88A0-00E0779CEAAF}" type="slidenum">
              <a:rPr lang="zh-CN" altLang="en-US" smtClean="0">
                <a:latin typeface="Verdana" pitchFamily="34" charset="0"/>
              </a:rPr>
              <a:pPr/>
              <a:t>15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4DAEFA1D-7C67-467F-88A0-00E0779CEAAF}" type="slidenum">
              <a:rPr lang="zh-CN" altLang="en-US" smtClean="0">
                <a:latin typeface="Verdana" pitchFamily="34" charset="0"/>
              </a:rPr>
              <a:pPr/>
              <a:t>16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4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fld id="{4DAEFA1D-7C67-467F-88A0-00E0779CEAAF}" type="slidenum">
              <a:rPr lang="zh-CN" altLang="en-US" smtClean="0">
                <a:latin typeface="Verdana" pitchFamily="34" charset="0"/>
              </a:rPr>
              <a:pPr/>
              <a:t>17</a:t>
            </a:fld>
            <a:endParaRPr lang="en-US" altLang="zh-CN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652073" y="2555591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第四章 矩阵的相似对角化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4.3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</a:t>
            </a:r>
            <a:r>
              <a:rPr lang="zh-CN" altLang="en-US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矩阵的相似对角化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20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FD8C1-D47E-4C55-BAD7-CC2ADDEF3F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161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jpg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19.wmf"/><Relationship Id="rId26" Type="http://schemas.openxmlformats.org/officeDocument/2006/relationships/oleObject" Target="../embeddings/oleObject20.bin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6.wmf"/><Relationship Id="rId17" Type="http://schemas.openxmlformats.org/officeDocument/2006/relationships/oleObject" Target="../embeddings/oleObject15.bin"/><Relationship Id="rId25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20" Type="http://schemas.openxmlformats.org/officeDocument/2006/relationships/image" Target="../media/image20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2.bin"/><Relationship Id="rId24" Type="http://schemas.openxmlformats.org/officeDocument/2006/relationships/oleObject" Target="../embeddings/oleObject19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image" Target="../media/image21.wmf"/><Relationship Id="rId10" Type="http://schemas.openxmlformats.org/officeDocument/2006/relationships/image" Target="../media/image15.w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7.wmf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6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34.wmf"/><Relationship Id="rId18" Type="http://schemas.openxmlformats.org/officeDocument/2006/relationships/oleObject" Target="../embeddings/oleObject35.bin"/><Relationship Id="rId26" Type="http://schemas.openxmlformats.org/officeDocument/2006/relationships/oleObject" Target="../embeddings/oleObject39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38.wmf"/><Relationship Id="rId7" Type="http://schemas.openxmlformats.org/officeDocument/2006/relationships/image" Target="../media/image31.w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4.bin"/><Relationship Id="rId20" Type="http://schemas.openxmlformats.org/officeDocument/2006/relationships/oleObject" Target="../embeddings/oleObject36.bin"/><Relationship Id="rId29" Type="http://schemas.openxmlformats.org/officeDocument/2006/relationships/image" Target="../media/image42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33.wmf"/><Relationship Id="rId24" Type="http://schemas.openxmlformats.org/officeDocument/2006/relationships/oleObject" Target="../embeddings/oleObject38.bin"/><Relationship Id="rId5" Type="http://schemas.openxmlformats.org/officeDocument/2006/relationships/image" Target="../media/image30.wmf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oleObject" Target="../embeddings/oleObject40.bin"/><Relationship Id="rId10" Type="http://schemas.openxmlformats.org/officeDocument/2006/relationships/oleObject" Target="../embeddings/oleObject31.bin"/><Relationship Id="rId19" Type="http://schemas.openxmlformats.org/officeDocument/2006/relationships/image" Target="../media/image37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2.wmf"/><Relationship Id="rId14" Type="http://schemas.openxmlformats.org/officeDocument/2006/relationships/oleObject" Target="../embeddings/oleObject33.bin"/><Relationship Id="rId22" Type="http://schemas.openxmlformats.org/officeDocument/2006/relationships/oleObject" Target="../embeddings/oleObject37.bin"/><Relationship Id="rId27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image" Target="../media/image47.wmf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oleObject" Target="../embeddings/oleObject46.bin"/><Relationship Id="rId17" Type="http://schemas.openxmlformats.org/officeDocument/2006/relationships/image" Target="../media/image49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8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48.wmf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2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1.wmf"/><Relationship Id="rId5" Type="http://schemas.openxmlformats.org/officeDocument/2006/relationships/diagramQuickStyle" Target="../diagrams/quickStyle1.xml"/><Relationship Id="rId10" Type="http://schemas.openxmlformats.org/officeDocument/2006/relationships/oleObject" Target="../embeddings/oleObject50.bin"/><Relationship Id="rId4" Type="http://schemas.openxmlformats.org/officeDocument/2006/relationships/diagramLayout" Target="../diagrams/layout1.xml"/><Relationship Id="rId9" Type="http://schemas.openxmlformats.org/officeDocument/2006/relationships/image" Target="../media/image5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65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2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9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61.wmf"/><Relationship Id="rId4" Type="http://schemas.openxmlformats.org/officeDocument/2006/relationships/image" Target="../media/image58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63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0.bin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69.wmf"/><Relationship Id="rId4" Type="http://schemas.openxmlformats.org/officeDocument/2006/relationships/image" Target="../media/image66.w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70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61.wmf"/><Relationship Id="rId26" Type="http://schemas.openxmlformats.org/officeDocument/2006/relationships/image" Target="../media/image80.wmf"/><Relationship Id="rId3" Type="http://schemas.openxmlformats.org/officeDocument/2006/relationships/oleObject" Target="../embeddings/oleObject71.bin"/><Relationship Id="rId21" Type="http://schemas.openxmlformats.org/officeDocument/2006/relationships/oleObject" Target="../embeddings/oleObject80.bin"/><Relationship Id="rId34" Type="http://schemas.openxmlformats.org/officeDocument/2006/relationships/image" Target="../media/image84.wmf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78.bin"/><Relationship Id="rId25" Type="http://schemas.openxmlformats.org/officeDocument/2006/relationships/oleObject" Target="../embeddings/oleObject82.bin"/><Relationship Id="rId33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6.wmf"/><Relationship Id="rId20" Type="http://schemas.openxmlformats.org/officeDocument/2006/relationships/image" Target="../media/image77.wmf"/><Relationship Id="rId29" Type="http://schemas.openxmlformats.org/officeDocument/2006/relationships/oleObject" Target="../embeddings/oleObject84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75.bin"/><Relationship Id="rId24" Type="http://schemas.openxmlformats.org/officeDocument/2006/relationships/image" Target="../media/image79.wmf"/><Relationship Id="rId32" Type="http://schemas.openxmlformats.org/officeDocument/2006/relationships/image" Target="../media/image83.wmf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1.bin"/><Relationship Id="rId28" Type="http://schemas.openxmlformats.org/officeDocument/2006/relationships/image" Target="../media/image81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79.bin"/><Relationship Id="rId31" Type="http://schemas.openxmlformats.org/officeDocument/2006/relationships/oleObject" Target="../embeddings/oleObject85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75.wmf"/><Relationship Id="rId22" Type="http://schemas.openxmlformats.org/officeDocument/2006/relationships/image" Target="../media/image78.wmf"/><Relationship Id="rId27" Type="http://schemas.openxmlformats.org/officeDocument/2006/relationships/oleObject" Target="../embeddings/oleObject83.bin"/><Relationship Id="rId30" Type="http://schemas.openxmlformats.org/officeDocument/2006/relationships/image" Target="../media/image8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92.bin"/><Relationship Id="rId18" Type="http://schemas.openxmlformats.org/officeDocument/2006/relationships/image" Target="../media/image92.wmf"/><Relationship Id="rId3" Type="http://schemas.openxmlformats.org/officeDocument/2006/relationships/oleObject" Target="../embeddings/oleObject87.bin"/><Relationship Id="rId21" Type="http://schemas.openxmlformats.org/officeDocument/2006/relationships/oleObject" Target="../embeddings/oleObject96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89.wmf"/><Relationship Id="rId17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1.wmf"/><Relationship Id="rId20" Type="http://schemas.openxmlformats.org/officeDocument/2006/relationships/image" Target="../media/image9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10" Type="http://schemas.openxmlformats.org/officeDocument/2006/relationships/image" Target="../media/image88.wmf"/><Relationship Id="rId19" Type="http://schemas.openxmlformats.org/officeDocument/2006/relationships/oleObject" Target="../embeddings/oleObject95.bin"/><Relationship Id="rId4" Type="http://schemas.openxmlformats.org/officeDocument/2006/relationships/image" Target="../media/image85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90.wmf"/><Relationship Id="rId22" Type="http://schemas.openxmlformats.org/officeDocument/2006/relationships/image" Target="../media/image9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99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96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101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03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98.wmf"/><Relationship Id="rId5" Type="http://schemas.openxmlformats.org/officeDocument/2006/relationships/image" Target="../media/image95.wmf"/><Relationship Id="rId15" Type="http://schemas.openxmlformats.org/officeDocument/2006/relationships/image" Target="../media/image100.wmf"/><Relationship Id="rId10" Type="http://schemas.openxmlformats.org/officeDocument/2006/relationships/oleObject" Target="../embeddings/oleObject100.bin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7.wmf"/><Relationship Id="rId14" Type="http://schemas.openxmlformats.org/officeDocument/2006/relationships/oleObject" Target="../embeddings/oleObject10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111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109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0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08.wmf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0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5.bin"/><Relationship Id="rId13" Type="http://schemas.openxmlformats.org/officeDocument/2006/relationships/image" Target="../media/image114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11.wmf"/><Relationship Id="rId12" Type="http://schemas.openxmlformats.org/officeDocument/2006/relationships/oleObject" Target="../embeddings/oleObject117.bin"/><Relationship Id="rId17" Type="http://schemas.openxmlformats.org/officeDocument/2006/relationships/image" Target="../media/image11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19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14.bin"/><Relationship Id="rId11" Type="http://schemas.openxmlformats.org/officeDocument/2006/relationships/image" Target="../media/image113.wmf"/><Relationship Id="rId5" Type="http://schemas.openxmlformats.org/officeDocument/2006/relationships/image" Target="../media/image110.wmf"/><Relationship Id="rId15" Type="http://schemas.openxmlformats.org/officeDocument/2006/relationships/image" Target="../media/image115.wmf"/><Relationship Id="rId10" Type="http://schemas.openxmlformats.org/officeDocument/2006/relationships/oleObject" Target="../embeddings/oleObject116.bin"/><Relationship Id="rId4" Type="http://schemas.openxmlformats.org/officeDocument/2006/relationships/oleObject" Target="../embeddings/oleObject113.bin"/><Relationship Id="rId9" Type="http://schemas.openxmlformats.org/officeDocument/2006/relationships/image" Target="../media/image112.wmf"/><Relationship Id="rId14" Type="http://schemas.openxmlformats.org/officeDocument/2006/relationships/oleObject" Target="../embeddings/oleObject118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121.bin"/><Relationship Id="rId10" Type="http://schemas.openxmlformats.org/officeDocument/2006/relationships/image" Target="../media/image12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8490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007533" y="1401248"/>
            <a:ext cx="9601200" cy="1355725"/>
            <a:chOff x="1043608" y="1428168"/>
            <a:chExt cx="7200800" cy="1355727"/>
          </a:xfrm>
        </p:grpSpPr>
        <p:sp>
          <p:nvSpPr>
            <p:cNvPr id="11" name="TextBox 10"/>
            <p:cNvSpPr txBox="1"/>
            <p:nvPr/>
          </p:nvSpPr>
          <p:spPr>
            <a:xfrm>
              <a:off x="1043608" y="1742530"/>
              <a:ext cx="7200800" cy="4619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457200" indent="-457200" algn="l">
                <a:buClr>
                  <a:schemeClr val="accent6">
                    <a:lumMod val="60000"/>
                    <a:lumOff val="40000"/>
                  </a:schemeClr>
                </a:buClr>
                <a:buFont typeface="Wingdings" panose="05000000000000000000" pitchFamily="2" charset="2"/>
                <a:buChar char="Ø"/>
                <a:defRPr/>
              </a:pPr>
              <a:r>
                <a:rPr lang="zh-CN" altLang="en-US" sz="2400" dirty="0"/>
                <a:t>引例：已知        </a:t>
              </a:r>
              <a:r>
                <a:rPr lang="zh-CN" altLang="en-US" sz="2400" dirty="0" smtClean="0"/>
                <a:t>                                                                          </a:t>
              </a:r>
              <a:r>
                <a:rPr lang="zh-CN" altLang="en-US" sz="2400" dirty="0"/>
                <a:t>，求</a:t>
              </a:r>
            </a:p>
          </p:txBody>
        </p:sp>
        <p:graphicFrame>
          <p:nvGraphicFramePr>
            <p:cNvPr id="411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810812"/>
                </p:ext>
              </p:extLst>
            </p:nvPr>
          </p:nvGraphicFramePr>
          <p:xfrm>
            <a:off x="3104080" y="1428168"/>
            <a:ext cx="3625800" cy="1355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34" name="Equation" r:id="rId4" imgW="1892300" imgH="711200" progId="Equation.DSMT4">
                    <p:embed/>
                  </p:oleObj>
                </mc:Choice>
                <mc:Fallback>
                  <p:oleObj name="Equation" r:id="rId4" imgW="18923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4080" y="1428168"/>
                          <a:ext cx="3625800" cy="13557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4" name="对象 18"/>
            <p:cNvGraphicFramePr>
              <a:graphicFrameLocks noChangeAspect="1"/>
            </p:cNvGraphicFramePr>
            <p:nvPr/>
          </p:nvGraphicFramePr>
          <p:xfrm>
            <a:off x="7407446" y="1766034"/>
            <a:ext cx="803264" cy="4365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35" name="Equation" r:id="rId6" imgW="419100" imgH="228600" progId="Equation.DSMT4">
                    <p:embed/>
                  </p:oleObj>
                </mc:Choice>
                <mc:Fallback>
                  <p:oleObj name="Equation" r:id="rId6" imgW="4191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07446" y="1766034"/>
                          <a:ext cx="803264" cy="4365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>
            <a:grpSpLocks/>
          </p:cNvGrpSpPr>
          <p:nvPr/>
        </p:nvGrpSpPr>
        <p:grpSpPr bwMode="auto">
          <a:xfrm>
            <a:off x="1241450" y="2980928"/>
            <a:ext cx="10170056" cy="1368425"/>
            <a:chOff x="1043608" y="1290161"/>
            <a:chExt cx="7628244" cy="1368283"/>
          </a:xfrm>
        </p:grpSpPr>
        <p:sp>
          <p:nvSpPr>
            <p:cNvPr id="29" name="TextBox 28"/>
            <p:cNvSpPr txBox="1"/>
            <p:nvPr/>
          </p:nvSpPr>
          <p:spPr>
            <a:xfrm>
              <a:off x="1043608" y="1742552"/>
              <a:ext cx="7201563" cy="40000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r>
                <a:rPr lang="zh-CN" altLang="en-US" sz="2000" dirty="0"/>
                <a:t>易</a:t>
              </a:r>
              <a:r>
                <a:rPr lang="zh-CN" altLang="en-US" sz="2000" dirty="0" smtClean="0"/>
                <a:t>知</a:t>
              </a:r>
              <a:endParaRPr lang="zh-CN" altLang="en-US" sz="2000" dirty="0"/>
            </a:p>
          </p:txBody>
        </p:sp>
        <p:graphicFrame>
          <p:nvGraphicFramePr>
            <p:cNvPr id="4110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864085"/>
                </p:ext>
              </p:extLst>
            </p:nvPr>
          </p:nvGraphicFramePr>
          <p:xfrm>
            <a:off x="6611881" y="1290161"/>
            <a:ext cx="2059971" cy="1365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36" name="Equation" r:id="rId8" imgW="1371600" imgH="787320" progId="Equation.DSMT4">
                    <p:embed/>
                  </p:oleObj>
                </mc:Choice>
                <mc:Fallback>
                  <p:oleObj name="Equation" r:id="rId8" imgW="1371600" imgH="787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1881" y="1290161"/>
                          <a:ext cx="2059971" cy="13651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1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792876"/>
                </p:ext>
              </p:extLst>
            </p:nvPr>
          </p:nvGraphicFramePr>
          <p:xfrm>
            <a:off x="1440520" y="1291749"/>
            <a:ext cx="4857007" cy="13666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37" name="Equation" r:id="rId10" imgW="3136680" imgH="787320" progId="Equation.DSMT4">
                    <p:embed/>
                  </p:oleObj>
                </mc:Choice>
                <mc:Fallback>
                  <p:oleObj name="Equation" r:id="rId10" imgW="3136680" imgH="787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520" y="1291749"/>
                          <a:ext cx="4857007" cy="13666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1007533" y="5157788"/>
            <a:ext cx="6910917" cy="793750"/>
            <a:chOff x="1043608" y="1575490"/>
            <a:chExt cx="5183115" cy="793751"/>
          </a:xfrm>
        </p:grpSpPr>
        <p:sp>
          <p:nvSpPr>
            <p:cNvPr id="33" name="TextBox 32"/>
            <p:cNvSpPr txBox="1"/>
            <p:nvPr/>
          </p:nvSpPr>
          <p:spPr>
            <a:xfrm>
              <a:off x="1043608" y="1742177"/>
              <a:ext cx="792152" cy="40005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r>
                <a:rPr lang="zh-CN" altLang="en-US" sz="2000" dirty="0"/>
                <a:t>而，</a:t>
              </a:r>
            </a:p>
          </p:txBody>
        </p:sp>
        <p:graphicFrame>
          <p:nvGraphicFramePr>
            <p:cNvPr id="4107" name="对象 2"/>
            <p:cNvGraphicFramePr>
              <a:graphicFrameLocks noChangeAspect="1"/>
            </p:cNvGraphicFramePr>
            <p:nvPr/>
          </p:nvGraphicFramePr>
          <p:xfrm>
            <a:off x="5652056" y="1742529"/>
            <a:ext cx="574667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38" name="Equation" r:id="rId12" imgW="330057" imgH="190417" progId="Equation.DSMT4">
                    <p:embed/>
                  </p:oleObj>
                </mc:Choice>
                <mc:Fallback>
                  <p:oleObj name="Equation" r:id="rId12" imgW="330057" imgH="19041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52056" y="1742529"/>
                          <a:ext cx="574667" cy="330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8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3546100"/>
                </p:ext>
              </p:extLst>
            </p:nvPr>
          </p:nvGraphicFramePr>
          <p:xfrm>
            <a:off x="1353564" y="1575490"/>
            <a:ext cx="4362389" cy="7937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339" name="Equation" r:id="rId14" imgW="2501640" imgH="457200" progId="Equation.DSMT4">
                    <p:embed/>
                  </p:oleObj>
                </mc:Choice>
                <mc:Fallback>
                  <p:oleObj name="Equation" r:id="rId14" imgW="250164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3564" y="1575490"/>
                          <a:ext cx="4362389" cy="7937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9" r="16905"/>
          <a:stretch/>
        </p:blipFill>
        <p:spPr>
          <a:xfrm>
            <a:off x="7916909" y="4581128"/>
            <a:ext cx="2787604" cy="18879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矩形 2"/>
          <p:cNvSpPr/>
          <p:nvPr/>
        </p:nvSpPr>
        <p:spPr>
          <a:xfrm>
            <a:off x="8742147" y="416074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5159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4791" y="988827"/>
            <a:ext cx="10590865" cy="73239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</a:rPr>
              <a:t>                                  实际应用背景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solidFill>
                  <a:srgbClr val="0070C0"/>
                </a:solidFill>
              </a:rPr>
              <a:t>1 </a:t>
            </a:r>
            <a:r>
              <a:rPr lang="en-US" altLang="zh-CN" dirty="0" smtClean="0">
                <a:solidFill>
                  <a:srgbClr val="0070C0"/>
                </a:solidFill>
              </a:rPr>
              <a:t> </a:t>
            </a:r>
            <a:r>
              <a:rPr lang="zh-CN" altLang="en-US" b="1" dirty="0" smtClean="0">
                <a:solidFill>
                  <a:srgbClr val="0070C0"/>
                </a:solidFill>
              </a:rPr>
              <a:t>马尔可夫链</a:t>
            </a:r>
            <a:r>
              <a:rPr lang="en-US" altLang="zh-CN" b="1" dirty="0" smtClean="0">
                <a:solidFill>
                  <a:srgbClr val="0070C0"/>
                </a:solidFill>
              </a:rPr>
              <a:t>----</a:t>
            </a:r>
            <a:r>
              <a:rPr lang="zh-CN" altLang="en-US" b="1" dirty="0" smtClean="0">
                <a:solidFill>
                  <a:srgbClr val="0070C0"/>
                </a:solidFill>
              </a:rPr>
              <a:t>生物种群问题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2  </a:t>
            </a:r>
            <a:r>
              <a:rPr lang="zh-CN" altLang="en-US" b="1" dirty="0" smtClean="0">
                <a:solidFill>
                  <a:srgbClr val="0070C0"/>
                </a:solidFill>
              </a:rPr>
              <a:t>网页搜索和网页分级</a:t>
            </a:r>
            <a:r>
              <a:rPr lang="en-US" altLang="zh-CN" b="1" dirty="0" smtClean="0">
                <a:solidFill>
                  <a:srgbClr val="0070C0"/>
                </a:solidFill>
              </a:rPr>
              <a:t>-----</a:t>
            </a:r>
            <a:r>
              <a:rPr lang="zh-CN" altLang="en-US" b="1" dirty="0" smtClean="0">
                <a:solidFill>
                  <a:srgbClr val="0070C0"/>
                </a:solidFill>
              </a:rPr>
              <a:t>搜索引擎中的</a:t>
            </a:r>
            <a:r>
              <a:rPr lang="en-US" altLang="zh-CN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en-US" altLang="zh-CN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</a:t>
            </a:r>
            <a:r>
              <a:rPr lang="en-US" altLang="zh-CN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</a:t>
            </a:r>
            <a:r>
              <a:rPr lang="zh-CN" altLang="en-US" b="1" dirty="0" smtClean="0">
                <a:solidFill>
                  <a:srgbClr val="0070C0"/>
                </a:solidFill>
              </a:rPr>
              <a:t>算法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3  </a:t>
            </a:r>
            <a:r>
              <a:rPr lang="zh-CN" altLang="en-US" b="1" dirty="0" smtClean="0">
                <a:solidFill>
                  <a:srgbClr val="0070C0"/>
                </a:solidFill>
              </a:rPr>
              <a:t>基因遗传问题</a:t>
            </a:r>
            <a:r>
              <a:rPr lang="en-US" altLang="zh-CN" b="1" dirty="0" smtClean="0">
                <a:solidFill>
                  <a:srgbClr val="0070C0"/>
                </a:solidFill>
              </a:rPr>
              <a:t>----</a:t>
            </a:r>
            <a:r>
              <a:rPr lang="zh-CN" altLang="en-US" b="1" dirty="0" smtClean="0">
                <a:solidFill>
                  <a:srgbClr val="0070C0"/>
                </a:solidFill>
              </a:rPr>
              <a:t>比如色盲问题（伴性基因）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4  </a:t>
            </a:r>
            <a:r>
              <a:rPr lang="zh-CN" altLang="en-US" b="1" dirty="0" smtClean="0">
                <a:solidFill>
                  <a:srgbClr val="0070C0"/>
                </a:solidFill>
              </a:rPr>
              <a:t>系统稳定性问题 </a:t>
            </a:r>
            <a:r>
              <a:rPr lang="en-US" altLang="zh-CN" b="1" dirty="0" smtClean="0">
                <a:solidFill>
                  <a:srgbClr val="0070C0"/>
                </a:solidFill>
              </a:rPr>
              <a:t>---</a:t>
            </a:r>
            <a:r>
              <a:rPr lang="zh-CN" altLang="en-US" b="1" dirty="0" smtClean="0">
                <a:solidFill>
                  <a:srgbClr val="0070C0"/>
                </a:solidFill>
              </a:rPr>
              <a:t>自动控制系统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r>
              <a:rPr lang="en-US" altLang="zh-CN" b="1" dirty="0" smtClean="0">
                <a:solidFill>
                  <a:srgbClr val="0070C0"/>
                </a:solidFill>
              </a:rPr>
              <a:t>………………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42147" y="416074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4984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3" y="1148253"/>
            <a:ext cx="2836845" cy="696036"/>
            <a:chOff x="745588" y="1310185"/>
            <a:chExt cx="1844209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矩阵的相似对角化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4" y="1961474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1910175" y="2071139"/>
            <a:ext cx="7188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若存在可逆矩阵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0504" y="3791138"/>
            <a:ext cx="367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zh-CN" altLang="en-US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是相似矩阵，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490210" y="2792934"/>
            <a:ext cx="2028887" cy="741702"/>
            <a:chOff x="1525107" y="4552934"/>
            <a:chExt cx="2028887" cy="74170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1" name="圆角矩形 40"/>
            <p:cNvSpPr/>
            <p:nvPr/>
          </p:nvSpPr>
          <p:spPr>
            <a:xfrm>
              <a:off x="1525107" y="4552934"/>
              <a:ext cx="2028887" cy="741702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/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1701628"/>
                </p:ext>
              </p:extLst>
            </p:nvPr>
          </p:nvGraphicFramePr>
          <p:xfrm>
            <a:off x="1740245" y="4669924"/>
            <a:ext cx="1598613" cy="436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1" name="Equation" r:id="rId3" imgW="698400" imgH="190440" progId="Equation.DSMT4">
                    <p:embed/>
                  </p:oleObj>
                </mc:Choice>
                <mc:Fallback>
                  <p:oleObj name="Equation" r:id="rId3" imgW="69840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40245" y="4669924"/>
                          <a:ext cx="1598613" cy="4365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520504" y="4604820"/>
            <a:ext cx="9481625" cy="651368"/>
            <a:chOff x="520504" y="5387046"/>
            <a:chExt cx="9481625" cy="651368"/>
          </a:xfrm>
        </p:grpSpPr>
        <p:grpSp>
          <p:nvGrpSpPr>
            <p:cNvPr id="32" name="组合 31"/>
            <p:cNvGrpSpPr/>
            <p:nvPr/>
          </p:nvGrpSpPr>
          <p:grpSpPr>
            <a:xfrm>
              <a:off x="520504" y="5387046"/>
              <a:ext cx="1199113" cy="651368"/>
              <a:chOff x="506043" y="2137359"/>
              <a:chExt cx="1209620" cy="65136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33" name="圆角矩形 32"/>
              <p:cNvSpPr/>
              <p:nvPr/>
            </p:nvSpPr>
            <p:spPr>
              <a:xfrm>
                <a:off x="506043" y="2137359"/>
                <a:ext cx="1209620" cy="651368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521668" y="2232210"/>
                <a:ext cx="11783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注 意</a:t>
                </a: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endPara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978925" y="5481897"/>
              <a:ext cx="8023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）相似矩阵必定是等价矩阵；</a:t>
              </a:r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3962014" y="3791138"/>
            <a:ext cx="367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可逆阵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 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相似变换矩阵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978925" y="5511137"/>
            <a:ext cx="9307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）相似是等价关系（二元），满足自反性、对称性及传递性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29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" grpId="0"/>
      <p:bldP spid="43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0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                       4.3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</a:p>
        </p:txBody>
      </p:sp>
      <p:sp>
        <p:nvSpPr>
          <p:cNvPr id="7171" name="Text Box 6"/>
          <p:cNvSpPr txBox="1">
            <a:spLocks noChangeArrowheads="1"/>
          </p:cNvSpPr>
          <p:nvPr/>
        </p:nvSpPr>
        <p:spPr bwMode="auto">
          <a:xfrm>
            <a:off x="848785" y="842963"/>
            <a:ext cx="6496049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n"/>
            </a:pPr>
            <a:r>
              <a:rPr lang="zh-CN" altLang="en-US" sz="3200" dirty="0"/>
              <a:t>定理</a:t>
            </a:r>
            <a:r>
              <a:rPr lang="en-US" altLang="zh-CN" sz="3200" dirty="0"/>
              <a:t>1</a:t>
            </a:r>
            <a:r>
              <a:rPr lang="zh-CN" altLang="en-US" sz="3200" dirty="0"/>
              <a:t> （</a:t>
            </a:r>
            <a:r>
              <a:rPr lang="zh-CN" altLang="en-US" sz="3200" dirty="0">
                <a:solidFill>
                  <a:srgbClr val="0000FF"/>
                </a:solidFill>
              </a:rPr>
              <a:t>相似的性质</a:t>
            </a:r>
            <a:r>
              <a:rPr lang="zh-CN" altLang="en-US" sz="3200" dirty="0"/>
              <a:t>）</a:t>
            </a: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-1488017" y="-402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组合 1"/>
          <p:cNvGrpSpPr>
            <a:grpSpLocks/>
          </p:cNvGrpSpPr>
          <p:nvPr/>
        </p:nvGrpSpPr>
        <p:grpSpPr bwMode="auto">
          <a:xfrm>
            <a:off x="1488018" y="1728787"/>
            <a:ext cx="4991100" cy="646331"/>
            <a:chOff x="644610" y="1363628"/>
            <a:chExt cx="3744547" cy="645780"/>
          </a:xfrm>
        </p:grpSpPr>
        <p:sp>
          <p:nvSpPr>
            <p:cNvPr id="7201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3744547" cy="645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/>
                <a:t>若同阶方阵          </a:t>
              </a:r>
              <a:r>
                <a:rPr lang="zh-CN" altLang="en-US" sz="2400" dirty="0"/>
                <a:t>相似，则有：</a:t>
              </a:r>
            </a:p>
          </p:txBody>
        </p:sp>
        <p:graphicFrame>
          <p:nvGraphicFramePr>
            <p:cNvPr id="720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4087131"/>
                </p:ext>
              </p:extLst>
            </p:nvPr>
          </p:nvGraphicFramePr>
          <p:xfrm>
            <a:off x="1938581" y="1577412"/>
            <a:ext cx="603271" cy="39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79" name="Equation" r:id="rId3" imgW="304536" imgH="203024" progId="Equation.DSMT4">
                    <p:embed/>
                  </p:oleObj>
                </mc:Choice>
                <mc:Fallback>
                  <p:oleObj name="Equation" r:id="rId3" imgW="304536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8581" y="1577412"/>
                          <a:ext cx="603271" cy="39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1"/>
          <p:cNvGrpSpPr>
            <a:grpSpLocks/>
          </p:cNvGrpSpPr>
          <p:nvPr/>
        </p:nvGrpSpPr>
        <p:grpSpPr bwMode="auto">
          <a:xfrm>
            <a:off x="1519767" y="2644776"/>
            <a:ext cx="4519084" cy="646113"/>
            <a:chOff x="644610" y="1363628"/>
            <a:chExt cx="3389668" cy="645561"/>
          </a:xfrm>
        </p:grpSpPr>
        <p:sp>
          <p:nvSpPr>
            <p:cNvPr id="7199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3389668" cy="645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（</a:t>
              </a:r>
              <a:r>
                <a:rPr lang="en-US" altLang="zh-CN" sz="2400"/>
                <a:t>1</a:t>
              </a:r>
              <a:r>
                <a:rPr lang="zh-CN" altLang="en-US" sz="2400"/>
                <a:t>）</a:t>
              </a:r>
            </a:p>
          </p:txBody>
        </p:sp>
        <p:graphicFrame>
          <p:nvGraphicFramePr>
            <p:cNvPr id="7200" name="Object 3"/>
            <p:cNvGraphicFramePr>
              <a:graphicFrameLocks noChangeAspect="1"/>
            </p:cNvGraphicFramePr>
            <p:nvPr/>
          </p:nvGraphicFramePr>
          <p:xfrm>
            <a:off x="1501791" y="1495159"/>
            <a:ext cx="1735198" cy="497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0" name="Equation" r:id="rId5" imgW="875920" imgH="253890" progId="Equation.DSMT4">
                    <p:embed/>
                  </p:oleObj>
                </mc:Choice>
                <mc:Fallback>
                  <p:oleObj name="Equation" r:id="rId5" imgW="87592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791" y="1495159"/>
                          <a:ext cx="1735198" cy="497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组合 1"/>
          <p:cNvGrpSpPr>
            <a:grpSpLocks/>
          </p:cNvGrpSpPr>
          <p:nvPr/>
        </p:nvGrpSpPr>
        <p:grpSpPr bwMode="auto">
          <a:xfrm>
            <a:off x="1488018" y="3535808"/>
            <a:ext cx="4253563" cy="646113"/>
            <a:chOff x="644610" y="1363628"/>
            <a:chExt cx="4009012" cy="645561"/>
          </a:xfrm>
        </p:grpSpPr>
        <p:sp>
          <p:nvSpPr>
            <p:cNvPr id="7197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4009012" cy="645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/>
                <a:t>（</a:t>
              </a:r>
              <a:r>
                <a:rPr lang="en-US" altLang="zh-CN" sz="2400" dirty="0"/>
                <a:t>2</a:t>
              </a:r>
              <a:r>
                <a:rPr lang="zh-CN" altLang="en-US" sz="2400" dirty="0"/>
                <a:t>）     有相同的特征值</a:t>
              </a:r>
            </a:p>
          </p:txBody>
        </p:sp>
        <p:graphicFrame>
          <p:nvGraphicFramePr>
            <p:cNvPr id="719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0177290"/>
                </p:ext>
              </p:extLst>
            </p:nvPr>
          </p:nvGraphicFramePr>
          <p:xfrm>
            <a:off x="1432893" y="1522659"/>
            <a:ext cx="603271" cy="39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1" name="Equation" r:id="rId7" imgW="304536" imgH="203024" progId="Equation.DSMT4">
                    <p:embed/>
                  </p:oleObj>
                </mc:Choice>
                <mc:Fallback>
                  <p:oleObj name="Equation" r:id="rId7" imgW="304536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2893" y="1522659"/>
                          <a:ext cx="603271" cy="39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1"/>
          <p:cNvGrpSpPr>
            <a:grpSpLocks/>
          </p:cNvGrpSpPr>
          <p:nvPr/>
        </p:nvGrpSpPr>
        <p:grpSpPr bwMode="auto">
          <a:xfrm>
            <a:off x="1519767" y="4430713"/>
            <a:ext cx="3088217" cy="646112"/>
            <a:chOff x="644610" y="1363628"/>
            <a:chExt cx="2316876" cy="645561"/>
          </a:xfrm>
        </p:grpSpPr>
        <p:sp>
          <p:nvSpPr>
            <p:cNvPr id="7195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2316876" cy="6455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（</a:t>
              </a:r>
              <a:r>
                <a:rPr lang="en-US" altLang="zh-CN" sz="2400"/>
                <a:t>3</a:t>
              </a:r>
              <a:r>
                <a:rPr lang="zh-CN" altLang="en-US" sz="2400"/>
                <a:t>）     </a:t>
              </a:r>
            </a:p>
          </p:txBody>
        </p:sp>
        <p:graphicFrame>
          <p:nvGraphicFramePr>
            <p:cNvPr id="7196" name="Object 3"/>
            <p:cNvGraphicFramePr>
              <a:graphicFrameLocks noChangeAspect="1"/>
            </p:cNvGraphicFramePr>
            <p:nvPr/>
          </p:nvGraphicFramePr>
          <p:xfrm>
            <a:off x="1508736" y="1495184"/>
            <a:ext cx="1006510" cy="497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2" name="Equation" r:id="rId9" imgW="507780" imgH="253890" progId="Equation.DSMT4">
                    <p:embed/>
                  </p:oleObj>
                </mc:Choice>
                <mc:Fallback>
                  <p:oleObj name="Equation" r:id="rId9" imgW="50778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8736" y="1495184"/>
                          <a:ext cx="1006510" cy="497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1"/>
          <p:cNvGrpSpPr>
            <a:grpSpLocks/>
          </p:cNvGrpSpPr>
          <p:nvPr/>
        </p:nvGrpSpPr>
        <p:grpSpPr bwMode="auto">
          <a:xfrm>
            <a:off x="1488018" y="5230813"/>
            <a:ext cx="4059767" cy="646112"/>
            <a:chOff x="644610" y="1363628"/>
            <a:chExt cx="3045329" cy="645560"/>
          </a:xfrm>
        </p:grpSpPr>
        <p:sp>
          <p:nvSpPr>
            <p:cNvPr id="7193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3045329" cy="645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/>
                <a:t>（</a:t>
              </a:r>
              <a:r>
                <a:rPr lang="en-US" altLang="zh-CN" sz="2400"/>
                <a:t>4</a:t>
              </a:r>
              <a:r>
                <a:rPr lang="zh-CN" altLang="en-US" sz="2400"/>
                <a:t>）     </a:t>
              </a:r>
            </a:p>
          </p:txBody>
        </p:sp>
        <p:graphicFrame>
          <p:nvGraphicFramePr>
            <p:cNvPr id="7194" name="Object 3"/>
            <p:cNvGraphicFramePr>
              <a:graphicFrameLocks noChangeAspect="1"/>
            </p:cNvGraphicFramePr>
            <p:nvPr/>
          </p:nvGraphicFramePr>
          <p:xfrm>
            <a:off x="1532313" y="1495627"/>
            <a:ext cx="1760600" cy="4978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3" name="Equation" r:id="rId11" imgW="888614" imgH="253890" progId="Equation.DSMT4">
                    <p:embed/>
                  </p:oleObj>
                </mc:Choice>
                <mc:Fallback>
                  <p:oleObj name="Equation" r:id="rId11" imgW="888614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2313" y="1495627"/>
                          <a:ext cx="1760600" cy="4978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5547785" y="2014539"/>
            <a:ext cx="5924548" cy="4078287"/>
            <a:chOff x="4860032" y="2013919"/>
            <a:chExt cx="3744416" cy="4079377"/>
          </a:xfrm>
        </p:grpSpPr>
        <p:sp>
          <p:nvSpPr>
            <p:cNvPr id="2" name="右箭头 1"/>
            <p:cNvSpPr/>
            <p:nvPr/>
          </p:nvSpPr>
          <p:spPr>
            <a:xfrm>
              <a:off x="4860032" y="3894021"/>
              <a:ext cx="504758" cy="12227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5364790" y="2013919"/>
              <a:ext cx="3239658" cy="4079377"/>
            </a:xfrm>
            <a:prstGeom prst="roundRect">
              <a:avLst/>
            </a:prstGeom>
            <a:noFill/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35" name="组合 1"/>
          <p:cNvGrpSpPr>
            <a:grpSpLocks/>
          </p:cNvGrpSpPr>
          <p:nvPr/>
        </p:nvGrpSpPr>
        <p:grpSpPr bwMode="auto">
          <a:xfrm>
            <a:off x="6826103" y="2060576"/>
            <a:ext cx="4261359" cy="1477963"/>
            <a:chOff x="255435" y="1363628"/>
            <a:chExt cx="3197065" cy="1475566"/>
          </a:xfrm>
        </p:grpSpPr>
        <p:sp>
          <p:nvSpPr>
            <p:cNvPr id="7188" name="Text Box 2"/>
            <p:cNvSpPr txBox="1">
              <a:spLocks noChangeArrowheads="1"/>
            </p:cNvSpPr>
            <p:nvPr/>
          </p:nvSpPr>
          <p:spPr bwMode="auto">
            <a:xfrm>
              <a:off x="255435" y="1363628"/>
              <a:ext cx="3197065" cy="14755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/>
                <a:t>若方阵   与对角阵</a:t>
              </a:r>
              <a:endParaRPr lang="en-US" altLang="zh-CN" sz="2000" dirty="0"/>
            </a:p>
            <a:p>
              <a:pPr algn="just" eaLnBrk="1" hangingPunct="1">
                <a:lnSpc>
                  <a:spcPct val="150000"/>
                </a:lnSpc>
              </a:pPr>
              <a:endParaRPr lang="en-US" altLang="zh-CN" sz="2000" dirty="0"/>
            </a:p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/>
                <a:t>相似，则</a:t>
              </a:r>
            </a:p>
          </p:txBody>
        </p:sp>
        <p:graphicFrame>
          <p:nvGraphicFramePr>
            <p:cNvPr id="718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1718245"/>
                </p:ext>
              </p:extLst>
            </p:nvPr>
          </p:nvGraphicFramePr>
          <p:xfrm>
            <a:off x="859833" y="1430114"/>
            <a:ext cx="274215" cy="2940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4" name="Equation" r:id="rId13" imgW="152268" imgH="164957" progId="Equation.DSMT4">
                    <p:embed/>
                  </p:oleObj>
                </mc:Choice>
                <mc:Fallback>
                  <p:oleObj name="Equation" r:id="rId13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9833" y="1430114"/>
                          <a:ext cx="274215" cy="2940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4239030"/>
                </p:ext>
              </p:extLst>
            </p:nvPr>
          </p:nvGraphicFramePr>
          <p:xfrm>
            <a:off x="744377" y="1874668"/>
            <a:ext cx="2608354" cy="4534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5" name="Equation" r:id="rId15" imgW="1447172" imgH="253890" progId="Equation.DSMT4">
                    <p:embed/>
                  </p:oleObj>
                </mc:Choice>
                <mc:Fallback>
                  <p:oleObj name="Equation" r:id="rId15" imgW="1447172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4377" y="1874668"/>
                          <a:ext cx="2608354" cy="4534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组合 1"/>
          <p:cNvGrpSpPr>
            <a:grpSpLocks/>
          </p:cNvGrpSpPr>
          <p:nvPr/>
        </p:nvGrpSpPr>
        <p:grpSpPr bwMode="auto">
          <a:xfrm>
            <a:off x="7051405" y="3508545"/>
            <a:ext cx="4133850" cy="507831"/>
            <a:chOff x="729958" y="1062743"/>
            <a:chExt cx="2967142" cy="507059"/>
          </a:xfrm>
        </p:grpSpPr>
        <p:sp>
          <p:nvSpPr>
            <p:cNvPr id="7185" name="Text Box 2"/>
            <p:cNvSpPr txBox="1">
              <a:spLocks noChangeArrowheads="1"/>
            </p:cNvSpPr>
            <p:nvPr/>
          </p:nvSpPr>
          <p:spPr bwMode="auto">
            <a:xfrm>
              <a:off x="734721" y="1062743"/>
              <a:ext cx="2962379" cy="489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/>
                <a:t>                   </a:t>
              </a:r>
              <a:r>
                <a:rPr lang="zh-CN" altLang="en-US" sz="2000" dirty="0" smtClean="0"/>
                <a:t> 是方阵    的</a:t>
              </a:r>
              <a:r>
                <a:rPr lang="zh-CN" altLang="en-US" sz="2000" dirty="0" smtClean="0">
                  <a:solidFill>
                    <a:srgbClr val="0000FF"/>
                  </a:solidFill>
                </a:rPr>
                <a:t>特征</a:t>
              </a:r>
              <a:r>
                <a:rPr lang="zh-CN" altLang="en-US" sz="2000" dirty="0">
                  <a:solidFill>
                    <a:srgbClr val="0000FF"/>
                  </a:solidFill>
                </a:rPr>
                <a:t>值</a:t>
              </a:r>
            </a:p>
          </p:txBody>
        </p:sp>
        <p:graphicFrame>
          <p:nvGraphicFramePr>
            <p:cNvPr id="718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181658"/>
                </p:ext>
              </p:extLst>
            </p:nvPr>
          </p:nvGraphicFramePr>
          <p:xfrm>
            <a:off x="2662398" y="1174964"/>
            <a:ext cx="274215" cy="2940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6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2398" y="1174964"/>
                          <a:ext cx="274215" cy="2940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0425393"/>
                </p:ext>
              </p:extLst>
            </p:nvPr>
          </p:nvGraphicFramePr>
          <p:xfrm>
            <a:off x="729958" y="1160715"/>
            <a:ext cx="1349422" cy="409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7" name="Equation" r:id="rId19" imgW="749300" imgH="228600" progId="Equation.DSMT4">
                    <p:embed/>
                  </p:oleObj>
                </mc:Choice>
                <mc:Fallback>
                  <p:oleObj name="Equation" r:id="rId19" imgW="7493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9958" y="1160715"/>
                          <a:ext cx="1349422" cy="409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1"/>
          <p:cNvGrpSpPr>
            <a:grpSpLocks/>
          </p:cNvGrpSpPr>
          <p:nvPr/>
        </p:nvGrpSpPr>
        <p:grpSpPr bwMode="auto">
          <a:xfrm>
            <a:off x="6732429" y="4053682"/>
            <a:ext cx="3948742" cy="1477328"/>
            <a:chOff x="734721" y="1062743"/>
            <a:chExt cx="2962379" cy="1474937"/>
          </a:xfrm>
        </p:grpSpPr>
        <p:sp>
          <p:nvSpPr>
            <p:cNvPr id="7182" name="Text Box 2"/>
            <p:cNvSpPr txBox="1">
              <a:spLocks noChangeArrowheads="1"/>
            </p:cNvSpPr>
            <p:nvPr/>
          </p:nvSpPr>
          <p:spPr bwMode="auto">
            <a:xfrm>
              <a:off x="734721" y="1062743"/>
              <a:ext cx="2962379" cy="147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/>
                <a:t>即：  若可以相似对角化，则与之相似的</a:t>
              </a:r>
              <a:r>
                <a:rPr lang="zh-CN" altLang="en-US" sz="2000" dirty="0">
                  <a:solidFill>
                    <a:srgbClr val="0000FF"/>
                  </a:solidFill>
                </a:rPr>
                <a:t>对角阵</a:t>
              </a:r>
              <a:r>
                <a:rPr lang="zh-CN" altLang="en-US" sz="2000" dirty="0" smtClean="0"/>
                <a:t>由  的</a:t>
              </a:r>
              <a:r>
                <a:rPr lang="zh-CN" altLang="en-US" sz="2000" dirty="0">
                  <a:solidFill>
                    <a:srgbClr val="0000FF"/>
                  </a:solidFill>
                </a:rPr>
                <a:t>所有特征值</a:t>
              </a:r>
              <a:r>
                <a:rPr lang="zh-CN" altLang="en-US" sz="2000" dirty="0" smtClean="0"/>
                <a:t>构成</a:t>
              </a:r>
              <a:r>
                <a:rPr lang="en-US" altLang="zh-CN" sz="2000" dirty="0" smtClean="0">
                  <a:latin typeface="+mn-ea"/>
                  <a:ea typeface="+mn-ea"/>
                </a:rPr>
                <a:t>,</a:t>
              </a:r>
              <a:r>
                <a:rPr lang="zh-CN" altLang="en-US" sz="2000" dirty="0" smtClean="0">
                  <a:latin typeface="+mn-ea"/>
                  <a:ea typeface="+mn-ea"/>
                </a:rPr>
                <a:t>又有</a:t>
              </a:r>
              <a:endParaRPr lang="zh-CN" altLang="en-US" sz="2000" dirty="0"/>
            </a:p>
          </p:txBody>
        </p:sp>
        <p:graphicFrame>
          <p:nvGraphicFramePr>
            <p:cNvPr id="718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822645"/>
                </p:ext>
              </p:extLst>
            </p:nvPr>
          </p:nvGraphicFramePr>
          <p:xfrm>
            <a:off x="1130339" y="1177227"/>
            <a:ext cx="274215" cy="2940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8" name="Equation" r:id="rId21" imgW="152268" imgH="164957" progId="Equation.DSMT4">
                    <p:embed/>
                  </p:oleObj>
                </mc:Choice>
                <mc:Fallback>
                  <p:oleObj name="Equation" r:id="rId21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0339" y="1177227"/>
                          <a:ext cx="274215" cy="2940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8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644307"/>
                </p:ext>
              </p:extLst>
            </p:nvPr>
          </p:nvGraphicFramePr>
          <p:xfrm>
            <a:off x="2137839" y="1653067"/>
            <a:ext cx="273060" cy="2949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789" name="Equation" r:id="rId22" imgW="152268" imgH="164957" progId="Equation.DSMT4">
                    <p:embed/>
                  </p:oleObj>
                </mc:Choice>
                <mc:Fallback>
                  <p:oleObj name="Equation" r:id="rId22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7839" y="1653067"/>
                          <a:ext cx="273060" cy="2949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749534"/>
              </p:ext>
            </p:extLst>
          </p:nvPr>
        </p:nvGraphicFramePr>
        <p:xfrm>
          <a:off x="7620666" y="5083969"/>
          <a:ext cx="30019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90" name="Equation" r:id="rId24" imgW="1612800" imgH="253800" progId="Equation.DSMT4">
                  <p:embed/>
                </p:oleObj>
              </mc:Choice>
              <mc:Fallback>
                <p:oleObj name="Equation" r:id="rId24" imgW="1612800" imgH="253800" progId="Equation.DSMT4">
                  <p:embed/>
                  <p:pic>
                    <p:nvPicPr>
                      <p:cNvPr id="0" name="Object 4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666" y="5083969"/>
                        <a:ext cx="300196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818846"/>
              </p:ext>
            </p:extLst>
          </p:nvPr>
        </p:nvGraphicFramePr>
        <p:xfrm>
          <a:off x="7582638" y="5531010"/>
          <a:ext cx="20558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91" name="Equation" r:id="rId26" imgW="1104900" imgH="254000" progId="Equation.DSMT4">
                  <p:embed/>
                </p:oleObj>
              </mc:Choice>
              <mc:Fallback>
                <p:oleObj name="Equation" r:id="rId26" imgW="1104900" imgH="254000" progId="Equation.DSMT4">
                  <p:embed/>
                  <p:pic>
                    <p:nvPicPr>
                      <p:cNvPr id="0" name="Object 4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2638" y="5531010"/>
                        <a:ext cx="20558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 9"/>
          <p:cNvSpPr/>
          <p:nvPr/>
        </p:nvSpPr>
        <p:spPr>
          <a:xfrm flipH="1">
            <a:off x="4720855" y="4879938"/>
            <a:ext cx="2011574" cy="3508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3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0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                       4.3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</a:p>
        </p:txBody>
      </p:sp>
      <p:sp>
        <p:nvSpPr>
          <p:cNvPr id="7171" name="Text Box 6"/>
          <p:cNvSpPr txBox="1">
            <a:spLocks noChangeArrowheads="1"/>
          </p:cNvSpPr>
          <p:nvPr/>
        </p:nvSpPr>
        <p:spPr bwMode="auto">
          <a:xfrm>
            <a:off x="848785" y="842963"/>
            <a:ext cx="6496049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n"/>
            </a:pPr>
            <a:r>
              <a:rPr lang="zh-CN" altLang="en-US" sz="3200" dirty="0"/>
              <a:t>定理</a:t>
            </a:r>
            <a:r>
              <a:rPr lang="en-US" altLang="zh-CN" sz="3200" dirty="0"/>
              <a:t>1</a:t>
            </a:r>
            <a:r>
              <a:rPr lang="zh-CN" altLang="en-US" sz="3200" dirty="0"/>
              <a:t> （</a:t>
            </a:r>
            <a:r>
              <a:rPr lang="zh-CN" altLang="en-US" sz="3200" dirty="0">
                <a:solidFill>
                  <a:srgbClr val="0000FF"/>
                </a:solidFill>
              </a:rPr>
              <a:t>相似的性质</a:t>
            </a:r>
            <a:r>
              <a:rPr lang="zh-CN" altLang="en-US" sz="3200" dirty="0"/>
              <a:t>）</a:t>
            </a:r>
          </a:p>
        </p:txBody>
      </p:sp>
      <p:sp>
        <p:nvSpPr>
          <p:cNvPr id="7172" name="Rectangle 19"/>
          <p:cNvSpPr>
            <a:spLocks noChangeArrowheads="1"/>
          </p:cNvSpPr>
          <p:nvPr/>
        </p:nvSpPr>
        <p:spPr bwMode="auto">
          <a:xfrm>
            <a:off x="-1488017" y="-402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组合 1"/>
          <p:cNvGrpSpPr>
            <a:grpSpLocks/>
          </p:cNvGrpSpPr>
          <p:nvPr/>
        </p:nvGrpSpPr>
        <p:grpSpPr bwMode="auto">
          <a:xfrm>
            <a:off x="1488018" y="1728787"/>
            <a:ext cx="4991100" cy="646331"/>
            <a:chOff x="644610" y="1363628"/>
            <a:chExt cx="3744547" cy="645780"/>
          </a:xfrm>
        </p:grpSpPr>
        <p:sp>
          <p:nvSpPr>
            <p:cNvPr id="7201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3744547" cy="6457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/>
                <a:t>若同阶方阵          </a:t>
              </a:r>
              <a:r>
                <a:rPr lang="zh-CN" altLang="en-US" sz="2400" dirty="0"/>
                <a:t>相似，则有：</a:t>
              </a:r>
            </a:p>
          </p:txBody>
        </p:sp>
        <p:graphicFrame>
          <p:nvGraphicFramePr>
            <p:cNvPr id="720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3894501"/>
                </p:ext>
              </p:extLst>
            </p:nvPr>
          </p:nvGraphicFramePr>
          <p:xfrm>
            <a:off x="1938581" y="1577412"/>
            <a:ext cx="603271" cy="39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7" name="Equation" r:id="rId3" imgW="304536" imgH="203024" progId="Equation.DSMT4">
                    <p:embed/>
                  </p:oleObj>
                </mc:Choice>
                <mc:Fallback>
                  <p:oleObj name="Equation" r:id="rId3" imgW="304536" imgH="203024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8581" y="1577412"/>
                          <a:ext cx="603271" cy="39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2" name="组合 1"/>
          <p:cNvGrpSpPr>
            <a:grpSpLocks/>
          </p:cNvGrpSpPr>
          <p:nvPr/>
        </p:nvGrpSpPr>
        <p:grpSpPr bwMode="auto">
          <a:xfrm>
            <a:off x="1519767" y="2644778"/>
            <a:ext cx="5825066" cy="569643"/>
            <a:chOff x="644610" y="1363628"/>
            <a:chExt cx="4369257" cy="569156"/>
          </a:xfrm>
        </p:grpSpPr>
        <p:sp>
          <p:nvSpPr>
            <p:cNvPr id="7199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3389668" cy="569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/>
                <a:t>（</a:t>
              </a:r>
              <a:r>
                <a:rPr lang="en-US" altLang="zh-CN" sz="2400" dirty="0"/>
                <a:t>5</a:t>
              </a:r>
              <a:r>
                <a:rPr lang="zh-CN" altLang="en-US" sz="2400" dirty="0" smtClean="0"/>
                <a:t>）</a:t>
              </a:r>
              <a:endParaRPr lang="zh-CN" altLang="en-US" sz="2400" dirty="0"/>
            </a:p>
          </p:txBody>
        </p:sp>
        <p:graphicFrame>
          <p:nvGraphicFramePr>
            <p:cNvPr id="720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8795983"/>
                </p:ext>
              </p:extLst>
            </p:nvPr>
          </p:nvGraphicFramePr>
          <p:xfrm>
            <a:off x="1469005" y="1509283"/>
            <a:ext cx="3544862" cy="4235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8" name="Equation" r:id="rId5" imgW="1790640" imgH="215640" progId="Equation.DSMT4">
                    <p:embed/>
                  </p:oleObj>
                </mc:Choice>
                <mc:Fallback>
                  <p:oleObj name="Equation" r:id="rId5" imgW="1790640" imgH="215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9005" y="1509283"/>
                          <a:ext cx="3544862" cy="4235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97" name="Text Box 2"/>
          <p:cNvSpPr txBox="1">
            <a:spLocks noChangeArrowheads="1"/>
          </p:cNvSpPr>
          <p:nvPr/>
        </p:nvSpPr>
        <p:spPr bwMode="auto">
          <a:xfrm>
            <a:off x="1488018" y="3535809"/>
            <a:ext cx="4253563" cy="569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/>
              <a:t>（</a:t>
            </a:r>
            <a:r>
              <a:rPr lang="en-US" altLang="zh-CN" sz="2400" dirty="0"/>
              <a:t>6</a:t>
            </a:r>
            <a:r>
              <a:rPr lang="zh-CN" altLang="en-US" sz="2400" dirty="0" smtClean="0"/>
              <a:t>）     </a:t>
            </a:r>
            <a:endParaRPr lang="zh-CN" altLang="en-US" sz="2400" dirty="0"/>
          </a:p>
        </p:txBody>
      </p:sp>
      <p:grpSp>
        <p:nvGrpSpPr>
          <p:cNvPr id="29" name="组合 1"/>
          <p:cNvGrpSpPr>
            <a:grpSpLocks/>
          </p:cNvGrpSpPr>
          <p:nvPr/>
        </p:nvGrpSpPr>
        <p:grpSpPr bwMode="auto">
          <a:xfrm>
            <a:off x="1604828" y="4324386"/>
            <a:ext cx="4741210" cy="569643"/>
            <a:chOff x="-97239" y="1257392"/>
            <a:chExt cx="3557002" cy="569157"/>
          </a:xfrm>
        </p:grpSpPr>
        <p:sp>
          <p:nvSpPr>
            <p:cNvPr id="7195" name="Text Box 2"/>
            <p:cNvSpPr txBox="1">
              <a:spLocks noChangeArrowheads="1"/>
            </p:cNvSpPr>
            <p:nvPr/>
          </p:nvSpPr>
          <p:spPr bwMode="auto">
            <a:xfrm>
              <a:off x="-97239" y="1257392"/>
              <a:ext cx="2316876" cy="569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/>
                <a:t>（</a:t>
              </a:r>
              <a:r>
                <a:rPr lang="en-US" altLang="zh-CN" sz="2400" dirty="0"/>
                <a:t>7</a:t>
              </a:r>
              <a:r>
                <a:rPr lang="zh-CN" altLang="en-US" sz="2400" dirty="0" smtClean="0"/>
                <a:t>）     </a:t>
              </a:r>
              <a:endParaRPr lang="zh-CN" altLang="en-US" sz="2400" dirty="0"/>
            </a:p>
          </p:txBody>
        </p:sp>
        <p:graphicFrame>
          <p:nvGraphicFramePr>
            <p:cNvPr id="719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35227130"/>
                </p:ext>
              </p:extLst>
            </p:nvPr>
          </p:nvGraphicFramePr>
          <p:xfrm>
            <a:off x="615675" y="1428427"/>
            <a:ext cx="2844088" cy="3981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49" name="Equation" r:id="rId7" imgW="1434960" imgH="203040" progId="Equation.DSMT4">
                    <p:embed/>
                  </p:oleObj>
                </mc:Choice>
                <mc:Fallback>
                  <p:oleObj name="Equation" r:id="rId7" imgW="14349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5675" y="1428427"/>
                          <a:ext cx="2844088" cy="3981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1"/>
          <p:cNvGrpSpPr>
            <a:grpSpLocks/>
          </p:cNvGrpSpPr>
          <p:nvPr/>
        </p:nvGrpSpPr>
        <p:grpSpPr bwMode="auto">
          <a:xfrm>
            <a:off x="1604828" y="5036766"/>
            <a:ext cx="4282545" cy="569643"/>
            <a:chOff x="-689305" y="1318474"/>
            <a:chExt cx="3212440" cy="569156"/>
          </a:xfrm>
        </p:grpSpPr>
        <p:sp>
          <p:nvSpPr>
            <p:cNvPr id="7193" name="Text Box 2"/>
            <p:cNvSpPr txBox="1">
              <a:spLocks noChangeArrowheads="1"/>
            </p:cNvSpPr>
            <p:nvPr/>
          </p:nvSpPr>
          <p:spPr bwMode="auto">
            <a:xfrm>
              <a:off x="-689305" y="1318474"/>
              <a:ext cx="3045329" cy="569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400" dirty="0" smtClean="0"/>
                <a:t>（</a:t>
              </a:r>
              <a:r>
                <a:rPr lang="en-US" altLang="zh-CN" sz="2400" dirty="0" smtClean="0"/>
                <a:t>8</a:t>
              </a:r>
              <a:r>
                <a:rPr lang="zh-CN" altLang="en-US" sz="2400" dirty="0" smtClean="0"/>
                <a:t>）     </a:t>
              </a:r>
              <a:endParaRPr lang="zh-CN" altLang="en-US" sz="2400" dirty="0"/>
            </a:p>
          </p:txBody>
        </p:sp>
        <p:graphicFrame>
          <p:nvGraphicFramePr>
            <p:cNvPr id="719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40107425"/>
                </p:ext>
              </p:extLst>
            </p:nvPr>
          </p:nvGraphicFramePr>
          <p:xfrm>
            <a:off x="84332" y="1389581"/>
            <a:ext cx="2438803" cy="498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50" name="Equation" r:id="rId9" imgW="1231560" imgH="253800" progId="Equation.DSMT4">
                    <p:embed/>
                  </p:oleObj>
                </mc:Choice>
                <mc:Fallback>
                  <p:oleObj name="Equation" r:id="rId9" imgW="123156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4332" y="1389581"/>
                          <a:ext cx="2438803" cy="498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676900"/>
              </p:ext>
            </p:extLst>
          </p:nvPr>
        </p:nvGraphicFramePr>
        <p:xfrm>
          <a:off x="2679257" y="3681590"/>
          <a:ext cx="442277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1" name="Equation" r:id="rId11" imgW="1676160" imgH="215640" progId="Equation.DSMT4">
                  <p:embed/>
                </p:oleObj>
              </mc:Choice>
              <mc:Fallback>
                <p:oleObj name="Equation" r:id="rId11" imgW="1676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257" y="3681590"/>
                        <a:ext cx="442277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220836"/>
              </p:ext>
            </p:extLst>
          </p:nvPr>
        </p:nvGraphicFramePr>
        <p:xfrm>
          <a:off x="6173788" y="4470400"/>
          <a:ext cx="23463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2" name="Equation" r:id="rId13" imgW="888840" imgH="215640" progId="Equation.DSMT4">
                  <p:embed/>
                </p:oleObj>
              </mc:Choice>
              <mc:Fallback>
                <p:oleObj name="Equation" r:id="rId13" imgW="888840" imgH="2156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3788" y="4470400"/>
                        <a:ext cx="234632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506293"/>
              </p:ext>
            </p:extLst>
          </p:nvPr>
        </p:nvGraphicFramePr>
        <p:xfrm>
          <a:off x="6015038" y="5110163"/>
          <a:ext cx="335121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3" name="Equation" r:id="rId15" imgW="1269720" imgH="215640" progId="Equation.DSMT4">
                  <p:embed/>
                </p:oleObj>
              </mc:Choice>
              <mc:Fallback>
                <p:oleObj name="Equation" r:id="rId15" imgW="12697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5038" y="5110163"/>
                        <a:ext cx="335121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764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4.2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20504" y="1148253"/>
            <a:ext cx="1619490" cy="696036"/>
            <a:chOff x="745588" y="1310185"/>
            <a:chExt cx="1844209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圆角矩形 4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803200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相似矩阵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20503" y="200582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 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2604613" y="1170586"/>
            <a:ext cx="9481625" cy="651368"/>
            <a:chOff x="571096" y="2049280"/>
            <a:chExt cx="9481625" cy="651368"/>
          </a:xfrm>
        </p:grpSpPr>
        <p:grpSp>
          <p:nvGrpSpPr>
            <p:cNvPr id="17" name="组合 16"/>
            <p:cNvGrpSpPr/>
            <p:nvPr/>
          </p:nvGrpSpPr>
          <p:grpSpPr>
            <a:xfrm>
              <a:off x="571096" y="2049280"/>
              <a:ext cx="9481625" cy="651368"/>
              <a:chOff x="520504" y="5387046"/>
              <a:chExt cx="9481625" cy="651368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520504" y="5387046"/>
                <a:ext cx="1199113" cy="651368"/>
                <a:chOff x="506043" y="2137359"/>
                <a:chExt cx="1209620" cy="65136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3" name="圆角矩形 32"/>
                <p:cNvSpPr/>
                <p:nvPr/>
              </p:nvSpPr>
              <p:spPr>
                <a:xfrm>
                  <a:off x="506043" y="2137359"/>
                  <a:ext cx="1209620" cy="651368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521668" y="2232210"/>
                  <a:ext cx="117836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问  题</a:t>
                  </a:r>
                  <a:r>
                    <a:rPr lang="en-US" altLang="zh-CN" sz="2400" b="1" dirty="0" smtClean="0">
                      <a:solidFill>
                        <a:schemeClr val="bg1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 </a:t>
                  </a:r>
                  <a:endPara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6" name="文本框 15"/>
              <p:cNvSpPr txBox="1"/>
              <p:nvPr/>
            </p:nvSpPr>
            <p:spPr>
              <a:xfrm>
                <a:off x="1978925" y="5481897"/>
                <a:ext cx="80232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阶方阵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，能否与一个对角阵     相似？</a:t>
                </a:r>
              </a:p>
            </p:txBody>
          </p:sp>
        </p:grpSp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787453"/>
                </p:ext>
              </p:extLst>
            </p:nvPr>
          </p:nvGraphicFramePr>
          <p:xfrm>
            <a:off x="7067029" y="2221769"/>
            <a:ext cx="284163" cy="306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5" name="Equation" r:id="rId4" imgW="152280" imgH="164880" progId="Equation.DSMT4">
                    <p:embed/>
                  </p:oleObj>
                </mc:Choice>
                <mc:Fallback>
                  <p:oleObj name="Equation" r:id="rId4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067029" y="2221769"/>
                          <a:ext cx="284163" cy="306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1994414" y="2100672"/>
            <a:ext cx="9830387" cy="461665"/>
            <a:chOff x="2029516" y="3197474"/>
            <a:chExt cx="9830387" cy="461665"/>
          </a:xfrm>
        </p:grpSpPr>
        <p:sp>
          <p:nvSpPr>
            <p:cNvPr id="23" name="文本框 22"/>
            <p:cNvSpPr txBox="1"/>
            <p:nvPr/>
          </p:nvSpPr>
          <p:spPr>
            <a:xfrm>
              <a:off x="2029516" y="3197474"/>
              <a:ext cx="98303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若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与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对角阵   相似，则称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可相似对角化；否则称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不能相似对角化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7826501"/>
                </p:ext>
              </p:extLst>
            </p:nvPr>
          </p:nvGraphicFramePr>
          <p:xfrm>
            <a:off x="3890712" y="3275112"/>
            <a:ext cx="284163" cy="306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6" name="Equation" r:id="rId6" imgW="152280" imgH="164880" progId="Equation.DSMT4">
                    <p:embed/>
                  </p:oleObj>
                </mc:Choice>
                <mc:Fallback>
                  <p:oleObj name="Equation" r:id="rId6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890712" y="3275112"/>
                          <a:ext cx="284163" cy="3063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/>
        </p:nvGrpSpPr>
        <p:grpSpPr>
          <a:xfrm>
            <a:off x="0" y="2904980"/>
            <a:ext cx="12192000" cy="3953020"/>
            <a:chOff x="0" y="2904980"/>
            <a:chExt cx="12192000" cy="3953020"/>
          </a:xfrm>
        </p:grpSpPr>
        <p:sp>
          <p:nvSpPr>
            <p:cNvPr id="12" name="矩形 11"/>
            <p:cNvSpPr/>
            <p:nvPr/>
          </p:nvSpPr>
          <p:spPr>
            <a:xfrm>
              <a:off x="0" y="2904980"/>
              <a:ext cx="12192000" cy="3953020"/>
            </a:xfrm>
            <a:prstGeom prst="rect">
              <a:avLst/>
            </a:prstGeom>
            <a:solidFill>
              <a:srgbClr val="004F8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356526" y="3079373"/>
              <a:ext cx="11681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分  析：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830437" y="3079373"/>
            <a:ext cx="4297204" cy="471487"/>
            <a:chOff x="1994414" y="3219566"/>
            <a:chExt cx="4297204" cy="471487"/>
          </a:xfrm>
        </p:grpSpPr>
        <p:sp>
          <p:nvSpPr>
            <p:cNvPr id="10" name="文本框 9"/>
            <p:cNvSpPr txBox="1"/>
            <p:nvPr/>
          </p:nvSpPr>
          <p:spPr>
            <a:xfrm>
              <a:off x="1994414" y="3219566"/>
              <a:ext cx="429720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设                          可对角化，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5140036"/>
                </p:ext>
              </p:extLst>
            </p:nvPr>
          </p:nvGraphicFramePr>
          <p:xfrm>
            <a:off x="2474523" y="3219566"/>
            <a:ext cx="2130425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7" name="Equation" r:id="rId8" imgW="1143000" imgH="253800" progId="Equation.DSMT4">
                    <p:embed/>
                  </p:oleObj>
                </mc:Choice>
                <mc:Fallback>
                  <p:oleObj name="Equation" r:id="rId8" imgW="11430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474523" y="3219566"/>
                          <a:ext cx="2130425" cy="4714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/>
        </p:nvGrpSpPr>
        <p:grpSpPr>
          <a:xfrm>
            <a:off x="6127641" y="3069551"/>
            <a:ext cx="5794620" cy="481309"/>
            <a:chOff x="1994414" y="3219566"/>
            <a:chExt cx="5794620" cy="481309"/>
          </a:xfrm>
        </p:grpSpPr>
        <p:sp>
          <p:nvSpPr>
            <p:cNvPr id="36" name="文本框 35"/>
            <p:cNvSpPr txBox="1"/>
            <p:nvPr/>
          </p:nvSpPr>
          <p:spPr>
            <a:xfrm>
              <a:off x="1994414" y="3219566"/>
              <a:ext cx="57946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即存在可逆阵                         使得：</a:t>
              </a:r>
            </a:p>
          </p:txBody>
        </p:sp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48444937"/>
                </p:ext>
              </p:extLst>
            </p:nvPr>
          </p:nvGraphicFramePr>
          <p:xfrm>
            <a:off x="4022292" y="3229388"/>
            <a:ext cx="2130425" cy="471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38" name="Equation" r:id="rId10" imgW="1143000" imgH="253800" progId="Equation.DSMT4">
                    <p:embed/>
                  </p:oleObj>
                </mc:Choice>
                <mc:Fallback>
                  <p:oleObj name="Equation" r:id="rId10" imgW="11430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022292" y="3229388"/>
                          <a:ext cx="2130425" cy="4714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161360"/>
              </p:ext>
            </p:extLst>
          </p:nvPr>
        </p:nvGraphicFramePr>
        <p:xfrm>
          <a:off x="544121" y="4110063"/>
          <a:ext cx="153828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39" name="Equation" r:id="rId12" imgW="825480" imgH="190440" progId="Equation.DSMT4">
                  <p:embed/>
                </p:oleObj>
              </mc:Choice>
              <mc:Fallback>
                <p:oleObj name="Equation" r:id="rId12" imgW="82548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4121" y="4110063"/>
                        <a:ext cx="1538287" cy="352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970097"/>
              </p:ext>
            </p:extLst>
          </p:nvPr>
        </p:nvGraphicFramePr>
        <p:xfrm>
          <a:off x="2099871" y="3678263"/>
          <a:ext cx="1739900" cy="1404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0" name="Equation" r:id="rId14" imgW="1155600" imgH="939600" progId="Equation.DSMT4">
                  <p:embed/>
                </p:oleObj>
              </mc:Choice>
              <mc:Fallback>
                <p:oleObj name="Equation" r:id="rId14" imgW="115560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99871" y="3678263"/>
                        <a:ext cx="1739900" cy="1404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左右箭头 13"/>
          <p:cNvSpPr/>
          <p:nvPr/>
        </p:nvSpPr>
        <p:spPr>
          <a:xfrm>
            <a:off x="3875977" y="4089710"/>
            <a:ext cx="540027" cy="372778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841921"/>
              </p:ext>
            </p:extLst>
          </p:nvPr>
        </p:nvGraphicFramePr>
        <p:xfrm>
          <a:off x="4472988" y="4104510"/>
          <a:ext cx="113665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1" name="Equation" r:id="rId16" imgW="609480" imgH="164880" progId="Equation.DSMT4">
                  <p:embed/>
                </p:oleObj>
              </mc:Choice>
              <mc:Fallback>
                <p:oleObj name="Equation" r:id="rId16" imgW="6094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472988" y="4104510"/>
                        <a:ext cx="1136650" cy="306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左右箭头 41"/>
          <p:cNvSpPr/>
          <p:nvPr/>
        </p:nvSpPr>
        <p:spPr>
          <a:xfrm>
            <a:off x="5727150" y="4099886"/>
            <a:ext cx="540027" cy="372778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6384689" y="3588403"/>
            <a:ext cx="5480050" cy="1404938"/>
            <a:chOff x="6384689" y="3588403"/>
            <a:chExt cx="5480050" cy="1404938"/>
          </a:xfrm>
        </p:grpSpPr>
        <p:graphicFrame>
          <p:nvGraphicFramePr>
            <p:cNvPr id="45" name="对象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0376269"/>
                </p:ext>
              </p:extLst>
            </p:nvPr>
          </p:nvGraphicFramePr>
          <p:xfrm>
            <a:off x="6384689" y="4023759"/>
            <a:ext cx="3740150" cy="471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2" name="Equation" r:id="rId18" imgW="2006280" imgH="253800" progId="Equation.DSMT4">
                    <p:embed/>
                  </p:oleObj>
                </mc:Choice>
                <mc:Fallback>
                  <p:oleObj name="Equation" r:id="rId18" imgW="2006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384689" y="4023759"/>
                          <a:ext cx="3740150" cy="471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1025637"/>
                </p:ext>
              </p:extLst>
            </p:nvPr>
          </p:nvGraphicFramePr>
          <p:xfrm>
            <a:off x="10124839" y="3588403"/>
            <a:ext cx="1739900" cy="1404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3" name="Equation" r:id="rId20" imgW="1155600" imgH="939600" progId="Equation.DSMT4">
                    <p:embed/>
                  </p:oleObj>
                </mc:Choice>
                <mc:Fallback>
                  <p:oleObj name="Equation" r:id="rId20" imgW="1155600" imgH="939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0124839" y="3588403"/>
                          <a:ext cx="1739900" cy="140493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7" name="左右箭头 46"/>
          <p:cNvSpPr/>
          <p:nvPr/>
        </p:nvSpPr>
        <p:spPr>
          <a:xfrm>
            <a:off x="571096" y="5772560"/>
            <a:ext cx="540027" cy="372778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左大括号 14"/>
          <p:cNvSpPr/>
          <p:nvPr/>
        </p:nvSpPr>
        <p:spPr>
          <a:xfrm>
            <a:off x="1355545" y="5333999"/>
            <a:ext cx="169114" cy="1298079"/>
          </a:xfrm>
          <a:prstGeom prst="leftBrac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538649"/>
              </p:ext>
            </p:extLst>
          </p:nvPr>
        </p:nvGraphicFramePr>
        <p:xfrm>
          <a:off x="1648304" y="5119061"/>
          <a:ext cx="12319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4" name="Equation" r:id="rId22" imgW="660240" imgH="228600" progId="Equation.DSMT4">
                  <p:embed/>
                </p:oleObj>
              </mc:Choice>
              <mc:Fallback>
                <p:oleObj name="Equation" r:id="rId22" imgW="660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648304" y="5119061"/>
                        <a:ext cx="1231900" cy="423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349477"/>
              </p:ext>
            </p:extLst>
          </p:nvPr>
        </p:nvGraphicFramePr>
        <p:xfrm>
          <a:off x="1592263" y="5626100"/>
          <a:ext cx="13271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5" name="Equation" r:id="rId24" imgW="711000" imgH="228600" progId="Equation.DSMT4">
                  <p:embed/>
                </p:oleObj>
              </mc:Choice>
              <mc:Fallback>
                <p:oleObj name="Equation" r:id="rId24" imgW="7110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92263" y="5626100"/>
                        <a:ext cx="1327150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1777659" y="5885566"/>
            <a:ext cx="1088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 …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9560967"/>
              </p:ext>
            </p:extLst>
          </p:nvPr>
        </p:nvGraphicFramePr>
        <p:xfrm>
          <a:off x="1618859" y="6359184"/>
          <a:ext cx="135096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6" name="Equation" r:id="rId26" imgW="723600" imgH="228600" progId="Equation.DSMT4">
                  <p:embed/>
                </p:oleObj>
              </mc:Choice>
              <mc:Fallback>
                <p:oleObj name="Equation" r:id="rId26" imgW="7236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618859" y="6359184"/>
                        <a:ext cx="1350962" cy="423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3281475" y="5366653"/>
            <a:ext cx="1134529" cy="833889"/>
            <a:chOff x="3281475" y="5366653"/>
            <a:chExt cx="1134529" cy="833889"/>
          </a:xfrm>
        </p:grpSpPr>
        <p:sp>
          <p:nvSpPr>
            <p:cNvPr id="52" name="左右箭头 51"/>
            <p:cNvSpPr/>
            <p:nvPr/>
          </p:nvSpPr>
          <p:spPr>
            <a:xfrm>
              <a:off x="3457664" y="5827764"/>
              <a:ext cx="540027" cy="372778"/>
            </a:xfrm>
            <a:prstGeom prst="leftRight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3281475" y="5366653"/>
              <a:ext cx="11345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P</a:t>
              </a:r>
              <a:r>
                <a:rPr lang="en-US" altLang="zh-CN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535942" y="5716144"/>
            <a:ext cx="4236266" cy="484398"/>
            <a:chOff x="4535942" y="5776680"/>
            <a:chExt cx="4236266" cy="484398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545631"/>
                </p:ext>
              </p:extLst>
            </p:nvPr>
          </p:nvGraphicFramePr>
          <p:xfrm>
            <a:off x="4535942" y="5776680"/>
            <a:ext cx="1419225" cy="4238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47" name="Equation" r:id="rId28" imgW="761760" imgH="228600" progId="Equation.DSMT4">
                    <p:embed/>
                  </p:oleObj>
                </mc:Choice>
                <mc:Fallback>
                  <p:oleObj name="Equation" r:id="rId28" imgW="7617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9"/>
                        <a:stretch>
                          <a:fillRect/>
                        </a:stretch>
                      </p:blipFill>
                      <p:spPr>
                        <a:xfrm>
                          <a:off x="4535942" y="5776680"/>
                          <a:ext cx="1419225" cy="4238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文本框 12"/>
            <p:cNvSpPr txBox="1"/>
            <p:nvPr/>
          </p:nvSpPr>
          <p:spPr>
            <a:xfrm>
              <a:off x="5997163" y="5799413"/>
              <a:ext cx="27750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线性无关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38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 animBg="1"/>
      <p:bldP spid="42" grpId="0" animBg="1"/>
      <p:bldP spid="47" grpId="0" animBg="1"/>
      <p:bldP spid="15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0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                     4.3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</a:p>
        </p:txBody>
      </p:sp>
      <p:sp>
        <p:nvSpPr>
          <p:cNvPr id="10244" name="Rectangle 19"/>
          <p:cNvSpPr>
            <a:spLocks noChangeArrowheads="1"/>
          </p:cNvSpPr>
          <p:nvPr/>
        </p:nvSpPr>
        <p:spPr bwMode="auto">
          <a:xfrm>
            <a:off x="-1488017" y="-402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66" name="Text Box 2"/>
          <p:cNvSpPr txBox="1">
            <a:spLocks noChangeArrowheads="1"/>
          </p:cNvSpPr>
          <p:nvPr/>
        </p:nvSpPr>
        <p:spPr bwMode="auto">
          <a:xfrm>
            <a:off x="5969814" y="1452473"/>
            <a:ext cx="56616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有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个线性无关的</a:t>
            </a:r>
            <a:r>
              <a:rPr lang="zh-CN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特征向量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b="0" dirty="0"/>
          </a:p>
        </p:txBody>
      </p:sp>
      <p:sp>
        <p:nvSpPr>
          <p:cNvPr id="10264" name="Text Box 2"/>
          <p:cNvSpPr txBox="1">
            <a:spLocks noChangeArrowheads="1"/>
          </p:cNvSpPr>
          <p:nvPr/>
        </p:nvSpPr>
        <p:spPr bwMode="auto">
          <a:xfrm>
            <a:off x="1416051" y="1974851"/>
            <a:ext cx="3496191" cy="571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endParaRPr lang="zh-CN" altLang="en-US" sz="2400" dirty="0"/>
          </a:p>
        </p:txBody>
      </p:sp>
      <p:grpSp>
        <p:nvGrpSpPr>
          <p:cNvPr id="36" name="组合 1"/>
          <p:cNvGrpSpPr>
            <a:grpSpLocks/>
          </p:cNvGrpSpPr>
          <p:nvPr/>
        </p:nvGrpSpPr>
        <p:grpSpPr bwMode="auto">
          <a:xfrm>
            <a:off x="1225549" y="2979041"/>
            <a:ext cx="10447867" cy="646331"/>
            <a:chOff x="644610" y="1766214"/>
            <a:chExt cx="7836067" cy="645655"/>
          </a:xfrm>
        </p:grpSpPr>
        <p:sp>
          <p:nvSpPr>
            <p:cNvPr id="10260" name="Text Box 2"/>
            <p:cNvSpPr txBox="1">
              <a:spLocks noChangeArrowheads="1"/>
            </p:cNvSpPr>
            <p:nvPr/>
          </p:nvSpPr>
          <p:spPr bwMode="auto">
            <a:xfrm>
              <a:off x="644610" y="1766214"/>
              <a:ext cx="7836067" cy="6456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  <a:buClr>
                  <a:schemeClr val="accent2"/>
                </a:buClr>
                <a:buFont typeface="Wingdings" pitchFamily="2" charset="2"/>
                <a:buChar char="Ø"/>
              </a:pPr>
              <a:r>
                <a:rPr lang="zh-CN" altLang="en-US" sz="2400" dirty="0">
                  <a:solidFill>
                    <a:srgbClr val="0000FF"/>
                  </a:solidFill>
                </a:rPr>
                <a:t>相似变换</a:t>
              </a:r>
              <a:r>
                <a:rPr lang="zh-CN" altLang="en-US" sz="2400" dirty="0" smtClean="0">
                  <a:solidFill>
                    <a:srgbClr val="0000FF"/>
                  </a:solidFill>
                </a:rPr>
                <a:t>矩阵                             </a:t>
              </a:r>
              <a:r>
                <a:rPr lang="zh-CN" altLang="en-US" sz="2400" dirty="0"/>
                <a:t>由  的   个线性无关</a:t>
              </a:r>
              <a:r>
                <a:rPr lang="zh-CN" altLang="en-US" sz="2400" dirty="0">
                  <a:solidFill>
                    <a:srgbClr val="0000FF"/>
                  </a:solidFill>
                </a:rPr>
                <a:t>特征向量</a:t>
              </a:r>
              <a:r>
                <a:rPr lang="zh-CN" altLang="en-US" sz="2400" dirty="0"/>
                <a:t>构成</a:t>
              </a:r>
            </a:p>
          </p:txBody>
        </p:sp>
        <p:graphicFrame>
          <p:nvGraphicFramePr>
            <p:cNvPr id="1026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4243774"/>
                </p:ext>
              </p:extLst>
            </p:nvPr>
          </p:nvGraphicFramePr>
          <p:xfrm>
            <a:off x="2386060" y="1910818"/>
            <a:ext cx="2236866" cy="5010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0" name="Equation" r:id="rId3" imgW="1129810" imgH="253890" progId="Equation.DSMT4">
                    <p:embed/>
                  </p:oleObj>
                </mc:Choice>
                <mc:Fallback>
                  <p:oleObj name="Equation" r:id="rId3" imgW="1129810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6060" y="1910818"/>
                          <a:ext cx="2236866" cy="5010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7446767"/>
                </p:ext>
              </p:extLst>
            </p:nvPr>
          </p:nvGraphicFramePr>
          <p:xfrm>
            <a:off x="4772735" y="1916128"/>
            <a:ext cx="301636" cy="325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1" name="Equation" r:id="rId5" imgW="152268" imgH="164957" progId="Equation.DSMT4">
                    <p:embed/>
                  </p:oleObj>
                </mc:Choice>
                <mc:Fallback>
                  <p:oleObj name="Equation" r:id="rId5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2735" y="1916128"/>
                          <a:ext cx="301636" cy="325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1496887"/>
                </p:ext>
              </p:extLst>
            </p:nvPr>
          </p:nvGraphicFramePr>
          <p:xfrm>
            <a:off x="5205591" y="1993975"/>
            <a:ext cx="250834" cy="275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2" name="Equation" r:id="rId7" imgW="126720" imgH="139680" progId="Equation.DSMT4">
                    <p:embed/>
                  </p:oleObj>
                </mc:Choice>
                <mc:Fallback>
                  <p:oleObj name="Equation" r:id="rId7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5591" y="1993975"/>
                          <a:ext cx="250834" cy="2758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2" name="组合 1"/>
          <p:cNvGrpSpPr>
            <a:grpSpLocks/>
          </p:cNvGrpSpPr>
          <p:nvPr/>
        </p:nvGrpSpPr>
        <p:grpSpPr bwMode="auto">
          <a:xfrm>
            <a:off x="1326285" y="3667570"/>
            <a:ext cx="9889067" cy="646331"/>
            <a:chOff x="523309" y="1416335"/>
            <a:chExt cx="7416958" cy="644802"/>
          </a:xfrm>
        </p:grpSpPr>
        <p:sp>
          <p:nvSpPr>
            <p:cNvPr id="10256" name="Text Box 2"/>
            <p:cNvSpPr txBox="1">
              <a:spLocks noChangeArrowheads="1"/>
            </p:cNvSpPr>
            <p:nvPr/>
          </p:nvSpPr>
          <p:spPr bwMode="auto">
            <a:xfrm>
              <a:off x="523309" y="1416335"/>
              <a:ext cx="7416958" cy="6448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l" eaLnBrk="1" hangingPunct="1">
                <a:lnSpc>
                  <a:spcPct val="150000"/>
                </a:lnSpc>
                <a:buClr>
                  <a:schemeClr val="accent2"/>
                </a:buClr>
                <a:buFont typeface="Wingdings" pitchFamily="2" charset="2"/>
                <a:buChar char="Ø"/>
              </a:pPr>
              <a:r>
                <a:rPr lang="zh-CN" altLang="en-US" sz="2400" dirty="0">
                  <a:solidFill>
                    <a:srgbClr val="CC3300"/>
                  </a:solidFill>
                </a:rPr>
                <a:t>对角</a:t>
              </a:r>
              <a:r>
                <a:rPr lang="zh-CN" altLang="en-US" sz="2400" dirty="0" smtClean="0">
                  <a:solidFill>
                    <a:srgbClr val="CC3300"/>
                  </a:solidFill>
                </a:rPr>
                <a:t>阵         </a:t>
              </a:r>
              <a:r>
                <a:rPr lang="zh-CN" altLang="en-US" sz="2400" dirty="0" smtClean="0"/>
                <a:t>                             </a:t>
              </a:r>
              <a:r>
                <a:rPr lang="zh-CN" altLang="en-US" sz="2400" dirty="0"/>
                <a:t>由  的   个（所有）</a:t>
              </a:r>
              <a:r>
                <a:rPr lang="zh-CN" altLang="en-US" sz="2400" dirty="0">
                  <a:solidFill>
                    <a:srgbClr val="CC3300"/>
                  </a:solidFill>
                </a:rPr>
                <a:t>特征值</a:t>
              </a:r>
              <a:r>
                <a:rPr lang="zh-CN" altLang="en-US" sz="2400" dirty="0"/>
                <a:t>构成</a:t>
              </a:r>
            </a:p>
          </p:txBody>
        </p:sp>
        <p:graphicFrame>
          <p:nvGraphicFramePr>
            <p:cNvPr id="1025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8493729"/>
                </p:ext>
              </p:extLst>
            </p:nvPr>
          </p:nvGraphicFramePr>
          <p:xfrm>
            <a:off x="1640896" y="1560086"/>
            <a:ext cx="2865538" cy="5010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3" name="Equation" r:id="rId9" imgW="1447172" imgH="253890" progId="Equation.DSMT4">
                    <p:embed/>
                  </p:oleObj>
                </mc:Choice>
                <mc:Fallback>
                  <p:oleObj name="Equation" r:id="rId9" imgW="1447172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0896" y="1560086"/>
                          <a:ext cx="2865538" cy="5010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1588965"/>
                </p:ext>
              </p:extLst>
            </p:nvPr>
          </p:nvGraphicFramePr>
          <p:xfrm>
            <a:off x="4730745" y="1576211"/>
            <a:ext cx="301636" cy="3250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4" name="Equation" r:id="rId11" imgW="152268" imgH="164957" progId="Equation.DSMT4">
                    <p:embed/>
                  </p:oleObj>
                </mc:Choice>
                <mc:Fallback>
                  <p:oleObj name="Equation" r:id="rId11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30745" y="1576211"/>
                          <a:ext cx="301636" cy="3250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5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2865246"/>
                </p:ext>
              </p:extLst>
            </p:nvPr>
          </p:nvGraphicFramePr>
          <p:xfrm>
            <a:off x="5177903" y="1682788"/>
            <a:ext cx="250834" cy="2758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575" name="Equation" r:id="rId12" imgW="126835" imgH="139518" progId="Equation.DSMT4">
                    <p:embed/>
                  </p:oleObj>
                </mc:Choice>
                <mc:Fallback>
                  <p:oleObj name="Equation" r:id="rId12" imgW="126835" imgH="139518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7903" y="1682788"/>
                          <a:ext cx="250834" cy="2758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24417" y="4394200"/>
            <a:ext cx="11328400" cy="1646239"/>
            <a:chOff x="467544" y="4806131"/>
            <a:chExt cx="8496944" cy="1843591"/>
          </a:xfrm>
        </p:grpSpPr>
        <p:grpSp>
          <p:nvGrpSpPr>
            <p:cNvPr id="10251" name="组合 1"/>
            <p:cNvGrpSpPr>
              <a:grpSpLocks/>
            </p:cNvGrpSpPr>
            <p:nvPr/>
          </p:nvGrpSpPr>
          <p:grpSpPr bwMode="auto">
            <a:xfrm>
              <a:off x="747361" y="4806131"/>
              <a:ext cx="7611846" cy="1676476"/>
              <a:chOff x="644610" y="848673"/>
              <a:chExt cx="7612109" cy="1674478"/>
            </a:xfrm>
          </p:grpSpPr>
          <p:sp>
            <p:nvSpPr>
              <p:cNvPr id="10253" name="Text Box 2"/>
              <p:cNvSpPr txBox="1">
                <a:spLocks noChangeArrowheads="1"/>
              </p:cNvSpPr>
              <p:nvPr/>
            </p:nvSpPr>
            <p:spPr bwMode="auto">
              <a:xfrm>
                <a:off x="644610" y="1363464"/>
                <a:ext cx="7200530" cy="64556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Verdana" pitchFamily="34" charset="0"/>
                    <a:ea typeface="宋体" pitchFamily="2" charset="-122"/>
                  </a:defRPr>
                </a:lvl9pPr>
              </a:lstStyle>
              <a:p>
                <a:pPr algn="just" eaLnBrk="1" hangingPunct="1">
                  <a:lnSpc>
                    <a:spcPct val="150000"/>
                  </a:lnSpc>
                </a:pPr>
                <a:r>
                  <a:rPr lang="zh-CN" altLang="en-US" sz="2400" dirty="0"/>
                  <a:t>即：存在可逆 </a:t>
                </a:r>
                <a:r>
                  <a:rPr lang="zh-CN" altLang="en-US" sz="2400" dirty="0" smtClean="0"/>
                  <a:t>                              </a:t>
                </a:r>
                <a:r>
                  <a:rPr lang="zh-CN" altLang="en-US" sz="2400" dirty="0"/>
                  <a:t>使得</a:t>
                </a:r>
              </a:p>
            </p:txBody>
          </p:sp>
          <p:graphicFrame>
            <p:nvGraphicFramePr>
              <p:cNvPr id="10254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14110168"/>
                  </p:ext>
                </p:extLst>
              </p:nvPr>
            </p:nvGraphicFramePr>
            <p:xfrm>
              <a:off x="2211361" y="1523671"/>
              <a:ext cx="2033514" cy="4526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576" name="Equation" r:id="rId14" imgW="1129810" imgH="253890" progId="Equation.DSMT4">
                      <p:embed/>
                    </p:oleObj>
                  </mc:Choice>
                  <mc:Fallback>
                    <p:oleObj name="Equation" r:id="rId14" imgW="1129810" imgH="25389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1361" y="1523671"/>
                            <a:ext cx="2033514" cy="4526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5" name="Object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50048933"/>
                  </p:ext>
                </p:extLst>
              </p:nvPr>
            </p:nvGraphicFramePr>
            <p:xfrm>
              <a:off x="5007145" y="848673"/>
              <a:ext cx="3249574" cy="167447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577" name="Equation" r:id="rId16" imgW="1981080" imgH="939600" progId="Equation.DSMT4">
                      <p:embed/>
                    </p:oleObj>
                  </mc:Choice>
                  <mc:Fallback>
                    <p:oleObj name="Equation" r:id="rId16" imgW="1981080" imgH="939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07145" y="848673"/>
                            <a:ext cx="3249574" cy="167447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" name="矩形 2"/>
            <p:cNvSpPr/>
            <p:nvPr/>
          </p:nvSpPr>
          <p:spPr>
            <a:xfrm>
              <a:off x="467544" y="4816791"/>
              <a:ext cx="8496944" cy="1832931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9" name="圆角矩形 8"/>
          <p:cNvSpPr/>
          <p:nvPr/>
        </p:nvSpPr>
        <p:spPr>
          <a:xfrm>
            <a:off x="2574458" y="5556252"/>
            <a:ext cx="3467392" cy="48418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注意书写时两者的对应关系</a:t>
            </a:r>
          </a:p>
        </p:txBody>
      </p:sp>
      <p:sp>
        <p:nvSpPr>
          <p:cNvPr id="6" name="矩形 5"/>
          <p:cNvSpPr/>
          <p:nvPr/>
        </p:nvSpPr>
        <p:spPr>
          <a:xfrm>
            <a:off x="1416051" y="1575583"/>
            <a:ext cx="50234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可相似对角化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3" name="左右箭头 32"/>
          <p:cNvSpPr/>
          <p:nvPr/>
        </p:nvSpPr>
        <p:spPr>
          <a:xfrm>
            <a:off x="4822067" y="6240012"/>
            <a:ext cx="573299" cy="346360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13"/>
          <p:cNvSpPr txBox="1"/>
          <p:nvPr/>
        </p:nvSpPr>
        <p:spPr>
          <a:xfrm>
            <a:off x="1516961" y="2356005"/>
            <a:ext cx="7756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阶方阵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个不同的特征值，则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可相似对角化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67562" y="1401250"/>
            <a:ext cx="1057987" cy="6975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定理</a:t>
            </a:r>
            <a:r>
              <a:rPr lang="en-US" altLang="zh-C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201540" y="2343161"/>
            <a:ext cx="1058966" cy="4503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推论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01540" y="6027478"/>
            <a:ext cx="1024009" cy="6385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定理</a:t>
            </a:r>
            <a:r>
              <a:rPr lang="en-US" altLang="zh-C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  <a:endParaRPr lang="zh-CN" alt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253952" y="6182360"/>
            <a:ext cx="502344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可相似对角化 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2" name="左右箭头 31"/>
          <p:cNvSpPr/>
          <p:nvPr/>
        </p:nvSpPr>
        <p:spPr>
          <a:xfrm>
            <a:off x="5125753" y="1633235"/>
            <a:ext cx="844061" cy="346360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 Box 2"/>
          <p:cNvSpPr txBox="1">
            <a:spLocks noChangeArrowheads="1"/>
          </p:cNvSpPr>
          <p:nvPr/>
        </p:nvSpPr>
        <p:spPr bwMode="auto">
          <a:xfrm>
            <a:off x="5337974" y="6076964"/>
            <a:ext cx="68540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方阵</a:t>
            </a:r>
            <a:r>
              <a:rPr lang="en-US" altLang="zh-CN" sz="2400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的每个特征值的代数重复度等于几何重复度</a:t>
            </a:r>
            <a:r>
              <a:rPr lang="en-US" altLang="zh-CN" sz="2400" b="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356697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3" grpId="0" animBg="1"/>
      <p:bldP spid="34" grpId="0"/>
      <p:bldP spid="41" grpId="0" animBg="1"/>
      <p:bldP spid="30" grpId="0" animBg="1"/>
      <p:bldP spid="31" grpId="0"/>
      <p:bldP spid="32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20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                                               4.3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</a:p>
        </p:txBody>
      </p:sp>
      <p:sp>
        <p:nvSpPr>
          <p:cNvPr id="11267" name="Text Box 6"/>
          <p:cNvSpPr txBox="1">
            <a:spLocks noChangeArrowheads="1"/>
          </p:cNvSpPr>
          <p:nvPr/>
        </p:nvSpPr>
        <p:spPr bwMode="auto">
          <a:xfrm>
            <a:off x="848784" y="823913"/>
            <a:ext cx="9855200" cy="929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70000"/>
              </a:lnSpc>
              <a:buClr>
                <a:schemeClr val="accent2"/>
              </a:buClr>
              <a:buFont typeface="Wingdings" pitchFamily="2" charset="2"/>
              <a:buChar char="n"/>
            </a:pPr>
            <a:r>
              <a:rPr lang="zh-CN" altLang="en-US" sz="3200"/>
              <a:t>相似对角化过程</a:t>
            </a:r>
          </a:p>
        </p:txBody>
      </p:sp>
      <p:sp>
        <p:nvSpPr>
          <p:cNvPr id="11268" name="Rectangle 19"/>
          <p:cNvSpPr>
            <a:spLocks noChangeArrowheads="1"/>
          </p:cNvSpPr>
          <p:nvPr/>
        </p:nvSpPr>
        <p:spPr bwMode="auto">
          <a:xfrm>
            <a:off x="-912283" y="-4020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69" name="Rectangle 92"/>
          <p:cNvSpPr>
            <a:spLocks noChangeArrowheads="1"/>
          </p:cNvSpPr>
          <p:nvPr/>
        </p:nvSpPr>
        <p:spPr bwMode="auto">
          <a:xfrm>
            <a:off x="575733" y="-320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0" name="Rectangle 95"/>
          <p:cNvSpPr>
            <a:spLocks noChangeArrowheads="1"/>
          </p:cNvSpPr>
          <p:nvPr/>
        </p:nvSpPr>
        <p:spPr bwMode="auto">
          <a:xfrm>
            <a:off x="575733" y="-320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1" name="Rectangle 97"/>
          <p:cNvSpPr>
            <a:spLocks noChangeArrowheads="1"/>
          </p:cNvSpPr>
          <p:nvPr/>
        </p:nvSpPr>
        <p:spPr bwMode="auto">
          <a:xfrm>
            <a:off x="575733" y="-3203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9" name="图示 48"/>
          <p:cNvGraphicFramePr/>
          <p:nvPr/>
        </p:nvGraphicFramePr>
        <p:xfrm>
          <a:off x="1871531" y="1844824"/>
          <a:ext cx="9409045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88756"/>
              </p:ext>
            </p:extLst>
          </p:nvPr>
        </p:nvGraphicFramePr>
        <p:xfrm>
          <a:off x="5366785" y="2275220"/>
          <a:ext cx="252941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4" name="Equation" r:id="rId8" imgW="749160" imgH="228600" progId="Equation.DSMT4">
                  <p:embed/>
                </p:oleObj>
              </mc:Choice>
              <mc:Fallback>
                <p:oleObj name="Equation" r:id="rId8" imgW="74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6785" y="2275220"/>
                        <a:ext cx="252941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018948"/>
              </p:ext>
            </p:extLst>
          </p:nvPr>
        </p:nvGraphicFramePr>
        <p:xfrm>
          <a:off x="7703290" y="4134771"/>
          <a:ext cx="252941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5" name="Equation" r:id="rId10" imgW="749160" imgH="228600" progId="Equation.DSMT4">
                  <p:embed/>
                </p:oleObj>
              </mc:Choice>
              <mc:Fallback>
                <p:oleObj name="Equation" r:id="rId10" imgW="74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290" y="4134771"/>
                        <a:ext cx="252941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/>
          <p:cNvGraphicFramePr>
            <a:graphicFrameLocks noChangeAspect="1"/>
          </p:cNvGraphicFramePr>
          <p:nvPr/>
        </p:nvGraphicFramePr>
        <p:xfrm>
          <a:off x="5052485" y="5218114"/>
          <a:ext cx="6227233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6" name="Equation" r:id="rId12" imgW="2235200" imgH="508000" progId="Equation.DSMT4">
                  <p:embed/>
                </p:oleObj>
              </mc:Choice>
              <mc:Fallback>
                <p:oleObj name="Equation" r:id="rId12" imgW="2235200" imgH="508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2485" y="5218114"/>
                        <a:ext cx="6227233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668098" y="4081132"/>
            <a:ext cx="3007783" cy="1368425"/>
            <a:chOff x="84020" y="4077072"/>
            <a:chExt cx="2255732" cy="1368152"/>
          </a:xfrm>
        </p:grpSpPr>
        <p:sp>
          <p:nvSpPr>
            <p:cNvPr id="5" name="线形标注 1(带边框和强调线) 4"/>
            <p:cNvSpPr/>
            <p:nvPr/>
          </p:nvSpPr>
          <p:spPr>
            <a:xfrm>
              <a:off x="1619061" y="4077072"/>
              <a:ext cx="720691" cy="431714"/>
            </a:xfrm>
            <a:prstGeom prst="accentBorderCallout1">
              <a:avLst>
                <a:gd name="adj1" fmla="val 18750"/>
                <a:gd name="adj2" fmla="val -8333"/>
                <a:gd name="adj3" fmla="val 106182"/>
                <a:gd name="adj4" fmla="val -83131"/>
              </a:avLst>
            </a:prstGeom>
            <a:noFill/>
            <a:ln w="38100">
              <a:solidFill>
                <a:srgbClr val="CC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84020" y="4581128"/>
              <a:ext cx="1453674" cy="864096"/>
            </a:xfrm>
            <a:prstGeom prst="roundRect">
              <a:avLst>
                <a:gd name="adj" fmla="val 29468"/>
              </a:avLst>
            </a:prstGeom>
            <a:solidFill>
              <a:srgbClr val="FF6600"/>
            </a:solidFill>
            <a:effectLst>
              <a:innerShdw blurRad="63500" dist="50800" dir="81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r>
                <a:rPr lang="zh-CN" altLang="en-US" sz="2000" dirty="0"/>
                <a:t>基础解</a:t>
              </a:r>
              <a:r>
                <a:rPr lang="zh-CN" altLang="en-US" sz="2000" dirty="0" smtClean="0"/>
                <a:t>系中</a:t>
              </a:r>
              <a:r>
                <a:rPr lang="zh-CN" altLang="en-US" sz="2000" dirty="0"/>
                <a:t>取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389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组合 1"/>
          <p:cNvGrpSpPr>
            <a:grpSpLocks/>
          </p:cNvGrpSpPr>
          <p:nvPr/>
        </p:nvGrpSpPr>
        <p:grpSpPr bwMode="auto">
          <a:xfrm>
            <a:off x="920209" y="1196975"/>
            <a:ext cx="9764184" cy="2185988"/>
            <a:chOff x="582613" y="1416193"/>
            <a:chExt cx="7322700" cy="2186285"/>
          </a:xfrm>
        </p:grpSpPr>
        <p:sp>
          <p:nvSpPr>
            <p:cNvPr id="12306" name="Text Box 2"/>
            <p:cNvSpPr txBox="1">
              <a:spLocks noChangeArrowheads="1"/>
            </p:cNvSpPr>
            <p:nvPr/>
          </p:nvSpPr>
          <p:spPr bwMode="auto">
            <a:xfrm>
              <a:off x="582613" y="1416193"/>
              <a:ext cx="7322700" cy="5540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>
                  <a:solidFill>
                    <a:schemeClr val="accent2"/>
                  </a:solidFill>
                </a:rPr>
                <a:t>例</a:t>
              </a:r>
              <a:r>
                <a:rPr lang="en-US" altLang="zh-CN" sz="2000">
                  <a:solidFill>
                    <a:schemeClr val="accent2"/>
                  </a:solidFill>
                </a:rPr>
                <a:t>1  </a:t>
              </a:r>
              <a:r>
                <a:rPr lang="zh-CN" altLang="en-US" sz="2000"/>
                <a:t>判断下列矩阵是否可以相似对角化，若可以，则将其相似对角化</a:t>
              </a:r>
            </a:p>
          </p:txBody>
        </p:sp>
        <p:graphicFrame>
          <p:nvGraphicFramePr>
            <p:cNvPr id="12307" name="Object 3"/>
            <p:cNvGraphicFramePr>
              <a:graphicFrameLocks noChangeAspect="1"/>
            </p:cNvGraphicFramePr>
            <p:nvPr/>
          </p:nvGraphicFramePr>
          <p:xfrm>
            <a:off x="1390750" y="2440562"/>
            <a:ext cx="4367751" cy="1161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5" name="Equation" r:id="rId3" imgW="2667000" imgH="711200" progId="Equation.DSMT4">
                    <p:embed/>
                  </p:oleObj>
                </mc:Choice>
                <mc:Fallback>
                  <p:oleObj name="Equation" r:id="rId3" imgW="26670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0750" y="2440562"/>
                          <a:ext cx="4367751" cy="11619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1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102785" y="3566805"/>
            <a:ext cx="9120716" cy="1758962"/>
            <a:chOff x="1259632" y="1424283"/>
            <a:chExt cx="6840760" cy="1760260"/>
          </a:xfrm>
        </p:grpSpPr>
        <p:sp>
          <p:nvSpPr>
            <p:cNvPr id="19" name="TextBox 18"/>
            <p:cNvSpPr txBox="1"/>
            <p:nvPr/>
          </p:nvSpPr>
          <p:spPr>
            <a:xfrm>
              <a:off x="1259632" y="1772510"/>
              <a:ext cx="6840760" cy="132812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解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：（</a:t>
              </a:r>
              <a:r>
                <a:rPr lang="en-US" altLang="zh-CN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1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）</a:t>
              </a: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由   </a:t>
              </a:r>
              <a:r>
                <a:rPr lang="zh-CN" altLang="en-US" sz="2000" dirty="0" smtClean="0">
                  <a:solidFill>
                    <a:schemeClr val="tx1"/>
                  </a:solidFill>
                  <a:sym typeface="Wingdings" panose="05000000000000000000" pitchFamily="2" charset="2"/>
                </a:rPr>
                <a:t>                                  ，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得所有特征值为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2303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0164376"/>
                </p:ext>
              </p:extLst>
            </p:nvPr>
          </p:nvGraphicFramePr>
          <p:xfrm>
            <a:off x="2379025" y="1424283"/>
            <a:ext cx="4986161" cy="1144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6" name="Equation" r:id="rId5" imgW="3225800" imgH="711200" progId="Equation.DSMT4">
                    <p:embed/>
                  </p:oleObj>
                </mc:Choice>
                <mc:Fallback>
                  <p:oleObj name="Equation" r:id="rId5" imgW="32258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9025" y="1424283"/>
                          <a:ext cx="4986161" cy="1144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4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874823"/>
                </p:ext>
              </p:extLst>
            </p:nvPr>
          </p:nvGraphicFramePr>
          <p:xfrm>
            <a:off x="1775246" y="2735274"/>
            <a:ext cx="1296186" cy="449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7" name="Equation" r:id="rId7" imgW="761669" imgH="253890" progId="Equation.DSMT4">
                    <p:embed/>
                  </p:oleObj>
                </mc:Choice>
                <mc:Fallback>
                  <p:oleObj name="Equation" r:id="rId7" imgW="761669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5246" y="2735274"/>
                          <a:ext cx="1296186" cy="449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05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17379885"/>
                </p:ext>
              </p:extLst>
            </p:nvPr>
          </p:nvGraphicFramePr>
          <p:xfrm>
            <a:off x="4680012" y="2695821"/>
            <a:ext cx="2159070" cy="404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8" name="Equation" r:id="rId9" imgW="1270000" imgH="228600" progId="Equation.DSMT4">
                    <p:embed/>
                  </p:oleObj>
                </mc:Choice>
                <mc:Fallback>
                  <p:oleObj name="Equation" r:id="rId9" imgW="1270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0012" y="2695821"/>
                          <a:ext cx="2159070" cy="4048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8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0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sz="2000" dirty="0"/>
          </a:p>
        </p:txBody>
      </p:sp>
      <p:grpSp>
        <p:nvGrpSpPr>
          <p:cNvPr id="21" name="组合 20"/>
          <p:cNvGrpSpPr>
            <a:grpSpLocks/>
          </p:cNvGrpSpPr>
          <p:nvPr/>
        </p:nvGrpSpPr>
        <p:grpSpPr bwMode="auto">
          <a:xfrm>
            <a:off x="1102784" y="5573714"/>
            <a:ext cx="9120717" cy="663575"/>
            <a:chOff x="1259632" y="1772816"/>
            <a:chExt cx="6840760" cy="663584"/>
          </a:xfrm>
        </p:grpSpPr>
        <p:sp>
          <p:nvSpPr>
            <p:cNvPr id="22" name="TextBox 21"/>
            <p:cNvSpPr txBox="1"/>
            <p:nvPr/>
          </p:nvSpPr>
          <p:spPr>
            <a:xfrm>
              <a:off x="1259632" y="1772816"/>
              <a:ext cx="6840760" cy="6635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所以，   可相似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对角化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.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2301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9112897"/>
                </p:ext>
              </p:extLst>
            </p:nvPr>
          </p:nvGraphicFramePr>
          <p:xfrm>
            <a:off x="1807975" y="1837904"/>
            <a:ext cx="236546" cy="266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329" name="Equation" r:id="rId11" imgW="152268" imgH="164957" progId="Equation.DSMT4">
                    <p:embed/>
                  </p:oleObj>
                </mc:Choice>
                <mc:Fallback>
                  <p:oleObj name="Equation" r:id="rId11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7975" y="1837904"/>
                          <a:ext cx="236546" cy="266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45472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ChangeArrowheads="1"/>
          </p:cNvSpPr>
          <p:nvPr/>
        </p:nvSpPr>
        <p:spPr bwMode="auto">
          <a:xfrm>
            <a:off x="0" y="-4275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7110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6920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4348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100668" y="985838"/>
            <a:ext cx="9281582" cy="1192212"/>
            <a:chOff x="1259632" y="1403649"/>
            <a:chExt cx="6959964" cy="1192272"/>
          </a:xfrm>
        </p:grpSpPr>
        <p:sp>
          <p:nvSpPr>
            <p:cNvPr id="19" name="TextBox 18"/>
            <p:cNvSpPr txBox="1"/>
            <p:nvPr/>
          </p:nvSpPr>
          <p:spPr>
            <a:xfrm>
              <a:off x="1259632" y="1773555"/>
              <a:ext cx="6840923" cy="8223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 smtClean="0">
                  <a:solidFill>
                    <a:schemeClr val="tx1"/>
                  </a:solidFill>
                </a:rPr>
                <a:t>当   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3335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078619"/>
                </p:ext>
              </p:extLst>
            </p:nvPr>
          </p:nvGraphicFramePr>
          <p:xfrm>
            <a:off x="3036525" y="1403649"/>
            <a:ext cx="5183071" cy="11446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38" name="Equation" r:id="rId3" imgW="3352680" imgH="711000" progId="Equation.DSMT4">
                    <p:embed/>
                  </p:oleObj>
                </mc:Choice>
                <mc:Fallback>
                  <p:oleObj name="Equation" r:id="rId3" imgW="33526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6525" y="1403649"/>
                          <a:ext cx="5183071" cy="11446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对象 20"/>
            <p:cNvGraphicFramePr>
              <a:graphicFrameLocks noChangeAspect="1"/>
            </p:cNvGraphicFramePr>
            <p:nvPr/>
          </p:nvGraphicFramePr>
          <p:xfrm>
            <a:off x="1621043" y="1822764"/>
            <a:ext cx="755675" cy="314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39" name="Equation" r:id="rId5" imgW="444114" imgH="177646" progId="Equation.DSMT4">
                    <p:embed/>
                  </p:oleObj>
                </mc:Choice>
                <mc:Fallback>
                  <p:oleObj name="Equation" r:id="rId5" imgW="444114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21043" y="1822764"/>
                          <a:ext cx="755675" cy="314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321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20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sz="20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sz="2000" dirty="0"/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100667" y="2405063"/>
            <a:ext cx="9281582" cy="1192212"/>
            <a:chOff x="1259632" y="1403135"/>
            <a:chExt cx="6960706" cy="1192786"/>
          </a:xfrm>
        </p:grpSpPr>
        <p:sp>
          <p:nvSpPr>
            <p:cNvPr id="31" name="TextBox 30"/>
            <p:cNvSpPr txBox="1"/>
            <p:nvPr/>
          </p:nvSpPr>
          <p:spPr>
            <a:xfrm>
              <a:off x="1259632" y="1773200"/>
              <a:ext cx="6840066" cy="8227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 smtClean="0">
                  <a:solidFill>
                    <a:schemeClr val="tx1"/>
                  </a:solidFill>
                </a:rPr>
                <a:t>当  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3332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061239"/>
                </p:ext>
              </p:extLst>
            </p:nvPr>
          </p:nvGraphicFramePr>
          <p:xfrm>
            <a:off x="3037906" y="1403135"/>
            <a:ext cx="5182432" cy="1145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40" name="Equation" r:id="rId7" imgW="3352680" imgH="711000" progId="Equation.DSMT4">
                    <p:embed/>
                  </p:oleObj>
                </mc:Choice>
                <mc:Fallback>
                  <p:oleObj name="Equation" r:id="rId7" imgW="33526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7906" y="1403135"/>
                          <a:ext cx="5182432" cy="11451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3" name="对象 20"/>
            <p:cNvGraphicFramePr>
              <a:graphicFrameLocks noChangeAspect="1"/>
            </p:cNvGraphicFramePr>
            <p:nvPr/>
          </p:nvGraphicFramePr>
          <p:xfrm>
            <a:off x="1706597" y="1822241"/>
            <a:ext cx="582632" cy="314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41" name="Equation" r:id="rId9" imgW="342603" imgH="177646" progId="Equation.DSMT4">
                    <p:embed/>
                  </p:oleObj>
                </mc:Choice>
                <mc:Fallback>
                  <p:oleObj name="Equation" r:id="rId9" imgW="342603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597" y="1822241"/>
                          <a:ext cx="582632" cy="314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1100668" y="3922713"/>
            <a:ext cx="9332381" cy="1192212"/>
            <a:chOff x="1259632" y="1403702"/>
            <a:chExt cx="6998702" cy="1192219"/>
          </a:xfrm>
        </p:grpSpPr>
        <p:sp>
          <p:nvSpPr>
            <p:cNvPr id="36" name="TextBox 35"/>
            <p:cNvSpPr txBox="1"/>
            <p:nvPr/>
          </p:nvSpPr>
          <p:spPr>
            <a:xfrm>
              <a:off x="1259632" y="1773591"/>
              <a:ext cx="6839967" cy="8223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当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3329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6217541"/>
                </p:ext>
              </p:extLst>
            </p:nvPr>
          </p:nvGraphicFramePr>
          <p:xfrm>
            <a:off x="3096215" y="1403702"/>
            <a:ext cx="5162119" cy="1144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42" name="Equation" r:id="rId11" imgW="3340080" imgH="711000" progId="Equation.DSMT4">
                    <p:embed/>
                  </p:oleObj>
                </mc:Choice>
                <mc:Fallback>
                  <p:oleObj name="Equation" r:id="rId11" imgW="334008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6215" y="1403702"/>
                          <a:ext cx="5162119" cy="1144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0" name="对象 20"/>
            <p:cNvGraphicFramePr>
              <a:graphicFrameLocks noChangeAspect="1"/>
            </p:cNvGraphicFramePr>
            <p:nvPr/>
          </p:nvGraphicFramePr>
          <p:xfrm>
            <a:off x="1697071" y="1822808"/>
            <a:ext cx="603270" cy="314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43" name="Equation" r:id="rId13" imgW="355138" imgH="177569" progId="Equation.DSMT4">
                    <p:embed/>
                  </p:oleObj>
                </mc:Choice>
                <mc:Fallback>
                  <p:oleObj name="Equation" r:id="rId13" imgW="355138" imgH="177569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97071" y="1822808"/>
                          <a:ext cx="603270" cy="314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24" name="组合 1"/>
          <p:cNvGrpSpPr>
            <a:grpSpLocks/>
          </p:cNvGrpSpPr>
          <p:nvPr/>
        </p:nvGrpSpPr>
        <p:grpSpPr bwMode="auto">
          <a:xfrm>
            <a:off x="1100668" y="5231906"/>
            <a:ext cx="10555372" cy="1347470"/>
            <a:chOff x="644610" y="1006846"/>
            <a:chExt cx="7916122" cy="1345863"/>
          </a:xfrm>
        </p:grpSpPr>
        <p:sp>
          <p:nvSpPr>
            <p:cNvPr id="13325" name="Text Box 2"/>
            <p:cNvSpPr txBox="1">
              <a:spLocks noChangeArrowheads="1"/>
            </p:cNvSpPr>
            <p:nvPr/>
          </p:nvSpPr>
          <p:spPr bwMode="auto">
            <a:xfrm>
              <a:off x="644610" y="1363628"/>
              <a:ext cx="7200530" cy="553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/>
                <a:t>所以，存在</a:t>
              </a:r>
              <a:r>
                <a:rPr lang="zh-CN" altLang="en-US" sz="2000" dirty="0" smtClean="0"/>
                <a:t>可逆                                                     使得</a:t>
              </a:r>
              <a:endParaRPr lang="zh-CN" altLang="en-US" sz="2000" dirty="0"/>
            </a:p>
          </p:txBody>
        </p:sp>
        <p:graphicFrame>
          <p:nvGraphicFramePr>
            <p:cNvPr id="1332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0691293"/>
                </p:ext>
              </p:extLst>
            </p:nvPr>
          </p:nvGraphicFramePr>
          <p:xfrm>
            <a:off x="2137124" y="1087395"/>
            <a:ext cx="3449063" cy="1265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44" name="Equation" r:id="rId15" imgW="1917360" imgH="711000" progId="Equation.DSMT4">
                    <p:embed/>
                  </p:oleObj>
                </mc:Choice>
                <mc:Fallback>
                  <p:oleObj name="Equation" r:id="rId15" imgW="19173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7124" y="1087395"/>
                          <a:ext cx="3449063" cy="1265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3162106"/>
                </p:ext>
              </p:extLst>
            </p:nvPr>
          </p:nvGraphicFramePr>
          <p:xfrm>
            <a:off x="5957142" y="1006846"/>
            <a:ext cx="2603590" cy="126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545" name="Equation" r:id="rId17" imgW="1587500" imgH="711200" progId="Equation.DSMT4">
                    <p:embed/>
                  </p:oleObj>
                </mc:Choice>
                <mc:Fallback>
                  <p:oleObj name="Equation" r:id="rId17" imgW="15875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57142" y="1006846"/>
                          <a:ext cx="2603590" cy="1266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572216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ChangeArrowheads="1"/>
          </p:cNvSpPr>
          <p:nvPr/>
        </p:nvSpPr>
        <p:spPr bwMode="auto">
          <a:xfrm>
            <a:off x="0" y="1756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42952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4280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428097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988485" y="1268414"/>
            <a:ext cx="9120716" cy="1697037"/>
            <a:chOff x="1259632" y="1431293"/>
            <a:chExt cx="6840760" cy="1695987"/>
          </a:xfrm>
        </p:grpSpPr>
        <p:sp>
          <p:nvSpPr>
            <p:cNvPr id="19" name="TextBox 18"/>
            <p:cNvSpPr txBox="1"/>
            <p:nvPr/>
          </p:nvSpPr>
          <p:spPr>
            <a:xfrm>
              <a:off x="1259632" y="1772394"/>
              <a:ext cx="6840760" cy="13279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（</a:t>
              </a:r>
              <a:r>
                <a:rPr lang="en-US" altLang="zh-CN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2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）</a:t>
              </a: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r>
                <a:rPr lang="zh-CN" altLang="en-US" sz="2000" dirty="0" smtClean="0">
                  <a:solidFill>
                    <a:schemeClr val="tx1"/>
                  </a:solidFill>
                  <a:sym typeface="Wingdings" panose="05000000000000000000" pitchFamily="2" charset="2"/>
                </a:rPr>
                <a:t>由                                   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，得所有特征值为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4353" name="对象 19"/>
            <p:cNvGraphicFramePr>
              <a:graphicFrameLocks noChangeAspect="1"/>
            </p:cNvGraphicFramePr>
            <p:nvPr/>
          </p:nvGraphicFramePr>
          <p:xfrm>
            <a:off x="2128097" y="1431293"/>
            <a:ext cx="4475307" cy="1144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6" name="Equation" r:id="rId3" imgW="2895600" imgH="711200" progId="Equation.DSMT4">
                    <p:embed/>
                  </p:oleObj>
                </mc:Choice>
                <mc:Fallback>
                  <p:oleObj name="Equation" r:id="rId3" imgW="28956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8097" y="1431293"/>
                          <a:ext cx="4475307" cy="11446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4" name="对象 20"/>
            <p:cNvGraphicFramePr>
              <a:graphicFrameLocks noChangeAspect="1"/>
            </p:cNvGraphicFramePr>
            <p:nvPr/>
          </p:nvGraphicFramePr>
          <p:xfrm>
            <a:off x="1678047" y="2678011"/>
            <a:ext cx="1296186" cy="449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7" name="Equation" r:id="rId5" imgW="761669" imgH="253890" progId="Equation.DSMT4">
                    <p:embed/>
                  </p:oleObj>
                </mc:Choice>
                <mc:Fallback>
                  <p:oleObj name="Equation" r:id="rId5" imgW="761669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8047" y="2678011"/>
                          <a:ext cx="1296186" cy="449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55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1621518"/>
                </p:ext>
              </p:extLst>
            </p:nvPr>
          </p:nvGraphicFramePr>
          <p:xfrm>
            <a:off x="4642389" y="2695492"/>
            <a:ext cx="1835210" cy="404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8" name="Equation" r:id="rId7" imgW="1079280" imgH="228600" progId="Equation.DSMT4">
                    <p:embed/>
                  </p:oleObj>
                </mc:Choice>
                <mc:Fallback>
                  <p:oleObj name="Equation" r:id="rId7" imgW="1079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2389" y="2695492"/>
                          <a:ext cx="1835210" cy="4048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3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1295400" y="3336925"/>
            <a:ext cx="9120717" cy="1192213"/>
            <a:chOff x="1259632" y="1402745"/>
            <a:chExt cx="6840760" cy="1193176"/>
          </a:xfrm>
        </p:grpSpPr>
        <p:sp>
          <p:nvSpPr>
            <p:cNvPr id="29" name="TextBox 28"/>
            <p:cNvSpPr txBox="1"/>
            <p:nvPr/>
          </p:nvSpPr>
          <p:spPr>
            <a:xfrm>
              <a:off x="1259632" y="1772932"/>
              <a:ext cx="6840760" cy="8229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当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                时</a:t>
              </a:r>
              <a:r>
                <a:rPr lang="zh-CN" altLang="en-US" sz="2000" dirty="0">
                  <a:solidFill>
                    <a:schemeClr val="tx1"/>
                  </a:solidFill>
                </a:rPr>
                <a:t>，</a:t>
              </a:r>
            </a:p>
          </p:txBody>
        </p:sp>
        <p:graphicFrame>
          <p:nvGraphicFramePr>
            <p:cNvPr id="14348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6051935"/>
                </p:ext>
              </p:extLst>
            </p:nvPr>
          </p:nvGraphicFramePr>
          <p:xfrm>
            <a:off x="2792320" y="1402745"/>
            <a:ext cx="3612474" cy="11439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39" name="Equation" r:id="rId9" imgW="2336760" imgH="711000" progId="Equation.DSMT4">
                    <p:embed/>
                  </p:oleObj>
                </mc:Choice>
                <mc:Fallback>
                  <p:oleObj name="Equation" r:id="rId9" imgW="23367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2320" y="1402745"/>
                          <a:ext cx="3612474" cy="114392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49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8809538"/>
                </p:ext>
              </p:extLst>
            </p:nvPr>
          </p:nvGraphicFramePr>
          <p:xfrm>
            <a:off x="1571028" y="1844862"/>
            <a:ext cx="582632" cy="314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40" name="Equation" r:id="rId11" imgW="342603" imgH="177646" progId="Equation.DSMT4">
                    <p:embed/>
                  </p:oleObj>
                </mc:Choice>
                <mc:Fallback>
                  <p:oleObj name="Equation" r:id="rId11" imgW="342603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1028" y="1844862"/>
                          <a:ext cx="582632" cy="314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8849413" y="450371"/>
            <a:ext cx="24192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  <p:sp>
        <p:nvSpPr>
          <p:cNvPr id="2" name="椭圆形标注 1"/>
          <p:cNvSpPr/>
          <p:nvPr/>
        </p:nvSpPr>
        <p:spPr>
          <a:xfrm>
            <a:off x="6489922" y="2752578"/>
            <a:ext cx="3926195" cy="2200939"/>
          </a:xfrm>
          <a:prstGeom prst="wedgeEllipseCallout">
            <a:avLst>
              <a:gd name="adj1" fmla="val -45206"/>
              <a:gd name="adj2" fmla="val 43176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 smtClean="0"/>
              <a:t>特征值</a:t>
            </a:r>
            <a:r>
              <a:rPr lang="en-US" altLang="zh-CN" sz="3200" b="1" dirty="0" smtClean="0"/>
              <a:t>1</a:t>
            </a:r>
            <a:r>
              <a:rPr lang="zh-CN" altLang="en-US" sz="3200" b="1" dirty="0" smtClean="0"/>
              <a:t>的几何重复度小于其代数重复度</a:t>
            </a:r>
            <a:endParaRPr lang="zh-CN" altLang="en-US" sz="3200" b="1" dirty="0"/>
          </a:p>
        </p:txBody>
      </p:sp>
      <p:grpSp>
        <p:nvGrpSpPr>
          <p:cNvPr id="5" name="组合 4"/>
          <p:cNvGrpSpPr/>
          <p:nvPr/>
        </p:nvGrpSpPr>
        <p:grpSpPr>
          <a:xfrm>
            <a:off x="938322" y="4739019"/>
            <a:ext cx="9120717" cy="663575"/>
            <a:chOff x="938322" y="4739019"/>
            <a:chExt cx="9120717" cy="663575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938322" y="4739019"/>
              <a:ext cx="9120717" cy="66357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基础解系中只有一个向量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，所以，   不可</a:t>
              </a:r>
              <a:r>
                <a:rPr lang="zh-CN" altLang="en-US" sz="2000" dirty="0">
                  <a:solidFill>
                    <a:schemeClr val="tx1"/>
                  </a:solidFill>
                </a:rPr>
                <a:t>相似对角化</a:t>
              </a:r>
              <a:r>
                <a:rPr lang="en-US" altLang="zh-CN" sz="2000" dirty="0">
                  <a:solidFill>
                    <a:schemeClr val="tx1"/>
                  </a:solidFill>
                </a:rPr>
                <a:t>.</a:t>
              </a:r>
              <a:endParaRPr lang="zh-CN" altLang="en-US" sz="2000" dirty="0">
                <a:solidFill>
                  <a:schemeClr val="tx1"/>
                </a:solidFill>
              </a:endParaRPr>
            </a:p>
            <a:p>
              <a:pPr algn="l">
                <a:defRPr/>
              </a:pP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29770445"/>
                </p:ext>
              </p:extLst>
            </p:nvPr>
          </p:nvGraphicFramePr>
          <p:xfrm>
            <a:off x="4711996" y="4817342"/>
            <a:ext cx="251400" cy="272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441" name="Equation" r:id="rId13" imgW="152280" imgH="164880" progId="Equation.DSMT4">
                    <p:embed/>
                  </p:oleObj>
                </mc:Choice>
                <mc:Fallback>
                  <p:oleObj name="Equation" r:id="rId13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711996" y="4817342"/>
                          <a:ext cx="251400" cy="272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47946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组合 1"/>
          <p:cNvGrpSpPr>
            <a:grpSpLocks/>
          </p:cNvGrpSpPr>
          <p:nvPr/>
        </p:nvGrpSpPr>
        <p:grpSpPr bwMode="auto">
          <a:xfrm>
            <a:off x="1037167" y="1015693"/>
            <a:ext cx="9764184" cy="1162050"/>
            <a:chOff x="582613" y="1112202"/>
            <a:chExt cx="7322700" cy="1161916"/>
          </a:xfrm>
        </p:grpSpPr>
        <p:sp>
          <p:nvSpPr>
            <p:cNvPr id="15381" name="Text Box 2"/>
            <p:cNvSpPr txBox="1">
              <a:spLocks noChangeArrowheads="1"/>
            </p:cNvSpPr>
            <p:nvPr/>
          </p:nvSpPr>
          <p:spPr bwMode="auto">
            <a:xfrm>
              <a:off x="582613" y="1416193"/>
              <a:ext cx="7322700" cy="5539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>
                  <a:solidFill>
                    <a:schemeClr val="accent2"/>
                  </a:solidFill>
                </a:rPr>
                <a:t>例</a:t>
              </a:r>
              <a:r>
                <a:rPr lang="en-US" altLang="zh-CN" sz="2000" dirty="0" smtClean="0">
                  <a:solidFill>
                    <a:schemeClr val="accent2"/>
                  </a:solidFill>
                </a:rPr>
                <a:t>2  </a:t>
              </a:r>
              <a:r>
                <a:rPr lang="zh-CN" altLang="en-US" sz="2000" dirty="0" smtClean="0"/>
                <a:t>已知                         </a:t>
              </a:r>
              <a:r>
                <a:rPr lang="zh-CN" altLang="en-US" sz="2000" dirty="0"/>
                <a:t>，当   为何值时，   可相似对角化？</a:t>
              </a:r>
            </a:p>
          </p:txBody>
        </p:sp>
        <p:graphicFrame>
          <p:nvGraphicFramePr>
            <p:cNvPr id="15382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533667"/>
                </p:ext>
              </p:extLst>
            </p:nvPr>
          </p:nvGraphicFramePr>
          <p:xfrm>
            <a:off x="1518693" y="1112202"/>
            <a:ext cx="1579757" cy="1161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3" name="Equation" r:id="rId3" imgW="965160" imgH="711000" progId="Equation.DSMT4">
                    <p:embed/>
                  </p:oleObj>
                </mc:Choice>
                <mc:Fallback>
                  <p:oleObj name="Equation" r:id="rId3" imgW="9651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8693" y="1112202"/>
                          <a:ext cx="1579757" cy="11619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3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0123229"/>
                </p:ext>
              </p:extLst>
            </p:nvPr>
          </p:nvGraphicFramePr>
          <p:xfrm>
            <a:off x="3561887" y="1578873"/>
            <a:ext cx="206400" cy="228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4" name="Equation" r:id="rId5" imgW="126720" imgH="139680" progId="Equation.DSMT4">
                    <p:embed/>
                  </p:oleObj>
                </mc:Choice>
                <mc:Fallback>
                  <p:oleObj name="Equation" r:id="rId5" imgW="126720" imgH="139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1887" y="1578873"/>
                          <a:ext cx="206400" cy="2285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4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2614663"/>
                </p:ext>
              </p:extLst>
            </p:nvPr>
          </p:nvGraphicFramePr>
          <p:xfrm>
            <a:off x="4655302" y="1557444"/>
            <a:ext cx="247681" cy="271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5" name="Equation" r:id="rId7" imgW="152268" imgH="164957" progId="Equation.DSMT4">
                    <p:embed/>
                  </p:oleObj>
                </mc:Choice>
                <mc:Fallback>
                  <p:oleObj name="Equation" r:id="rId7" imgW="152268" imgH="164957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5302" y="1557444"/>
                          <a:ext cx="247681" cy="271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3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</a:endParaRPr>
          </a:p>
        </p:txBody>
      </p: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1116226" y="2109049"/>
            <a:ext cx="9120716" cy="1489187"/>
            <a:chOff x="1265356" y="1292502"/>
            <a:chExt cx="6840760" cy="1488884"/>
          </a:xfrm>
        </p:grpSpPr>
        <p:sp>
          <p:nvSpPr>
            <p:cNvPr id="19" name="TextBox 18"/>
            <p:cNvSpPr txBox="1"/>
            <p:nvPr/>
          </p:nvSpPr>
          <p:spPr>
            <a:xfrm>
              <a:off x="1265356" y="1454505"/>
              <a:ext cx="6840760" cy="13268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解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：</a:t>
              </a: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endParaRPr lang="en-US" altLang="zh-CN" sz="2000" dirty="0">
                <a:solidFill>
                  <a:schemeClr val="tx1"/>
                </a:solidFill>
                <a:sym typeface="Wingdings" panose="05000000000000000000" pitchFamily="2" charset="2"/>
              </a:endParaRPr>
            </a:p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由 </a:t>
              </a:r>
              <a:r>
                <a:rPr lang="zh-CN" altLang="en-US" sz="2000" dirty="0" smtClean="0">
                  <a:solidFill>
                    <a:schemeClr val="tx1"/>
                  </a:solidFill>
                  <a:sym typeface="Wingdings" panose="05000000000000000000" pitchFamily="2" charset="2"/>
                </a:rPr>
                <a:t>                                  </a:t>
              </a:r>
              <a:r>
                <a:rPr lang="zh-CN" altLang="en-US" sz="2000" dirty="0">
                  <a:solidFill>
                    <a:schemeClr val="tx1"/>
                  </a:solidFill>
                  <a:sym typeface="Wingdings" panose="05000000000000000000" pitchFamily="2" charset="2"/>
                </a:rPr>
                <a:t>，得所有特征值为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5378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88044349"/>
                </p:ext>
              </p:extLst>
            </p:nvPr>
          </p:nvGraphicFramePr>
          <p:xfrm>
            <a:off x="1898224" y="1292502"/>
            <a:ext cx="5693754" cy="1144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6" name="Equation" r:id="rId9" imgW="3682800" imgH="711000" progId="Equation.DSMT4">
                    <p:embed/>
                  </p:oleObj>
                </mc:Choice>
                <mc:Fallback>
                  <p:oleObj name="Equation" r:id="rId9" imgW="368280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98224" y="1292502"/>
                          <a:ext cx="5693754" cy="1144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9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1565598"/>
                </p:ext>
              </p:extLst>
            </p:nvPr>
          </p:nvGraphicFramePr>
          <p:xfrm>
            <a:off x="1646149" y="2332117"/>
            <a:ext cx="1296186" cy="449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7" name="Equation" r:id="rId11" imgW="761669" imgH="253890" progId="Equation.DSMT4">
                    <p:embed/>
                  </p:oleObj>
                </mc:Choice>
                <mc:Fallback>
                  <p:oleObj name="Equation" r:id="rId11" imgW="761669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149" y="2332117"/>
                          <a:ext cx="1296186" cy="449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80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5699556"/>
                </p:ext>
              </p:extLst>
            </p:nvPr>
          </p:nvGraphicFramePr>
          <p:xfrm>
            <a:off x="4685736" y="2376569"/>
            <a:ext cx="1965389" cy="4048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8" name="Equation" r:id="rId13" imgW="1155700" imgH="228600" progId="Equation.DSMT4">
                    <p:embed/>
                  </p:oleObj>
                </mc:Choice>
                <mc:Fallback>
                  <p:oleObj name="Equation" r:id="rId13" imgW="11557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5736" y="2376569"/>
                          <a:ext cx="1965389" cy="4048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8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r>
              <a:rPr lang="en-US" altLang="zh-CN" sz="2000" dirty="0" smtClean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4.3  </a:t>
            </a:r>
            <a:r>
              <a:rPr lang="zh-CN" altLang="en-US" sz="2000" dirty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矩阵相似对角化</a:t>
            </a: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358900" y="3532188"/>
            <a:ext cx="9120717" cy="1174750"/>
            <a:chOff x="1259632" y="1420987"/>
            <a:chExt cx="6840760" cy="1174934"/>
          </a:xfrm>
        </p:grpSpPr>
        <p:sp>
          <p:nvSpPr>
            <p:cNvPr id="31" name="TextBox 30"/>
            <p:cNvSpPr txBox="1"/>
            <p:nvPr/>
          </p:nvSpPr>
          <p:spPr>
            <a:xfrm>
              <a:off x="1259632" y="1773467"/>
              <a:ext cx="6840760" cy="8224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 smtClean="0">
                  <a:solidFill>
                    <a:schemeClr val="tx1"/>
                  </a:solidFill>
                </a:rPr>
                <a:t>当    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时，</a:t>
              </a:r>
            </a:p>
          </p:txBody>
        </p:sp>
        <p:graphicFrame>
          <p:nvGraphicFramePr>
            <p:cNvPr id="15375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1428787"/>
                </p:ext>
              </p:extLst>
            </p:nvPr>
          </p:nvGraphicFramePr>
          <p:xfrm>
            <a:off x="3098017" y="1420987"/>
            <a:ext cx="4004202" cy="11447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59" name="Equation" r:id="rId15" imgW="2590560" imgH="711000" progId="Equation.DSMT4">
                    <p:embed/>
                  </p:oleObj>
                </mc:Choice>
                <mc:Fallback>
                  <p:oleObj name="Equation" r:id="rId15" imgW="25905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8017" y="1420987"/>
                          <a:ext cx="4004202" cy="11447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6" name="对象 20"/>
            <p:cNvGraphicFramePr>
              <a:graphicFrameLocks noChangeAspect="1"/>
            </p:cNvGraphicFramePr>
            <p:nvPr/>
          </p:nvGraphicFramePr>
          <p:xfrm>
            <a:off x="1706597" y="1822241"/>
            <a:ext cx="582632" cy="314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60" name="Equation" r:id="rId17" imgW="342603" imgH="177646" progId="Equation.DSMT4">
                    <p:embed/>
                  </p:oleObj>
                </mc:Choice>
                <mc:Fallback>
                  <p:oleObj name="Equation" r:id="rId17" imgW="342603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6597" y="1822241"/>
                          <a:ext cx="582632" cy="314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>
            <a:grpSpLocks/>
          </p:cNvGrpSpPr>
          <p:nvPr/>
        </p:nvGrpSpPr>
        <p:grpSpPr bwMode="auto">
          <a:xfrm>
            <a:off x="1116226" y="4891604"/>
            <a:ext cx="10404643" cy="412751"/>
            <a:chOff x="1263451" y="1646407"/>
            <a:chExt cx="6840760" cy="411554"/>
          </a:xfrm>
        </p:grpSpPr>
        <p:sp>
          <p:nvSpPr>
            <p:cNvPr id="36" name="TextBox 35"/>
            <p:cNvSpPr txBox="1"/>
            <p:nvPr/>
          </p:nvSpPr>
          <p:spPr>
            <a:xfrm>
              <a:off x="1263451" y="1646407"/>
              <a:ext cx="6840760" cy="411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 algn="l">
                <a:defRPr/>
              </a:pPr>
              <a:r>
                <a:rPr lang="zh-CN" altLang="en-US" sz="2000" dirty="0">
                  <a:solidFill>
                    <a:schemeClr val="tx1"/>
                  </a:solidFill>
                </a:rPr>
                <a:t>所以，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当           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时， 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                      基础解系                                              ， </a:t>
              </a:r>
              <a:r>
                <a:rPr lang="zh-CN" altLang="en-US" sz="2000" dirty="0">
                  <a:solidFill>
                    <a:schemeClr val="tx1"/>
                  </a:solidFill>
                </a:rPr>
                <a:t>可相似</a:t>
              </a:r>
              <a:r>
                <a:rPr lang="zh-CN" altLang="en-US" sz="2000" dirty="0" smtClean="0">
                  <a:solidFill>
                    <a:schemeClr val="tx1"/>
                  </a:solidFill>
                </a:rPr>
                <a:t>对角化</a:t>
              </a:r>
              <a:r>
                <a:rPr lang="en-US" altLang="zh-CN" sz="2000" dirty="0" smtClean="0">
                  <a:solidFill>
                    <a:schemeClr val="tx1"/>
                  </a:solidFill>
                </a:rPr>
                <a:t>.</a:t>
              </a:r>
              <a:endParaRPr lang="zh-CN" altLang="en-US" sz="2000" dirty="0">
                <a:solidFill>
                  <a:schemeClr val="tx1"/>
                </a:solidFill>
              </a:endParaRPr>
            </a:p>
          </p:txBody>
        </p:sp>
        <p:graphicFrame>
          <p:nvGraphicFramePr>
            <p:cNvPr id="15372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8192774"/>
                </p:ext>
              </p:extLst>
            </p:nvPr>
          </p:nvGraphicFramePr>
          <p:xfrm>
            <a:off x="2009776" y="1744548"/>
            <a:ext cx="754881" cy="313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61" name="Equation" r:id="rId19" imgW="444240" imgH="177480" progId="Equation.DSMT4">
                    <p:embed/>
                  </p:oleObj>
                </mc:Choice>
                <mc:Fallback>
                  <p:oleObj name="Equation" r:id="rId19" imgW="4442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776" y="1744548"/>
                          <a:ext cx="754881" cy="313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3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8122985"/>
                </p:ext>
              </p:extLst>
            </p:nvPr>
          </p:nvGraphicFramePr>
          <p:xfrm>
            <a:off x="2995302" y="1744548"/>
            <a:ext cx="1012064" cy="3134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062" name="Equation" r:id="rId21" imgW="596880" imgH="203040" progId="Equation.DSMT4">
                    <p:embed/>
                  </p:oleObj>
                </mc:Choice>
                <mc:Fallback>
                  <p:oleObj name="Equation" r:id="rId21" imgW="59688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302" y="1744548"/>
                          <a:ext cx="1012064" cy="3134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307017"/>
              </p:ext>
            </p:extLst>
          </p:nvPr>
        </p:nvGraphicFramePr>
        <p:xfrm>
          <a:off x="6318547" y="4547910"/>
          <a:ext cx="264160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3" name="Equation" r:id="rId23" imgW="1168200" imgH="711000" progId="Equation.DSMT4">
                  <p:embed/>
                </p:oleObj>
              </mc:Choice>
              <mc:Fallback>
                <p:oleObj name="Equation" r:id="rId23" imgW="116820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547" y="4547910"/>
                        <a:ext cx="264160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572741"/>
              </p:ext>
            </p:extLst>
          </p:nvPr>
        </p:nvGraphicFramePr>
        <p:xfrm>
          <a:off x="8973879" y="4937038"/>
          <a:ext cx="297121" cy="321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4" name="Equation" r:id="rId25" imgW="152280" imgH="164880" progId="Equation.DSMT4">
                  <p:embed/>
                </p:oleObj>
              </mc:Choice>
              <mc:Fallback>
                <p:oleObj name="Equation" r:id="rId25" imgW="15228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973879" y="4937038"/>
                        <a:ext cx="297121" cy="321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740626"/>
              </p:ext>
            </p:extLst>
          </p:nvPr>
        </p:nvGraphicFramePr>
        <p:xfrm>
          <a:off x="1685295" y="5578475"/>
          <a:ext cx="10064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5" name="Equation" r:id="rId27" imgW="444240" imgH="177480" progId="Equation.DSMT4">
                  <p:embed/>
                </p:oleObj>
              </mc:Choice>
              <mc:Fallback>
                <p:oleObj name="Equation" r:id="rId27" imgW="4442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5295" y="5578475"/>
                        <a:ext cx="10064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Box 31"/>
          <p:cNvSpPr txBox="1"/>
          <p:nvPr/>
        </p:nvSpPr>
        <p:spPr bwMode="auto">
          <a:xfrm>
            <a:off x="1162467" y="5574969"/>
            <a:ext cx="7052943" cy="5458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l">
              <a:defRPr/>
            </a:pPr>
            <a:r>
              <a:rPr lang="zh-CN" altLang="en-US" sz="2000" dirty="0" smtClean="0">
                <a:solidFill>
                  <a:schemeClr val="tx1"/>
                </a:solidFill>
              </a:rPr>
              <a:t>当                        时，解                           得基础解系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606018"/>
              </p:ext>
            </p:extLst>
          </p:nvPr>
        </p:nvGraphicFramePr>
        <p:xfrm>
          <a:off x="3710466" y="5662205"/>
          <a:ext cx="1432515" cy="327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6" name="Equation" r:id="rId29" imgW="888840" imgH="203040" progId="Equation.DSMT4">
                  <p:embed/>
                </p:oleObj>
              </mc:Choice>
              <mc:Fallback>
                <p:oleObj name="Equation" r:id="rId29" imgW="8888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710466" y="5662205"/>
                        <a:ext cx="1432515" cy="327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898789"/>
              </p:ext>
            </p:extLst>
          </p:nvPr>
        </p:nvGraphicFramePr>
        <p:xfrm>
          <a:off x="6414240" y="5261825"/>
          <a:ext cx="1579563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7" name="Equation" r:id="rId31" imgW="698400" imgH="711000" progId="Equation.DSMT4">
                  <p:embed/>
                </p:oleObj>
              </mc:Choice>
              <mc:Fallback>
                <p:oleObj name="Equation" r:id="rId31" imgW="698400" imgH="7110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4240" y="5261825"/>
                        <a:ext cx="1579563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8695733"/>
              </p:ext>
            </p:extLst>
          </p:nvPr>
        </p:nvGraphicFramePr>
        <p:xfrm>
          <a:off x="2044700" y="6324600"/>
          <a:ext cx="7007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068" name="Equation" r:id="rId33" imgW="3098520" imgH="253800" progId="Equation.DSMT4">
                  <p:embed/>
                </p:oleObj>
              </mc:Choice>
              <mc:Fallback>
                <p:oleObj name="Equation" r:id="rId33" imgW="3098520" imgH="253800" progId="Equation.DSMT4">
                  <p:embed/>
                  <p:pic>
                    <p:nvPicPr>
                      <p:cNvPr id="0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4700" y="6324600"/>
                        <a:ext cx="70072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8147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1202317" y="1373854"/>
            <a:ext cx="10515600" cy="625068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b="1" dirty="0" smtClean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例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3  </a:t>
            </a:r>
            <a:r>
              <a:rPr lang="zh-CN" altLang="en-US" sz="2800" dirty="0" smtClean="0">
                <a:latin typeface="+mn-ea"/>
                <a:ea typeface="+mn-ea"/>
              </a:rPr>
              <a:t>已知              求</a:t>
            </a:r>
            <a:endParaRPr lang="zh-CN" altLang="en-US" sz="2800" dirty="0">
              <a:latin typeface="+mn-ea"/>
              <a:ea typeface="+mn-ea"/>
            </a:endParaRPr>
          </a:p>
        </p:txBody>
      </p:sp>
      <p:graphicFrame>
        <p:nvGraphicFramePr>
          <p:cNvPr id="4" name="对象 1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431399"/>
              </p:ext>
            </p:extLst>
          </p:nvPr>
        </p:nvGraphicFramePr>
        <p:xfrm>
          <a:off x="6535738" y="1309688"/>
          <a:ext cx="4157662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1" name="Equation" r:id="rId3" imgW="2501640" imgH="457200" progId="Equation.DSMT4">
                  <p:embed/>
                </p:oleObj>
              </mc:Choice>
              <mc:Fallback>
                <p:oleObj name="Equation" r:id="rId3" imgW="2501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1309688"/>
                        <a:ext cx="4157662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2654313"/>
              </p:ext>
            </p:extLst>
          </p:nvPr>
        </p:nvGraphicFramePr>
        <p:xfrm>
          <a:off x="2915129" y="1280373"/>
          <a:ext cx="223837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2" name="Equation" r:id="rId5" imgW="876240" imgH="457200" progId="Equation.DSMT4">
                  <p:embed/>
                </p:oleObj>
              </mc:Choice>
              <mc:Fallback>
                <p:oleObj name="Equation" r:id="rId5" imgW="8762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129" y="1280373"/>
                        <a:ext cx="2238375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766986"/>
              </p:ext>
            </p:extLst>
          </p:nvPr>
        </p:nvGraphicFramePr>
        <p:xfrm>
          <a:off x="5826937" y="1497639"/>
          <a:ext cx="57785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3" name="Equation" r:id="rId7" imgW="241200" imgH="203040" progId="Equation.DSMT4">
                  <p:embed/>
                </p:oleObj>
              </mc:Choice>
              <mc:Fallback>
                <p:oleObj name="Equation" r:id="rId7" imgW="2412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26937" y="1497639"/>
                        <a:ext cx="577850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147021"/>
              </p:ext>
            </p:extLst>
          </p:nvPr>
        </p:nvGraphicFramePr>
        <p:xfrm>
          <a:off x="887413" y="2403475"/>
          <a:ext cx="66484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4" name="Equation" r:id="rId9" imgW="3225600" imgH="457200" progId="Equation.DSMT4">
                  <p:embed/>
                </p:oleObj>
              </mc:Choice>
              <mc:Fallback>
                <p:oleObj name="Equation" r:id="rId9" imgW="3225600" imgH="457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2403475"/>
                        <a:ext cx="66484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219753"/>
              </p:ext>
            </p:extLst>
          </p:nvPr>
        </p:nvGraphicFramePr>
        <p:xfrm>
          <a:off x="7926388" y="2578100"/>
          <a:ext cx="21875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5" name="Equation" r:id="rId11" imgW="965160" imgH="228600" progId="Equation.DSMT4">
                  <p:embed/>
                </p:oleObj>
              </mc:Choice>
              <mc:Fallback>
                <p:oleObj name="Equation" r:id="rId11" imgW="965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6388" y="2578100"/>
                        <a:ext cx="21875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931502"/>
              </p:ext>
            </p:extLst>
          </p:nvPr>
        </p:nvGraphicFramePr>
        <p:xfrm>
          <a:off x="825648" y="3263568"/>
          <a:ext cx="59166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6" name="Equation" r:id="rId13" imgW="2869920" imgH="457200" progId="Equation.DSMT4">
                  <p:embed/>
                </p:oleObj>
              </mc:Choice>
              <mc:Fallback>
                <p:oleObj name="Equation" r:id="rId13" imgW="2869920" imgH="457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648" y="3263568"/>
                        <a:ext cx="59166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387839"/>
              </p:ext>
            </p:extLst>
          </p:nvPr>
        </p:nvGraphicFramePr>
        <p:xfrm>
          <a:off x="844514" y="3957970"/>
          <a:ext cx="5969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7" name="Equation" r:id="rId15" imgW="2895480" imgH="457200" progId="Equation.DSMT4">
                  <p:embed/>
                </p:oleObj>
              </mc:Choice>
              <mc:Fallback>
                <p:oleObj name="Equation" r:id="rId15" imgW="2895480" imgH="4572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14" y="3957970"/>
                        <a:ext cx="5969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545238"/>
              </p:ext>
            </p:extLst>
          </p:nvPr>
        </p:nvGraphicFramePr>
        <p:xfrm>
          <a:off x="1105233" y="4735624"/>
          <a:ext cx="404336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8" name="Equation" r:id="rId17" imgW="2019240" imgH="457200" progId="Equation.DSMT4">
                  <p:embed/>
                </p:oleObj>
              </mc:Choice>
              <mc:Fallback>
                <p:oleObj name="Equation" r:id="rId17" imgW="2019240" imgH="4572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5233" y="4735624"/>
                        <a:ext cx="404336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0305322"/>
              </p:ext>
            </p:extLst>
          </p:nvPr>
        </p:nvGraphicFramePr>
        <p:xfrm>
          <a:off x="998538" y="5664200"/>
          <a:ext cx="4221162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09" name="Equation" r:id="rId19" imgW="2108160" imgH="457200" progId="Equation.DSMT4">
                  <p:embed/>
                </p:oleObj>
              </mc:Choice>
              <mc:Fallback>
                <p:oleObj name="Equation" r:id="rId19" imgW="2108160" imgH="45720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8538" y="5664200"/>
                        <a:ext cx="4221162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494193"/>
              </p:ext>
            </p:extLst>
          </p:nvPr>
        </p:nvGraphicFramePr>
        <p:xfrm>
          <a:off x="6729192" y="3730146"/>
          <a:ext cx="4346575" cy="171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610" name="Equation" r:id="rId21" imgW="2171520" imgH="990360" progId="Equation.DSMT4">
                  <p:embed/>
                </p:oleObj>
              </mc:Choice>
              <mc:Fallback>
                <p:oleObj name="Equation" r:id="rId21" imgW="2171520" imgH="99036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9192" y="3730146"/>
                        <a:ext cx="4346575" cy="171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8614557" y="447971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45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901207" y="1332522"/>
            <a:ext cx="9601200" cy="1355725"/>
            <a:chOff x="1043608" y="1295038"/>
            <a:chExt cx="7200800" cy="1355727"/>
          </a:xfrm>
        </p:grpSpPr>
        <p:sp>
          <p:nvSpPr>
            <p:cNvPr id="11" name="TextBox 10"/>
            <p:cNvSpPr txBox="1"/>
            <p:nvPr/>
          </p:nvSpPr>
          <p:spPr>
            <a:xfrm>
              <a:off x="1043608" y="1742530"/>
              <a:ext cx="7200800" cy="4619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r>
                <a:rPr lang="zh-CN" altLang="en-US" sz="2400" dirty="0" smtClean="0">
                  <a:solidFill>
                    <a:schemeClr val="accent2">
                      <a:lumMod val="75000"/>
                    </a:schemeClr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>
                      <a:lumMod val="75000"/>
                    </a:schemeClr>
                  </a:solidFill>
                </a:rPr>
                <a:t>4 </a:t>
              </a:r>
              <a:r>
                <a:rPr lang="zh-CN" altLang="en-US" sz="2400" dirty="0" smtClean="0"/>
                <a:t>   已知                                               </a:t>
              </a:r>
              <a:r>
                <a:rPr lang="zh-CN" altLang="en-US" sz="2400" dirty="0"/>
                <a:t>，求</a:t>
              </a:r>
            </a:p>
          </p:txBody>
        </p:sp>
        <p:graphicFrame>
          <p:nvGraphicFramePr>
            <p:cNvPr id="411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94906429"/>
                </p:ext>
              </p:extLst>
            </p:nvPr>
          </p:nvGraphicFramePr>
          <p:xfrm>
            <a:off x="2201277" y="1295038"/>
            <a:ext cx="2288349" cy="1355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52" name="Equation" r:id="rId4" imgW="1193760" imgH="711000" progId="Equation.DSMT4">
                    <p:embed/>
                  </p:oleObj>
                </mc:Choice>
                <mc:Fallback>
                  <p:oleObj name="Equation" r:id="rId4" imgW="11937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1277" y="1295038"/>
                          <a:ext cx="2288349" cy="13557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4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5573205"/>
                </p:ext>
              </p:extLst>
            </p:nvPr>
          </p:nvGraphicFramePr>
          <p:xfrm>
            <a:off x="4968753" y="1709193"/>
            <a:ext cx="1676377" cy="495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553" name="Equation" r:id="rId6" imgW="876240" imgH="228600" progId="Equation.DSMT4">
                    <p:embed/>
                  </p:oleObj>
                </mc:Choice>
                <mc:Fallback>
                  <p:oleObj name="Equation" r:id="rId6" imgW="8762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753" y="1709193"/>
                          <a:ext cx="1676377" cy="495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0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72469"/>
              </p:ext>
            </p:extLst>
          </p:nvPr>
        </p:nvGraphicFramePr>
        <p:xfrm>
          <a:off x="7083167" y="3372958"/>
          <a:ext cx="3330575" cy="308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4" name="Equation" r:id="rId8" imgW="1663560" imgH="1777680" progId="Equation.DSMT4">
                  <p:embed/>
                </p:oleObj>
              </mc:Choice>
              <mc:Fallback>
                <p:oleObj name="Equation" r:id="rId8" imgW="1663560" imgH="1777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3167" y="3372958"/>
                        <a:ext cx="3330575" cy="308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247063"/>
              </p:ext>
            </p:extLst>
          </p:nvPr>
        </p:nvGraphicFramePr>
        <p:xfrm>
          <a:off x="701786" y="2993065"/>
          <a:ext cx="42672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5" name="Equation" r:id="rId10" imgW="2070000" imgH="253800" progId="Equation.DSMT4">
                  <p:embed/>
                </p:oleObj>
              </mc:Choice>
              <mc:Fallback>
                <p:oleObj name="Equation" r:id="rId10" imgW="20700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786" y="2993065"/>
                        <a:ext cx="42672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197186"/>
              </p:ext>
            </p:extLst>
          </p:nvPr>
        </p:nvGraphicFramePr>
        <p:xfrm>
          <a:off x="5177932" y="3004030"/>
          <a:ext cx="53244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6" name="Equation" r:id="rId12" imgW="2349360" imgH="228600" progId="Equation.DSMT4">
                  <p:embed/>
                </p:oleObj>
              </mc:Choice>
              <mc:Fallback>
                <p:oleObj name="Equation" r:id="rId12" imgW="23493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7932" y="3004030"/>
                        <a:ext cx="53244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855734"/>
              </p:ext>
            </p:extLst>
          </p:nvPr>
        </p:nvGraphicFramePr>
        <p:xfrm>
          <a:off x="534386" y="3549279"/>
          <a:ext cx="6467476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7" name="Equation" r:id="rId14" imgW="3136680" imgH="711000" progId="Equation.DSMT4">
                  <p:embed/>
                </p:oleObj>
              </mc:Choice>
              <mc:Fallback>
                <p:oleObj name="Equation" r:id="rId14" imgW="31366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86" y="3549279"/>
                        <a:ext cx="6467476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83909"/>
              </p:ext>
            </p:extLst>
          </p:nvPr>
        </p:nvGraphicFramePr>
        <p:xfrm>
          <a:off x="274748" y="4598877"/>
          <a:ext cx="6987289" cy="19434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58" name="Equation" r:id="rId16" imgW="3797280" imgH="1218960" progId="Equation.DSMT4">
                  <p:embed/>
                </p:oleObj>
              </mc:Choice>
              <mc:Fallback>
                <p:oleObj name="Equation" r:id="rId16" imgW="3797280" imgH="1218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48" y="4598877"/>
                        <a:ext cx="6987289" cy="19434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370007" y="501134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3742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616688" y="1339702"/>
            <a:ext cx="9992045" cy="1348545"/>
            <a:chOff x="1043608" y="1295647"/>
            <a:chExt cx="7200800" cy="1355727"/>
          </a:xfrm>
        </p:grpSpPr>
        <p:sp>
          <p:nvSpPr>
            <p:cNvPr id="11" name="TextBox 10"/>
            <p:cNvSpPr txBox="1"/>
            <p:nvPr/>
          </p:nvSpPr>
          <p:spPr>
            <a:xfrm>
              <a:off x="1043608" y="1742530"/>
              <a:ext cx="7200800" cy="4619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r>
                <a:rPr lang="zh-CN" altLang="en-US" sz="2400" b="1" dirty="0" smtClean="0">
                  <a:solidFill>
                    <a:srgbClr val="FF0000"/>
                  </a:solidFill>
                </a:rPr>
                <a:t>练习：</a:t>
              </a:r>
              <a:r>
                <a:rPr lang="zh-CN" altLang="en-US" sz="2400" dirty="0" smtClean="0"/>
                <a:t>已知                                               </a:t>
              </a:r>
              <a:r>
                <a:rPr lang="zh-CN" altLang="en-US" sz="2400" dirty="0"/>
                <a:t>，求</a:t>
              </a:r>
            </a:p>
          </p:txBody>
        </p:sp>
        <p:graphicFrame>
          <p:nvGraphicFramePr>
            <p:cNvPr id="411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520926"/>
                </p:ext>
              </p:extLst>
            </p:nvPr>
          </p:nvGraphicFramePr>
          <p:xfrm>
            <a:off x="2261915" y="1295647"/>
            <a:ext cx="2166907" cy="1355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31" name="Equation" r:id="rId4" imgW="1130040" imgH="711000" progId="Equation.DSMT4">
                    <p:embed/>
                  </p:oleObj>
                </mc:Choice>
                <mc:Fallback>
                  <p:oleObj name="Equation" r:id="rId4" imgW="113004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1915" y="1295647"/>
                          <a:ext cx="2166907" cy="13557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14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0303328"/>
                </p:ext>
              </p:extLst>
            </p:nvPr>
          </p:nvGraphicFramePr>
          <p:xfrm>
            <a:off x="5077787" y="1780149"/>
            <a:ext cx="534583" cy="387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32" name="Equation" r:id="rId6" imgW="279360" imgH="203040" progId="Equation.DSMT4">
                    <p:embed/>
                  </p:oleObj>
                </mc:Choice>
                <mc:Fallback>
                  <p:oleObj name="Equation" r:id="rId6" imgW="27936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7787" y="1780149"/>
                          <a:ext cx="534583" cy="387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0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8399801"/>
              </p:ext>
            </p:extLst>
          </p:nvPr>
        </p:nvGraphicFramePr>
        <p:xfrm>
          <a:off x="7886292" y="3318135"/>
          <a:ext cx="3330575" cy="251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3" name="Equation" r:id="rId8" imgW="1663560" imgH="1447560" progId="Equation.DSMT4">
                  <p:embed/>
                </p:oleObj>
              </mc:Choice>
              <mc:Fallback>
                <p:oleObj name="Equation" r:id="rId8" imgW="1663560" imgH="1447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292" y="3318135"/>
                        <a:ext cx="3330575" cy="251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1942081"/>
              </p:ext>
            </p:extLst>
          </p:nvPr>
        </p:nvGraphicFramePr>
        <p:xfrm>
          <a:off x="735974" y="2615324"/>
          <a:ext cx="531336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4" name="Equation" r:id="rId10" imgW="2577960" imgH="711000" progId="Equation.DSMT4">
                  <p:embed/>
                </p:oleObj>
              </mc:Choice>
              <mc:Fallback>
                <p:oleObj name="Equation" r:id="rId10" imgW="25779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74" y="2615324"/>
                        <a:ext cx="5313362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/>
          <p:cNvGrpSpPr/>
          <p:nvPr/>
        </p:nvGrpSpPr>
        <p:grpSpPr>
          <a:xfrm>
            <a:off x="428061" y="3905975"/>
            <a:ext cx="6695814" cy="449547"/>
            <a:chOff x="428061" y="3905975"/>
            <a:chExt cx="6695814" cy="449547"/>
          </a:xfrm>
        </p:grpSpPr>
        <p:sp>
          <p:nvSpPr>
            <p:cNvPr id="3" name="矩形 2"/>
            <p:cNvSpPr/>
            <p:nvPr/>
          </p:nvSpPr>
          <p:spPr>
            <a:xfrm>
              <a:off x="428061" y="3946083"/>
              <a:ext cx="437812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dirty="0">
                  <a:sym typeface="Wingdings" panose="05000000000000000000" pitchFamily="2" charset="2"/>
                </a:rPr>
                <a:t>由                                     </a:t>
              </a:r>
              <a:r>
                <a:rPr lang="zh-CN" altLang="en-US" dirty="0" smtClean="0">
                  <a:sym typeface="Wingdings" panose="05000000000000000000" pitchFamily="2" charset="2"/>
                </a:rPr>
                <a:t> </a:t>
              </a:r>
              <a:r>
                <a:rPr lang="zh-CN" altLang="en-US" dirty="0">
                  <a:sym typeface="Wingdings" panose="05000000000000000000" pitchFamily="2" charset="2"/>
                </a:rPr>
                <a:t>，得所有特征值为</a:t>
              </a:r>
              <a:endParaRPr lang="zh-CN" altLang="en-US" dirty="0"/>
            </a:p>
          </p:txBody>
        </p:sp>
        <p:graphicFrame>
          <p:nvGraphicFramePr>
            <p:cNvPr id="20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30855686"/>
                </p:ext>
              </p:extLst>
            </p:nvPr>
          </p:nvGraphicFramePr>
          <p:xfrm>
            <a:off x="994728" y="3905975"/>
            <a:ext cx="1728192" cy="4495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35" name="Equation" r:id="rId12" imgW="761669" imgH="253890" progId="Equation.DSMT4">
                    <p:embed/>
                  </p:oleObj>
                </mc:Choice>
                <mc:Fallback>
                  <p:oleObj name="Equation" r:id="rId12" imgW="761669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4728" y="3905975"/>
                          <a:ext cx="1728192" cy="4495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7767401"/>
                </p:ext>
              </p:extLst>
            </p:nvPr>
          </p:nvGraphicFramePr>
          <p:xfrm>
            <a:off x="4677537" y="3912190"/>
            <a:ext cx="2446338" cy="403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36" name="Equation" r:id="rId14" imgW="1079280" imgH="228600" progId="Equation.DSMT4">
                    <p:embed/>
                  </p:oleObj>
                </mc:Choice>
                <mc:Fallback>
                  <p:oleObj name="Equation" r:id="rId14" imgW="1079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7537" y="3912190"/>
                          <a:ext cx="2446338" cy="403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1528095"/>
              </p:ext>
            </p:extLst>
          </p:nvPr>
        </p:nvGraphicFramePr>
        <p:xfrm>
          <a:off x="570713" y="4315415"/>
          <a:ext cx="510540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7" name="Equation" r:id="rId16" imgW="2476440" imgH="711000" progId="Equation.DSMT4">
                  <p:embed/>
                </p:oleObj>
              </mc:Choice>
              <mc:Fallback>
                <p:oleObj name="Equation" r:id="rId16" imgW="24764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13" y="4315415"/>
                        <a:ext cx="5105400" cy="1144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009987"/>
              </p:ext>
            </p:extLst>
          </p:nvPr>
        </p:nvGraphicFramePr>
        <p:xfrm>
          <a:off x="616688" y="5243623"/>
          <a:ext cx="6991350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8" name="Equation" r:id="rId18" imgW="3390840" imgH="711000" progId="Equation.DSMT4">
                  <p:embed/>
                </p:oleObj>
              </mc:Choice>
              <mc:Fallback>
                <p:oleObj name="Equation" r:id="rId18" imgW="33908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688" y="5243623"/>
                        <a:ext cx="6991350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389710"/>
              </p:ext>
            </p:extLst>
          </p:nvPr>
        </p:nvGraphicFramePr>
        <p:xfrm>
          <a:off x="7046101" y="1486712"/>
          <a:ext cx="4729162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9" name="Equation" r:id="rId20" imgW="2361960" imgH="711000" progId="Equation.DSMT4">
                  <p:embed/>
                </p:oleObj>
              </mc:Choice>
              <mc:Fallback>
                <p:oleObj name="Equation" r:id="rId20" imgW="23619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101" y="1486712"/>
                        <a:ext cx="4729162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8370007" y="501134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3114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-143933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01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1007533" y="1247775"/>
            <a:ext cx="9601200" cy="2016230"/>
            <a:chOff x="1043608" y="1295960"/>
            <a:chExt cx="7200800" cy="2016232"/>
          </a:xfrm>
        </p:grpSpPr>
        <p:sp>
          <p:nvSpPr>
            <p:cNvPr id="11" name="TextBox 10"/>
            <p:cNvSpPr txBox="1"/>
            <p:nvPr/>
          </p:nvSpPr>
          <p:spPr>
            <a:xfrm>
              <a:off x="1043608" y="1742530"/>
              <a:ext cx="7200800" cy="156966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r>
                <a:rPr lang="zh-CN" altLang="en-US" sz="2400" dirty="0" smtClean="0">
                  <a:solidFill>
                    <a:schemeClr val="accent2">
                      <a:lumMod val="75000"/>
                    </a:schemeClr>
                  </a:solidFill>
                </a:rPr>
                <a:t>例</a:t>
              </a:r>
              <a:r>
                <a:rPr lang="en-US" altLang="zh-CN" sz="2400" dirty="0" smtClean="0">
                  <a:solidFill>
                    <a:schemeClr val="accent2">
                      <a:lumMod val="75000"/>
                    </a:schemeClr>
                  </a:solidFill>
                </a:rPr>
                <a:t>5</a:t>
              </a:r>
              <a:r>
                <a:rPr lang="zh-CN" altLang="en-US" sz="2400" dirty="0"/>
                <a:t> </a:t>
              </a:r>
              <a:r>
                <a:rPr lang="zh-CN" altLang="en-US" sz="2400" dirty="0" smtClean="0"/>
                <a:t>  设              是矩阵                                              的一个特征向量  ，</a:t>
              </a:r>
              <a:endParaRPr lang="en-US" altLang="zh-CN" sz="2400" dirty="0" smtClean="0"/>
            </a:p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endParaRPr lang="en-US" altLang="zh-CN" sz="2400" dirty="0"/>
            </a:p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endParaRPr lang="en-US" altLang="zh-CN" sz="2400" dirty="0" smtClean="0"/>
            </a:p>
            <a:p>
              <a:pPr algn="l">
                <a:buClr>
                  <a:schemeClr val="accent6">
                    <a:lumMod val="60000"/>
                    <a:lumOff val="40000"/>
                  </a:schemeClr>
                </a:buClr>
                <a:defRPr/>
              </a:pPr>
              <a:r>
                <a:rPr lang="zh-CN" altLang="en-US" sz="2400" dirty="0" smtClean="0"/>
                <a:t>求             的值及对应的特征值，并判断可否对角化</a:t>
              </a:r>
              <a:r>
                <a:rPr lang="en-US" altLang="zh-CN" sz="2400" dirty="0" smtClean="0"/>
                <a:t>.</a:t>
              </a:r>
              <a:endParaRPr lang="zh-CN" altLang="en-US" sz="2400" dirty="0"/>
            </a:p>
          </p:txBody>
        </p:sp>
        <p:graphicFrame>
          <p:nvGraphicFramePr>
            <p:cNvPr id="411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75102838"/>
                </p:ext>
              </p:extLst>
            </p:nvPr>
          </p:nvGraphicFramePr>
          <p:xfrm>
            <a:off x="3245440" y="1295960"/>
            <a:ext cx="2289540" cy="13557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9422" name="Equation" r:id="rId4" imgW="1193760" imgH="711000" progId="Equation.DSMT4">
                    <p:embed/>
                  </p:oleObj>
                </mc:Choice>
                <mc:Fallback>
                  <p:oleObj name="Equation" r:id="rId4" imgW="1193760" imgH="71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5440" y="1295960"/>
                          <a:ext cx="2289540" cy="13557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10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442107"/>
              </p:ext>
            </p:extLst>
          </p:nvPr>
        </p:nvGraphicFramePr>
        <p:xfrm>
          <a:off x="4705128" y="3264005"/>
          <a:ext cx="2389188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3" name="Equation" r:id="rId6" imgW="1193760" imgH="711000" progId="Equation.DSMT4">
                  <p:embed/>
                </p:oleObj>
              </mc:Choice>
              <mc:Fallback>
                <p:oleObj name="Equation" r:id="rId6" imgW="119376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5128" y="3264005"/>
                        <a:ext cx="2389188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386819"/>
              </p:ext>
            </p:extLst>
          </p:nvPr>
        </p:nvGraphicFramePr>
        <p:xfrm>
          <a:off x="1177285" y="4502446"/>
          <a:ext cx="494982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4" name="Equation" r:id="rId8" imgW="2400120" imgH="279360" progId="Equation.DSMT4">
                  <p:embed/>
                </p:oleObj>
              </mc:Choice>
              <mc:Fallback>
                <p:oleObj name="Equation" r:id="rId8" imgW="24001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7285" y="4502446"/>
                        <a:ext cx="4949825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723468"/>
              </p:ext>
            </p:extLst>
          </p:nvPr>
        </p:nvGraphicFramePr>
        <p:xfrm>
          <a:off x="1250397" y="3753183"/>
          <a:ext cx="279241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5" name="Equation" r:id="rId10" imgW="1231560" imgH="203040" progId="Equation.DSMT4">
                  <p:embed/>
                </p:oleObj>
              </mc:Choice>
              <mc:Fallback>
                <p:oleObj name="Equation" r:id="rId10" imgW="1231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397" y="3753183"/>
                        <a:ext cx="279241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24727"/>
              </p:ext>
            </p:extLst>
          </p:nvPr>
        </p:nvGraphicFramePr>
        <p:xfrm>
          <a:off x="2100620" y="1318436"/>
          <a:ext cx="876496" cy="1158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6" name="Equation" r:id="rId12" imgW="622080" imgH="711000" progId="Equation.DSMT4">
                  <p:embed/>
                </p:oleObj>
              </mc:Choice>
              <mc:Fallback>
                <p:oleObj name="Equation" r:id="rId12" imgW="62208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00620" y="1318436"/>
                        <a:ext cx="876496" cy="11589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501368"/>
              </p:ext>
            </p:extLst>
          </p:nvPr>
        </p:nvGraphicFramePr>
        <p:xfrm>
          <a:off x="1497418" y="2796363"/>
          <a:ext cx="682255" cy="467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7" name="Equation" r:id="rId14" imgW="253800" imgH="203040" progId="Equation.DSMT4">
                  <p:embed/>
                </p:oleObj>
              </mc:Choice>
              <mc:Fallback>
                <p:oleObj name="Equation" r:id="rId14" imgW="2538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97418" y="2796363"/>
                        <a:ext cx="682255" cy="4676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717321"/>
              </p:ext>
            </p:extLst>
          </p:nvPr>
        </p:nvGraphicFramePr>
        <p:xfrm>
          <a:off x="1182157" y="5020044"/>
          <a:ext cx="9426576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28" name="Equation" r:id="rId16" imgW="4572000" imgH="711000" progId="Equation.DSMT4">
                  <p:embed/>
                </p:oleObj>
              </mc:Choice>
              <mc:Fallback>
                <p:oleObj name="Equation" r:id="rId16" imgW="4572000" imgH="7110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2157" y="5020044"/>
                        <a:ext cx="9426576" cy="1144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8380640" y="469237"/>
            <a:ext cx="2363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4.3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矩阵的相似对角化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8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818705" y="1216428"/>
            <a:ext cx="8580477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思考：若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重的特征值，问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可对角化的条件是什么？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314" y="2612058"/>
            <a:ext cx="8683258" cy="95410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命题：若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阶方阵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重的特征值且可对角化的充要条件是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</a:t>
            </a:r>
            <a:endParaRPr lang="zh-CN" altLang="en-US" sz="28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084364"/>
              </p:ext>
            </p:extLst>
          </p:nvPr>
        </p:nvGraphicFramePr>
        <p:xfrm>
          <a:off x="3724122" y="3566165"/>
          <a:ext cx="2050174" cy="551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3" name="Equation" r:id="rId3" imgW="495000" imgH="177480" progId="Equation.DSMT4">
                  <p:embed/>
                </p:oleObj>
              </mc:Choice>
              <mc:Fallback>
                <p:oleObj name="Equation" r:id="rId3" imgW="49500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4122" y="3566165"/>
                        <a:ext cx="2050174" cy="5519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20795"/>
              </p:ext>
            </p:extLst>
          </p:nvPr>
        </p:nvGraphicFramePr>
        <p:xfrm>
          <a:off x="1065024" y="4290642"/>
          <a:ext cx="2884488" cy="14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4" name="Equation" r:id="rId5" imgW="1091880" imgH="711000" progId="Equation.DSMT4">
                  <p:embed/>
                </p:oleObj>
              </mc:Choice>
              <mc:Fallback>
                <p:oleObj name="Equation" r:id="rId5" imgW="109188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024" y="4290642"/>
                        <a:ext cx="2884488" cy="1408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201075"/>
              </p:ext>
            </p:extLst>
          </p:nvPr>
        </p:nvGraphicFramePr>
        <p:xfrm>
          <a:off x="4239647" y="4778184"/>
          <a:ext cx="252253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5" name="Equation" r:id="rId7" imgW="952200" imgH="228600" progId="Equation.DSMT4">
                  <p:embed/>
                </p:oleObj>
              </mc:Choice>
              <mc:Fallback>
                <p:oleObj name="Equation" r:id="rId7" imgW="952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9647" y="4778184"/>
                        <a:ext cx="2522538" cy="341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47805"/>
              </p:ext>
            </p:extLst>
          </p:nvPr>
        </p:nvGraphicFramePr>
        <p:xfrm>
          <a:off x="7002794" y="4279309"/>
          <a:ext cx="1562100" cy="131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6" name="Equation" r:id="rId9" imgW="749160" imgH="711000" progId="Equation.DSMT4">
                  <p:embed/>
                </p:oleObj>
              </mc:Choice>
              <mc:Fallback>
                <p:oleObj name="Equation" r:id="rId9" imgW="749160" imgH="711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794" y="4279309"/>
                        <a:ext cx="1562100" cy="131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273209" y="5709683"/>
            <a:ext cx="2434856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对角化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547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 animBg="1"/>
      <p:bldP spid="3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696</Words>
  <Application>Microsoft Office PowerPoint</Application>
  <PresentationFormat>自定义</PresentationFormat>
  <Paragraphs>119</Paragraphs>
  <Slides>18</Slides>
  <Notes>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0" baseType="lpstr">
      <vt:lpstr>Office 主题</vt:lpstr>
      <vt:lpstr>Equation</vt:lpstr>
      <vt:lpstr>PowerPoint 演示文稿</vt:lpstr>
      <vt:lpstr>PowerPoint 演示文稿</vt:lpstr>
      <vt:lpstr>                                  实际应用背景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  已知              求</vt:lpstr>
      <vt:lpstr>PowerPoint 演示文稿</vt:lpstr>
      <vt:lpstr>PowerPoint 演示文稿</vt:lpstr>
      <vt:lpstr>PowerPoint 演示文稿</vt:lpstr>
      <vt:lpstr>PowerPoint 演示文稿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267</cp:revision>
  <dcterms:created xsi:type="dcterms:W3CDTF">2016-07-04T12:59:51Z</dcterms:created>
  <dcterms:modified xsi:type="dcterms:W3CDTF">2018-04-17T08:25:16Z</dcterms:modified>
</cp:coreProperties>
</file>
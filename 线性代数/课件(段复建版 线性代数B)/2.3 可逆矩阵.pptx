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6"/>
  </p:notesMasterIdLst>
  <p:sldIdLst>
    <p:sldId id="271" r:id="rId3"/>
    <p:sldId id="257" r:id="rId4"/>
    <p:sldId id="258" r:id="rId5"/>
    <p:sldId id="272" r:id="rId6"/>
    <p:sldId id="261" r:id="rId7"/>
    <p:sldId id="273" r:id="rId8"/>
    <p:sldId id="263" r:id="rId9"/>
    <p:sldId id="274" r:id="rId10"/>
    <p:sldId id="262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86A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>
        <p:scale>
          <a:sx n="91" d="100"/>
          <a:sy n="91" d="100"/>
        </p:scale>
        <p:origin x="-7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Relationship Id="rId14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0" Type="http://schemas.openxmlformats.org/officeDocument/2006/relationships/image" Target="../media/image37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4" Type="http://schemas.openxmlformats.org/officeDocument/2006/relationships/image" Target="../media/image7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4" Type="http://schemas.openxmlformats.org/officeDocument/2006/relationships/image" Target="../media/image8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2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3345-B11F-42C4-B928-E1811710BA2C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7980F-D966-4287-9A41-25135FED3D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3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ea typeface="宋体" charset="-122"/>
            </a:endParaRP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fld id="{A6A820EE-3966-4803-A7A4-A6FD3AD814FE}" type="slidenum">
              <a:rPr lang="zh-CN" altLang="en-US" smtClean="0">
                <a:latin typeface="Verdana" pitchFamily="34" charset="0"/>
              </a:rPr>
              <a:pPr/>
              <a:t>8</a:t>
            </a:fld>
            <a:endParaRPr lang="en-US" altLang="zh-CN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第二章 矩阵及其运算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2.3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可逆矩阵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94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E38DE-D752-4863-8666-9E308FD08E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17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68961-C765-467B-AA98-FDE6480FFFB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911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A8BB8-3C27-472F-8A44-96004B59CE1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73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2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1BAAE8-6C11-475D-8475-CD1F5A12AD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2467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4"/>
            <a:ext cx="5386919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9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5A355B-7328-4F59-B4A5-C023126008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2417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62AF7-9B2E-41AF-9DD1-74F6331B908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253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2C3F24-A87D-44D5-B303-6012B9ADD25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157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401108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9E899-A281-43AA-BF72-F7CBEC3BEEA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4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529CE-873B-4089-A278-6622C5AFDCC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826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2E97F-A525-4FCB-8A45-47FC2743552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2977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1" y="333377"/>
            <a:ext cx="2743200" cy="57927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333377"/>
            <a:ext cx="8026400" cy="57927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013E6-0687-4525-9FA7-3F4179C42C0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7022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7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F6758-EA1E-485B-BCD8-E5AA0F1BB47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743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>
            <a:spLocks noChangeArrowheads="1"/>
          </p:cNvSpPr>
          <p:nvPr/>
        </p:nvSpPr>
        <p:spPr bwMode="auto">
          <a:xfrm>
            <a:off x="817033" y="798514"/>
            <a:ext cx="10363200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52218" y="333375"/>
            <a:ext cx="403436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D9FA30A-3BDF-4A84-A2FD-15A75A75EC96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5" name="Picture 8" descr="gl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85" y="260351"/>
            <a:ext cx="2203449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563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9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29" Type="http://schemas.openxmlformats.org/officeDocument/2006/relationships/image" Target="../media/image1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4.w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31" Type="http://schemas.openxmlformats.org/officeDocument/2006/relationships/image" Target="../media/image1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6.wmf"/><Relationship Id="rId30" Type="http://schemas.openxmlformats.org/officeDocument/2006/relationships/oleObject" Target="../embeddings/oleObject1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8.wmf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3.wmf"/><Relationship Id="rId22" Type="http://schemas.openxmlformats.org/officeDocument/2006/relationships/image" Target="../media/image3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5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1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8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5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7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64.png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5.png"/><Relationship Id="rId11" Type="http://schemas.openxmlformats.org/officeDocument/2006/relationships/oleObject" Target="../embeddings/oleObject69.bin"/><Relationship Id="rId5" Type="http://schemas.openxmlformats.org/officeDocument/2006/relationships/image" Target="../media/image74.wmf"/><Relationship Id="rId10" Type="http://schemas.openxmlformats.org/officeDocument/2006/relationships/image" Target="../media/image76.wmf"/><Relationship Id="rId4" Type="http://schemas.openxmlformats.org/officeDocument/2006/relationships/oleObject" Target="../embeddings/oleObject66.bin"/><Relationship Id="rId9" Type="http://schemas.openxmlformats.org/officeDocument/2006/relationships/oleObject" Target="../embeddings/oleObject6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1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1.bin"/><Relationship Id="rId12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microsoft.com/office/2007/relationships/hdphoto" Target="../media/hdphoto2.wdp"/><Relationship Id="rId11" Type="http://schemas.openxmlformats.org/officeDocument/2006/relationships/image" Target="../media/image80.wmf"/><Relationship Id="rId5" Type="http://schemas.openxmlformats.org/officeDocument/2006/relationships/image" Target="../media/image66.png"/><Relationship Id="rId10" Type="http://schemas.openxmlformats.org/officeDocument/2006/relationships/oleObject" Target="../embeddings/oleObject72.bin"/><Relationship Id="rId4" Type="http://schemas.openxmlformats.org/officeDocument/2006/relationships/image" Target="../media/image78.wmf"/><Relationship Id="rId9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61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2031" y="1167618"/>
            <a:ext cx="1336430" cy="461665"/>
            <a:chOff x="422031" y="1167618"/>
            <a:chExt cx="1336430" cy="4616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22031" y="1167618"/>
              <a:ext cx="1120166" cy="461665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22031" y="1167618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 入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89318" y="1757070"/>
            <a:ext cx="2528764" cy="1309686"/>
            <a:chOff x="689318" y="1757070"/>
            <a:chExt cx="2528764" cy="1309686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350229"/>
                </p:ext>
              </p:extLst>
            </p:nvPr>
          </p:nvGraphicFramePr>
          <p:xfrm>
            <a:off x="918503" y="1757070"/>
            <a:ext cx="1215250" cy="437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45" name="Equation" r:id="rId3" imgW="634680" imgH="228600" progId="Equation.DSMT4">
                    <p:embed/>
                  </p:oleObj>
                </mc:Choice>
                <mc:Fallback>
                  <p:oleObj name="Equation" r:id="rId3" imgW="6346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8503" y="1757070"/>
                          <a:ext cx="1215250" cy="43749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2726090"/>
                </p:ext>
              </p:extLst>
            </p:nvPr>
          </p:nvGraphicFramePr>
          <p:xfrm>
            <a:off x="862232" y="2193632"/>
            <a:ext cx="1554163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46" name="Equation" r:id="rId5" imgW="812520" imgH="228600" progId="Equation.DSMT4">
                    <p:embed/>
                  </p:oleObj>
                </mc:Choice>
                <mc:Fallback>
                  <p:oleObj name="Equation" r:id="rId5" imgW="8125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62232" y="2193632"/>
                          <a:ext cx="1554163" cy="436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5823360"/>
                </p:ext>
              </p:extLst>
            </p:nvPr>
          </p:nvGraphicFramePr>
          <p:xfrm>
            <a:off x="862232" y="2630194"/>
            <a:ext cx="2355850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47" name="Equation" r:id="rId7" imgW="1231560" imgH="228600" progId="Equation.DSMT4">
                    <p:embed/>
                  </p:oleObj>
                </mc:Choice>
                <mc:Fallback>
                  <p:oleObj name="Equation" r:id="rId7" imgW="1231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62232" y="2630194"/>
                          <a:ext cx="2355850" cy="436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左大括号 6"/>
            <p:cNvSpPr/>
            <p:nvPr/>
          </p:nvSpPr>
          <p:spPr>
            <a:xfrm>
              <a:off x="689318" y="1866442"/>
              <a:ext cx="130712" cy="109094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82243"/>
              </p:ext>
            </p:extLst>
          </p:nvPr>
        </p:nvGraphicFramePr>
        <p:xfrm>
          <a:off x="3688374" y="2115689"/>
          <a:ext cx="728882" cy="51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8" name="Equation" r:id="rId9" imgW="215640" imgH="152280" progId="Equation.DSMT4">
                  <p:embed/>
                </p:oleObj>
              </mc:Choice>
              <mc:Fallback>
                <p:oleObj name="Equation" r:id="rId9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88374" y="2115689"/>
                        <a:ext cx="728882" cy="514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372585"/>
              </p:ext>
            </p:extLst>
          </p:nvPr>
        </p:nvGraphicFramePr>
        <p:xfrm>
          <a:off x="4772703" y="1770106"/>
          <a:ext cx="1597658" cy="129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9" name="Equation" r:id="rId11" imgW="876240" imgH="711000" progId="Equation.DSMT4">
                  <p:embed/>
                </p:oleObj>
              </mc:Choice>
              <mc:Fallback>
                <p:oleObj name="Equation" r:id="rId11" imgW="8762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2703" y="1770106"/>
                        <a:ext cx="1597658" cy="129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769753"/>
              </p:ext>
            </p:extLst>
          </p:nvPr>
        </p:nvGraphicFramePr>
        <p:xfrm>
          <a:off x="6423612" y="1757070"/>
          <a:ext cx="604391" cy="1301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0" name="Equation" r:id="rId13" imgW="330120" imgH="711000" progId="Equation.DSMT4">
                  <p:embed/>
                </p:oleObj>
              </mc:Choice>
              <mc:Fallback>
                <p:oleObj name="Equation" r:id="rId13" imgW="3301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23612" y="1757070"/>
                        <a:ext cx="604391" cy="1301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65990"/>
              </p:ext>
            </p:extLst>
          </p:nvPr>
        </p:nvGraphicFramePr>
        <p:xfrm>
          <a:off x="7050844" y="1757070"/>
          <a:ext cx="8382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1" name="Equation" r:id="rId15" imgW="457200" imgH="711000" progId="Equation.DSMT4">
                  <p:embed/>
                </p:oleObj>
              </mc:Choice>
              <mc:Fallback>
                <p:oleObj name="Equation" r:id="rId15" imgW="4572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50844" y="1757070"/>
                        <a:ext cx="838200" cy="130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449109"/>
              </p:ext>
            </p:extLst>
          </p:nvPr>
        </p:nvGraphicFramePr>
        <p:xfrm>
          <a:off x="8030667" y="2115689"/>
          <a:ext cx="728882" cy="51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2" name="Equation" r:id="rId17" imgW="215640" imgH="152280" progId="Equation.DSMT4">
                  <p:embed/>
                </p:oleObj>
              </mc:Choice>
              <mc:Fallback>
                <p:oleObj name="Equation" r:id="rId17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30667" y="2115689"/>
                        <a:ext cx="728882" cy="514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727057"/>
              </p:ext>
            </p:extLst>
          </p:nvPr>
        </p:nvGraphicFramePr>
        <p:xfrm>
          <a:off x="8759549" y="2193632"/>
          <a:ext cx="1144368" cy="410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3" name="Equation" r:id="rId19" imgW="495000" imgH="177480" progId="Equation.DSMT4">
                  <p:embed/>
                </p:oleObj>
              </mc:Choice>
              <mc:Fallback>
                <p:oleObj name="Equation" r:id="rId19" imgW="4950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759549" y="2193632"/>
                        <a:ext cx="1144368" cy="410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754674" y="3393017"/>
            <a:ext cx="3198348" cy="646402"/>
            <a:chOff x="754674" y="3393017"/>
            <a:chExt cx="3198348" cy="646402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54674" y="3393017"/>
              <a:ext cx="418898" cy="646402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378633" y="3559126"/>
              <a:ext cx="2574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能否找到矩阵     ，</a:t>
              </a: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085565"/>
                </p:ext>
              </p:extLst>
            </p:nvPr>
          </p:nvGraphicFramePr>
          <p:xfrm>
            <a:off x="3310499" y="3502295"/>
            <a:ext cx="468317" cy="518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54" name="Equation" r:id="rId22" imgW="228600" imgH="253800" progId="Equation.DSMT4">
                    <p:embed/>
                  </p:oleObj>
                </mc:Choice>
                <mc:Fallback>
                  <p:oleObj name="Equation" r:id="rId22" imgW="2286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310499" y="3502295"/>
                          <a:ext cx="468317" cy="5184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4052815" y="3457376"/>
            <a:ext cx="2278286" cy="608332"/>
            <a:chOff x="4052815" y="3457376"/>
            <a:chExt cx="2278286" cy="608332"/>
          </a:xfrm>
        </p:grpSpPr>
        <p:sp>
          <p:nvSpPr>
            <p:cNvPr id="22" name="文本框 21"/>
            <p:cNvSpPr txBox="1"/>
            <p:nvPr/>
          </p:nvSpPr>
          <p:spPr>
            <a:xfrm>
              <a:off x="4052815" y="3559123"/>
              <a:ext cx="9552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使得</a:t>
              </a: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8899254"/>
                </p:ext>
              </p:extLst>
            </p:nvPr>
          </p:nvGraphicFramePr>
          <p:xfrm>
            <a:off x="4868873" y="3457376"/>
            <a:ext cx="1462228" cy="608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55" name="Equation" r:id="rId24" imgW="609480" imgH="253800" progId="Equation.DSMT4">
                    <p:embed/>
                  </p:oleObj>
                </mc:Choice>
                <mc:Fallback>
                  <p:oleObj name="Equation" r:id="rId24" imgW="6094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868873" y="3457376"/>
                          <a:ext cx="1462228" cy="6083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932884"/>
              </p:ext>
            </p:extLst>
          </p:nvPr>
        </p:nvGraphicFramePr>
        <p:xfrm>
          <a:off x="1412645" y="4340121"/>
          <a:ext cx="21320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6" name="Equation" r:id="rId26" imgW="888840" imgH="253800" progId="Equation.DSMT4">
                  <p:embed/>
                </p:oleObj>
              </mc:Choice>
              <mc:Fallback>
                <p:oleObj name="Equation" r:id="rId26" imgW="888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412645" y="4340121"/>
                        <a:ext cx="2132012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260434"/>
              </p:ext>
            </p:extLst>
          </p:nvPr>
        </p:nvGraphicFramePr>
        <p:xfrm>
          <a:off x="4185773" y="4340117"/>
          <a:ext cx="1644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7" name="Equation" r:id="rId28" imgW="685800" imgH="253800" progId="Equation.DSMT4">
                  <p:embed/>
                </p:oleObj>
              </mc:Choice>
              <mc:Fallback>
                <p:oleObj name="Equation" r:id="rId28" imgW="685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185773" y="4340117"/>
                        <a:ext cx="164465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452662"/>
              </p:ext>
            </p:extLst>
          </p:nvPr>
        </p:nvGraphicFramePr>
        <p:xfrm>
          <a:off x="6856413" y="4340117"/>
          <a:ext cx="1431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8" name="Equation" r:id="rId30" imgW="596880" imgH="253800" progId="Equation.DSMT4">
                  <p:embed/>
                </p:oleObj>
              </mc:Choice>
              <mc:Fallback>
                <p:oleObj name="Equation" r:id="rId30" imgW="596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856413" y="4340117"/>
                        <a:ext cx="1431925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585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93370" y="5682684"/>
            <a:ext cx="1336430" cy="627797"/>
            <a:chOff x="474785" y="1296537"/>
            <a:chExt cx="1336430" cy="6277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圆角矩形 1"/>
            <p:cNvSpPr/>
            <p:nvPr/>
          </p:nvSpPr>
          <p:spPr>
            <a:xfrm>
              <a:off x="474786" y="1296537"/>
              <a:ext cx="1213337" cy="62779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74785" y="1413802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推   论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048608" y="1426922"/>
            <a:ext cx="5732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，若存在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413131" y="2067002"/>
            <a:ext cx="1869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BA=E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47569" y="2707082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为可逆矩阵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913861" y="2707082"/>
            <a:ext cx="2866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称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的逆矩阵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4785" y="3419288"/>
            <a:ext cx="1336430" cy="627797"/>
            <a:chOff x="474785" y="3345989"/>
            <a:chExt cx="1336430" cy="6277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圆角矩形 14"/>
            <p:cNvSpPr/>
            <p:nvPr/>
          </p:nvSpPr>
          <p:spPr>
            <a:xfrm>
              <a:off x="474785" y="3345989"/>
              <a:ext cx="1213337" cy="62779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74785" y="3429054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唯一性</a:t>
              </a: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047569" y="3573976"/>
            <a:ext cx="613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可逆，则 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的逆矩阵是唯一的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408672" y="3502353"/>
            <a:ext cx="1421430" cy="544732"/>
            <a:chOff x="8420954" y="3117879"/>
            <a:chExt cx="1421430" cy="544732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3884029"/>
                </p:ext>
              </p:extLst>
            </p:nvPr>
          </p:nvGraphicFramePr>
          <p:xfrm>
            <a:off x="8544048" y="3189502"/>
            <a:ext cx="1012280" cy="387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Equation" r:id="rId3" imgW="495000" imgH="190440" progId="Equation.DSMT4">
                    <p:embed/>
                  </p:oleObj>
                </mc:Choice>
                <mc:Fallback>
                  <p:oleObj name="Equation" r:id="rId3" imgW="4950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544048" y="3189502"/>
                          <a:ext cx="1012280" cy="3876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圆角矩形 6"/>
            <p:cNvSpPr/>
            <p:nvPr/>
          </p:nvSpPr>
          <p:spPr>
            <a:xfrm>
              <a:off x="8420954" y="3117879"/>
              <a:ext cx="1421430" cy="544732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74785" y="4714717"/>
            <a:ext cx="2173822" cy="914062"/>
            <a:chOff x="474785" y="3345989"/>
            <a:chExt cx="1336430" cy="9140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圆角矩形 18"/>
            <p:cNvSpPr/>
            <p:nvPr/>
          </p:nvSpPr>
          <p:spPr>
            <a:xfrm>
              <a:off x="474785" y="3345989"/>
              <a:ext cx="1213337" cy="627797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74785" y="3429054"/>
              <a:ext cx="13364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存在性定理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129800" y="5799948"/>
            <a:ext cx="7851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，若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AB=E, 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均可逆，且互为逆阵。         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7813220" y="4441424"/>
            <a:ext cx="1756301" cy="1187355"/>
            <a:chOff x="5652371" y="4449170"/>
            <a:chExt cx="1756301" cy="1187355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0758373"/>
                </p:ext>
              </p:extLst>
            </p:nvPr>
          </p:nvGraphicFramePr>
          <p:xfrm>
            <a:off x="5652371" y="4546480"/>
            <a:ext cx="1699020" cy="960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Equation" r:id="rId5" imgW="787320" imgH="444240" progId="Equation.DSMT4">
                    <p:embed/>
                  </p:oleObj>
                </mc:Choice>
                <mc:Fallback>
                  <p:oleObj name="Equation" r:id="rId5" imgW="78732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52371" y="4546480"/>
                          <a:ext cx="1699020" cy="9609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圆角矩形 12"/>
            <p:cNvSpPr/>
            <p:nvPr/>
          </p:nvSpPr>
          <p:spPr>
            <a:xfrm>
              <a:off x="5652371" y="4449170"/>
              <a:ext cx="1756301" cy="1187355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011214" y="4867117"/>
            <a:ext cx="5441359" cy="622544"/>
            <a:chOff x="232334" y="1246569"/>
            <a:chExt cx="4044089" cy="622544"/>
          </a:xfrm>
        </p:grpSpPr>
        <p:sp>
          <p:nvSpPr>
            <p:cNvPr id="27" name="文本框 21"/>
            <p:cNvSpPr txBox="1"/>
            <p:nvPr/>
          </p:nvSpPr>
          <p:spPr>
            <a:xfrm>
              <a:off x="232334" y="1246569"/>
              <a:ext cx="4044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方阵</a:t>
              </a:r>
              <a:r>
                <a:rPr lang="zh-CN" altLang="en-US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是可逆矩阵         </a:t>
              </a:r>
            </a:p>
          </p:txBody>
        </p:sp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9773251"/>
                </p:ext>
              </p:extLst>
            </p:nvPr>
          </p:nvGraphicFramePr>
          <p:xfrm>
            <a:off x="2230418" y="1262766"/>
            <a:ext cx="1576502" cy="606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Equation" r:id="rId7" imgW="660240" imgH="253800" progId="Equation.DSMT4">
                    <p:embed/>
                  </p:oleObj>
                </mc:Choice>
                <mc:Fallback>
                  <p:oleObj name="Equation" r:id="rId7" imgW="6602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30418" y="1262766"/>
                          <a:ext cx="1576502" cy="60634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627185" y="1448937"/>
            <a:ext cx="1336430" cy="627797"/>
            <a:chOff x="474785" y="1296537"/>
            <a:chExt cx="1336430" cy="6277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" name="圆角矩形 29"/>
            <p:cNvSpPr/>
            <p:nvPr/>
          </p:nvSpPr>
          <p:spPr>
            <a:xfrm>
              <a:off x="474786" y="1296537"/>
              <a:ext cx="1213337" cy="62779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4"/>
            <p:cNvSpPr txBox="1"/>
            <p:nvPr/>
          </p:nvSpPr>
          <p:spPr>
            <a:xfrm>
              <a:off x="474785" y="1413802"/>
              <a:ext cx="133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  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48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0" grpId="0"/>
      <p:bldP spid="12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5482167" y="441325"/>
            <a:ext cx="581236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6117167" y="-40228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2400"/>
          </a:p>
        </p:txBody>
      </p:sp>
      <p:grpSp>
        <p:nvGrpSpPr>
          <p:cNvPr id="9220" name="组合 5"/>
          <p:cNvGrpSpPr>
            <a:grpSpLocks/>
          </p:cNvGrpSpPr>
          <p:nvPr/>
        </p:nvGrpSpPr>
        <p:grpSpPr bwMode="auto">
          <a:xfrm>
            <a:off x="1303867" y="1169988"/>
            <a:ext cx="8020051" cy="887412"/>
            <a:chOff x="1259631" y="2740740"/>
            <a:chExt cx="6011183" cy="885363"/>
          </a:xfrm>
        </p:grpSpPr>
        <p:sp>
          <p:nvSpPr>
            <p:cNvPr id="9228" name="TextBox 28"/>
            <p:cNvSpPr txBox="1">
              <a:spLocks noChangeArrowheads="1"/>
            </p:cNvSpPr>
            <p:nvPr/>
          </p:nvSpPr>
          <p:spPr bwMode="auto">
            <a:xfrm>
              <a:off x="1259631" y="2924944"/>
              <a:ext cx="6011183" cy="460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rgbClr val="FF0000"/>
                  </a:solidFill>
                </a:rPr>
                <a:t>例</a:t>
              </a:r>
              <a:r>
                <a:rPr lang="en-US" altLang="zh-CN" sz="2400" dirty="0">
                  <a:solidFill>
                    <a:srgbClr val="FF0000"/>
                  </a:solidFill>
                </a:rPr>
                <a:t>1  </a:t>
              </a:r>
              <a:r>
                <a:rPr lang="zh-CN" altLang="en-US" sz="2400" dirty="0"/>
                <a:t>已知 </a:t>
              </a:r>
              <a:r>
                <a:rPr lang="zh-CN" altLang="en-US" sz="2400" dirty="0" smtClean="0"/>
                <a:t>                              </a:t>
              </a:r>
              <a:r>
                <a:rPr lang="zh-CN" altLang="en-US" sz="2400" dirty="0"/>
                <a:t>，求</a:t>
              </a:r>
            </a:p>
          </p:txBody>
        </p:sp>
        <p:graphicFrame>
          <p:nvGraphicFramePr>
            <p:cNvPr id="9229" name="对象 19"/>
            <p:cNvGraphicFramePr>
              <a:graphicFrameLocks noChangeAspect="1"/>
            </p:cNvGraphicFramePr>
            <p:nvPr/>
          </p:nvGraphicFramePr>
          <p:xfrm>
            <a:off x="2669905" y="2740740"/>
            <a:ext cx="1852670" cy="885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1" name="Equation" r:id="rId3" imgW="825500" imgH="457200" progId="Equation.DSMT4">
                    <p:embed/>
                  </p:oleObj>
                </mc:Choice>
                <mc:Fallback>
                  <p:oleObj name="Equation" r:id="rId3" imgW="8255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9905" y="2740740"/>
                          <a:ext cx="1852670" cy="885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对象 20"/>
            <p:cNvGraphicFramePr>
              <a:graphicFrameLocks noChangeAspect="1"/>
            </p:cNvGraphicFramePr>
            <p:nvPr/>
          </p:nvGraphicFramePr>
          <p:xfrm>
            <a:off x="5211445" y="2971336"/>
            <a:ext cx="541832" cy="367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2" name="Equation" r:id="rId5" imgW="241195" imgH="190417" progId="Equation.DSMT4">
                    <p:embed/>
                  </p:oleObj>
                </mc:Choice>
                <mc:Fallback>
                  <p:oleObj name="Equation" r:id="rId5" imgW="241195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1445" y="2971336"/>
                          <a:ext cx="541832" cy="3676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1" name="组合 1"/>
          <p:cNvGrpSpPr>
            <a:grpSpLocks/>
          </p:cNvGrpSpPr>
          <p:nvPr/>
        </p:nvGrpSpPr>
        <p:grpSpPr bwMode="auto">
          <a:xfrm>
            <a:off x="1192924" y="2356315"/>
            <a:ext cx="7859184" cy="976313"/>
            <a:chOff x="1273175" y="2661185"/>
            <a:chExt cx="5893945" cy="975806"/>
          </a:xfrm>
        </p:grpSpPr>
        <p:sp>
          <p:nvSpPr>
            <p:cNvPr id="9226" name="TextBox 41"/>
            <p:cNvSpPr txBox="1">
              <a:spLocks noChangeArrowheads="1"/>
            </p:cNvSpPr>
            <p:nvPr/>
          </p:nvSpPr>
          <p:spPr bwMode="auto">
            <a:xfrm>
              <a:off x="1273175" y="2893332"/>
              <a:ext cx="5893945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解</a:t>
              </a:r>
              <a:r>
                <a:rPr lang="zh-CN" altLang="en-US" sz="2400" dirty="0" smtClean="0"/>
                <a:t>：                                                        </a:t>
              </a:r>
              <a:r>
                <a:rPr lang="zh-CN" altLang="en-US" sz="2400" dirty="0"/>
                <a:t>可逆</a:t>
              </a:r>
            </a:p>
          </p:txBody>
        </p:sp>
        <p:graphicFrame>
          <p:nvGraphicFramePr>
            <p:cNvPr id="9227" name="对象 42"/>
            <p:cNvGraphicFramePr>
              <a:graphicFrameLocks noChangeAspect="1"/>
            </p:cNvGraphicFramePr>
            <p:nvPr/>
          </p:nvGraphicFramePr>
          <p:xfrm>
            <a:off x="1910950" y="2661185"/>
            <a:ext cx="4369051" cy="975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3" name="Equation" r:id="rId7" imgW="1790700" imgH="457200" progId="Equation.DSMT4">
                    <p:embed/>
                  </p:oleObj>
                </mc:Choice>
                <mc:Fallback>
                  <p:oleObj name="Equation" r:id="rId7" imgW="17907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950" y="2661185"/>
                          <a:ext cx="4369051" cy="9758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3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738930"/>
              </p:ext>
            </p:extLst>
          </p:nvPr>
        </p:nvGraphicFramePr>
        <p:xfrm>
          <a:off x="1214438" y="4838700"/>
          <a:ext cx="76041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4" name="Equation" r:id="rId9" imgW="2133360" imgH="469800" progId="Equation.DSMT4">
                  <p:embed/>
                </p:oleObj>
              </mc:Choice>
              <mc:Fallback>
                <p:oleObj name="Equation" r:id="rId9" imgW="2133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838700"/>
                        <a:ext cx="760412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4" name="组合 20"/>
          <p:cNvGrpSpPr>
            <a:grpSpLocks/>
          </p:cNvGrpSpPr>
          <p:nvPr/>
        </p:nvGrpSpPr>
        <p:grpSpPr bwMode="auto">
          <a:xfrm>
            <a:off x="1303867" y="3583970"/>
            <a:ext cx="3086100" cy="977900"/>
            <a:chOff x="1273176" y="2668706"/>
            <a:chExt cx="2313874" cy="977724"/>
          </a:xfrm>
        </p:grpSpPr>
        <p:sp>
          <p:nvSpPr>
            <p:cNvPr id="2" name="TextBox 41"/>
            <p:cNvSpPr txBox="1">
              <a:spLocks noChangeArrowheads="1"/>
            </p:cNvSpPr>
            <p:nvPr/>
          </p:nvSpPr>
          <p:spPr bwMode="auto">
            <a:xfrm>
              <a:off x="1273176" y="2893332"/>
              <a:ext cx="2197340" cy="461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/>
                <a:t>又</a:t>
              </a:r>
            </a:p>
          </p:txBody>
        </p:sp>
        <p:graphicFrame>
          <p:nvGraphicFramePr>
            <p:cNvPr id="9225" name="对象 42"/>
            <p:cNvGraphicFramePr>
              <a:graphicFrameLocks noChangeAspect="1"/>
            </p:cNvGraphicFramePr>
            <p:nvPr/>
          </p:nvGraphicFramePr>
          <p:xfrm>
            <a:off x="1728382" y="2668706"/>
            <a:ext cx="1858668" cy="9777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5" name="Equation" r:id="rId11" imgW="850900" imgH="457200" progId="Equation.DSMT4">
                    <p:embed/>
                  </p:oleObj>
                </mc:Choice>
                <mc:Fallback>
                  <p:oleObj name="Equation" r:id="rId11" imgW="8509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382" y="2668706"/>
                          <a:ext cx="1858668" cy="9777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2569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47489" y="1139483"/>
            <a:ext cx="1704868" cy="757354"/>
            <a:chOff x="447489" y="1139483"/>
            <a:chExt cx="1704868" cy="75735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圆角矩形 17"/>
            <p:cNvSpPr/>
            <p:nvPr/>
          </p:nvSpPr>
          <p:spPr>
            <a:xfrm>
              <a:off x="447489" y="1139483"/>
              <a:ext cx="1564191" cy="75735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7490" y="1263676"/>
              <a:ext cx="1704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运算律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152358" y="1139483"/>
            <a:ext cx="6152629" cy="657225"/>
            <a:chOff x="600501" y="1897712"/>
            <a:chExt cx="6152629" cy="657225"/>
          </a:xfrm>
        </p:grpSpPr>
        <p:sp>
          <p:nvSpPr>
            <p:cNvPr id="2" name="文本框 1"/>
            <p:cNvSpPr txBox="1"/>
            <p:nvPr/>
          </p:nvSpPr>
          <p:spPr>
            <a:xfrm>
              <a:off x="600501" y="2006221"/>
              <a:ext cx="51452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可逆，则      也可逆，且</a:t>
              </a: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212165"/>
                </p:ext>
              </p:extLst>
            </p:nvPr>
          </p:nvGraphicFramePr>
          <p:xfrm>
            <a:off x="3028849" y="2020744"/>
            <a:ext cx="520700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3" name="Equation" r:id="rId3" imgW="241200" imgH="190440" progId="Equation.DSMT4">
                    <p:embed/>
                  </p:oleObj>
                </mc:Choice>
                <mc:Fallback>
                  <p:oleObj name="Equation" r:id="rId3" imgW="2412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28849" y="2020744"/>
                          <a:ext cx="520700" cy="411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133837"/>
                </p:ext>
              </p:extLst>
            </p:nvPr>
          </p:nvGraphicFramePr>
          <p:xfrm>
            <a:off x="5108480" y="1897712"/>
            <a:ext cx="1644650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4" name="Equation" r:id="rId5" imgW="761760" imgH="304560" progId="Equation.DSMT4">
                    <p:embed/>
                  </p:oleObj>
                </mc:Choice>
                <mc:Fallback>
                  <p:oleObj name="Equation" r:id="rId5" imgW="76176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8480" y="1897712"/>
                          <a:ext cx="1644650" cy="657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152358" y="1904234"/>
            <a:ext cx="6755879" cy="657225"/>
            <a:chOff x="600501" y="1882206"/>
            <a:chExt cx="6755879" cy="657225"/>
          </a:xfrm>
        </p:grpSpPr>
        <p:sp>
          <p:nvSpPr>
            <p:cNvPr id="9" name="文本框 8"/>
            <p:cNvSpPr txBox="1"/>
            <p:nvPr/>
          </p:nvSpPr>
          <p:spPr>
            <a:xfrm>
              <a:off x="600501" y="2006221"/>
              <a:ext cx="51452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可逆，则      也可逆，且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3939788"/>
                </p:ext>
              </p:extLst>
            </p:nvPr>
          </p:nvGraphicFramePr>
          <p:xfrm>
            <a:off x="3028849" y="1990709"/>
            <a:ext cx="465138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5" name="Equation" r:id="rId7" imgW="215640" imgH="190440" progId="Equation.DSMT4">
                    <p:embed/>
                  </p:oleObj>
                </mc:Choice>
                <mc:Fallback>
                  <p:oleObj name="Equation" r:id="rId7" imgW="2156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28849" y="1990709"/>
                          <a:ext cx="465138" cy="411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2805149"/>
                </p:ext>
              </p:extLst>
            </p:nvPr>
          </p:nvGraphicFramePr>
          <p:xfrm>
            <a:off x="5108480" y="1882206"/>
            <a:ext cx="2247900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" name="Equation" r:id="rId9" imgW="1041120" imgH="304560" progId="Equation.DSMT4">
                    <p:embed/>
                  </p:oleObj>
                </mc:Choice>
                <mc:Fallback>
                  <p:oleObj name="Equation" r:id="rId9" imgW="104112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08480" y="1882206"/>
                          <a:ext cx="2247900" cy="657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2152357" y="2625583"/>
            <a:ext cx="7913836" cy="847725"/>
            <a:chOff x="447489" y="3397460"/>
            <a:chExt cx="7913836" cy="847725"/>
          </a:xfrm>
        </p:grpSpPr>
        <p:grpSp>
          <p:nvGrpSpPr>
            <p:cNvPr id="12" name="组合 11"/>
            <p:cNvGrpSpPr/>
            <p:nvPr/>
          </p:nvGrpSpPr>
          <p:grpSpPr>
            <a:xfrm>
              <a:off x="447489" y="3397460"/>
              <a:ext cx="7913836" cy="847725"/>
              <a:chOff x="600500" y="1785850"/>
              <a:chExt cx="7913836" cy="847725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600500" y="2006221"/>
                <a:ext cx="70224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 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可逆， 数        ，则      也可逆，且</a:t>
                </a:r>
              </a:p>
            </p:txBody>
          </p:sp>
          <p:graphicFrame>
            <p:nvGraphicFramePr>
              <p:cNvPr id="14" name="对象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5559982"/>
                  </p:ext>
                </p:extLst>
              </p:nvPr>
            </p:nvGraphicFramePr>
            <p:xfrm>
              <a:off x="4459105" y="2044965"/>
              <a:ext cx="438150" cy="384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7" name="Equation" r:id="rId11" imgW="203040" imgH="177480" progId="Equation.DSMT4">
                      <p:embed/>
                    </p:oleObj>
                  </mc:Choice>
                  <mc:Fallback>
                    <p:oleObj name="Equation" r:id="rId11" imgW="20304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459105" y="2044965"/>
                            <a:ext cx="438150" cy="3841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8000063"/>
                  </p:ext>
                </p:extLst>
              </p:nvPr>
            </p:nvGraphicFramePr>
            <p:xfrm>
              <a:off x="6485511" y="1785850"/>
              <a:ext cx="2028825" cy="847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8" name="Equation" r:id="rId13" imgW="939600" imgH="393480" progId="Equation.DSMT4">
                      <p:embed/>
                    </p:oleObj>
                  </mc:Choice>
                  <mc:Fallback>
                    <p:oleObj name="Equation" r:id="rId13" imgW="939600" imgH="393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485511" y="1785850"/>
                            <a:ext cx="2028825" cy="84772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3071453"/>
                </p:ext>
              </p:extLst>
            </p:nvPr>
          </p:nvGraphicFramePr>
          <p:xfrm>
            <a:off x="2980005" y="3696224"/>
            <a:ext cx="762640" cy="381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9" name="Equation" r:id="rId15" imgW="355320" imgH="177480" progId="Equation.DSMT4">
                    <p:embed/>
                  </p:oleObj>
                </mc:Choice>
                <mc:Fallback>
                  <p:oleObj name="Equation" r:id="rId15" imgW="3553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80005" y="3696224"/>
                          <a:ext cx="762640" cy="3813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152357" y="3637136"/>
            <a:ext cx="7663834" cy="601663"/>
            <a:chOff x="600500" y="1924370"/>
            <a:chExt cx="7663834" cy="601663"/>
          </a:xfrm>
        </p:grpSpPr>
        <p:sp>
          <p:nvSpPr>
            <p:cNvPr id="21" name="文本框 20"/>
            <p:cNvSpPr txBox="1"/>
            <p:nvPr/>
          </p:nvSpPr>
          <p:spPr>
            <a:xfrm>
              <a:off x="600500" y="2006221"/>
              <a:ext cx="702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4.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均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 则      也可逆，且</a:t>
              </a: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0583022"/>
                </p:ext>
              </p:extLst>
            </p:nvPr>
          </p:nvGraphicFramePr>
          <p:xfrm>
            <a:off x="3837883" y="2048106"/>
            <a:ext cx="547688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0" name="Equation" r:id="rId17" imgW="253800" imgH="164880" progId="Equation.DSMT4">
                    <p:embed/>
                  </p:oleObj>
                </mc:Choice>
                <mc:Fallback>
                  <p:oleObj name="Equation" r:id="rId17" imgW="25380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37883" y="2048106"/>
                          <a:ext cx="547688" cy="3571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2703921"/>
                </p:ext>
              </p:extLst>
            </p:nvPr>
          </p:nvGraphicFramePr>
          <p:xfrm>
            <a:off x="5989447" y="1924370"/>
            <a:ext cx="2274887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1" name="Equation" r:id="rId19" imgW="1054080" imgH="279360" progId="Equation.DSMT4">
                    <p:embed/>
                  </p:oleObj>
                </mc:Choice>
                <mc:Fallback>
                  <p:oleObj name="Equation" r:id="rId19" imgW="10540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989447" y="1924370"/>
                          <a:ext cx="2274887" cy="6016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2152357" y="4308681"/>
            <a:ext cx="7022455" cy="960437"/>
            <a:chOff x="600500" y="1756834"/>
            <a:chExt cx="7022455" cy="960437"/>
          </a:xfrm>
        </p:grpSpPr>
        <p:sp>
          <p:nvSpPr>
            <p:cNvPr id="27" name="文本框 26"/>
            <p:cNvSpPr txBox="1"/>
            <p:nvPr/>
          </p:nvSpPr>
          <p:spPr>
            <a:xfrm>
              <a:off x="600500" y="2006221"/>
              <a:ext cx="702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5.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可逆，则</a:t>
              </a:r>
            </a:p>
          </p:txBody>
        </p:sp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718147"/>
                </p:ext>
              </p:extLst>
            </p:nvPr>
          </p:nvGraphicFramePr>
          <p:xfrm>
            <a:off x="3133016" y="1756834"/>
            <a:ext cx="1449387" cy="960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2" name="Equation" r:id="rId21" imgW="672840" imgH="444240" progId="Equation.DSMT4">
                    <p:embed/>
                  </p:oleObj>
                </mc:Choice>
                <mc:Fallback>
                  <p:oleObj name="Equation" r:id="rId21" imgW="6728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33016" y="1756834"/>
                          <a:ext cx="1449387" cy="960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2152357" y="5108168"/>
            <a:ext cx="5709381" cy="830177"/>
            <a:chOff x="600500" y="1756834"/>
            <a:chExt cx="7022455" cy="960438"/>
          </a:xfrm>
        </p:grpSpPr>
        <p:sp>
          <p:nvSpPr>
            <p:cNvPr id="29" name="文本框 28"/>
            <p:cNvSpPr txBox="1"/>
            <p:nvPr/>
          </p:nvSpPr>
          <p:spPr>
            <a:xfrm>
              <a:off x="600500" y="2006221"/>
              <a:ext cx="70224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  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5864152"/>
                </p:ext>
              </p:extLst>
            </p:nvPr>
          </p:nvGraphicFramePr>
          <p:xfrm>
            <a:off x="1099453" y="1756834"/>
            <a:ext cx="1941513" cy="960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3" name="Equation" r:id="rId23" imgW="901440" imgH="444240" progId="Equation.DSMT4">
                    <p:embed/>
                  </p:oleObj>
                </mc:Choice>
                <mc:Fallback>
                  <p:oleObj name="Equation" r:id="rId23" imgW="9014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99453" y="1756834"/>
                          <a:ext cx="1941513" cy="960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4035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325784" y="441325"/>
            <a:ext cx="3968749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zh-CN" altLang="en-US" sz="2000" b="1" dirty="0" smtClean="0">
              <a:solidFill>
                <a:srgbClr val="000000"/>
              </a:solidFill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6147570" y="-37150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 b="1" smtClean="0">
              <a:solidFill>
                <a:srgbClr val="000000"/>
              </a:solidFill>
            </a:endParaRPr>
          </a:p>
        </p:txBody>
      </p:sp>
      <p:grpSp>
        <p:nvGrpSpPr>
          <p:cNvPr id="10244" name="组合 5"/>
          <p:cNvGrpSpPr>
            <a:grpSpLocks/>
          </p:cNvGrpSpPr>
          <p:nvPr/>
        </p:nvGrpSpPr>
        <p:grpSpPr bwMode="auto">
          <a:xfrm>
            <a:off x="1005417" y="1052513"/>
            <a:ext cx="9853083" cy="1200150"/>
            <a:chOff x="1259631" y="2822107"/>
            <a:chExt cx="5219043" cy="1199281"/>
          </a:xfrm>
        </p:grpSpPr>
        <p:sp>
          <p:nvSpPr>
            <p:cNvPr id="10257" name="TextBox 28"/>
            <p:cNvSpPr txBox="1">
              <a:spLocks noChangeArrowheads="1"/>
            </p:cNvSpPr>
            <p:nvPr/>
          </p:nvSpPr>
          <p:spPr bwMode="auto">
            <a:xfrm>
              <a:off x="1259631" y="2822107"/>
              <a:ext cx="5219043" cy="11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dirty="0" smtClean="0">
                  <a:solidFill>
                    <a:srgbClr val="FF0000"/>
                  </a:solidFill>
                </a:rPr>
                <a:t>例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2  </a:t>
              </a:r>
              <a:r>
                <a:rPr lang="zh-CN" altLang="en-US" sz="2400" dirty="0" smtClean="0">
                  <a:solidFill>
                    <a:srgbClr val="000000"/>
                  </a:solidFill>
                </a:rPr>
                <a:t>已知           满足                               ，问                    </a:t>
              </a:r>
              <a:endParaRPr lang="en-US" altLang="zh-CN" sz="2400" dirty="0" smtClean="0">
                <a:solidFill>
                  <a:srgbClr val="000000"/>
                </a:solidFill>
              </a:endParaRPr>
            </a:p>
            <a:p>
              <a:pPr eaLnBrk="1" fontAlgn="base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dirty="0" smtClean="0">
                  <a:solidFill>
                    <a:srgbClr val="000000"/>
                  </a:solidFill>
                </a:rPr>
                <a:t>                </a:t>
              </a:r>
              <a:r>
                <a:rPr lang="en-US" altLang="zh-CN" sz="2400" dirty="0" smtClean="0">
                  <a:solidFill>
                    <a:srgbClr val="000000"/>
                  </a:solidFill>
                </a:rPr>
                <a:t>                    </a:t>
              </a:r>
              <a:r>
                <a:rPr lang="zh-CN" altLang="en-US" sz="2400" dirty="0" smtClean="0">
                  <a:solidFill>
                    <a:srgbClr val="000000"/>
                  </a:solidFill>
                </a:rPr>
                <a:t>是否可逆？若可逆，则求其逆。</a:t>
              </a:r>
            </a:p>
          </p:txBody>
        </p:sp>
        <p:graphicFrame>
          <p:nvGraphicFramePr>
            <p:cNvPr id="10258" name="对象 19"/>
            <p:cNvGraphicFramePr>
              <a:graphicFrameLocks noChangeAspect="1"/>
            </p:cNvGraphicFramePr>
            <p:nvPr/>
          </p:nvGraphicFramePr>
          <p:xfrm>
            <a:off x="2268171" y="2965071"/>
            <a:ext cx="293383" cy="4418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1" name="Equation" r:id="rId3" imgW="190500" imgH="228600" progId="Equation.DSMT4">
                    <p:embed/>
                  </p:oleObj>
                </mc:Choice>
                <mc:Fallback>
                  <p:oleObj name="Equation" r:id="rId3" imgW="190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171" y="2965071"/>
                          <a:ext cx="293383" cy="4418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9" name="对象 20"/>
            <p:cNvGraphicFramePr>
              <a:graphicFrameLocks noChangeAspect="1"/>
            </p:cNvGraphicFramePr>
            <p:nvPr/>
          </p:nvGraphicFramePr>
          <p:xfrm>
            <a:off x="3005289" y="2944253"/>
            <a:ext cx="1708449" cy="392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2" name="Equation" r:id="rId5" imgW="1104900" imgH="203200" progId="Equation.DSMT4">
                    <p:embed/>
                  </p:oleObj>
                </mc:Choice>
                <mc:Fallback>
                  <p:oleObj name="Equation" r:id="rId5" imgW="11049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5289" y="2944253"/>
                          <a:ext cx="1708449" cy="392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对象 20"/>
            <p:cNvGraphicFramePr>
              <a:graphicFrameLocks noChangeAspect="1"/>
            </p:cNvGraphicFramePr>
            <p:nvPr/>
          </p:nvGraphicFramePr>
          <p:xfrm>
            <a:off x="1616688" y="3562457"/>
            <a:ext cx="1708448" cy="392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3" name="Equation" r:id="rId7" imgW="1104900" imgH="203200" progId="Equation.DSMT4">
                    <p:embed/>
                  </p:oleObj>
                </mc:Choice>
                <mc:Fallback>
                  <p:oleObj name="Equation" r:id="rId7" imgW="11049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6688" y="3562457"/>
                          <a:ext cx="1708448" cy="392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5" name="组合 1"/>
          <p:cNvGrpSpPr>
            <a:grpSpLocks/>
          </p:cNvGrpSpPr>
          <p:nvPr/>
        </p:nvGrpSpPr>
        <p:grpSpPr bwMode="auto">
          <a:xfrm>
            <a:off x="1346202" y="2349500"/>
            <a:ext cx="8301567" cy="1257300"/>
            <a:chOff x="1273175" y="2893332"/>
            <a:chExt cx="6228667" cy="1258191"/>
          </a:xfrm>
        </p:grpSpPr>
        <p:sp>
          <p:nvSpPr>
            <p:cNvPr id="10255" name="TextBox 41"/>
            <p:cNvSpPr txBox="1">
              <a:spLocks noChangeArrowheads="1"/>
            </p:cNvSpPr>
            <p:nvPr/>
          </p:nvSpPr>
          <p:spPr bwMode="auto">
            <a:xfrm>
              <a:off x="1273175" y="2893332"/>
              <a:ext cx="4163397" cy="461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smtClean="0">
                  <a:solidFill>
                    <a:srgbClr val="000000"/>
                  </a:solidFill>
                </a:rPr>
                <a:t>解：由题意有：</a:t>
              </a:r>
            </a:p>
          </p:txBody>
        </p:sp>
        <p:graphicFrame>
          <p:nvGraphicFramePr>
            <p:cNvPr id="10256" name="对象 42"/>
            <p:cNvGraphicFramePr>
              <a:graphicFrameLocks noChangeAspect="1"/>
            </p:cNvGraphicFramePr>
            <p:nvPr/>
          </p:nvGraphicFramePr>
          <p:xfrm>
            <a:off x="2168436" y="3336026"/>
            <a:ext cx="5333406" cy="815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4" name="Equation" r:id="rId9" imgW="2197100" imgH="419100" progId="Equation.DSMT4">
                    <p:embed/>
                  </p:oleObj>
                </mc:Choice>
                <mc:Fallback>
                  <p:oleObj name="Equation" r:id="rId9" imgW="21971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8436" y="3336026"/>
                          <a:ext cx="5333406" cy="815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46" name="对象 18"/>
          <p:cNvGraphicFramePr>
            <a:graphicFrameLocks noChangeAspect="1"/>
          </p:cNvGraphicFramePr>
          <p:nvPr/>
        </p:nvGraphicFramePr>
        <p:xfrm>
          <a:off x="1390653" y="5565778"/>
          <a:ext cx="516678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5" name="Equation" r:id="rId11" imgW="1651000" imgH="419100" progId="Equation.DSMT4">
                  <p:embed/>
                </p:oleObj>
              </mc:Choice>
              <mc:Fallback>
                <p:oleObj name="Equation" r:id="rId11" imgW="1651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3" y="5565778"/>
                        <a:ext cx="516678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7" name="组合 20"/>
          <p:cNvGrpSpPr>
            <a:grpSpLocks/>
          </p:cNvGrpSpPr>
          <p:nvPr/>
        </p:nvGrpSpPr>
        <p:grpSpPr bwMode="auto">
          <a:xfrm>
            <a:off x="1583268" y="4868863"/>
            <a:ext cx="6777567" cy="493712"/>
            <a:chOff x="1273176" y="2893332"/>
            <a:chExt cx="5084151" cy="492444"/>
          </a:xfrm>
        </p:grpSpPr>
        <p:sp>
          <p:nvSpPr>
            <p:cNvPr id="10253" name="TextBox 41"/>
            <p:cNvSpPr txBox="1">
              <a:spLocks noChangeArrowheads="1"/>
            </p:cNvSpPr>
            <p:nvPr/>
          </p:nvSpPr>
          <p:spPr bwMode="auto">
            <a:xfrm>
              <a:off x="1273176" y="2893332"/>
              <a:ext cx="2197338" cy="46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smtClean="0">
                  <a:solidFill>
                    <a:srgbClr val="000000"/>
                  </a:solidFill>
                </a:rPr>
                <a:t>类似地，</a:t>
              </a:r>
            </a:p>
          </p:txBody>
        </p:sp>
        <p:graphicFrame>
          <p:nvGraphicFramePr>
            <p:cNvPr id="10254" name="对象 42"/>
            <p:cNvGraphicFramePr>
              <a:graphicFrameLocks noChangeAspect="1"/>
            </p:cNvGraphicFramePr>
            <p:nvPr/>
          </p:nvGraphicFramePr>
          <p:xfrm>
            <a:off x="2497426" y="2893332"/>
            <a:ext cx="3859901" cy="492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6" name="Equation" r:id="rId13" imgW="1803400" imgH="254000" progId="Equation.DSMT4">
                    <p:embed/>
                  </p:oleObj>
                </mc:Choice>
                <mc:Fallback>
                  <p:oleObj name="Equation" r:id="rId13" imgW="18034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7426" y="2893332"/>
                          <a:ext cx="3859901" cy="492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8" name="组合 16"/>
          <p:cNvGrpSpPr>
            <a:grpSpLocks/>
          </p:cNvGrpSpPr>
          <p:nvPr/>
        </p:nvGrpSpPr>
        <p:grpSpPr bwMode="auto">
          <a:xfrm>
            <a:off x="1644651" y="3741741"/>
            <a:ext cx="9156700" cy="839787"/>
            <a:chOff x="1251297" y="2614961"/>
            <a:chExt cx="6867991" cy="841341"/>
          </a:xfrm>
        </p:grpSpPr>
        <p:sp>
          <p:nvSpPr>
            <p:cNvPr id="10250" name="TextBox 41"/>
            <p:cNvSpPr txBox="1">
              <a:spLocks noChangeArrowheads="1"/>
            </p:cNvSpPr>
            <p:nvPr/>
          </p:nvSpPr>
          <p:spPr bwMode="auto">
            <a:xfrm>
              <a:off x="2495981" y="2804467"/>
              <a:ext cx="2071220" cy="462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smtClean="0">
                  <a:solidFill>
                    <a:srgbClr val="000000"/>
                  </a:solidFill>
                </a:rPr>
                <a:t>均可逆，且</a:t>
              </a:r>
            </a:p>
          </p:txBody>
        </p:sp>
        <p:graphicFrame>
          <p:nvGraphicFramePr>
            <p:cNvPr id="10251" name="对象 42"/>
            <p:cNvGraphicFramePr>
              <a:graphicFrameLocks noChangeAspect="1"/>
            </p:cNvGraphicFramePr>
            <p:nvPr/>
          </p:nvGraphicFramePr>
          <p:xfrm>
            <a:off x="1251297" y="2890245"/>
            <a:ext cx="1299351" cy="3946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7" name="Equation" r:id="rId15" imgW="748975" imgH="203112" progId="Equation.DSMT4">
                    <p:embed/>
                  </p:oleObj>
                </mc:Choice>
                <mc:Fallback>
                  <p:oleObj name="Equation" r:id="rId15" imgW="74897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1297" y="2890245"/>
                          <a:ext cx="1299351" cy="3946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2" name="对象 42"/>
            <p:cNvGraphicFramePr>
              <a:graphicFrameLocks noChangeAspect="1"/>
            </p:cNvGraphicFramePr>
            <p:nvPr/>
          </p:nvGraphicFramePr>
          <p:xfrm>
            <a:off x="4315068" y="2614961"/>
            <a:ext cx="3804220" cy="841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8" name="Equation" r:id="rId17" imgW="1854200" imgH="393700" progId="Equation.DSMT4">
                    <p:embed/>
                  </p:oleObj>
                </mc:Choice>
                <mc:Fallback>
                  <p:oleObj name="Equation" r:id="rId17" imgW="1854200" imgH="393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068" y="2614961"/>
                          <a:ext cx="3804220" cy="841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49" name="对象 18"/>
          <p:cNvGraphicFramePr>
            <a:graphicFrameLocks noChangeAspect="1"/>
          </p:cNvGraphicFramePr>
          <p:nvPr/>
        </p:nvGraphicFramePr>
        <p:xfrm>
          <a:off x="6864353" y="5589588"/>
          <a:ext cx="4804833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9" name="Equation" r:id="rId19" imgW="1459866" imgH="393529" progId="Equation.DSMT4">
                  <p:embed/>
                </p:oleObj>
              </mc:Choice>
              <mc:Fallback>
                <p:oleObj name="Equation" r:id="rId19" imgW="1459866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3" y="5589588"/>
                        <a:ext cx="4804833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855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356193" y="1498726"/>
            <a:ext cx="8598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未知矩阵的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矩阵等式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满足方程的矩阵称为矩阵方程的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3837"/>
              </p:ext>
            </p:extLst>
          </p:nvPr>
        </p:nvGraphicFramePr>
        <p:xfrm>
          <a:off x="466834" y="2735278"/>
          <a:ext cx="17335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1" name="Equation" r:id="rId3" imgW="711000" imgH="203040" progId="Equation.DSMT4">
                  <p:embed/>
                </p:oleObj>
              </mc:Choice>
              <mc:Fallback>
                <p:oleObj name="Equation" r:id="rId3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834" y="2735278"/>
                        <a:ext cx="17335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232708"/>
              </p:ext>
            </p:extLst>
          </p:nvPr>
        </p:nvGraphicFramePr>
        <p:xfrm>
          <a:off x="2356193" y="2690856"/>
          <a:ext cx="23526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2" name="Equation" r:id="rId5" imgW="965160" imgH="228600" progId="Equation.DSMT4">
                  <p:embed/>
                </p:oleObj>
              </mc:Choice>
              <mc:Fallback>
                <p:oleObj name="Equation" r:id="rId5" imgW="965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6193" y="2690856"/>
                        <a:ext cx="2352675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333595"/>
              </p:ext>
            </p:extLst>
          </p:nvPr>
        </p:nvGraphicFramePr>
        <p:xfrm>
          <a:off x="4848714" y="2721811"/>
          <a:ext cx="16097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3" name="Equation" r:id="rId7" imgW="660240" imgH="203040" progId="Equation.DSMT4">
                  <p:embed/>
                </p:oleObj>
              </mc:Choice>
              <mc:Fallback>
                <p:oleObj name="Equation" r:id="rId7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8714" y="2721811"/>
                        <a:ext cx="16097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777051"/>
              </p:ext>
            </p:extLst>
          </p:nvPr>
        </p:nvGraphicFramePr>
        <p:xfrm>
          <a:off x="450850" y="3743325"/>
          <a:ext cx="17653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4" name="Equation" r:id="rId9" imgW="723600" imgH="203040" progId="Equation.DSMT4">
                  <p:embed/>
                </p:oleObj>
              </mc:Choice>
              <mc:Fallback>
                <p:oleObj name="Equation" r:id="rId9" imgW="723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0850" y="3743325"/>
                        <a:ext cx="176530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510042"/>
              </p:ext>
            </p:extLst>
          </p:nvPr>
        </p:nvGraphicFramePr>
        <p:xfrm>
          <a:off x="2387600" y="3698875"/>
          <a:ext cx="22907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" name="Equation" r:id="rId11" imgW="939600" imgH="228600" progId="Equation.DSMT4">
                  <p:embed/>
                </p:oleObj>
              </mc:Choice>
              <mc:Fallback>
                <p:oleObj name="Equation" r:id="rId11" imgW="939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87600" y="3698875"/>
                        <a:ext cx="2290763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0320215"/>
              </p:ext>
            </p:extLst>
          </p:nvPr>
        </p:nvGraphicFramePr>
        <p:xfrm>
          <a:off x="4808538" y="3698875"/>
          <a:ext cx="16097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6" name="Equation" r:id="rId13" imgW="660240" imgH="203040" progId="Equation.DSMT4">
                  <p:embed/>
                </p:oleObj>
              </mc:Choice>
              <mc:Fallback>
                <p:oleObj name="Equation" r:id="rId13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08538" y="3698875"/>
                        <a:ext cx="16097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585600"/>
              </p:ext>
            </p:extLst>
          </p:nvPr>
        </p:nvGraphicFramePr>
        <p:xfrm>
          <a:off x="466834" y="4765500"/>
          <a:ext cx="19812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7" name="Equation" r:id="rId15" imgW="812520" imgH="203040" progId="Equation.DSMT4">
                  <p:embed/>
                </p:oleObj>
              </mc:Choice>
              <mc:Fallback>
                <p:oleObj name="Equation" r:id="rId15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6834" y="4765500"/>
                        <a:ext cx="198120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63082"/>
              </p:ext>
            </p:extLst>
          </p:nvPr>
        </p:nvGraphicFramePr>
        <p:xfrm>
          <a:off x="2479828" y="4720874"/>
          <a:ext cx="34686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8" name="Equation" r:id="rId17" imgW="1422360" imgH="228600" progId="Equation.DSMT4">
                  <p:embed/>
                </p:oleObj>
              </mc:Choice>
              <mc:Fallback>
                <p:oleObj name="Equation" r:id="rId17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79828" y="4720874"/>
                        <a:ext cx="3468687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194397"/>
              </p:ext>
            </p:extLst>
          </p:nvPr>
        </p:nvGraphicFramePr>
        <p:xfrm>
          <a:off x="6129471" y="4720874"/>
          <a:ext cx="20764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9" name="Equation" r:id="rId19" imgW="850680" imgH="203040" progId="Equation.DSMT4">
                  <p:embed/>
                </p:oleObj>
              </mc:Choice>
              <mc:Fallback>
                <p:oleObj name="Equation" r:id="rId19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29471" y="4720874"/>
                        <a:ext cx="20764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510063" y="1298567"/>
            <a:ext cx="1688123" cy="847597"/>
            <a:chOff x="263769" y="4990494"/>
            <a:chExt cx="1688123" cy="8475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圆角矩形 19"/>
            <p:cNvSpPr/>
            <p:nvPr/>
          </p:nvSpPr>
          <p:spPr>
            <a:xfrm>
              <a:off x="263769" y="4990494"/>
              <a:ext cx="1688123" cy="84759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22818" y="5154353"/>
              <a:ext cx="1529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矩阵方程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819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040967" y="441325"/>
            <a:ext cx="525356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6117167" y="-58740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2000"/>
          </a:p>
        </p:txBody>
      </p:sp>
      <p:grpSp>
        <p:nvGrpSpPr>
          <p:cNvPr id="13316" name="组合 5"/>
          <p:cNvGrpSpPr>
            <a:grpSpLocks/>
          </p:cNvGrpSpPr>
          <p:nvPr/>
        </p:nvGrpSpPr>
        <p:grpSpPr bwMode="auto">
          <a:xfrm>
            <a:off x="863164" y="1185864"/>
            <a:ext cx="8638116" cy="1377950"/>
            <a:chOff x="1244355" y="2711405"/>
            <a:chExt cx="6480296" cy="1374764"/>
          </a:xfrm>
        </p:grpSpPr>
        <p:sp>
          <p:nvSpPr>
            <p:cNvPr id="13327" name="TextBox 28"/>
            <p:cNvSpPr txBox="1">
              <a:spLocks noChangeArrowheads="1"/>
            </p:cNvSpPr>
            <p:nvPr/>
          </p:nvSpPr>
          <p:spPr bwMode="auto">
            <a:xfrm>
              <a:off x="1244355" y="3076393"/>
              <a:ext cx="6480296" cy="64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rgbClr val="FF0000"/>
                  </a:solidFill>
                </a:rPr>
                <a:t>例</a:t>
              </a:r>
              <a:r>
                <a:rPr lang="en-US" altLang="zh-CN" sz="2400" dirty="0" smtClean="0">
                  <a:solidFill>
                    <a:srgbClr val="FF0000"/>
                  </a:solidFill>
                </a:rPr>
                <a:t>3  </a:t>
              </a:r>
              <a:r>
                <a:rPr lang="zh-CN" altLang="en-US" sz="2400" dirty="0"/>
                <a:t>已知   </a:t>
              </a:r>
              <a:r>
                <a:rPr lang="zh-CN" altLang="en-US" sz="2400" dirty="0" smtClean="0"/>
                <a:t>                                                 ，</a:t>
              </a:r>
              <a:r>
                <a:rPr lang="zh-CN" altLang="en-US" sz="2400" dirty="0"/>
                <a:t>求</a:t>
              </a:r>
            </a:p>
          </p:txBody>
        </p:sp>
        <p:graphicFrame>
          <p:nvGraphicFramePr>
            <p:cNvPr id="13328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6494828"/>
                </p:ext>
              </p:extLst>
            </p:nvPr>
          </p:nvGraphicFramePr>
          <p:xfrm>
            <a:off x="2375126" y="2711405"/>
            <a:ext cx="3953065" cy="1374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7" name="Equation" r:id="rId4" imgW="1803400" imgH="711200" progId="Equation.DSMT4">
                    <p:embed/>
                  </p:oleObj>
                </mc:Choice>
                <mc:Fallback>
                  <p:oleObj name="Equation" r:id="rId4" imgW="18034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5126" y="2711405"/>
                          <a:ext cx="3953065" cy="1374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0102077"/>
                </p:ext>
              </p:extLst>
            </p:nvPr>
          </p:nvGraphicFramePr>
          <p:xfrm>
            <a:off x="6941187" y="3239613"/>
            <a:ext cx="316302" cy="318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8" name="Equation" r:id="rId6" imgW="152268" imgH="164957" progId="Equation.DSMT4">
                    <p:embed/>
                  </p:oleObj>
                </mc:Choice>
                <mc:Fallback>
                  <p:oleObj name="Equation" r:id="rId6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1187" y="3239613"/>
                          <a:ext cx="316302" cy="318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25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825959"/>
              </p:ext>
            </p:extLst>
          </p:nvPr>
        </p:nvGraphicFramePr>
        <p:xfrm>
          <a:off x="1424920" y="3102769"/>
          <a:ext cx="5253567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Equation" r:id="rId8" imgW="1955520" imgH="711000" progId="Equation.DSMT4">
                  <p:embed/>
                </p:oleObj>
              </mc:Choice>
              <mc:Fallback>
                <p:oleObj name="Equation" r:id="rId8" imgW="19555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920" y="3102769"/>
                        <a:ext cx="5253567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485317"/>
              </p:ext>
            </p:extLst>
          </p:nvPr>
        </p:nvGraphicFramePr>
        <p:xfrm>
          <a:off x="1107382" y="4379257"/>
          <a:ext cx="9160933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0" name="Equation" r:id="rId10" imgW="3060360" imgH="1066680" progId="Equation.DSMT4">
                  <p:embed/>
                </p:oleObj>
              </mc:Choice>
              <mc:Fallback>
                <p:oleObj name="Equation" r:id="rId10" imgW="3060360" imgH="1066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382" y="4379257"/>
                        <a:ext cx="9160933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92767" y="2563814"/>
            <a:ext cx="7277100" cy="466725"/>
            <a:chOff x="1044575" y="2563136"/>
            <a:chExt cx="5457423" cy="467951"/>
          </a:xfrm>
        </p:grpSpPr>
        <p:grpSp>
          <p:nvGrpSpPr>
            <p:cNvPr id="13323" name="组合 1"/>
            <p:cNvGrpSpPr>
              <a:grpSpLocks/>
            </p:cNvGrpSpPr>
            <p:nvPr/>
          </p:nvGrpSpPr>
          <p:grpSpPr bwMode="auto">
            <a:xfrm>
              <a:off x="1044575" y="2563136"/>
              <a:ext cx="5026025" cy="461665"/>
              <a:chOff x="1273173" y="2893332"/>
              <a:chExt cx="5025996" cy="461507"/>
            </a:xfrm>
          </p:grpSpPr>
          <p:sp>
            <p:nvSpPr>
              <p:cNvPr id="3" name="TextBox 41"/>
              <p:cNvSpPr txBox="1">
                <a:spLocks noChangeArrowheads="1"/>
              </p:cNvSpPr>
              <p:nvPr/>
            </p:nvSpPr>
            <p:spPr bwMode="auto">
              <a:xfrm>
                <a:off x="1273173" y="2893332"/>
                <a:ext cx="5025996" cy="4615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zh-CN" altLang="en-US" sz="2400" dirty="0"/>
                  <a:t>解：由   </a:t>
                </a:r>
                <a:r>
                  <a:rPr lang="zh-CN" altLang="en-US" sz="2400" dirty="0" smtClean="0"/>
                  <a:t>                         得</a:t>
                </a:r>
                <a:endParaRPr lang="zh-CN" altLang="en-US" sz="2400" dirty="0"/>
              </a:p>
            </p:txBody>
          </p:sp>
          <p:graphicFrame>
            <p:nvGraphicFramePr>
              <p:cNvPr id="13326" name="对象 42"/>
              <p:cNvGraphicFramePr>
                <a:graphicFrameLocks noChangeAspect="1"/>
              </p:cNvGraphicFramePr>
              <p:nvPr/>
            </p:nvGraphicFramePr>
            <p:xfrm>
              <a:off x="2301210" y="2964821"/>
              <a:ext cx="1689868" cy="3230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01" name="Equation" r:id="rId12" imgW="825142" imgH="165028" progId="Equation.DSMT4">
                      <p:embed/>
                    </p:oleObj>
                  </mc:Choice>
                  <mc:Fallback>
                    <p:oleObj name="Equation" r:id="rId12" imgW="825142" imgH="16502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1210" y="2964821"/>
                            <a:ext cx="1689868" cy="3230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324" name="对象 42"/>
            <p:cNvGraphicFramePr>
              <a:graphicFrameLocks noChangeAspect="1"/>
            </p:cNvGraphicFramePr>
            <p:nvPr/>
          </p:nvGraphicFramePr>
          <p:xfrm>
            <a:off x="4414336" y="2578552"/>
            <a:ext cx="2087662" cy="452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2" name="Equation" r:id="rId14" imgW="965200" imgH="254000" progId="Equation.DSMT4">
                    <p:embed/>
                  </p:oleObj>
                </mc:Choice>
                <mc:Fallback>
                  <p:oleObj name="Equation" r:id="rId14" imgW="965200" imgH="254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4336" y="2578552"/>
                          <a:ext cx="2087662" cy="452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21" name="组合 18"/>
          <p:cNvGrpSpPr>
            <a:grpSpLocks/>
          </p:cNvGrpSpPr>
          <p:nvPr/>
        </p:nvGrpSpPr>
        <p:grpSpPr bwMode="auto">
          <a:xfrm>
            <a:off x="6867551" y="3500438"/>
            <a:ext cx="3282085" cy="461962"/>
            <a:chOff x="3315560" y="2855598"/>
            <a:chExt cx="2285999" cy="461507"/>
          </a:xfrm>
        </p:grpSpPr>
        <p:sp>
          <p:nvSpPr>
            <p:cNvPr id="4" name="TextBox 41"/>
            <p:cNvSpPr txBox="1">
              <a:spLocks noChangeArrowheads="1"/>
            </p:cNvSpPr>
            <p:nvPr/>
          </p:nvSpPr>
          <p:spPr bwMode="auto">
            <a:xfrm>
              <a:off x="3315560" y="2855598"/>
              <a:ext cx="2285999" cy="461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400" dirty="0"/>
                <a:t>          </a:t>
              </a:r>
              <a:r>
                <a:rPr lang="zh-CN" altLang="en-US" sz="2400" dirty="0" smtClean="0"/>
                <a:t>       可逆 </a:t>
              </a:r>
              <a:endParaRPr lang="zh-CN" altLang="en-US" sz="2400" dirty="0"/>
            </a:p>
          </p:txBody>
        </p:sp>
        <p:graphicFrame>
          <p:nvGraphicFramePr>
            <p:cNvPr id="13322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3510042"/>
                </p:ext>
              </p:extLst>
            </p:nvPr>
          </p:nvGraphicFramePr>
          <p:xfrm>
            <a:off x="3393044" y="2926069"/>
            <a:ext cx="1179470" cy="320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3" name="Equation" r:id="rId16" imgW="583920" imgH="164880" progId="Equation.DSMT4">
                    <p:embed/>
                  </p:oleObj>
                </mc:Choice>
                <mc:Fallback>
                  <p:oleObj name="Equation" r:id="rId16" imgW="5839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3044" y="2926069"/>
                          <a:ext cx="1179470" cy="320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7767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2.3.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可逆矩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71" y="3875631"/>
            <a:ext cx="1503518" cy="14972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71" y="1766284"/>
            <a:ext cx="1431655" cy="15594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4969" y="4271750"/>
            <a:ext cx="1228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明文串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1582615" y="4502582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915289" y="4502582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2"/>
          </p:cNvCxnSpPr>
          <p:nvPr/>
        </p:nvCxnSpPr>
        <p:spPr>
          <a:xfrm flipH="1">
            <a:off x="3127598" y="3325765"/>
            <a:ext cx="1" cy="54986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804658" y="4271749"/>
            <a:ext cx="1228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文串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230970" y="5603664"/>
            <a:ext cx="1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（发送方）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513046" y="4271750"/>
            <a:ext cx="1228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文串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7590692" y="3875631"/>
            <a:ext cx="2332674" cy="1497201"/>
            <a:chOff x="7590692" y="3875631"/>
            <a:chExt cx="2332674" cy="1497201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9848" y="3875631"/>
              <a:ext cx="1503518" cy="1497201"/>
            </a:xfrm>
            <a:prstGeom prst="rect">
              <a:avLst/>
            </a:prstGeom>
          </p:spPr>
        </p:pic>
        <p:cxnSp>
          <p:nvCxnSpPr>
            <p:cNvPr id="20" name="直接箭头连接符 19"/>
            <p:cNvCxnSpPr/>
            <p:nvPr/>
          </p:nvCxnSpPr>
          <p:spPr>
            <a:xfrm>
              <a:off x="7590692" y="4502582"/>
              <a:ext cx="829156" cy="1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8419848" y="1766284"/>
            <a:ext cx="1431655" cy="2109347"/>
            <a:chOff x="8419848" y="1766284"/>
            <a:chExt cx="1431655" cy="2109347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9848" y="1766284"/>
              <a:ext cx="1431655" cy="1559481"/>
            </a:xfrm>
            <a:prstGeom prst="rect">
              <a:avLst/>
            </a:prstGeom>
          </p:spPr>
        </p:pic>
        <p:cxnSp>
          <p:nvCxnSpPr>
            <p:cNvPr id="22" name="直接箭头连接符 21"/>
            <p:cNvCxnSpPr>
              <a:stCxn id="18" idx="2"/>
            </p:cNvCxnSpPr>
            <p:nvPr/>
          </p:nvCxnSpPr>
          <p:spPr>
            <a:xfrm flipH="1">
              <a:off x="9135675" y="3325765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9923366" y="4271749"/>
            <a:ext cx="2117667" cy="461665"/>
            <a:chOff x="9923366" y="4271749"/>
            <a:chExt cx="2117667" cy="461665"/>
          </a:xfrm>
        </p:grpSpPr>
        <p:cxnSp>
          <p:nvCxnSpPr>
            <p:cNvPr id="21" name="直接箭头连接符 20"/>
            <p:cNvCxnSpPr/>
            <p:nvPr/>
          </p:nvCxnSpPr>
          <p:spPr>
            <a:xfrm>
              <a:off x="9923366" y="4502582"/>
              <a:ext cx="829156" cy="1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10812735" y="4271749"/>
              <a:ext cx="12282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明文串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239047" y="5603664"/>
            <a:ext cx="1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（接收方）</a:t>
            </a:r>
          </a:p>
        </p:txBody>
      </p:sp>
    </p:spTree>
    <p:extLst>
      <p:ext uri="{BB962C8B-B14F-4D97-AF65-F5344CB8AC3E}">
        <p14:creationId xmlns:p14="http://schemas.microsoft.com/office/powerpoint/2010/main" val="301346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5" grpId="0"/>
      <p:bldP spid="16" grpId="0"/>
      <p:bldP spid="19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2514599" y="1786349"/>
            <a:ext cx="6500750" cy="523220"/>
            <a:chOff x="1617784" y="2050118"/>
            <a:chExt cx="6500750" cy="523220"/>
          </a:xfrm>
        </p:grpSpPr>
        <p:sp>
          <p:nvSpPr>
            <p:cNvPr id="4" name="文本框 3"/>
            <p:cNvSpPr txBox="1"/>
            <p:nvPr/>
          </p:nvSpPr>
          <p:spPr>
            <a:xfrm>
              <a:off x="1617784" y="2074985"/>
              <a:ext cx="8440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0964401"/>
                </p:ext>
              </p:extLst>
            </p:nvPr>
          </p:nvGraphicFramePr>
          <p:xfrm>
            <a:off x="2877526" y="2135819"/>
            <a:ext cx="364392" cy="400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8"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77526" y="2135819"/>
                          <a:ext cx="364392" cy="4008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1174937"/>
                </p:ext>
              </p:extLst>
            </p:nvPr>
          </p:nvGraphicFramePr>
          <p:xfrm>
            <a:off x="3674451" y="2062163"/>
            <a:ext cx="365125" cy="511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9" name="Equation" r:id="rId5" imgW="126720" imgH="177480" progId="Equation.DSMT4">
                    <p:embed/>
                  </p:oleObj>
                </mc:Choice>
                <mc:Fallback>
                  <p:oleObj name="Equation" r:id="rId5" imgW="1267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74451" y="2062163"/>
                          <a:ext cx="365125" cy="511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4276261"/>
                </p:ext>
              </p:extLst>
            </p:nvPr>
          </p:nvGraphicFramePr>
          <p:xfrm>
            <a:off x="4454524" y="2135188"/>
            <a:ext cx="328613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60" name="Equation" r:id="rId7" imgW="114120" imgH="139680" progId="Equation.DSMT4">
                    <p:embed/>
                  </p:oleObj>
                </mc:Choice>
                <mc:Fallback>
                  <p:oleObj name="Equation" r:id="rId7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54524" y="2135188"/>
                          <a:ext cx="328613" cy="401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395094"/>
                </p:ext>
              </p:extLst>
            </p:nvPr>
          </p:nvGraphicFramePr>
          <p:xfrm>
            <a:off x="6804390" y="2078343"/>
            <a:ext cx="401637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61" name="Equation" r:id="rId9" imgW="139680" imgH="164880" progId="Equation.DSMT4">
                    <p:embed/>
                  </p:oleObj>
                </mc:Choice>
                <mc:Fallback>
                  <p:oleObj name="Equation" r:id="rId9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04390" y="2078343"/>
                          <a:ext cx="401637" cy="4746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8397993"/>
                </p:ext>
              </p:extLst>
            </p:nvPr>
          </p:nvGraphicFramePr>
          <p:xfrm>
            <a:off x="7754996" y="2114856"/>
            <a:ext cx="363538" cy="354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62" name="Equation" r:id="rId11" imgW="126720" imgH="126720" progId="Equation.DSMT4">
                    <p:embed/>
                  </p:oleObj>
                </mc:Choice>
                <mc:Fallback>
                  <p:oleObj name="Equation" r:id="rId11" imgW="1267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754996" y="2114856"/>
                          <a:ext cx="363538" cy="3548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/>
            <p:cNvSpPr txBox="1"/>
            <p:nvPr/>
          </p:nvSpPr>
          <p:spPr>
            <a:xfrm>
              <a:off x="5271720" y="2050118"/>
              <a:ext cx="19343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可逆矩阵的定义与性质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2747320" y="2364708"/>
            <a:ext cx="457200" cy="1011054"/>
            <a:chOff x="2747320" y="2364708"/>
            <a:chExt cx="457200" cy="1011054"/>
          </a:xfrm>
        </p:grpSpPr>
        <p:cxnSp>
          <p:nvCxnSpPr>
            <p:cNvPr id="17" name="直接箭头连接符 16"/>
            <p:cNvCxnSpPr/>
            <p:nvPr/>
          </p:nvCxnSpPr>
          <p:spPr>
            <a:xfrm flipH="1">
              <a:off x="2936629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2747320" y="2914097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774341" y="2364708"/>
            <a:ext cx="457200" cy="1011054"/>
            <a:chOff x="3774341" y="2364708"/>
            <a:chExt cx="457200" cy="1011054"/>
          </a:xfrm>
        </p:grpSpPr>
        <p:cxnSp>
          <p:nvCxnSpPr>
            <p:cNvPr id="12" name="直接箭头连接符 11"/>
            <p:cNvCxnSpPr/>
            <p:nvPr/>
          </p:nvCxnSpPr>
          <p:spPr>
            <a:xfrm flipH="1">
              <a:off x="3966551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3774341" y="2914097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569800" y="2364708"/>
            <a:ext cx="457200" cy="1013348"/>
            <a:chOff x="4569800" y="2364708"/>
            <a:chExt cx="457200" cy="1013348"/>
          </a:xfrm>
        </p:grpSpPr>
        <p:cxnSp>
          <p:nvCxnSpPr>
            <p:cNvPr id="13" name="直接箭头连接符 12"/>
            <p:cNvCxnSpPr/>
            <p:nvPr/>
          </p:nvCxnSpPr>
          <p:spPr>
            <a:xfrm flipH="1">
              <a:off x="4736610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4569800" y="2916391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349873" y="2364708"/>
            <a:ext cx="457200" cy="1011054"/>
            <a:chOff x="5349873" y="2364708"/>
            <a:chExt cx="457200" cy="1011054"/>
          </a:xfrm>
        </p:grpSpPr>
        <p:cxnSp>
          <p:nvCxnSpPr>
            <p:cNvPr id="14" name="直接箭头连接符 13"/>
            <p:cNvCxnSpPr/>
            <p:nvPr/>
          </p:nvCxnSpPr>
          <p:spPr>
            <a:xfrm flipH="1">
              <a:off x="5516683" y="2364708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5349873" y="2914097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701204" y="2364231"/>
            <a:ext cx="627305" cy="1008485"/>
            <a:chOff x="7701204" y="2364231"/>
            <a:chExt cx="627305" cy="1008485"/>
          </a:xfrm>
        </p:grpSpPr>
        <p:cxnSp>
          <p:nvCxnSpPr>
            <p:cNvPr id="16" name="直接箭头连接符 15"/>
            <p:cNvCxnSpPr/>
            <p:nvPr/>
          </p:nvCxnSpPr>
          <p:spPr>
            <a:xfrm flipH="1">
              <a:off x="7901596" y="2364231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7701204" y="2911051"/>
              <a:ext cx="627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651810" y="2364231"/>
            <a:ext cx="638847" cy="1008484"/>
            <a:chOff x="8651810" y="2364231"/>
            <a:chExt cx="638847" cy="1008484"/>
          </a:xfrm>
        </p:grpSpPr>
        <p:cxnSp>
          <p:nvCxnSpPr>
            <p:cNvPr id="15" name="直接箭头连接符 14"/>
            <p:cNvCxnSpPr/>
            <p:nvPr/>
          </p:nvCxnSpPr>
          <p:spPr>
            <a:xfrm flipH="1">
              <a:off x="8833580" y="2364231"/>
              <a:ext cx="1" cy="549866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8651810" y="2911050"/>
              <a:ext cx="6388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26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187463" y="2707149"/>
            <a:ext cx="1209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03385" y="3903785"/>
            <a:ext cx="2655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Cinema first row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227452"/>
              </p:ext>
            </p:extLst>
          </p:nvPr>
        </p:nvGraphicFramePr>
        <p:xfrm>
          <a:off x="3433820" y="3900744"/>
          <a:ext cx="802095" cy="566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3" name="Equation" r:id="rId13" imgW="215640" imgH="152280" progId="Equation.DSMT4">
                  <p:embed/>
                </p:oleObj>
              </mc:Choice>
              <mc:Fallback>
                <p:oleObj name="Equation" r:id="rId13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33820" y="3900744"/>
                        <a:ext cx="802095" cy="566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276042"/>
              </p:ext>
            </p:extLst>
          </p:nvPr>
        </p:nvGraphicFramePr>
        <p:xfrm>
          <a:off x="4231541" y="3484665"/>
          <a:ext cx="2964594" cy="227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" name="Equation" r:id="rId15" imgW="1193760" imgH="914400" progId="Equation.DSMT4">
                  <p:embed/>
                </p:oleObj>
              </mc:Choice>
              <mc:Fallback>
                <p:oleObj name="Equation" r:id="rId15" imgW="11937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31541" y="3484665"/>
                        <a:ext cx="2964594" cy="2270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624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可逆矩阵的定义与性质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027987" y="3390582"/>
            <a:ext cx="2332674" cy="1497201"/>
            <a:chOff x="4027987" y="3390582"/>
            <a:chExt cx="2332674" cy="149720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7143" y="3390582"/>
              <a:ext cx="1503518" cy="1497201"/>
            </a:xfrm>
            <a:prstGeom prst="rect">
              <a:avLst/>
            </a:prstGeom>
          </p:spPr>
        </p:pic>
        <p:cxnSp>
          <p:nvCxnSpPr>
            <p:cNvPr id="8" name="直接箭头连接符 7"/>
            <p:cNvCxnSpPr/>
            <p:nvPr/>
          </p:nvCxnSpPr>
          <p:spPr>
            <a:xfrm>
              <a:off x="4027987" y="4017533"/>
              <a:ext cx="829156" cy="1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接箭头连接符 9"/>
          <p:cNvCxnSpPr/>
          <p:nvPr/>
        </p:nvCxnSpPr>
        <p:spPr>
          <a:xfrm>
            <a:off x="6360661" y="4017533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2"/>
          </p:cNvCxnSpPr>
          <p:nvPr/>
        </p:nvCxnSpPr>
        <p:spPr>
          <a:xfrm flipH="1">
            <a:off x="5572970" y="2840716"/>
            <a:ext cx="1" cy="54986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76342" y="5118615"/>
            <a:ext cx="1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（发送方）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82054" y="2379050"/>
            <a:ext cx="3645933" cy="2571138"/>
            <a:chOff x="382054" y="2379050"/>
            <a:chExt cx="3645933" cy="2571138"/>
          </a:xfrm>
        </p:grpSpPr>
        <p:grpSp>
          <p:nvGrpSpPr>
            <p:cNvPr id="7" name="组合 6"/>
            <p:cNvGrpSpPr/>
            <p:nvPr/>
          </p:nvGrpSpPr>
          <p:grpSpPr>
            <a:xfrm>
              <a:off x="382054" y="2379050"/>
              <a:ext cx="3645933" cy="461666"/>
              <a:chOff x="1031573" y="2193940"/>
              <a:chExt cx="3645933" cy="461666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1031573" y="2193941"/>
                <a:ext cx="1228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明文串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022231" y="2193940"/>
                <a:ext cx="26552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Cinema first row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6806357"/>
                </p:ext>
              </p:extLst>
            </p:nvPr>
          </p:nvGraphicFramePr>
          <p:xfrm>
            <a:off x="870322" y="3084876"/>
            <a:ext cx="2954337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5" name="Equation" r:id="rId4" imgW="1447560" imgH="914400" progId="Equation.DSMT4">
                    <p:embed/>
                  </p:oleObj>
                </mc:Choice>
                <mc:Fallback>
                  <p:oleObj name="Equation" r:id="rId4" imgW="14475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70322" y="3084876"/>
                          <a:ext cx="2954337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4857143" y="1089064"/>
            <a:ext cx="4415707" cy="1865313"/>
            <a:chOff x="4857143" y="1089064"/>
            <a:chExt cx="4415707" cy="186531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7143" y="1281235"/>
              <a:ext cx="1431655" cy="1559481"/>
            </a:xfrm>
            <a:prstGeom prst="rect">
              <a:avLst/>
            </a:prstGeom>
          </p:spPr>
        </p:pic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0967684"/>
                </p:ext>
              </p:extLst>
            </p:nvPr>
          </p:nvGraphicFramePr>
          <p:xfrm>
            <a:off x="6394712" y="1089064"/>
            <a:ext cx="2878138" cy="186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6" name="Equation" r:id="rId7" imgW="1409400" imgH="914400" progId="Equation.DSMT4">
                    <p:embed/>
                  </p:oleObj>
                </mc:Choice>
                <mc:Fallback>
                  <p:oleObj name="Equation" r:id="rId7" imgW="140940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94712" y="1089064"/>
                          <a:ext cx="2878138" cy="1865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130036"/>
              </p:ext>
            </p:extLst>
          </p:nvPr>
        </p:nvGraphicFramePr>
        <p:xfrm>
          <a:off x="5165593" y="3991773"/>
          <a:ext cx="886618" cy="57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7" name="Equation" r:id="rId9" imgW="253800" imgH="164880" progId="Equation.DSMT4">
                  <p:embed/>
                </p:oleObj>
              </mc:Choice>
              <mc:Fallback>
                <p:oleObj name="Equation" r:id="rId9" imgW="2538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65593" y="3991773"/>
                        <a:ext cx="886618" cy="57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7250030" y="3115649"/>
            <a:ext cx="4553911" cy="1865312"/>
            <a:chOff x="7250030" y="3115649"/>
            <a:chExt cx="4553911" cy="1865312"/>
          </a:xfrm>
        </p:grpSpPr>
        <p:sp>
          <p:nvSpPr>
            <p:cNvPr id="15" name="文本框 14"/>
            <p:cNvSpPr txBox="1"/>
            <p:nvPr/>
          </p:nvSpPr>
          <p:spPr>
            <a:xfrm>
              <a:off x="7250030" y="3786700"/>
              <a:ext cx="12282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密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文串</a:t>
              </a: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9027547"/>
                </p:ext>
              </p:extLst>
            </p:nvPr>
          </p:nvGraphicFramePr>
          <p:xfrm>
            <a:off x="8225716" y="3115649"/>
            <a:ext cx="3578225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8" name="Equation" r:id="rId11" imgW="1752480" imgH="914400" progId="Equation.DSMT4">
                    <p:embed/>
                  </p:oleObj>
                </mc:Choice>
                <mc:Fallback>
                  <p:oleObj name="Equation" r:id="rId11" imgW="175248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225716" y="3115649"/>
                          <a:ext cx="3578225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/>
          <p:cNvSpPr txBox="1"/>
          <p:nvPr/>
        </p:nvSpPr>
        <p:spPr>
          <a:xfrm>
            <a:off x="8685406" y="5142233"/>
            <a:ext cx="3794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Cinema first row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302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6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可逆矩阵的定义与性质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054" y="1154494"/>
            <a:ext cx="557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可逆矩阵的应用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4248000" y="4017533"/>
            <a:ext cx="684000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360661" y="4017533"/>
            <a:ext cx="829156" cy="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3" idx="2"/>
          </p:cNvCxnSpPr>
          <p:nvPr/>
        </p:nvCxnSpPr>
        <p:spPr>
          <a:xfrm flipH="1">
            <a:off x="5572970" y="2840716"/>
            <a:ext cx="1" cy="549866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7938" y="2379050"/>
            <a:ext cx="4302125" cy="2602525"/>
            <a:chOff x="7938" y="2379050"/>
            <a:chExt cx="4302125" cy="2602525"/>
          </a:xfrm>
        </p:grpSpPr>
        <p:grpSp>
          <p:nvGrpSpPr>
            <p:cNvPr id="7" name="组合 6"/>
            <p:cNvGrpSpPr/>
            <p:nvPr/>
          </p:nvGrpSpPr>
          <p:grpSpPr>
            <a:xfrm>
              <a:off x="382054" y="2379050"/>
              <a:ext cx="3645933" cy="461666"/>
              <a:chOff x="1031573" y="2193940"/>
              <a:chExt cx="3645933" cy="461666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1031573" y="2193941"/>
                <a:ext cx="1228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密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文串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022231" y="2193940"/>
                <a:ext cx="26552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Cinema first row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881552"/>
                </p:ext>
              </p:extLst>
            </p:nvPr>
          </p:nvGraphicFramePr>
          <p:xfrm>
            <a:off x="7938" y="3116263"/>
            <a:ext cx="4302125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8" name="Equation" r:id="rId3" imgW="2108160" imgH="914400" progId="Equation.DSMT4">
                    <p:embed/>
                  </p:oleObj>
                </mc:Choice>
                <mc:Fallback>
                  <p:oleObj name="Equation" r:id="rId3" imgW="21081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38" y="3116263"/>
                          <a:ext cx="4302125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4857143" y="1051138"/>
            <a:ext cx="4926168" cy="1865313"/>
            <a:chOff x="4857143" y="1051138"/>
            <a:chExt cx="4926168" cy="186531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57143" y="1281235"/>
              <a:ext cx="1431655" cy="1559481"/>
            </a:xfrm>
            <a:prstGeom prst="rect">
              <a:avLst/>
            </a:prstGeom>
          </p:spPr>
        </p:pic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4048387"/>
                </p:ext>
              </p:extLst>
            </p:nvPr>
          </p:nvGraphicFramePr>
          <p:xfrm>
            <a:off x="6360661" y="1051138"/>
            <a:ext cx="3422650" cy="186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9" name="Equation" r:id="rId7" imgW="1676160" imgH="914400" progId="Equation.DSMT4">
                    <p:embed/>
                  </p:oleObj>
                </mc:Choice>
                <mc:Fallback>
                  <p:oleObj name="Equation" r:id="rId7" imgW="16761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60661" y="1051138"/>
                          <a:ext cx="3422650" cy="1865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4676342" y="3390582"/>
            <a:ext cx="1865120" cy="2189698"/>
            <a:chOff x="4676342" y="3390582"/>
            <a:chExt cx="1865120" cy="218969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57143" y="3390582"/>
              <a:ext cx="1503518" cy="149720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4676342" y="5118615"/>
              <a:ext cx="1865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方）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6409003"/>
                </p:ext>
              </p:extLst>
            </p:nvPr>
          </p:nvGraphicFramePr>
          <p:xfrm>
            <a:off x="5161392" y="4065273"/>
            <a:ext cx="771209" cy="441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0" name="Equation" r:id="rId10" imgW="355320" imgH="203040" progId="Equation.DSMT4">
                    <p:embed/>
                  </p:oleObj>
                </mc:Choice>
                <mc:Fallback>
                  <p:oleObj name="Equation" r:id="rId10" imgW="3553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61392" y="4065273"/>
                          <a:ext cx="771209" cy="4413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/>
          <p:cNvSpPr txBox="1"/>
          <p:nvPr/>
        </p:nvSpPr>
        <p:spPr>
          <a:xfrm>
            <a:off x="8685406" y="5142233"/>
            <a:ext cx="3794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Cinema first row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250030" y="3084876"/>
            <a:ext cx="4009656" cy="1865312"/>
            <a:chOff x="7250030" y="3084876"/>
            <a:chExt cx="4009656" cy="1865312"/>
          </a:xfrm>
        </p:grpSpPr>
        <p:sp>
          <p:nvSpPr>
            <p:cNvPr id="15" name="文本框 14"/>
            <p:cNvSpPr txBox="1"/>
            <p:nvPr/>
          </p:nvSpPr>
          <p:spPr>
            <a:xfrm>
              <a:off x="7250030" y="3786700"/>
              <a:ext cx="12282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文串</a:t>
              </a: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3392153"/>
                </p:ext>
              </p:extLst>
            </p:nvPr>
          </p:nvGraphicFramePr>
          <p:xfrm>
            <a:off x="8306936" y="3084876"/>
            <a:ext cx="2952750" cy="1865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41" name="Equation" r:id="rId12" imgW="1447560" imgH="914400" progId="Equation.DSMT4">
                    <p:embed/>
                  </p:oleObj>
                </mc:Choice>
                <mc:Fallback>
                  <p:oleObj name="Equation" r:id="rId12" imgW="14475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306936" y="3084876"/>
                          <a:ext cx="2952750" cy="1865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5254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9653586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3825" y="1460835"/>
            <a:ext cx="106712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BA=E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为可逆矩阵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的逆矩阵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75019" y="2297975"/>
            <a:ext cx="4870940" cy="526805"/>
            <a:chOff x="1175019" y="2297975"/>
            <a:chExt cx="4870940" cy="526805"/>
          </a:xfrm>
        </p:grpSpPr>
        <p:sp>
          <p:nvSpPr>
            <p:cNvPr id="2" name="文本框 1"/>
            <p:cNvSpPr txBox="1"/>
            <p:nvPr/>
          </p:nvSpPr>
          <p:spPr>
            <a:xfrm>
              <a:off x="1175019" y="2363115"/>
              <a:ext cx="11873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记作</a:t>
              </a: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9575699"/>
                </p:ext>
              </p:extLst>
            </p:nvPr>
          </p:nvGraphicFramePr>
          <p:xfrm>
            <a:off x="4804667" y="2297975"/>
            <a:ext cx="1241292" cy="475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9" name="Equation" r:id="rId3" imgW="495000" imgH="190440" progId="Equation.DSMT4">
                    <p:embed/>
                  </p:oleObj>
                </mc:Choice>
                <mc:Fallback>
                  <p:oleObj name="Equation" r:id="rId3" imgW="4950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04667" y="2297975"/>
                          <a:ext cx="1241292" cy="4753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833825" y="3262873"/>
            <a:ext cx="5874422" cy="1076648"/>
            <a:chOff x="833825" y="3262873"/>
            <a:chExt cx="5874422" cy="1076648"/>
          </a:xfrm>
        </p:grpSpPr>
        <p:grpSp>
          <p:nvGrpSpPr>
            <p:cNvPr id="9" name="组合 8"/>
            <p:cNvGrpSpPr/>
            <p:nvPr/>
          </p:nvGrpSpPr>
          <p:grpSpPr>
            <a:xfrm>
              <a:off x="833825" y="3387753"/>
              <a:ext cx="4044089" cy="686180"/>
              <a:chOff x="418729" y="1165480"/>
              <a:chExt cx="4044089" cy="686180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418729" y="1277739"/>
                <a:ext cx="40440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n"/>
                </a:pP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是可逆矩阵         </a:t>
                </a:r>
              </a:p>
            </p:txBody>
          </p:sp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6072449"/>
                  </p:ext>
                </p:extLst>
              </p:nvPr>
            </p:nvGraphicFramePr>
            <p:xfrm>
              <a:off x="2605504" y="1165480"/>
              <a:ext cx="1784067" cy="686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20" name="Equation" r:id="rId5" imgW="660240" imgH="253800" progId="Equation.DSMT4">
                      <p:embed/>
                    </p:oleObj>
                  </mc:Choice>
                  <mc:Fallback>
                    <p:oleObj name="Equation" r:id="rId5" imgW="6602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605504" y="1165480"/>
                            <a:ext cx="1784067" cy="68618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3635679"/>
                </p:ext>
              </p:extLst>
            </p:nvPr>
          </p:nvGraphicFramePr>
          <p:xfrm>
            <a:off x="4804667" y="3262873"/>
            <a:ext cx="1903580" cy="1076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1" name="Equation" r:id="rId7" imgW="787320" imgH="444240" progId="Equation.DSMT4">
                    <p:embed/>
                  </p:oleObj>
                </mc:Choice>
                <mc:Fallback>
                  <p:oleObj name="Equation" r:id="rId7" imgW="78732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04667" y="3262873"/>
                          <a:ext cx="1903580" cy="10766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833826" y="4850476"/>
            <a:ext cx="341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6951" y="4590054"/>
            <a:ext cx="1020554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设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，若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AB=E,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均可逆，且互为逆阵。         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14" grpId="0"/>
      <p:bldP spid="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Profile">
  <a:themeElements>
    <a:clrScheme name="2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2_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381</Words>
  <Application>Microsoft Office PowerPoint</Application>
  <PresentationFormat>自定义</PresentationFormat>
  <Paragraphs>77</Paragraphs>
  <Slides>13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Office 主题</vt:lpstr>
      <vt:lpstr>2_Profile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104</cp:revision>
  <dcterms:created xsi:type="dcterms:W3CDTF">2016-07-04T12:59:51Z</dcterms:created>
  <dcterms:modified xsi:type="dcterms:W3CDTF">2018-03-20T08:59:13Z</dcterms:modified>
</cp:coreProperties>
</file>
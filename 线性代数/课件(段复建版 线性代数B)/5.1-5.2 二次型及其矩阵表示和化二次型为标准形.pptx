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26"/>
  </p:notesMasterIdLst>
  <p:sldIdLst>
    <p:sldId id="280" r:id="rId3"/>
    <p:sldId id="271" r:id="rId4"/>
    <p:sldId id="287" r:id="rId5"/>
    <p:sldId id="289" r:id="rId6"/>
    <p:sldId id="290" r:id="rId7"/>
    <p:sldId id="291" r:id="rId8"/>
    <p:sldId id="288" r:id="rId9"/>
    <p:sldId id="286" r:id="rId10"/>
    <p:sldId id="293" r:id="rId11"/>
    <p:sldId id="292" r:id="rId12"/>
    <p:sldId id="310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无标题节" id="{FD060093-0B67-4AF3-910A-143DAEF1E95E}">
          <p14:sldIdLst>
            <p14:sldId id="280"/>
            <p14:sldId id="271"/>
            <p14:sldId id="287"/>
            <p14:sldId id="289"/>
            <p14:sldId id="290"/>
            <p14:sldId id="291"/>
            <p14:sldId id="288"/>
            <p14:sldId id="286"/>
            <p14:sldId id="293"/>
            <p14:sldId id="292"/>
            <p14:sldId id="310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F8C"/>
    <a:srgbClr val="C48170"/>
    <a:srgbClr val="0070C0"/>
    <a:srgbClr val="9DC3E6"/>
    <a:srgbClr val="2E75B6"/>
    <a:srgbClr val="1F4E79"/>
    <a:srgbClr val="FFFFFF"/>
    <a:srgbClr val="548235"/>
    <a:srgbClr val="385723"/>
    <a:srgbClr val="3B3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2" autoAdjust="0"/>
    <p:restoredTop sz="94660"/>
  </p:normalViewPr>
  <p:slideViewPr>
    <p:cSldViewPr snapToGrid="0">
      <p:cViewPr>
        <p:scale>
          <a:sx n="90" d="100"/>
          <a:sy n="90" d="100"/>
        </p:scale>
        <p:origin x="-72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C6314C-6C6C-4780-ABC0-A804F1D74EE2}" type="doc">
      <dgm:prSet loTypeId="urn:microsoft.com/office/officeart/2005/8/layout/StepDown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FA9C9C13-B11B-40F9-8EFC-D9CC92CE6C6D}">
      <dgm:prSet/>
      <dgm:spPr>
        <a:solidFill>
          <a:srgbClr val="FF6600"/>
        </a:solidFill>
      </dgm:spPr>
      <dgm:t>
        <a:bodyPr/>
        <a:lstStyle/>
        <a:p>
          <a:pPr rtl="0"/>
          <a:r>
            <a:rPr lang="zh-CN" b="1" dirty="0" smtClean="0"/>
            <a:t>对于给定二次型写出其矩阵</a:t>
          </a:r>
          <a:endParaRPr lang="zh-CN" dirty="0"/>
        </a:p>
      </dgm:t>
    </dgm:pt>
    <dgm:pt modelId="{0C4F7380-BFCC-4BB3-9430-31517D036EC5}" type="parTrans" cxnId="{A11BA049-8137-4D42-853B-407356451DDB}">
      <dgm:prSet/>
      <dgm:spPr/>
      <dgm:t>
        <a:bodyPr/>
        <a:lstStyle/>
        <a:p>
          <a:endParaRPr lang="zh-CN" altLang="en-US"/>
        </a:p>
      </dgm:t>
    </dgm:pt>
    <dgm:pt modelId="{61E6ABA0-FB74-452B-882A-45C3EF6D5C79}" type="sibTrans" cxnId="{A11BA049-8137-4D42-853B-407356451DDB}">
      <dgm:prSet/>
      <dgm:spPr/>
      <dgm:t>
        <a:bodyPr/>
        <a:lstStyle/>
        <a:p>
          <a:endParaRPr lang="zh-CN" altLang="en-US"/>
        </a:p>
      </dgm:t>
    </dgm:pt>
    <dgm:pt modelId="{A873E46B-5FFF-4AEE-A35A-5DDFF7FD1484}">
      <dgm:prSet/>
      <dgm:spPr/>
      <dgm:t>
        <a:bodyPr/>
        <a:lstStyle/>
        <a:p>
          <a:pPr rtl="0"/>
          <a:r>
            <a:rPr lang="zh-CN" b="1" dirty="0" smtClean="0"/>
            <a:t>将其正交相似对角化</a:t>
          </a:r>
          <a:endParaRPr lang="zh-CN" dirty="0"/>
        </a:p>
      </dgm:t>
    </dgm:pt>
    <dgm:pt modelId="{33D907E4-4D0C-4BD0-B484-A796254420D1}" type="parTrans" cxnId="{85EEDCB6-EFB8-46A1-BAAF-0A4E25D37CB4}">
      <dgm:prSet/>
      <dgm:spPr/>
      <dgm:t>
        <a:bodyPr/>
        <a:lstStyle/>
        <a:p>
          <a:endParaRPr lang="zh-CN" altLang="en-US"/>
        </a:p>
      </dgm:t>
    </dgm:pt>
    <dgm:pt modelId="{9BF2FBFE-7B12-448C-99CB-770626520130}" type="sibTrans" cxnId="{85EEDCB6-EFB8-46A1-BAAF-0A4E25D37CB4}">
      <dgm:prSet/>
      <dgm:spPr/>
      <dgm:t>
        <a:bodyPr/>
        <a:lstStyle/>
        <a:p>
          <a:endParaRPr lang="zh-CN" altLang="en-US"/>
        </a:p>
      </dgm:t>
    </dgm:pt>
    <dgm:pt modelId="{AC9528EB-98CA-4B68-9B03-056D9C74A83E}">
      <dgm:prSet/>
      <dgm:spPr/>
      <dgm:t>
        <a:bodyPr/>
        <a:lstStyle/>
        <a:p>
          <a:pPr rtl="0"/>
          <a:r>
            <a:rPr lang="zh-CN" b="1" smtClean="0"/>
            <a:t>写结论</a:t>
          </a:r>
          <a:endParaRPr lang="zh-CN"/>
        </a:p>
      </dgm:t>
    </dgm:pt>
    <dgm:pt modelId="{B6685F5D-F1F3-4B76-89CA-85BB47816EBB}" type="parTrans" cxnId="{6ED64FEB-673F-408A-91DE-C1BC7F605261}">
      <dgm:prSet/>
      <dgm:spPr/>
      <dgm:t>
        <a:bodyPr/>
        <a:lstStyle/>
        <a:p>
          <a:endParaRPr lang="zh-CN" altLang="en-US"/>
        </a:p>
      </dgm:t>
    </dgm:pt>
    <dgm:pt modelId="{9FF14C71-0E6A-4865-A412-00024A3B2C88}" type="sibTrans" cxnId="{6ED64FEB-673F-408A-91DE-C1BC7F605261}">
      <dgm:prSet/>
      <dgm:spPr/>
      <dgm:t>
        <a:bodyPr/>
        <a:lstStyle/>
        <a:p>
          <a:endParaRPr lang="zh-CN" altLang="en-US"/>
        </a:p>
      </dgm:t>
    </dgm:pt>
    <dgm:pt modelId="{BCD92E2A-EF6B-40AB-9B42-200C67F3093A}" type="pres">
      <dgm:prSet presAssocID="{2EC6314C-6C6C-4780-ABC0-A804F1D74EE2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6B71EC65-2482-4236-BCFD-DD0CE338D3D2}" type="pres">
      <dgm:prSet presAssocID="{FA9C9C13-B11B-40F9-8EFC-D9CC92CE6C6D}" presName="composite" presStyleCnt="0"/>
      <dgm:spPr/>
    </dgm:pt>
    <dgm:pt modelId="{9552BCE3-B9EE-4461-9457-DC9896B2A64D}" type="pres">
      <dgm:prSet presAssocID="{FA9C9C13-B11B-40F9-8EFC-D9CC92CE6C6D}" presName="bentUpArrow1" presStyleLbl="alignImgPlace1" presStyleIdx="0" presStyleCnt="2" custAng="5400000" custFlipHor="0" custLinFactX="8857" custLinFactNeighborX="100000" custLinFactNeighborY="-87323"/>
      <dgm:spPr>
        <a:solidFill>
          <a:schemeClr val="bg2">
            <a:lumMod val="90000"/>
          </a:schemeClr>
        </a:solidFill>
      </dgm:spPr>
    </dgm:pt>
    <dgm:pt modelId="{1C9FF050-1972-4DEF-BD5C-46C1D17185A3}" type="pres">
      <dgm:prSet presAssocID="{FA9C9C13-B11B-40F9-8EFC-D9CC92CE6C6D}" presName="ParentText" presStyleLbl="node1" presStyleIdx="0" presStyleCnt="3" custScaleX="116018" custLinFactX="49492" custLinFactNeighborX="100000" custLinFactNeighborY="1297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0493981-B6F7-4669-B1E8-9E2740C79146}" type="pres">
      <dgm:prSet presAssocID="{FA9C9C13-B11B-40F9-8EFC-D9CC92CE6C6D}" presName="Child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16E36CEC-154E-4198-81C3-3FBD38F5D71F}" type="pres">
      <dgm:prSet presAssocID="{61E6ABA0-FB74-452B-882A-45C3EF6D5C79}" presName="sibTrans" presStyleCnt="0"/>
      <dgm:spPr/>
    </dgm:pt>
    <dgm:pt modelId="{93FE290E-1506-4A17-9BB2-97BC5CE16241}" type="pres">
      <dgm:prSet presAssocID="{A873E46B-5FFF-4AEE-A35A-5DDFF7FD1484}" presName="composite" presStyleCnt="0"/>
      <dgm:spPr/>
    </dgm:pt>
    <dgm:pt modelId="{84B02DCC-6CA2-412F-8904-5FCE136163B8}" type="pres">
      <dgm:prSet presAssocID="{A873E46B-5FFF-4AEE-A35A-5DDFF7FD1484}" presName="bentUpArrow1" presStyleLbl="alignImgPlace1" presStyleIdx="1" presStyleCnt="2" custAng="5400000" custFlipHor="0" custLinFactX="-41979" custLinFactNeighborX="-100000" custLinFactNeighborY="-84437"/>
      <dgm:spPr>
        <a:solidFill>
          <a:schemeClr val="bg2">
            <a:lumMod val="90000"/>
          </a:schemeClr>
        </a:solidFill>
      </dgm:spPr>
    </dgm:pt>
    <dgm:pt modelId="{D056E5E2-72F3-421A-9CF2-EAFC66ED3A17}" type="pres">
      <dgm:prSet presAssocID="{A873E46B-5FFF-4AEE-A35A-5DDFF7FD1484}" presName="ParentText" presStyleLbl="node1" presStyleIdx="1" presStyleCnt="3" custLinFactNeighborX="-20877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B67B8C1-41D3-4FC0-9B44-08AAFD1D26AC}" type="pres">
      <dgm:prSet presAssocID="{A873E46B-5FFF-4AEE-A35A-5DDFF7FD1484}" presName="ChildText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BE8374CF-000B-4881-B4FA-43026749629B}" type="pres">
      <dgm:prSet presAssocID="{9BF2FBFE-7B12-448C-99CB-770626520130}" presName="sibTrans" presStyleCnt="0"/>
      <dgm:spPr/>
    </dgm:pt>
    <dgm:pt modelId="{F777A68E-4D9F-45CA-99FF-78123CE3F7C6}" type="pres">
      <dgm:prSet presAssocID="{AC9528EB-98CA-4B68-9B03-056D9C74A83E}" presName="composite" presStyleCnt="0"/>
      <dgm:spPr/>
    </dgm:pt>
    <dgm:pt modelId="{5D0B37CE-6C84-4320-80AB-9915B18EF4DB}" type="pres">
      <dgm:prSet presAssocID="{AC9528EB-98CA-4B68-9B03-056D9C74A83E}" presName="ParentText" presStyleLbl="node1" presStyleIdx="2" presStyleCnt="3" custLinFactX="-86808" custLinFactNeighborX="-100000" custLinFactNeighborY="3693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1F2EDBE-641F-4C80-9FB0-0E2206AE3B5B}" type="presOf" srcId="{A873E46B-5FFF-4AEE-A35A-5DDFF7FD1484}" destId="{D056E5E2-72F3-421A-9CF2-EAFC66ED3A17}" srcOrd="0" destOrd="0" presId="urn:microsoft.com/office/officeart/2005/8/layout/StepDownProcess"/>
    <dgm:cxn modelId="{37FC68F4-C990-4E3E-9A3D-692A8699C68A}" type="presOf" srcId="{AC9528EB-98CA-4B68-9B03-056D9C74A83E}" destId="{5D0B37CE-6C84-4320-80AB-9915B18EF4DB}" srcOrd="0" destOrd="0" presId="urn:microsoft.com/office/officeart/2005/8/layout/StepDownProcess"/>
    <dgm:cxn modelId="{6ED64FEB-673F-408A-91DE-C1BC7F605261}" srcId="{2EC6314C-6C6C-4780-ABC0-A804F1D74EE2}" destId="{AC9528EB-98CA-4B68-9B03-056D9C74A83E}" srcOrd="2" destOrd="0" parTransId="{B6685F5D-F1F3-4B76-89CA-85BB47816EBB}" sibTransId="{9FF14C71-0E6A-4865-A412-00024A3B2C88}"/>
    <dgm:cxn modelId="{CCFA4636-86F5-49D4-BAAA-C9A207AECED0}" type="presOf" srcId="{FA9C9C13-B11B-40F9-8EFC-D9CC92CE6C6D}" destId="{1C9FF050-1972-4DEF-BD5C-46C1D17185A3}" srcOrd="0" destOrd="0" presId="urn:microsoft.com/office/officeart/2005/8/layout/StepDownProcess"/>
    <dgm:cxn modelId="{85EEDCB6-EFB8-46A1-BAAF-0A4E25D37CB4}" srcId="{2EC6314C-6C6C-4780-ABC0-A804F1D74EE2}" destId="{A873E46B-5FFF-4AEE-A35A-5DDFF7FD1484}" srcOrd="1" destOrd="0" parTransId="{33D907E4-4D0C-4BD0-B484-A796254420D1}" sibTransId="{9BF2FBFE-7B12-448C-99CB-770626520130}"/>
    <dgm:cxn modelId="{A11BA049-8137-4D42-853B-407356451DDB}" srcId="{2EC6314C-6C6C-4780-ABC0-A804F1D74EE2}" destId="{FA9C9C13-B11B-40F9-8EFC-D9CC92CE6C6D}" srcOrd="0" destOrd="0" parTransId="{0C4F7380-BFCC-4BB3-9430-31517D036EC5}" sibTransId="{61E6ABA0-FB74-452B-882A-45C3EF6D5C79}"/>
    <dgm:cxn modelId="{90FCB8A0-34B8-4714-A8BF-4E902E9DF6D0}" type="presOf" srcId="{2EC6314C-6C6C-4780-ABC0-A804F1D74EE2}" destId="{BCD92E2A-EF6B-40AB-9B42-200C67F3093A}" srcOrd="0" destOrd="0" presId="urn:microsoft.com/office/officeart/2005/8/layout/StepDownProcess"/>
    <dgm:cxn modelId="{D057200F-1985-4688-A756-B91C6C0126C0}" type="presParOf" srcId="{BCD92E2A-EF6B-40AB-9B42-200C67F3093A}" destId="{6B71EC65-2482-4236-BCFD-DD0CE338D3D2}" srcOrd="0" destOrd="0" presId="urn:microsoft.com/office/officeart/2005/8/layout/StepDownProcess"/>
    <dgm:cxn modelId="{D250F3D9-7145-4878-B36B-AF992893FB4C}" type="presParOf" srcId="{6B71EC65-2482-4236-BCFD-DD0CE338D3D2}" destId="{9552BCE3-B9EE-4461-9457-DC9896B2A64D}" srcOrd="0" destOrd="0" presId="urn:microsoft.com/office/officeart/2005/8/layout/StepDownProcess"/>
    <dgm:cxn modelId="{A7D0CE46-8FB5-47A4-A535-58BD4AB0FF16}" type="presParOf" srcId="{6B71EC65-2482-4236-BCFD-DD0CE338D3D2}" destId="{1C9FF050-1972-4DEF-BD5C-46C1D17185A3}" srcOrd="1" destOrd="0" presId="urn:microsoft.com/office/officeart/2005/8/layout/StepDownProcess"/>
    <dgm:cxn modelId="{9B0D9CCB-2DCF-4195-BA18-664A2DC838D1}" type="presParOf" srcId="{6B71EC65-2482-4236-BCFD-DD0CE338D3D2}" destId="{60493981-B6F7-4669-B1E8-9E2740C79146}" srcOrd="2" destOrd="0" presId="urn:microsoft.com/office/officeart/2005/8/layout/StepDownProcess"/>
    <dgm:cxn modelId="{94AE81FC-CF99-4911-BC11-1AA689D9D4F2}" type="presParOf" srcId="{BCD92E2A-EF6B-40AB-9B42-200C67F3093A}" destId="{16E36CEC-154E-4198-81C3-3FBD38F5D71F}" srcOrd="1" destOrd="0" presId="urn:microsoft.com/office/officeart/2005/8/layout/StepDownProcess"/>
    <dgm:cxn modelId="{EAECD016-6CAA-41C8-A966-CE8FE6AF8F0D}" type="presParOf" srcId="{BCD92E2A-EF6B-40AB-9B42-200C67F3093A}" destId="{93FE290E-1506-4A17-9BB2-97BC5CE16241}" srcOrd="2" destOrd="0" presId="urn:microsoft.com/office/officeart/2005/8/layout/StepDownProcess"/>
    <dgm:cxn modelId="{4CCF982D-85B0-4BE8-8B30-64DF33790A4E}" type="presParOf" srcId="{93FE290E-1506-4A17-9BB2-97BC5CE16241}" destId="{84B02DCC-6CA2-412F-8904-5FCE136163B8}" srcOrd="0" destOrd="0" presId="urn:microsoft.com/office/officeart/2005/8/layout/StepDownProcess"/>
    <dgm:cxn modelId="{180E00DA-B954-4786-8421-C4581B9BFFF5}" type="presParOf" srcId="{93FE290E-1506-4A17-9BB2-97BC5CE16241}" destId="{D056E5E2-72F3-421A-9CF2-EAFC66ED3A17}" srcOrd="1" destOrd="0" presId="urn:microsoft.com/office/officeart/2005/8/layout/StepDownProcess"/>
    <dgm:cxn modelId="{1DC95A30-070A-485E-8BAD-FF19FB880BE9}" type="presParOf" srcId="{93FE290E-1506-4A17-9BB2-97BC5CE16241}" destId="{8B67B8C1-41D3-4FC0-9B44-08AAFD1D26AC}" srcOrd="2" destOrd="0" presId="urn:microsoft.com/office/officeart/2005/8/layout/StepDownProcess"/>
    <dgm:cxn modelId="{5AB999DF-7DD4-4989-B24B-046EA38676DB}" type="presParOf" srcId="{BCD92E2A-EF6B-40AB-9B42-200C67F3093A}" destId="{BE8374CF-000B-4881-B4FA-43026749629B}" srcOrd="3" destOrd="0" presId="urn:microsoft.com/office/officeart/2005/8/layout/StepDownProcess"/>
    <dgm:cxn modelId="{B1BB8CAD-62CA-4949-ADBA-E4363404D88F}" type="presParOf" srcId="{BCD92E2A-EF6B-40AB-9B42-200C67F3093A}" destId="{F777A68E-4D9F-45CA-99FF-78123CE3F7C6}" srcOrd="4" destOrd="0" presId="urn:microsoft.com/office/officeart/2005/8/layout/StepDownProcess"/>
    <dgm:cxn modelId="{1B46D865-9650-42A1-8B22-914ACA89EFB1}" type="presParOf" srcId="{F777A68E-4D9F-45CA-99FF-78123CE3F7C6}" destId="{5D0B37CE-6C84-4320-80AB-9915B18EF4DB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52BCE3-B9EE-4461-9457-DC9896B2A64D}">
      <dsp:nvSpPr>
        <dsp:cNvPr id="0" name=""/>
        <dsp:cNvSpPr/>
      </dsp:nvSpPr>
      <dsp:spPr>
        <a:xfrm rot="10800000">
          <a:off x="3216531" y="299545"/>
          <a:ext cx="1163452" cy="132455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bg2">
            <a:lumMod val="9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9FF050-1972-4DEF-BD5C-46C1D17185A3}">
      <dsp:nvSpPr>
        <dsp:cNvPr id="0" name=""/>
        <dsp:cNvSpPr/>
      </dsp:nvSpPr>
      <dsp:spPr>
        <a:xfrm>
          <a:off x="4237464" y="43577"/>
          <a:ext cx="2272293" cy="1370935"/>
        </a:xfrm>
        <a:prstGeom prst="roundRect">
          <a:avLst>
            <a:gd name="adj" fmla="val 16670"/>
          </a:avLst>
        </a:prstGeom>
        <a:solidFill>
          <a:srgbClr val="FF66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500" b="1" kern="1200" dirty="0" smtClean="0"/>
            <a:t>对于给定二次型写出其矩阵</a:t>
          </a:r>
          <a:endParaRPr lang="zh-CN" sz="2500" kern="1200" dirty="0"/>
        </a:p>
      </dsp:txBody>
      <dsp:txXfrm>
        <a:off x="4304400" y="110513"/>
        <a:ext cx="2138421" cy="1237063"/>
      </dsp:txXfrm>
    </dsp:sp>
    <dsp:sp modelId="{60493981-B6F7-4669-B1E8-9E2740C79146}">
      <dsp:nvSpPr>
        <dsp:cNvPr id="0" name=""/>
        <dsp:cNvSpPr/>
      </dsp:nvSpPr>
      <dsp:spPr>
        <a:xfrm>
          <a:off x="3424991" y="156546"/>
          <a:ext cx="1424477" cy="1108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B02DCC-6CA2-412F-8904-5FCE136163B8}">
      <dsp:nvSpPr>
        <dsp:cNvPr id="0" name=""/>
        <dsp:cNvSpPr/>
      </dsp:nvSpPr>
      <dsp:spPr>
        <a:xfrm rot="10800000">
          <a:off x="1436377" y="1873135"/>
          <a:ext cx="1163452" cy="1324550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bg2">
            <a:lumMod val="9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56E5E2-72F3-421A-9CF2-EAFC66ED3A17}">
      <dsp:nvSpPr>
        <dsp:cNvPr id="0" name=""/>
        <dsp:cNvSpPr/>
      </dsp:nvSpPr>
      <dsp:spPr>
        <a:xfrm>
          <a:off x="2599824" y="1565809"/>
          <a:ext cx="1958569" cy="1370935"/>
        </a:xfrm>
        <a:prstGeom prst="roundRect">
          <a:avLst>
            <a:gd name="adj" fmla="val 16670"/>
          </a:avLst>
        </a:prstGeom>
        <a:solidFill>
          <a:schemeClr val="accent5">
            <a:hueOff val="-3676673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500" b="1" kern="1200" dirty="0" smtClean="0"/>
            <a:t>将其正交相似对角化</a:t>
          </a:r>
          <a:endParaRPr lang="zh-CN" sz="2500" kern="1200" dirty="0"/>
        </a:p>
      </dsp:txBody>
      <dsp:txXfrm>
        <a:off x="2666760" y="1632745"/>
        <a:ext cx="1824697" cy="1237063"/>
      </dsp:txXfrm>
    </dsp:sp>
    <dsp:sp modelId="{8B67B8C1-41D3-4FC0-9B44-08AAFD1D26AC}">
      <dsp:nvSpPr>
        <dsp:cNvPr id="0" name=""/>
        <dsp:cNvSpPr/>
      </dsp:nvSpPr>
      <dsp:spPr>
        <a:xfrm>
          <a:off x="4967285" y="1696559"/>
          <a:ext cx="1424477" cy="1108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0B37CE-6C84-4320-80AB-9915B18EF4DB}">
      <dsp:nvSpPr>
        <dsp:cNvPr id="0" name=""/>
        <dsp:cNvSpPr/>
      </dsp:nvSpPr>
      <dsp:spPr>
        <a:xfrm>
          <a:off x="1049106" y="3131618"/>
          <a:ext cx="1958569" cy="1370935"/>
        </a:xfrm>
        <a:prstGeom prst="roundRect">
          <a:avLst>
            <a:gd name="adj" fmla="val 16670"/>
          </a:avLst>
        </a:prstGeom>
        <a:solidFill>
          <a:schemeClr val="accent5">
            <a:hueOff val="-7353345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500" b="1" kern="1200" smtClean="0"/>
            <a:t>写结论</a:t>
          </a:r>
          <a:endParaRPr lang="zh-CN" sz="2500" kern="1200"/>
        </a:p>
      </dsp:txBody>
      <dsp:txXfrm>
        <a:off x="1116042" y="3198554"/>
        <a:ext cx="1824697" cy="12370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12" Type="http://schemas.openxmlformats.org/officeDocument/2006/relationships/image" Target="../media/image20.wmf"/><Relationship Id="rId2" Type="http://schemas.openxmlformats.org/officeDocument/2006/relationships/image" Target="../media/image7.wmf"/><Relationship Id="rId1" Type="http://schemas.openxmlformats.org/officeDocument/2006/relationships/image" Target="../media/image4.wmf"/><Relationship Id="rId6" Type="http://schemas.openxmlformats.org/officeDocument/2006/relationships/image" Target="../media/image14.wmf"/><Relationship Id="rId11" Type="http://schemas.openxmlformats.org/officeDocument/2006/relationships/image" Target="../media/image19.wmf"/><Relationship Id="rId5" Type="http://schemas.openxmlformats.org/officeDocument/2006/relationships/image" Target="../media/image13.wmf"/><Relationship Id="rId10" Type="http://schemas.openxmlformats.org/officeDocument/2006/relationships/image" Target="../media/image18.wmf"/><Relationship Id="rId4" Type="http://schemas.openxmlformats.org/officeDocument/2006/relationships/image" Target="../media/image12.wmf"/><Relationship Id="rId9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Relationship Id="rId9" Type="http://schemas.openxmlformats.org/officeDocument/2006/relationships/image" Target="../media/image4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7" Type="http://schemas.openxmlformats.org/officeDocument/2006/relationships/image" Target="../media/image48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image" Target="../media/image53.wmf"/><Relationship Id="rId7" Type="http://schemas.openxmlformats.org/officeDocument/2006/relationships/image" Target="../media/image46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56.wmf"/><Relationship Id="rId11" Type="http://schemas.openxmlformats.org/officeDocument/2006/relationships/image" Target="../media/image58.wmf"/><Relationship Id="rId5" Type="http://schemas.openxmlformats.org/officeDocument/2006/relationships/image" Target="../media/image55.wmf"/><Relationship Id="rId10" Type="http://schemas.openxmlformats.org/officeDocument/2006/relationships/image" Target="../media/image57.wmf"/><Relationship Id="rId4" Type="http://schemas.openxmlformats.org/officeDocument/2006/relationships/image" Target="../media/image54.wmf"/><Relationship Id="rId9" Type="http://schemas.openxmlformats.org/officeDocument/2006/relationships/image" Target="../media/image48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image" Target="../media/image60.wmf"/><Relationship Id="rId7" Type="http://schemas.openxmlformats.org/officeDocument/2006/relationships/image" Target="../media/image63.wmf"/><Relationship Id="rId2" Type="http://schemas.openxmlformats.org/officeDocument/2006/relationships/image" Target="../media/image59.wmf"/><Relationship Id="rId1" Type="http://schemas.openxmlformats.org/officeDocument/2006/relationships/image" Target="../media/image51.wmf"/><Relationship Id="rId6" Type="http://schemas.openxmlformats.org/officeDocument/2006/relationships/image" Target="../media/image54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5" Type="http://schemas.openxmlformats.org/officeDocument/2006/relationships/image" Target="../media/image69.wmf"/><Relationship Id="rId4" Type="http://schemas.openxmlformats.org/officeDocument/2006/relationships/image" Target="../media/image6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4" Type="http://schemas.openxmlformats.org/officeDocument/2006/relationships/image" Target="../media/image73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3" Type="http://schemas.openxmlformats.org/officeDocument/2006/relationships/image" Target="../media/image76.wmf"/><Relationship Id="rId7" Type="http://schemas.openxmlformats.org/officeDocument/2006/relationships/image" Target="../media/image80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6" Type="http://schemas.openxmlformats.org/officeDocument/2006/relationships/image" Target="../media/image79.wmf"/><Relationship Id="rId5" Type="http://schemas.openxmlformats.org/officeDocument/2006/relationships/image" Target="../media/image78.wmf"/><Relationship Id="rId4" Type="http://schemas.openxmlformats.org/officeDocument/2006/relationships/image" Target="../media/image7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7" Type="http://schemas.openxmlformats.org/officeDocument/2006/relationships/image" Target="../media/image88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Relationship Id="rId6" Type="http://schemas.openxmlformats.org/officeDocument/2006/relationships/image" Target="../media/image87.wmf"/><Relationship Id="rId5" Type="http://schemas.openxmlformats.org/officeDocument/2006/relationships/image" Target="../media/image86.wmf"/><Relationship Id="rId4" Type="http://schemas.openxmlformats.org/officeDocument/2006/relationships/image" Target="../media/image85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image" Target="../media/image101.wmf"/><Relationship Id="rId3" Type="http://schemas.openxmlformats.org/officeDocument/2006/relationships/image" Target="../media/image91.wmf"/><Relationship Id="rId7" Type="http://schemas.openxmlformats.org/officeDocument/2006/relationships/image" Target="../media/image95.wmf"/><Relationship Id="rId12" Type="http://schemas.openxmlformats.org/officeDocument/2006/relationships/image" Target="../media/image100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6" Type="http://schemas.openxmlformats.org/officeDocument/2006/relationships/image" Target="../media/image94.wmf"/><Relationship Id="rId11" Type="http://schemas.openxmlformats.org/officeDocument/2006/relationships/image" Target="../media/image99.wmf"/><Relationship Id="rId5" Type="http://schemas.openxmlformats.org/officeDocument/2006/relationships/image" Target="../media/image93.wmf"/><Relationship Id="rId15" Type="http://schemas.openxmlformats.org/officeDocument/2006/relationships/image" Target="../media/image103.wmf"/><Relationship Id="rId10" Type="http://schemas.openxmlformats.org/officeDocument/2006/relationships/image" Target="../media/image98.wmf"/><Relationship Id="rId4" Type="http://schemas.openxmlformats.org/officeDocument/2006/relationships/image" Target="../media/image92.wmf"/><Relationship Id="rId9" Type="http://schemas.openxmlformats.org/officeDocument/2006/relationships/image" Target="../media/image97.wmf"/><Relationship Id="rId14" Type="http://schemas.openxmlformats.org/officeDocument/2006/relationships/image" Target="../media/image102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3" Type="http://schemas.openxmlformats.org/officeDocument/2006/relationships/image" Target="../media/image106.wmf"/><Relationship Id="rId7" Type="http://schemas.openxmlformats.org/officeDocument/2006/relationships/image" Target="../media/image110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13" Type="http://schemas.openxmlformats.org/officeDocument/2006/relationships/image" Target="../media/image124.wmf"/><Relationship Id="rId3" Type="http://schemas.openxmlformats.org/officeDocument/2006/relationships/image" Target="../media/image114.wmf"/><Relationship Id="rId7" Type="http://schemas.openxmlformats.org/officeDocument/2006/relationships/image" Target="../media/image118.wmf"/><Relationship Id="rId12" Type="http://schemas.openxmlformats.org/officeDocument/2006/relationships/image" Target="../media/image123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Relationship Id="rId6" Type="http://schemas.openxmlformats.org/officeDocument/2006/relationships/image" Target="../media/image117.wmf"/><Relationship Id="rId11" Type="http://schemas.openxmlformats.org/officeDocument/2006/relationships/image" Target="../media/image122.wmf"/><Relationship Id="rId5" Type="http://schemas.openxmlformats.org/officeDocument/2006/relationships/image" Target="../media/image116.wmf"/><Relationship Id="rId15" Type="http://schemas.openxmlformats.org/officeDocument/2006/relationships/image" Target="../media/image125.wmf"/><Relationship Id="rId10" Type="http://schemas.openxmlformats.org/officeDocument/2006/relationships/image" Target="../media/image121.wmf"/><Relationship Id="rId4" Type="http://schemas.openxmlformats.org/officeDocument/2006/relationships/image" Target="../media/image115.wmf"/><Relationship Id="rId9" Type="http://schemas.openxmlformats.org/officeDocument/2006/relationships/image" Target="../media/image120.wmf"/><Relationship Id="rId14" Type="http://schemas.openxmlformats.org/officeDocument/2006/relationships/image" Target="../media/image6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7" Type="http://schemas.openxmlformats.org/officeDocument/2006/relationships/image" Target="../media/image130.wmf"/><Relationship Id="rId2" Type="http://schemas.openxmlformats.org/officeDocument/2006/relationships/image" Target="../media/image126.wmf"/><Relationship Id="rId1" Type="http://schemas.openxmlformats.org/officeDocument/2006/relationships/image" Target="../media/image89.wmf"/><Relationship Id="rId6" Type="http://schemas.openxmlformats.org/officeDocument/2006/relationships/image" Target="../media/image129.wmf"/><Relationship Id="rId5" Type="http://schemas.openxmlformats.org/officeDocument/2006/relationships/image" Target="../media/image128.wmf"/><Relationship Id="rId4" Type="http://schemas.openxmlformats.org/officeDocument/2006/relationships/image" Target="../media/image127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3" Type="http://schemas.openxmlformats.org/officeDocument/2006/relationships/image" Target="../media/image132.wmf"/><Relationship Id="rId7" Type="http://schemas.openxmlformats.org/officeDocument/2006/relationships/image" Target="../media/image136.wmf"/><Relationship Id="rId12" Type="http://schemas.openxmlformats.org/officeDocument/2006/relationships/image" Target="../media/image141.wmf"/><Relationship Id="rId2" Type="http://schemas.openxmlformats.org/officeDocument/2006/relationships/image" Target="../media/image131.wmf"/><Relationship Id="rId1" Type="http://schemas.openxmlformats.org/officeDocument/2006/relationships/image" Target="../media/image104.wmf"/><Relationship Id="rId6" Type="http://schemas.openxmlformats.org/officeDocument/2006/relationships/image" Target="../media/image135.wmf"/><Relationship Id="rId11" Type="http://schemas.openxmlformats.org/officeDocument/2006/relationships/image" Target="../media/image140.wmf"/><Relationship Id="rId5" Type="http://schemas.openxmlformats.org/officeDocument/2006/relationships/image" Target="../media/image134.wmf"/><Relationship Id="rId10" Type="http://schemas.openxmlformats.org/officeDocument/2006/relationships/image" Target="../media/image139.wmf"/><Relationship Id="rId4" Type="http://schemas.openxmlformats.org/officeDocument/2006/relationships/image" Target="../media/image133.wmf"/><Relationship Id="rId9" Type="http://schemas.openxmlformats.org/officeDocument/2006/relationships/image" Target="../media/image138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FA301-845D-425A-BD8B-92C2912188AE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65DF3D-F602-47D2-81AF-FFA7EB3996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963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线性代数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445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1806" y="161741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525195" y="915711"/>
            <a:ext cx="11133406" cy="140677"/>
            <a:chOff x="478302" y="1098594"/>
            <a:chExt cx="11133406" cy="140677"/>
          </a:xfrm>
        </p:grpSpPr>
        <p:cxnSp>
          <p:nvCxnSpPr>
            <p:cNvPr id="12" name="直接连接符 11"/>
            <p:cNvCxnSpPr/>
            <p:nvPr userDrawn="1"/>
          </p:nvCxnSpPr>
          <p:spPr>
            <a:xfrm>
              <a:off x="478302" y="1098594"/>
              <a:ext cx="11133406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 userDrawn="1"/>
          </p:nvSpPr>
          <p:spPr>
            <a:xfrm>
              <a:off x="478302" y="1098594"/>
              <a:ext cx="6386732" cy="140677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26" name="Picture 2" descr="top_img[1]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06"/>
          <a:stretch>
            <a:fillRect/>
          </a:stretch>
        </p:blipFill>
        <p:spPr bwMode="auto">
          <a:xfrm>
            <a:off x="525195" y="0"/>
            <a:ext cx="3649955" cy="88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1385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5463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98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253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990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49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707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95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98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675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7" descr="4校标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" y="36776"/>
            <a:ext cx="6718242" cy="669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1298" y="2181443"/>
            <a:ext cx="12192000" cy="2690766"/>
            <a:chOff x="0" y="1966958"/>
            <a:chExt cx="12192000" cy="2690766"/>
          </a:xfrm>
        </p:grpSpPr>
        <p:sp>
          <p:nvSpPr>
            <p:cNvPr id="8" name="矩形 7"/>
            <p:cNvSpPr/>
            <p:nvPr/>
          </p:nvSpPr>
          <p:spPr bwMode="auto">
            <a:xfrm>
              <a:off x="0" y="1966958"/>
              <a:ext cx="12192000" cy="2690766"/>
            </a:xfrm>
            <a:prstGeom prst="rect">
              <a:avLst/>
            </a:prstGeom>
            <a:solidFill>
              <a:srgbClr val="284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itchFamily="34" charset="0"/>
                <a:ea typeface="微软雅黑" pitchFamily="34" charset="-122"/>
                <a:sym typeface="Arial" pitchFamily="34" charset="0"/>
              </a:endParaRPr>
            </a:p>
          </p:txBody>
        </p:sp>
        <p:pic>
          <p:nvPicPr>
            <p:cNvPr id="9" name="图片 17" descr="4校标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32" y="2159818"/>
              <a:ext cx="2112433" cy="21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直接连接符 9"/>
            <p:cNvCxnSpPr/>
            <p:nvPr userDrawn="1"/>
          </p:nvCxnSpPr>
          <p:spPr>
            <a:xfrm>
              <a:off x="3016249" y="3182938"/>
              <a:ext cx="9144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6"/>
          <p:cNvSpPr txBox="1">
            <a:spLocks noChangeArrowheads="1"/>
          </p:cNvSpPr>
          <p:nvPr userDrawn="1"/>
        </p:nvSpPr>
        <p:spPr bwMode="auto">
          <a:xfrm>
            <a:off x="2779663" y="2548386"/>
            <a:ext cx="9652000" cy="71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线性代数 </a:t>
            </a:r>
            <a:r>
              <a:rPr lang="en-US" altLang="zh-CN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—— </a:t>
            </a:r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第五章 二次型</a:t>
            </a:r>
            <a:endParaRPr lang="en-US" altLang="zh-CN" sz="4000" b="1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12" name="文本框 32"/>
          <p:cNvSpPr txBox="1">
            <a:spLocks noChangeArrowheads="1"/>
          </p:cNvSpPr>
          <p:nvPr userDrawn="1"/>
        </p:nvSpPr>
        <p:spPr bwMode="auto">
          <a:xfrm>
            <a:off x="2333567" y="3526826"/>
            <a:ext cx="9652000" cy="60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      </a:t>
            </a:r>
            <a:r>
              <a:rPr lang="en-US" altLang="zh-CN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5.1</a:t>
            </a:r>
            <a:r>
              <a:rPr lang="en-US" altLang="zh-CN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</a:t>
            </a:r>
            <a:r>
              <a:rPr lang="zh-CN" altLang="en-US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二次型及其矩阵表示</a:t>
            </a:r>
            <a:endParaRPr lang="zh-CN" altLang="en-US" sz="3200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820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333375"/>
            <a:ext cx="10972800" cy="5792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C2B4C9-B586-4D9C-86C5-01BF372C4C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5776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线性代数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2018/5/9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9980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1806" y="161741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2018/5/9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525195" y="915711"/>
            <a:ext cx="11133406" cy="140677"/>
            <a:chOff x="478302" y="1098594"/>
            <a:chExt cx="11133406" cy="140677"/>
          </a:xfrm>
        </p:grpSpPr>
        <p:cxnSp>
          <p:nvCxnSpPr>
            <p:cNvPr id="12" name="直接连接符 11"/>
            <p:cNvCxnSpPr/>
            <p:nvPr userDrawn="1"/>
          </p:nvCxnSpPr>
          <p:spPr>
            <a:xfrm>
              <a:off x="478302" y="1098594"/>
              <a:ext cx="11133406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 userDrawn="1"/>
          </p:nvSpPr>
          <p:spPr>
            <a:xfrm>
              <a:off x="478302" y="1098594"/>
              <a:ext cx="6386732" cy="140677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026" name="Picture 2" descr="top_img[1]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06"/>
          <a:stretch>
            <a:fillRect/>
          </a:stretch>
        </p:blipFill>
        <p:spPr bwMode="auto">
          <a:xfrm>
            <a:off x="525195" y="0"/>
            <a:ext cx="3649955" cy="88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86731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2018/5/9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2466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2018/5/9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8133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2018/5/9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1535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2018/5/9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0014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2018/5/9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6903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2018/5/9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6935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2018/5/9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093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2018/5/9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4325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2018/5/9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8343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7" descr="4校标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" y="36776"/>
            <a:ext cx="6718242" cy="669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2018/5/9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1298" y="2181443"/>
            <a:ext cx="12192000" cy="2690766"/>
            <a:chOff x="0" y="1966958"/>
            <a:chExt cx="12192000" cy="2690766"/>
          </a:xfrm>
        </p:grpSpPr>
        <p:sp>
          <p:nvSpPr>
            <p:cNvPr id="8" name="矩形 7"/>
            <p:cNvSpPr/>
            <p:nvPr/>
          </p:nvSpPr>
          <p:spPr bwMode="auto">
            <a:xfrm>
              <a:off x="0" y="1966958"/>
              <a:ext cx="12192000" cy="2690766"/>
            </a:xfrm>
            <a:prstGeom prst="rect">
              <a:avLst/>
            </a:prstGeom>
            <a:solidFill>
              <a:srgbClr val="284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endParaRPr>
            </a:p>
          </p:txBody>
        </p:sp>
        <p:pic>
          <p:nvPicPr>
            <p:cNvPr id="9" name="图片 17" descr="4校标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32" y="2159818"/>
              <a:ext cx="2112433" cy="21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直接连接符 9"/>
            <p:cNvCxnSpPr/>
            <p:nvPr userDrawn="1"/>
          </p:nvCxnSpPr>
          <p:spPr>
            <a:xfrm>
              <a:off x="3016249" y="3182938"/>
              <a:ext cx="9144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6"/>
          <p:cNvSpPr txBox="1">
            <a:spLocks noChangeArrowheads="1"/>
          </p:cNvSpPr>
          <p:nvPr userDrawn="1"/>
        </p:nvSpPr>
        <p:spPr bwMode="auto">
          <a:xfrm>
            <a:off x="2779663" y="2548386"/>
            <a:ext cx="9652000" cy="71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4000" b="1" dirty="0" smtClean="0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线性代数 </a:t>
            </a:r>
            <a:r>
              <a:rPr lang="en-US" altLang="zh-CN" sz="4000" b="1" dirty="0" smtClean="0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—— </a:t>
            </a:r>
            <a:r>
              <a:rPr lang="zh-CN" altLang="en-US" sz="4000" b="1" dirty="0" smtClean="0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第五章 二次型</a:t>
            </a:r>
            <a:endParaRPr lang="en-US" altLang="zh-CN" sz="4000" b="1" dirty="0">
              <a:solidFill>
                <a:prstClr val="white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12" name="文本框 32"/>
          <p:cNvSpPr txBox="1">
            <a:spLocks noChangeArrowheads="1"/>
          </p:cNvSpPr>
          <p:nvPr userDrawn="1"/>
        </p:nvSpPr>
        <p:spPr bwMode="auto">
          <a:xfrm>
            <a:off x="2333567" y="3526826"/>
            <a:ext cx="9652000" cy="60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dirty="0" smtClean="0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      </a:t>
            </a:r>
            <a:r>
              <a:rPr lang="en-US" altLang="zh-CN" sz="3200" dirty="0" smtClean="0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5.2 </a:t>
            </a:r>
            <a:r>
              <a:rPr lang="zh-CN" altLang="en-US" sz="3200" dirty="0" smtClean="0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二次型化标准形</a:t>
            </a:r>
            <a:endParaRPr lang="zh-CN" altLang="en-US" sz="3200" dirty="0">
              <a:solidFill>
                <a:prstClr val="white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151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50789-27F0-408F-9528-9DD877FE9CA3}" type="datetimeFigureOut">
              <a:rPr lang="zh-CN" altLang="en-US" smtClean="0"/>
              <a:t>2018/5/9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72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2018/5/9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893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3.bin"/><Relationship Id="rId18" Type="http://schemas.openxmlformats.org/officeDocument/2006/relationships/image" Target="../media/image16.wmf"/><Relationship Id="rId26" Type="http://schemas.openxmlformats.org/officeDocument/2006/relationships/image" Target="../media/image20.wmf"/><Relationship Id="rId3" Type="http://schemas.openxmlformats.org/officeDocument/2006/relationships/oleObject" Target="../embeddings/oleObject8.bin"/><Relationship Id="rId21" Type="http://schemas.openxmlformats.org/officeDocument/2006/relationships/oleObject" Target="../embeddings/oleObject17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15.bin"/><Relationship Id="rId25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.wmf"/><Relationship Id="rId20" Type="http://schemas.openxmlformats.org/officeDocument/2006/relationships/image" Target="../media/image17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12.bin"/><Relationship Id="rId24" Type="http://schemas.openxmlformats.org/officeDocument/2006/relationships/image" Target="../media/image19.wmf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23" Type="http://schemas.openxmlformats.org/officeDocument/2006/relationships/oleObject" Target="../embeddings/oleObject18.bin"/><Relationship Id="rId10" Type="http://schemas.openxmlformats.org/officeDocument/2006/relationships/image" Target="../media/image12.wmf"/><Relationship Id="rId19" Type="http://schemas.openxmlformats.org/officeDocument/2006/relationships/oleObject" Target="../embeddings/oleObject16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4.wmf"/><Relationship Id="rId22" Type="http://schemas.openxmlformats.org/officeDocument/2006/relationships/image" Target="../media/image18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25.wmf"/><Relationship Id="rId3" Type="http://schemas.openxmlformats.org/officeDocument/2006/relationships/oleObject" Target="../embeddings/oleObject20.bin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4.wmf"/><Relationship Id="rId5" Type="http://schemas.openxmlformats.org/officeDocument/2006/relationships/oleObject" Target="../embeddings/oleObject21.bin"/><Relationship Id="rId15" Type="http://schemas.openxmlformats.org/officeDocument/2006/relationships/image" Target="../media/image26.wmf"/><Relationship Id="rId10" Type="http://schemas.openxmlformats.org/officeDocument/2006/relationships/oleObject" Target="../embeddings/oleObject24.bin"/><Relationship Id="rId4" Type="http://schemas.openxmlformats.org/officeDocument/2006/relationships/image" Target="../media/image21.wmf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2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32.bin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2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39.bin"/><Relationship Id="rId18" Type="http://schemas.openxmlformats.org/officeDocument/2006/relationships/image" Target="../media/image39.wmf"/><Relationship Id="rId3" Type="http://schemas.openxmlformats.org/officeDocument/2006/relationships/oleObject" Target="../embeddings/oleObject33.bin"/><Relationship Id="rId21" Type="http://schemas.openxmlformats.org/officeDocument/2006/relationships/oleObject" Target="../embeddings/oleObject4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36.wmf"/><Relationship Id="rId17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8.wmf"/><Relationship Id="rId20" Type="http://schemas.openxmlformats.org/officeDocument/2006/relationships/image" Target="../media/image40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40.bin"/><Relationship Id="rId10" Type="http://schemas.openxmlformats.org/officeDocument/2006/relationships/oleObject" Target="../embeddings/oleObject37.bin"/><Relationship Id="rId19" Type="http://schemas.openxmlformats.org/officeDocument/2006/relationships/oleObject" Target="../embeddings/oleObject42.bin"/><Relationship Id="rId4" Type="http://schemas.openxmlformats.org/officeDocument/2006/relationships/image" Target="../media/image33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37.wmf"/><Relationship Id="rId22" Type="http://schemas.openxmlformats.org/officeDocument/2006/relationships/image" Target="../media/image41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46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12" Type="http://schemas.openxmlformats.org/officeDocument/2006/relationships/oleObject" Target="../embeddings/oleObject49.bin"/><Relationship Id="rId17" Type="http://schemas.openxmlformats.org/officeDocument/2006/relationships/image" Target="../media/image48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51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43.wmf"/><Relationship Id="rId11" Type="http://schemas.openxmlformats.org/officeDocument/2006/relationships/image" Target="../media/image45.wmf"/><Relationship Id="rId5" Type="http://schemas.openxmlformats.org/officeDocument/2006/relationships/oleObject" Target="../embeddings/oleObject45.bin"/><Relationship Id="rId15" Type="http://schemas.openxmlformats.org/officeDocument/2006/relationships/image" Target="../media/image47.wmf"/><Relationship Id="rId10" Type="http://schemas.openxmlformats.org/officeDocument/2006/relationships/oleObject" Target="../embeddings/oleObject48.bin"/><Relationship Id="rId4" Type="http://schemas.openxmlformats.org/officeDocument/2006/relationships/image" Target="../media/image42.wmf"/><Relationship Id="rId9" Type="http://schemas.openxmlformats.org/officeDocument/2006/relationships/image" Target="../media/image44.wmf"/><Relationship Id="rId14" Type="http://schemas.openxmlformats.org/officeDocument/2006/relationships/oleObject" Target="../embeddings/oleObject50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49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oleObject" Target="../embeddings/oleObject58.bin"/><Relationship Id="rId18" Type="http://schemas.openxmlformats.org/officeDocument/2006/relationships/image" Target="../media/image47.wmf"/><Relationship Id="rId3" Type="http://schemas.openxmlformats.org/officeDocument/2006/relationships/oleObject" Target="../embeddings/oleObject53.bin"/><Relationship Id="rId21" Type="http://schemas.openxmlformats.org/officeDocument/2006/relationships/oleObject" Target="../embeddings/oleObject62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55.wmf"/><Relationship Id="rId17" Type="http://schemas.openxmlformats.org/officeDocument/2006/relationships/oleObject" Target="../embeddings/oleObject6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6.wmf"/><Relationship Id="rId20" Type="http://schemas.openxmlformats.org/officeDocument/2006/relationships/image" Target="../media/image48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57.bin"/><Relationship Id="rId24" Type="http://schemas.openxmlformats.org/officeDocument/2006/relationships/image" Target="../media/image58.wmf"/><Relationship Id="rId5" Type="http://schemas.openxmlformats.org/officeDocument/2006/relationships/oleObject" Target="../embeddings/oleObject54.bin"/><Relationship Id="rId15" Type="http://schemas.openxmlformats.org/officeDocument/2006/relationships/oleObject" Target="../embeddings/oleObject59.bin"/><Relationship Id="rId23" Type="http://schemas.openxmlformats.org/officeDocument/2006/relationships/oleObject" Target="../embeddings/oleObject63.bin"/><Relationship Id="rId10" Type="http://schemas.openxmlformats.org/officeDocument/2006/relationships/image" Target="../media/image54.wmf"/><Relationship Id="rId19" Type="http://schemas.openxmlformats.org/officeDocument/2006/relationships/oleObject" Target="../embeddings/oleObject61.bin"/><Relationship Id="rId4" Type="http://schemas.openxmlformats.org/officeDocument/2006/relationships/image" Target="../media/image51.w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56.wmf"/><Relationship Id="rId22" Type="http://schemas.openxmlformats.org/officeDocument/2006/relationships/image" Target="../media/image57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69.bin"/><Relationship Id="rId18" Type="http://schemas.openxmlformats.org/officeDocument/2006/relationships/image" Target="../media/image64.w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62.wmf"/><Relationship Id="rId17" Type="http://schemas.openxmlformats.org/officeDocument/2006/relationships/oleObject" Target="../embeddings/oleObject7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3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68.bin"/><Relationship Id="rId5" Type="http://schemas.openxmlformats.org/officeDocument/2006/relationships/oleObject" Target="../embeddings/oleObject65.bin"/><Relationship Id="rId15" Type="http://schemas.openxmlformats.org/officeDocument/2006/relationships/oleObject" Target="../embeddings/oleObject70.bin"/><Relationship Id="rId10" Type="http://schemas.openxmlformats.org/officeDocument/2006/relationships/image" Target="../media/image61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5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6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76.bin"/><Relationship Id="rId5" Type="http://schemas.openxmlformats.org/officeDocument/2006/relationships/oleObject" Target="../embeddings/oleObject73.bin"/><Relationship Id="rId10" Type="http://schemas.openxmlformats.org/officeDocument/2006/relationships/image" Target="../media/image68.w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75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13" Type="http://schemas.openxmlformats.org/officeDocument/2006/relationships/image" Target="../media/image72.wmf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oleObject" Target="../embeddings/oleObject7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71.wmf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73.wmf"/><Relationship Id="rId10" Type="http://schemas.openxmlformats.org/officeDocument/2006/relationships/oleObject" Target="../embeddings/oleObject78.bin"/><Relationship Id="rId4" Type="http://schemas.openxmlformats.org/officeDocument/2006/relationships/diagramLayout" Target="../diagrams/layout1.xml"/><Relationship Id="rId9" Type="http://schemas.openxmlformats.org/officeDocument/2006/relationships/image" Target="../media/image70.wmf"/><Relationship Id="rId14" Type="http://schemas.openxmlformats.org/officeDocument/2006/relationships/oleObject" Target="../embeddings/oleObject8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oleObject" Target="../embeddings/oleObject86.bin"/><Relationship Id="rId18" Type="http://schemas.openxmlformats.org/officeDocument/2006/relationships/image" Target="../media/image81.wmf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12" Type="http://schemas.openxmlformats.org/officeDocument/2006/relationships/image" Target="../media/image78.wmf"/><Relationship Id="rId17" Type="http://schemas.openxmlformats.org/officeDocument/2006/relationships/oleObject" Target="../embeddings/oleObject8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0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85.bin"/><Relationship Id="rId5" Type="http://schemas.openxmlformats.org/officeDocument/2006/relationships/oleObject" Target="../embeddings/oleObject82.bin"/><Relationship Id="rId15" Type="http://schemas.openxmlformats.org/officeDocument/2006/relationships/oleObject" Target="../embeddings/oleObject87.bin"/><Relationship Id="rId10" Type="http://schemas.openxmlformats.org/officeDocument/2006/relationships/image" Target="../media/image77.wmf"/><Relationship Id="rId4" Type="http://schemas.openxmlformats.org/officeDocument/2006/relationships/image" Target="../media/image74.wmf"/><Relationship Id="rId9" Type="http://schemas.openxmlformats.org/officeDocument/2006/relationships/oleObject" Target="../embeddings/oleObject84.bin"/><Relationship Id="rId14" Type="http://schemas.openxmlformats.org/officeDocument/2006/relationships/image" Target="../media/image7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94.bin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86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8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93.bin"/><Relationship Id="rId5" Type="http://schemas.openxmlformats.org/officeDocument/2006/relationships/oleObject" Target="../embeddings/oleObject90.bin"/><Relationship Id="rId15" Type="http://schemas.openxmlformats.org/officeDocument/2006/relationships/oleObject" Target="../embeddings/oleObject95.bin"/><Relationship Id="rId10" Type="http://schemas.openxmlformats.org/officeDocument/2006/relationships/image" Target="../media/image85.wmf"/><Relationship Id="rId4" Type="http://schemas.openxmlformats.org/officeDocument/2006/relationships/image" Target="../media/image82.wmf"/><Relationship Id="rId9" Type="http://schemas.openxmlformats.org/officeDocument/2006/relationships/oleObject" Target="../embeddings/oleObject92.bin"/><Relationship Id="rId14" Type="http://schemas.openxmlformats.org/officeDocument/2006/relationships/image" Target="../media/image87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13" Type="http://schemas.openxmlformats.org/officeDocument/2006/relationships/oleObject" Target="../embeddings/oleObject101.bin"/><Relationship Id="rId18" Type="http://schemas.openxmlformats.org/officeDocument/2006/relationships/image" Target="../media/image96.wmf"/><Relationship Id="rId26" Type="http://schemas.openxmlformats.org/officeDocument/2006/relationships/image" Target="../media/image100.wmf"/><Relationship Id="rId3" Type="http://schemas.openxmlformats.org/officeDocument/2006/relationships/oleObject" Target="../embeddings/oleObject96.bin"/><Relationship Id="rId21" Type="http://schemas.openxmlformats.org/officeDocument/2006/relationships/oleObject" Target="../embeddings/oleObject105.bin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93.wmf"/><Relationship Id="rId17" Type="http://schemas.openxmlformats.org/officeDocument/2006/relationships/oleObject" Target="../embeddings/oleObject103.bin"/><Relationship Id="rId25" Type="http://schemas.openxmlformats.org/officeDocument/2006/relationships/oleObject" Target="../embeddings/oleObject10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5.wmf"/><Relationship Id="rId20" Type="http://schemas.openxmlformats.org/officeDocument/2006/relationships/image" Target="../media/image97.wmf"/><Relationship Id="rId29" Type="http://schemas.openxmlformats.org/officeDocument/2006/relationships/oleObject" Target="../embeddings/oleObject109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0.wmf"/><Relationship Id="rId11" Type="http://schemas.openxmlformats.org/officeDocument/2006/relationships/oleObject" Target="../embeddings/oleObject100.bin"/><Relationship Id="rId24" Type="http://schemas.openxmlformats.org/officeDocument/2006/relationships/image" Target="../media/image99.wmf"/><Relationship Id="rId32" Type="http://schemas.openxmlformats.org/officeDocument/2006/relationships/image" Target="../media/image103.wmf"/><Relationship Id="rId5" Type="http://schemas.openxmlformats.org/officeDocument/2006/relationships/oleObject" Target="../embeddings/oleObject97.bin"/><Relationship Id="rId15" Type="http://schemas.openxmlformats.org/officeDocument/2006/relationships/oleObject" Target="../embeddings/oleObject102.bin"/><Relationship Id="rId23" Type="http://schemas.openxmlformats.org/officeDocument/2006/relationships/oleObject" Target="../embeddings/oleObject106.bin"/><Relationship Id="rId28" Type="http://schemas.openxmlformats.org/officeDocument/2006/relationships/image" Target="../media/image101.wmf"/><Relationship Id="rId10" Type="http://schemas.openxmlformats.org/officeDocument/2006/relationships/image" Target="../media/image92.wmf"/><Relationship Id="rId19" Type="http://schemas.openxmlformats.org/officeDocument/2006/relationships/oleObject" Target="../embeddings/oleObject104.bin"/><Relationship Id="rId31" Type="http://schemas.openxmlformats.org/officeDocument/2006/relationships/oleObject" Target="../embeddings/oleObject110.bin"/><Relationship Id="rId4" Type="http://schemas.openxmlformats.org/officeDocument/2006/relationships/image" Target="../media/image89.wmf"/><Relationship Id="rId9" Type="http://schemas.openxmlformats.org/officeDocument/2006/relationships/oleObject" Target="../embeddings/oleObject99.bin"/><Relationship Id="rId14" Type="http://schemas.openxmlformats.org/officeDocument/2006/relationships/image" Target="../media/image94.wmf"/><Relationship Id="rId22" Type="http://schemas.openxmlformats.org/officeDocument/2006/relationships/image" Target="../media/image98.wmf"/><Relationship Id="rId27" Type="http://schemas.openxmlformats.org/officeDocument/2006/relationships/oleObject" Target="../embeddings/oleObject108.bin"/><Relationship Id="rId30" Type="http://schemas.openxmlformats.org/officeDocument/2006/relationships/image" Target="../media/image10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oleObject" Target="../embeddings/oleObject116.bin"/><Relationship Id="rId18" Type="http://schemas.openxmlformats.org/officeDocument/2006/relationships/image" Target="../media/image111.wmf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08.wmf"/><Relationship Id="rId17" Type="http://schemas.openxmlformats.org/officeDocument/2006/relationships/oleObject" Target="../embeddings/oleObject11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0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10" Type="http://schemas.openxmlformats.org/officeDocument/2006/relationships/image" Target="../media/image107.wmf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09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13" Type="http://schemas.openxmlformats.org/officeDocument/2006/relationships/oleObject" Target="../embeddings/oleObject124.bin"/><Relationship Id="rId18" Type="http://schemas.openxmlformats.org/officeDocument/2006/relationships/image" Target="../media/image119.wmf"/><Relationship Id="rId26" Type="http://schemas.openxmlformats.org/officeDocument/2006/relationships/image" Target="../media/image123.wmf"/><Relationship Id="rId3" Type="http://schemas.openxmlformats.org/officeDocument/2006/relationships/oleObject" Target="../embeddings/oleObject119.bin"/><Relationship Id="rId21" Type="http://schemas.openxmlformats.org/officeDocument/2006/relationships/oleObject" Target="../embeddings/oleObject128.bin"/><Relationship Id="rId7" Type="http://schemas.openxmlformats.org/officeDocument/2006/relationships/oleObject" Target="../embeddings/oleObject121.bin"/><Relationship Id="rId12" Type="http://schemas.openxmlformats.org/officeDocument/2006/relationships/image" Target="../media/image116.wmf"/><Relationship Id="rId17" Type="http://schemas.openxmlformats.org/officeDocument/2006/relationships/oleObject" Target="../embeddings/oleObject126.bin"/><Relationship Id="rId25" Type="http://schemas.openxmlformats.org/officeDocument/2006/relationships/oleObject" Target="../embeddings/oleObject13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8.wmf"/><Relationship Id="rId20" Type="http://schemas.openxmlformats.org/officeDocument/2006/relationships/image" Target="../media/image120.wmf"/><Relationship Id="rId29" Type="http://schemas.openxmlformats.org/officeDocument/2006/relationships/oleObject" Target="../embeddings/oleObject132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13.wmf"/><Relationship Id="rId11" Type="http://schemas.openxmlformats.org/officeDocument/2006/relationships/oleObject" Target="../embeddings/oleObject123.bin"/><Relationship Id="rId24" Type="http://schemas.openxmlformats.org/officeDocument/2006/relationships/image" Target="../media/image122.wmf"/><Relationship Id="rId32" Type="http://schemas.openxmlformats.org/officeDocument/2006/relationships/image" Target="../media/image125.wmf"/><Relationship Id="rId5" Type="http://schemas.openxmlformats.org/officeDocument/2006/relationships/oleObject" Target="../embeddings/oleObject120.bin"/><Relationship Id="rId15" Type="http://schemas.openxmlformats.org/officeDocument/2006/relationships/oleObject" Target="../embeddings/oleObject125.bin"/><Relationship Id="rId23" Type="http://schemas.openxmlformats.org/officeDocument/2006/relationships/oleObject" Target="../embeddings/oleObject129.bin"/><Relationship Id="rId28" Type="http://schemas.openxmlformats.org/officeDocument/2006/relationships/image" Target="../media/image124.wmf"/><Relationship Id="rId10" Type="http://schemas.openxmlformats.org/officeDocument/2006/relationships/image" Target="../media/image115.wmf"/><Relationship Id="rId19" Type="http://schemas.openxmlformats.org/officeDocument/2006/relationships/oleObject" Target="../embeddings/oleObject127.bin"/><Relationship Id="rId31" Type="http://schemas.openxmlformats.org/officeDocument/2006/relationships/oleObject" Target="../embeddings/oleObject133.bin"/><Relationship Id="rId4" Type="http://schemas.openxmlformats.org/officeDocument/2006/relationships/image" Target="../media/image112.wmf"/><Relationship Id="rId9" Type="http://schemas.openxmlformats.org/officeDocument/2006/relationships/oleObject" Target="../embeddings/oleObject122.bin"/><Relationship Id="rId14" Type="http://schemas.openxmlformats.org/officeDocument/2006/relationships/image" Target="../media/image117.wmf"/><Relationship Id="rId22" Type="http://schemas.openxmlformats.org/officeDocument/2006/relationships/image" Target="../media/image121.wmf"/><Relationship Id="rId27" Type="http://schemas.openxmlformats.org/officeDocument/2006/relationships/oleObject" Target="../embeddings/oleObject131.bin"/><Relationship Id="rId30" Type="http://schemas.openxmlformats.org/officeDocument/2006/relationships/image" Target="../media/image66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139.bin"/><Relationship Id="rId3" Type="http://schemas.openxmlformats.org/officeDocument/2006/relationships/oleObject" Target="../embeddings/oleObject134.bin"/><Relationship Id="rId7" Type="http://schemas.openxmlformats.org/officeDocument/2006/relationships/oleObject" Target="../embeddings/oleObject136.bin"/><Relationship Id="rId12" Type="http://schemas.openxmlformats.org/officeDocument/2006/relationships/image" Target="../media/image128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0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26.wmf"/><Relationship Id="rId11" Type="http://schemas.openxmlformats.org/officeDocument/2006/relationships/oleObject" Target="../embeddings/oleObject138.bin"/><Relationship Id="rId5" Type="http://schemas.openxmlformats.org/officeDocument/2006/relationships/oleObject" Target="../embeddings/oleObject135.bin"/><Relationship Id="rId15" Type="http://schemas.openxmlformats.org/officeDocument/2006/relationships/oleObject" Target="../embeddings/oleObject140.bin"/><Relationship Id="rId10" Type="http://schemas.openxmlformats.org/officeDocument/2006/relationships/image" Target="../media/image127.wmf"/><Relationship Id="rId4" Type="http://schemas.openxmlformats.org/officeDocument/2006/relationships/image" Target="../media/image89.wmf"/><Relationship Id="rId9" Type="http://schemas.openxmlformats.org/officeDocument/2006/relationships/oleObject" Target="../embeddings/oleObject137.bin"/><Relationship Id="rId14" Type="http://schemas.openxmlformats.org/officeDocument/2006/relationships/image" Target="../media/image129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13" Type="http://schemas.openxmlformats.org/officeDocument/2006/relationships/oleObject" Target="../embeddings/oleObject146.bin"/><Relationship Id="rId18" Type="http://schemas.openxmlformats.org/officeDocument/2006/relationships/image" Target="../media/image137.wmf"/><Relationship Id="rId26" Type="http://schemas.openxmlformats.org/officeDocument/2006/relationships/image" Target="../media/image141.wmf"/><Relationship Id="rId3" Type="http://schemas.openxmlformats.org/officeDocument/2006/relationships/oleObject" Target="../embeddings/oleObject141.bin"/><Relationship Id="rId21" Type="http://schemas.openxmlformats.org/officeDocument/2006/relationships/oleObject" Target="../embeddings/oleObject150.bin"/><Relationship Id="rId7" Type="http://schemas.openxmlformats.org/officeDocument/2006/relationships/oleObject" Target="../embeddings/oleObject143.bin"/><Relationship Id="rId12" Type="http://schemas.openxmlformats.org/officeDocument/2006/relationships/image" Target="../media/image134.wmf"/><Relationship Id="rId17" Type="http://schemas.openxmlformats.org/officeDocument/2006/relationships/oleObject" Target="../embeddings/oleObject148.bin"/><Relationship Id="rId25" Type="http://schemas.openxmlformats.org/officeDocument/2006/relationships/oleObject" Target="../embeddings/oleObject15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6.wmf"/><Relationship Id="rId20" Type="http://schemas.openxmlformats.org/officeDocument/2006/relationships/image" Target="../media/image138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31.wmf"/><Relationship Id="rId11" Type="http://schemas.openxmlformats.org/officeDocument/2006/relationships/oleObject" Target="../embeddings/oleObject145.bin"/><Relationship Id="rId24" Type="http://schemas.openxmlformats.org/officeDocument/2006/relationships/image" Target="../media/image140.wmf"/><Relationship Id="rId5" Type="http://schemas.openxmlformats.org/officeDocument/2006/relationships/oleObject" Target="../embeddings/oleObject142.bin"/><Relationship Id="rId15" Type="http://schemas.openxmlformats.org/officeDocument/2006/relationships/oleObject" Target="../embeddings/oleObject147.bin"/><Relationship Id="rId23" Type="http://schemas.openxmlformats.org/officeDocument/2006/relationships/oleObject" Target="../embeddings/oleObject151.bin"/><Relationship Id="rId10" Type="http://schemas.openxmlformats.org/officeDocument/2006/relationships/image" Target="../media/image133.wmf"/><Relationship Id="rId19" Type="http://schemas.openxmlformats.org/officeDocument/2006/relationships/oleObject" Target="../embeddings/oleObject149.bin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144.bin"/><Relationship Id="rId14" Type="http://schemas.openxmlformats.org/officeDocument/2006/relationships/image" Target="../media/image135.wmf"/><Relationship Id="rId22" Type="http://schemas.openxmlformats.org/officeDocument/2006/relationships/image" Target="../media/image139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142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8490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5.1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二次型及其矩阵表示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20503" y="1148253"/>
            <a:ext cx="3164392" cy="696036"/>
            <a:chOff x="745588" y="1310185"/>
            <a:chExt cx="1229228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8" y="1310185"/>
              <a:ext cx="1229228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803200" y="1427370"/>
              <a:ext cx="11716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二次型及其矩阵表示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23613" y="2144710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圆角矩形 2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定义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2462771"/>
              </p:ext>
            </p:extLst>
          </p:nvPr>
        </p:nvGraphicFramePr>
        <p:xfrm>
          <a:off x="1864065" y="2832068"/>
          <a:ext cx="67595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46" name="Equation" r:id="rId3" imgW="3619440" imgH="253800" progId="Equation.DSMT4">
                  <p:embed/>
                </p:oleObj>
              </mc:Choice>
              <mc:Fallback>
                <p:oleObj name="Equation" r:id="rId3" imgW="36194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64065" y="2832068"/>
                        <a:ext cx="6759575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1910175" y="2222631"/>
            <a:ext cx="8407532" cy="461665"/>
            <a:chOff x="1910175" y="2222631"/>
            <a:chExt cx="8407532" cy="461665"/>
          </a:xfrm>
        </p:grpSpPr>
        <p:grpSp>
          <p:nvGrpSpPr>
            <p:cNvPr id="14" name="组合 13"/>
            <p:cNvGrpSpPr/>
            <p:nvPr/>
          </p:nvGrpSpPr>
          <p:grpSpPr>
            <a:xfrm>
              <a:off x="1910175" y="2222631"/>
              <a:ext cx="8407532" cy="461665"/>
              <a:chOff x="1910175" y="2222631"/>
              <a:chExt cx="8407532" cy="461665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1910175" y="2222631"/>
                <a:ext cx="84075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含有    个变量                的</a:t>
                </a:r>
                <a:r>
                  <a:rPr lang="zh-CN" altLang="en-US" sz="2400" b="1" dirty="0" smtClean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二次齐次多项式</a:t>
                </a:r>
              </a:p>
            </p:txBody>
          </p:sp>
          <p:graphicFrame>
            <p:nvGraphicFramePr>
              <p:cNvPr id="30" name="对象 2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67880186"/>
                  </p:ext>
                </p:extLst>
              </p:nvPr>
            </p:nvGraphicFramePr>
            <p:xfrm>
              <a:off x="2706688" y="2347913"/>
              <a:ext cx="238125" cy="2571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447" name="Equation" r:id="rId5" imgW="126720" imgH="139680" progId="Equation.DSMT4">
                      <p:embed/>
                    </p:oleObj>
                  </mc:Choice>
                  <mc:Fallback>
                    <p:oleObj name="Equation" r:id="rId5" imgW="12672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706688" y="2347913"/>
                            <a:ext cx="238125" cy="25717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4" name="对象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4406725"/>
                </p:ext>
              </p:extLst>
            </p:nvPr>
          </p:nvGraphicFramePr>
          <p:xfrm>
            <a:off x="3934165" y="2244708"/>
            <a:ext cx="1309688" cy="420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48" name="Equation" r:id="rId7" imgW="698400" imgH="228600" progId="Equation.DSMT4">
                    <p:embed/>
                  </p:oleObj>
                </mc:Choice>
                <mc:Fallback>
                  <p:oleObj name="Equation" r:id="rId7" imgW="6984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934165" y="2244708"/>
                          <a:ext cx="1309688" cy="4206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6871647"/>
              </p:ext>
            </p:extLst>
          </p:nvPr>
        </p:nvGraphicFramePr>
        <p:xfrm>
          <a:off x="4919464" y="3449031"/>
          <a:ext cx="381952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49" name="Equation" r:id="rId9" imgW="2044440" imgH="241200" progId="Equation.DSMT4">
                  <p:embed/>
                </p:oleObj>
              </mc:Choice>
              <mc:Fallback>
                <p:oleObj name="Equation" r:id="rId9" imgW="20444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919464" y="3449031"/>
                        <a:ext cx="3819525" cy="446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6410670" y="3866404"/>
            <a:ext cx="2245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 …     … …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987061"/>
              </p:ext>
            </p:extLst>
          </p:nvPr>
        </p:nvGraphicFramePr>
        <p:xfrm>
          <a:off x="7627938" y="4471988"/>
          <a:ext cx="973137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50" name="Equation" r:id="rId11" imgW="520560" imgH="241200" progId="Equation.DSMT4">
                  <p:embed/>
                </p:oleObj>
              </mc:Choice>
              <mc:Fallback>
                <p:oleObj name="Equation" r:id="rId11" imgW="5205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627938" y="4471988"/>
                        <a:ext cx="973137" cy="446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739359" y="5224756"/>
            <a:ext cx="2424310" cy="461665"/>
            <a:chOff x="520504" y="5060985"/>
            <a:chExt cx="2424310" cy="461665"/>
          </a:xfrm>
        </p:grpSpPr>
        <p:sp>
          <p:nvSpPr>
            <p:cNvPr id="21" name="文本框 20"/>
            <p:cNvSpPr txBox="1"/>
            <p:nvPr/>
          </p:nvSpPr>
          <p:spPr>
            <a:xfrm>
              <a:off x="520504" y="5060985"/>
              <a:ext cx="24243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称为    </a:t>
              </a:r>
              <a:r>
                <a:rPr lang="zh-CN" altLang="en-US" sz="2400" dirty="0" smtClean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元二次型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32" name="对象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2427621"/>
                </p:ext>
              </p:extLst>
            </p:nvPr>
          </p:nvGraphicFramePr>
          <p:xfrm>
            <a:off x="1262300" y="5164804"/>
            <a:ext cx="238125" cy="257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51" name="Equation" r:id="rId13" imgW="126720" imgH="139680" progId="Equation.DSMT4">
                    <p:embed/>
                  </p:oleObj>
                </mc:Choice>
                <mc:Fallback>
                  <p:oleObj name="Equation" r:id="rId13" imgW="1267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262300" y="5164804"/>
                          <a:ext cx="238125" cy="2571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/>
          <p:cNvGrpSpPr/>
          <p:nvPr/>
        </p:nvGrpSpPr>
        <p:grpSpPr>
          <a:xfrm>
            <a:off x="9005455" y="2796078"/>
            <a:ext cx="2923310" cy="2121493"/>
            <a:chOff x="9047018" y="2796078"/>
            <a:chExt cx="2923310" cy="2121493"/>
          </a:xfrm>
        </p:grpSpPr>
        <p:graphicFrame>
          <p:nvGraphicFramePr>
            <p:cNvPr id="33" name="对象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4630585"/>
                </p:ext>
              </p:extLst>
            </p:nvPr>
          </p:nvGraphicFramePr>
          <p:xfrm>
            <a:off x="9156463" y="2948517"/>
            <a:ext cx="2681288" cy="1738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52" name="Equation" r:id="rId15" imgW="1434960" imgH="939600" progId="Equation.DSMT4">
                    <p:embed/>
                  </p:oleObj>
                </mc:Choice>
                <mc:Fallback>
                  <p:oleObj name="Equation" r:id="rId15" imgW="1434960" imgH="939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9156463" y="2948517"/>
                          <a:ext cx="2681288" cy="17383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圆角矩形标注 12"/>
            <p:cNvSpPr/>
            <p:nvPr/>
          </p:nvSpPr>
          <p:spPr>
            <a:xfrm>
              <a:off x="9047018" y="2796078"/>
              <a:ext cx="2923310" cy="2121493"/>
            </a:xfrm>
            <a:prstGeom prst="wedgeRoundRectCallout">
              <a:avLst>
                <a:gd name="adj1" fmla="val -56762"/>
                <a:gd name="adj2" fmla="val -24780"/>
                <a:gd name="adj3" fmla="val 16667"/>
              </a:avLst>
            </a:prstGeom>
            <a:noFill/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297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/>
          <p:cNvGrpSpPr/>
          <p:nvPr/>
        </p:nvGrpSpPr>
        <p:grpSpPr>
          <a:xfrm>
            <a:off x="3833205" y="1148253"/>
            <a:ext cx="6913517" cy="3084022"/>
            <a:chOff x="2341333" y="2105756"/>
            <a:chExt cx="6913517" cy="3084022"/>
          </a:xfrm>
        </p:grpSpPr>
        <p:grpSp>
          <p:nvGrpSpPr>
            <p:cNvPr id="9" name="组合 8"/>
            <p:cNvGrpSpPr/>
            <p:nvPr/>
          </p:nvGrpSpPr>
          <p:grpSpPr>
            <a:xfrm>
              <a:off x="2341333" y="2105756"/>
              <a:ext cx="6913517" cy="3084022"/>
              <a:chOff x="1682668" y="2119404"/>
              <a:chExt cx="6913517" cy="3084022"/>
            </a:xfrm>
          </p:grpSpPr>
          <p:graphicFrame>
            <p:nvGraphicFramePr>
              <p:cNvPr id="26" name="对象 2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57493917"/>
                  </p:ext>
                </p:extLst>
              </p:nvPr>
            </p:nvGraphicFramePr>
            <p:xfrm>
              <a:off x="1682668" y="2119404"/>
              <a:ext cx="6759575" cy="469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399" name="Equation" r:id="rId3" imgW="3619440" imgH="253800" progId="Equation.DSMT4">
                      <p:embed/>
                    </p:oleObj>
                  </mc:Choice>
                  <mc:Fallback>
                    <p:oleObj name="Equation" r:id="rId3" imgW="36194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682668" y="2119404"/>
                            <a:ext cx="6759575" cy="469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" name="对象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26977397"/>
                  </p:ext>
                </p:extLst>
              </p:nvPr>
            </p:nvGraphicFramePr>
            <p:xfrm>
              <a:off x="4738067" y="2736367"/>
              <a:ext cx="3819525" cy="4460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400" name="Equation" r:id="rId5" imgW="2044440" imgH="241200" progId="Equation.DSMT4">
                      <p:embed/>
                    </p:oleObj>
                  </mc:Choice>
                  <mc:Fallback>
                    <p:oleObj name="Equation" r:id="rId5" imgW="2044440" imgH="2412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4738067" y="2736367"/>
                            <a:ext cx="3819525" cy="44608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" name="文本框 1"/>
              <p:cNvSpPr txBox="1"/>
              <p:nvPr/>
            </p:nvSpPr>
            <p:spPr>
              <a:xfrm>
                <a:off x="6350574" y="4032579"/>
                <a:ext cx="22456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… …     … …</a:t>
                </a:r>
                <a:endPara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aphicFrame>
            <p:nvGraphicFramePr>
              <p:cNvPr id="27" name="对象 2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88224938"/>
                  </p:ext>
                </p:extLst>
              </p:nvPr>
            </p:nvGraphicFramePr>
            <p:xfrm>
              <a:off x="7404626" y="4757339"/>
              <a:ext cx="973137" cy="4460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401" name="Equation" r:id="rId7" imgW="520560" imgH="241200" progId="Equation.DSMT4">
                      <p:embed/>
                    </p:oleObj>
                  </mc:Choice>
                  <mc:Fallback>
                    <p:oleObj name="Equation" r:id="rId7" imgW="520560" imgH="2412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7404626" y="4757339"/>
                            <a:ext cx="973137" cy="44608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5" name="对象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3783589"/>
                </p:ext>
              </p:extLst>
            </p:nvPr>
          </p:nvGraphicFramePr>
          <p:xfrm>
            <a:off x="6630219" y="3315870"/>
            <a:ext cx="2586038" cy="4460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402" name="Equation" r:id="rId9" imgW="1384200" imgH="241200" progId="Equation.DSMT4">
                    <p:embed/>
                  </p:oleObj>
                </mc:Choice>
                <mc:Fallback>
                  <p:oleObj name="Equation" r:id="rId9" imgW="138420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630219" y="3315870"/>
                          <a:ext cx="2586038" cy="4460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5.1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二次型及其矩阵表示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20503" y="1148253"/>
            <a:ext cx="3164392" cy="696036"/>
            <a:chOff x="745588" y="1310185"/>
            <a:chExt cx="1229228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8" y="1310185"/>
              <a:ext cx="1229228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803200" y="1427370"/>
              <a:ext cx="11716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二次型及其矩阵表示</a:t>
              </a:r>
            </a:p>
          </p:txBody>
        </p:sp>
      </p:grpSp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4841993"/>
              </p:ext>
            </p:extLst>
          </p:nvPr>
        </p:nvGraphicFramePr>
        <p:xfrm>
          <a:off x="5844029" y="1816012"/>
          <a:ext cx="10445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03" name="Equation" r:id="rId11" imgW="558720" imgH="228600" progId="Equation.DSMT4">
                  <p:embed/>
                </p:oleObj>
              </mc:Choice>
              <mc:Fallback>
                <p:oleObj name="Equation" r:id="rId11" imgW="5587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844029" y="1816012"/>
                        <a:ext cx="1044575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6691669" y="1148253"/>
            <a:ext cx="144000" cy="359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8989414"/>
              </p:ext>
            </p:extLst>
          </p:nvPr>
        </p:nvGraphicFramePr>
        <p:xfrm>
          <a:off x="5845801" y="2409163"/>
          <a:ext cx="10445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04" name="Equation" r:id="rId13" imgW="558720" imgH="228600" progId="Equation.DSMT4">
                  <p:embed/>
                </p:oleObj>
              </mc:Choice>
              <mc:Fallback>
                <p:oleObj name="Equation" r:id="rId13" imgW="5587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845801" y="2409163"/>
                        <a:ext cx="1044575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665709"/>
              </p:ext>
            </p:extLst>
          </p:nvPr>
        </p:nvGraphicFramePr>
        <p:xfrm>
          <a:off x="6902072" y="2382597"/>
          <a:ext cx="10922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05" name="Equation" r:id="rId15" imgW="583920" imgH="228600" progId="Equation.DSMT4">
                  <p:embed/>
                </p:oleObj>
              </mc:Choice>
              <mc:Fallback>
                <p:oleObj name="Equation" r:id="rId15" imgW="5839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902072" y="2382597"/>
                        <a:ext cx="1092200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直接箭头连接符 16"/>
          <p:cNvCxnSpPr/>
          <p:nvPr/>
        </p:nvCxnSpPr>
        <p:spPr>
          <a:xfrm flipV="1">
            <a:off x="6494190" y="1522334"/>
            <a:ext cx="490609" cy="367413"/>
          </a:xfrm>
          <a:prstGeom prst="straightConnector1">
            <a:avLst/>
          </a:prstGeom>
          <a:ln w="1270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 flipV="1">
            <a:off x="6602917" y="1507672"/>
            <a:ext cx="1469306" cy="1073739"/>
          </a:xfrm>
          <a:prstGeom prst="straightConnector1">
            <a:avLst/>
          </a:prstGeom>
          <a:ln w="1270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flipV="1">
            <a:off x="6607259" y="1586205"/>
            <a:ext cx="3050532" cy="2293882"/>
          </a:xfrm>
          <a:prstGeom prst="straightConnector1">
            <a:avLst/>
          </a:prstGeom>
          <a:ln w="1270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2823618"/>
              </p:ext>
            </p:extLst>
          </p:nvPr>
        </p:nvGraphicFramePr>
        <p:xfrm>
          <a:off x="5850012" y="3827919"/>
          <a:ext cx="10683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06" name="Equation" r:id="rId17" imgW="571320" imgH="228600" progId="Equation.DSMT4">
                  <p:embed/>
                </p:oleObj>
              </mc:Choice>
              <mc:Fallback>
                <p:oleObj name="Equation" r:id="rId17" imgW="5713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850012" y="3827919"/>
                        <a:ext cx="1068387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1927622"/>
              </p:ext>
            </p:extLst>
          </p:nvPr>
        </p:nvGraphicFramePr>
        <p:xfrm>
          <a:off x="6922735" y="3816012"/>
          <a:ext cx="2398712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07" name="Equation" r:id="rId19" imgW="1282680" imgH="228600" progId="Equation.DSMT4">
                  <p:embed/>
                </p:oleObj>
              </mc:Choice>
              <mc:Fallback>
                <p:oleObj name="Equation" r:id="rId19" imgW="1282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922735" y="3816012"/>
                        <a:ext cx="2398712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矩形 58"/>
          <p:cNvSpPr/>
          <p:nvPr/>
        </p:nvSpPr>
        <p:spPr>
          <a:xfrm>
            <a:off x="7855228" y="1232432"/>
            <a:ext cx="144000" cy="359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9442502" y="1232432"/>
            <a:ext cx="144000" cy="359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7859040" y="1855076"/>
            <a:ext cx="144000" cy="359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9479917" y="1855076"/>
            <a:ext cx="144000" cy="359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/>
          <p:cNvSpPr/>
          <p:nvPr/>
        </p:nvSpPr>
        <p:spPr>
          <a:xfrm>
            <a:off x="9507558" y="2451310"/>
            <a:ext cx="144000" cy="359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0" name="组合 69"/>
          <p:cNvGrpSpPr/>
          <p:nvPr/>
        </p:nvGrpSpPr>
        <p:grpSpPr>
          <a:xfrm>
            <a:off x="2399112" y="2027149"/>
            <a:ext cx="2923310" cy="2292772"/>
            <a:chOff x="2399112" y="2027149"/>
            <a:chExt cx="2923310" cy="2292772"/>
          </a:xfrm>
        </p:grpSpPr>
        <p:grpSp>
          <p:nvGrpSpPr>
            <p:cNvPr id="16" name="组合 15"/>
            <p:cNvGrpSpPr/>
            <p:nvPr/>
          </p:nvGrpSpPr>
          <p:grpSpPr>
            <a:xfrm>
              <a:off x="2399112" y="2027149"/>
              <a:ext cx="2923310" cy="2292772"/>
              <a:chOff x="9962528" y="2854470"/>
              <a:chExt cx="2923310" cy="2292772"/>
            </a:xfrm>
          </p:grpSpPr>
          <p:graphicFrame>
            <p:nvGraphicFramePr>
              <p:cNvPr id="33" name="对象 3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60552596"/>
                  </p:ext>
                </p:extLst>
              </p:nvPr>
            </p:nvGraphicFramePr>
            <p:xfrm>
              <a:off x="10229353" y="3222836"/>
              <a:ext cx="2444750" cy="17383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8408" name="Equation" r:id="rId21" imgW="1307880" imgH="939600" progId="Equation.DSMT4">
                      <p:embed/>
                    </p:oleObj>
                  </mc:Choice>
                  <mc:Fallback>
                    <p:oleObj name="Equation" r:id="rId21" imgW="1307880" imgH="939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10229353" y="3222836"/>
                            <a:ext cx="2444750" cy="173831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" name="圆角矩形标注 12"/>
              <p:cNvSpPr/>
              <p:nvPr/>
            </p:nvSpPr>
            <p:spPr>
              <a:xfrm>
                <a:off x="9962528" y="2854470"/>
                <a:ext cx="2923310" cy="2292772"/>
              </a:xfrm>
              <a:prstGeom prst="wedgeRoundRectCallout">
                <a:avLst>
                  <a:gd name="adj1" fmla="val 59213"/>
                  <a:gd name="adj2" fmla="val -22791"/>
                  <a:gd name="adj3" fmla="val 16667"/>
                </a:avLst>
              </a:prstGeom>
              <a:noFill/>
              <a:ln w="3810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9" name="文本框 68"/>
            <p:cNvSpPr txBox="1"/>
            <p:nvPr/>
          </p:nvSpPr>
          <p:spPr>
            <a:xfrm>
              <a:off x="3067203" y="2066759"/>
              <a:ext cx="15320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对称矩阵</a:t>
              </a:r>
            </a:p>
          </p:txBody>
        </p:sp>
      </p:grpSp>
      <p:graphicFrame>
        <p:nvGraphicFramePr>
          <p:cNvPr id="71" name="对象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748624"/>
              </p:ext>
            </p:extLst>
          </p:nvPr>
        </p:nvGraphicFramePr>
        <p:xfrm>
          <a:off x="660131" y="4691269"/>
          <a:ext cx="6456362" cy="173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09" name="Equation" r:id="rId23" imgW="3454200" imgH="939600" progId="Equation.DSMT4">
                  <p:embed/>
                </p:oleObj>
              </mc:Choice>
              <mc:Fallback>
                <p:oleObj name="Equation" r:id="rId23" imgW="345420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60131" y="4691269"/>
                        <a:ext cx="6456362" cy="173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对象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7740847"/>
              </p:ext>
            </p:extLst>
          </p:nvPr>
        </p:nvGraphicFramePr>
        <p:xfrm>
          <a:off x="7116493" y="5372306"/>
          <a:ext cx="1139825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10" name="Equation" r:id="rId25" imgW="609480" imgH="203040" progId="Equation.DSMT4">
                  <p:embed/>
                </p:oleObj>
              </mc:Choice>
              <mc:Fallback>
                <p:oleObj name="Equation" r:id="rId25" imgW="6094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116493" y="5372306"/>
                        <a:ext cx="1139825" cy="376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" name="组合 72"/>
          <p:cNvGrpSpPr/>
          <p:nvPr/>
        </p:nvGrpSpPr>
        <p:grpSpPr>
          <a:xfrm>
            <a:off x="8387389" y="5238814"/>
            <a:ext cx="2894900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4" name="圆角矩形 73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二次型的矩阵表示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8387389" y="4429000"/>
            <a:ext cx="2894900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7" name="圆角矩形 76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400" i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 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为二次型的矩阵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8387389" y="5987481"/>
            <a:ext cx="2894900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0" name="圆角矩形 79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i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)</a:t>
              </a:r>
              <a:r>
                <a:rPr lang="en-US" altLang="zh-CN" sz="2400" i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为二次型的秩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5377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 animBg="1"/>
      <p:bldP spid="59" grpId="0" animBg="1"/>
      <p:bldP spid="65" grpId="0" animBg="1"/>
      <p:bldP spid="66" grpId="0" animBg="1"/>
      <p:bldP spid="67" grpId="0" animBg="1"/>
      <p:bldP spid="6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13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" name="左右箭头 2"/>
          <p:cNvSpPr/>
          <p:nvPr/>
        </p:nvSpPr>
        <p:spPr>
          <a:xfrm>
            <a:off x="4271434" y="1920876"/>
            <a:ext cx="2857500" cy="792163"/>
          </a:xfrm>
          <a:prstGeom prst="left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b="1" dirty="0" smtClean="0">
                <a:solidFill>
                  <a:srgbClr val="0000FF"/>
                </a:solidFill>
              </a:rPr>
              <a:t>      一一对应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4" name="对角圆角矩形 3"/>
          <p:cNvSpPr/>
          <p:nvPr/>
        </p:nvSpPr>
        <p:spPr>
          <a:xfrm>
            <a:off x="1382185" y="1989138"/>
            <a:ext cx="2324100" cy="719137"/>
          </a:xfrm>
          <a:prstGeom prst="round2DiagRect">
            <a:avLst>
              <a:gd name="adj1" fmla="val 37516"/>
              <a:gd name="adj2" fmla="val 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800" b="1" dirty="0"/>
              <a:t>实</a:t>
            </a:r>
            <a:r>
              <a:rPr lang="zh-CN" altLang="en-US" sz="2800" b="1" dirty="0" smtClean="0"/>
              <a:t>二次型</a:t>
            </a:r>
            <a:endParaRPr lang="zh-CN" altLang="en-US" sz="2800" b="1" dirty="0"/>
          </a:p>
        </p:txBody>
      </p:sp>
      <p:sp>
        <p:nvSpPr>
          <p:cNvPr id="16" name="对角圆角矩形 15"/>
          <p:cNvSpPr/>
          <p:nvPr/>
        </p:nvSpPr>
        <p:spPr>
          <a:xfrm>
            <a:off x="7632700" y="1971675"/>
            <a:ext cx="2531533" cy="719138"/>
          </a:xfrm>
          <a:prstGeom prst="round2DiagRect">
            <a:avLst>
              <a:gd name="adj1" fmla="val 0"/>
              <a:gd name="adj2" fmla="val 36011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800" b="1" dirty="0"/>
              <a:t>实对称阵</a:t>
            </a:r>
          </a:p>
        </p:txBody>
      </p:sp>
      <p:grpSp>
        <p:nvGrpSpPr>
          <p:cNvPr id="17" name="组合 1"/>
          <p:cNvGrpSpPr>
            <a:grpSpLocks/>
          </p:cNvGrpSpPr>
          <p:nvPr/>
        </p:nvGrpSpPr>
        <p:grpSpPr bwMode="auto">
          <a:xfrm>
            <a:off x="1712385" y="3109913"/>
            <a:ext cx="1790700" cy="646112"/>
            <a:chOff x="644610" y="1363628"/>
            <a:chExt cx="1342850" cy="645590"/>
          </a:xfrm>
        </p:grpSpPr>
        <p:sp>
          <p:nvSpPr>
            <p:cNvPr id="6171" name="Text Box 2"/>
            <p:cNvSpPr txBox="1">
              <a:spLocks noChangeArrowheads="1"/>
            </p:cNvSpPr>
            <p:nvPr/>
          </p:nvSpPr>
          <p:spPr bwMode="auto">
            <a:xfrm>
              <a:off x="644610" y="1363628"/>
              <a:ext cx="1342850" cy="645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/>
                <a:t>  个变量</a:t>
              </a:r>
              <a:endParaRPr lang="zh-CN" altLang="en-US" sz="2400">
                <a:solidFill>
                  <a:srgbClr val="0000FF"/>
                </a:solidFill>
              </a:endParaRPr>
            </a:p>
          </p:txBody>
        </p:sp>
        <p:graphicFrame>
          <p:nvGraphicFramePr>
            <p:cNvPr id="6172" name="Object 3"/>
            <p:cNvGraphicFramePr>
              <a:graphicFrameLocks noChangeAspect="1"/>
            </p:cNvGraphicFramePr>
            <p:nvPr/>
          </p:nvGraphicFramePr>
          <p:xfrm>
            <a:off x="701221" y="1592407"/>
            <a:ext cx="250795" cy="274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64" name="Equation" r:id="rId3" imgW="126835" imgH="139518" progId="Equation.DSMT4">
                    <p:embed/>
                  </p:oleObj>
                </mc:Choice>
                <mc:Fallback>
                  <p:oleObj name="Equation" r:id="rId3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1221" y="1592407"/>
                          <a:ext cx="250795" cy="2745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1"/>
          <p:cNvGrpSpPr>
            <a:grpSpLocks/>
          </p:cNvGrpSpPr>
          <p:nvPr/>
        </p:nvGrpSpPr>
        <p:grpSpPr bwMode="auto">
          <a:xfrm>
            <a:off x="7440085" y="3103563"/>
            <a:ext cx="3230033" cy="652462"/>
            <a:chOff x="644610" y="1363628"/>
            <a:chExt cx="2422038" cy="651494"/>
          </a:xfrm>
        </p:grpSpPr>
        <p:sp>
          <p:nvSpPr>
            <p:cNvPr id="6168" name="Text Box 2"/>
            <p:cNvSpPr txBox="1">
              <a:spLocks noChangeArrowheads="1"/>
            </p:cNvSpPr>
            <p:nvPr/>
          </p:nvSpPr>
          <p:spPr bwMode="auto">
            <a:xfrm>
              <a:off x="644610" y="1363628"/>
              <a:ext cx="1342850" cy="6453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/>
                <a:t>  阶方阵</a:t>
              </a:r>
              <a:endParaRPr lang="zh-CN" altLang="en-US" sz="2400">
                <a:solidFill>
                  <a:srgbClr val="0000FF"/>
                </a:solidFill>
              </a:endParaRPr>
            </a:p>
          </p:txBody>
        </p:sp>
        <p:graphicFrame>
          <p:nvGraphicFramePr>
            <p:cNvPr id="6169" name="Object 3"/>
            <p:cNvGraphicFramePr>
              <a:graphicFrameLocks noChangeAspect="1"/>
            </p:cNvGraphicFramePr>
            <p:nvPr/>
          </p:nvGraphicFramePr>
          <p:xfrm>
            <a:off x="701221" y="1592407"/>
            <a:ext cx="250795" cy="274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65" name="Equation" r:id="rId5" imgW="126835" imgH="139518" progId="Equation.DSMT4">
                    <p:embed/>
                  </p:oleObj>
                </mc:Choice>
                <mc:Fallback>
                  <p:oleObj name="Equation" r:id="rId5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1221" y="1592407"/>
                          <a:ext cx="250795" cy="2745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70" name="Object 3"/>
            <p:cNvGraphicFramePr>
              <a:graphicFrameLocks noChangeAspect="1"/>
            </p:cNvGraphicFramePr>
            <p:nvPr/>
          </p:nvGraphicFramePr>
          <p:xfrm>
            <a:off x="1861693" y="1441105"/>
            <a:ext cx="1204955" cy="5740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66" name="Equation" r:id="rId6" imgW="609336" imgH="291973" progId="Equation.DSMT4">
                    <p:embed/>
                  </p:oleObj>
                </mc:Choice>
                <mc:Fallback>
                  <p:oleObj name="Equation" r:id="rId6" imgW="609336" imgH="291973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1693" y="1441105"/>
                          <a:ext cx="1204955" cy="5740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1"/>
          <p:cNvGrpSpPr>
            <a:grpSpLocks/>
          </p:cNvGrpSpPr>
          <p:nvPr/>
        </p:nvGrpSpPr>
        <p:grpSpPr bwMode="auto">
          <a:xfrm>
            <a:off x="1907118" y="3933826"/>
            <a:ext cx="1841500" cy="646331"/>
            <a:chOff x="607166" y="1363628"/>
            <a:chExt cx="1380294" cy="647133"/>
          </a:xfrm>
        </p:grpSpPr>
        <p:sp>
          <p:nvSpPr>
            <p:cNvPr id="6166" name="Text Box 2"/>
            <p:cNvSpPr txBox="1">
              <a:spLocks noChangeArrowheads="1"/>
            </p:cNvSpPr>
            <p:nvPr/>
          </p:nvSpPr>
          <p:spPr bwMode="auto">
            <a:xfrm>
              <a:off x="644610" y="1363628"/>
              <a:ext cx="1342850" cy="6471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/>
                <a:t>  系数</a:t>
              </a:r>
              <a:endParaRPr lang="zh-CN" altLang="en-US" sz="2400">
                <a:solidFill>
                  <a:srgbClr val="0000FF"/>
                </a:solidFill>
              </a:endParaRPr>
            </a:p>
          </p:txBody>
        </p:sp>
        <p:graphicFrame>
          <p:nvGraphicFramePr>
            <p:cNvPr id="6167" name="Object 3"/>
            <p:cNvGraphicFramePr>
              <a:graphicFrameLocks noChangeAspect="1"/>
            </p:cNvGraphicFramePr>
            <p:nvPr/>
          </p:nvGraphicFramePr>
          <p:xfrm>
            <a:off x="607166" y="1479204"/>
            <a:ext cx="350850" cy="474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67" name="Equation" r:id="rId8" imgW="177646" imgH="241091" progId="Equation.DSMT4">
                    <p:embed/>
                  </p:oleObj>
                </mc:Choice>
                <mc:Fallback>
                  <p:oleObj name="Equation" r:id="rId8" imgW="177646" imgH="24109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7166" y="1479204"/>
                          <a:ext cx="350850" cy="4741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组合 1"/>
          <p:cNvGrpSpPr>
            <a:grpSpLocks/>
          </p:cNvGrpSpPr>
          <p:nvPr/>
        </p:nvGrpSpPr>
        <p:grpSpPr bwMode="auto">
          <a:xfrm>
            <a:off x="7649634" y="3933826"/>
            <a:ext cx="2766484" cy="646113"/>
            <a:chOff x="-87528" y="1363628"/>
            <a:chExt cx="2074988" cy="645591"/>
          </a:xfrm>
        </p:grpSpPr>
        <p:sp>
          <p:nvSpPr>
            <p:cNvPr id="6164" name="Text Box 2"/>
            <p:cNvSpPr txBox="1">
              <a:spLocks noChangeArrowheads="1"/>
            </p:cNvSpPr>
            <p:nvPr/>
          </p:nvSpPr>
          <p:spPr bwMode="auto">
            <a:xfrm>
              <a:off x="-87528" y="1363628"/>
              <a:ext cx="2074988" cy="6455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/>
                <a:t>对角线元素</a:t>
              </a:r>
              <a:endParaRPr lang="zh-CN" altLang="en-US" sz="2400">
                <a:solidFill>
                  <a:srgbClr val="0000FF"/>
                </a:solidFill>
              </a:endParaRPr>
            </a:p>
          </p:txBody>
        </p:sp>
        <p:graphicFrame>
          <p:nvGraphicFramePr>
            <p:cNvPr id="6165" name="Object 3"/>
            <p:cNvGraphicFramePr>
              <a:graphicFrameLocks noChangeAspect="1"/>
            </p:cNvGraphicFramePr>
            <p:nvPr/>
          </p:nvGraphicFramePr>
          <p:xfrm>
            <a:off x="1596747" y="1499488"/>
            <a:ext cx="350850" cy="450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68" name="Equation" r:id="rId10" imgW="177646" imgH="228402" progId="Equation.DSMT4">
                    <p:embed/>
                  </p:oleObj>
                </mc:Choice>
                <mc:Fallback>
                  <p:oleObj name="Equation" r:id="rId10" imgW="177646" imgH="22840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6747" y="1499488"/>
                          <a:ext cx="350850" cy="450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组合 1"/>
          <p:cNvGrpSpPr>
            <a:grpSpLocks/>
          </p:cNvGrpSpPr>
          <p:nvPr/>
        </p:nvGrpSpPr>
        <p:grpSpPr bwMode="auto">
          <a:xfrm>
            <a:off x="1297517" y="4783138"/>
            <a:ext cx="3742267" cy="646112"/>
            <a:chOff x="384792" y="1363628"/>
            <a:chExt cx="2806788" cy="645591"/>
          </a:xfrm>
        </p:grpSpPr>
        <p:sp>
          <p:nvSpPr>
            <p:cNvPr id="6162" name="Text Box 2"/>
            <p:cNvSpPr txBox="1">
              <a:spLocks noChangeArrowheads="1"/>
            </p:cNvSpPr>
            <p:nvPr/>
          </p:nvSpPr>
          <p:spPr bwMode="auto">
            <a:xfrm>
              <a:off x="644610" y="1363628"/>
              <a:ext cx="2546970" cy="6455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/>
                <a:t>  系数的一半</a:t>
              </a:r>
              <a:endParaRPr lang="zh-CN" altLang="en-US" sz="2400">
                <a:solidFill>
                  <a:srgbClr val="0000FF"/>
                </a:solidFill>
              </a:endParaRPr>
            </a:p>
          </p:txBody>
        </p:sp>
        <p:graphicFrame>
          <p:nvGraphicFramePr>
            <p:cNvPr id="6163" name="Object 3"/>
            <p:cNvGraphicFramePr>
              <a:graphicFrameLocks noChangeAspect="1"/>
            </p:cNvGraphicFramePr>
            <p:nvPr/>
          </p:nvGraphicFramePr>
          <p:xfrm>
            <a:off x="384792" y="1479086"/>
            <a:ext cx="552469" cy="474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69" name="Equation" r:id="rId12" imgW="279279" imgH="241195" progId="Equation.DSMT4">
                    <p:embed/>
                  </p:oleObj>
                </mc:Choice>
                <mc:Fallback>
                  <p:oleObj name="Equation" r:id="rId12" imgW="279279" imgH="24119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792" y="1479086"/>
                          <a:ext cx="552469" cy="474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" name="组合 1"/>
          <p:cNvGrpSpPr>
            <a:grpSpLocks/>
          </p:cNvGrpSpPr>
          <p:nvPr/>
        </p:nvGrpSpPr>
        <p:grpSpPr bwMode="auto">
          <a:xfrm>
            <a:off x="6695018" y="4784726"/>
            <a:ext cx="4777316" cy="646113"/>
            <a:chOff x="-944842" y="1363628"/>
            <a:chExt cx="3583011" cy="645590"/>
          </a:xfrm>
        </p:grpSpPr>
        <p:sp>
          <p:nvSpPr>
            <p:cNvPr id="6160" name="Text Box 2"/>
            <p:cNvSpPr txBox="1">
              <a:spLocks noChangeArrowheads="1"/>
            </p:cNvSpPr>
            <p:nvPr/>
          </p:nvSpPr>
          <p:spPr bwMode="auto">
            <a:xfrm>
              <a:off x="-944842" y="1363628"/>
              <a:ext cx="2932302" cy="645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/>
                <a:t>  对称位置上元素</a:t>
              </a:r>
              <a:endParaRPr lang="zh-CN" altLang="en-US" sz="2400">
                <a:solidFill>
                  <a:srgbClr val="0000FF"/>
                </a:solidFill>
              </a:endParaRPr>
            </a:p>
          </p:txBody>
        </p:sp>
        <p:graphicFrame>
          <p:nvGraphicFramePr>
            <p:cNvPr id="6161" name="Object 3"/>
            <p:cNvGraphicFramePr>
              <a:graphicFrameLocks noChangeAspect="1"/>
            </p:cNvGraphicFramePr>
            <p:nvPr/>
          </p:nvGraphicFramePr>
          <p:xfrm>
            <a:off x="1658648" y="1458665"/>
            <a:ext cx="979521" cy="4741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70" name="Equation" r:id="rId14" imgW="495085" imgH="241195" progId="Equation.DSMT4">
                    <p:embed/>
                  </p:oleObj>
                </mc:Choice>
                <mc:Fallback>
                  <p:oleObj name="Equation" r:id="rId14" imgW="495085" imgH="241195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8648" y="1458665"/>
                          <a:ext cx="979521" cy="4741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" name="Text Box 2"/>
          <p:cNvSpPr txBox="1">
            <a:spLocks noChangeArrowheads="1"/>
          </p:cNvSpPr>
          <p:nvPr/>
        </p:nvSpPr>
        <p:spPr bwMode="auto">
          <a:xfrm>
            <a:off x="1409700" y="5661026"/>
            <a:ext cx="339513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zh-CN" altLang="en-US" sz="2400">
                <a:solidFill>
                  <a:srgbClr val="0000FF"/>
                </a:solidFill>
              </a:rPr>
              <a:t>  二次型的秩</a:t>
            </a:r>
          </a:p>
        </p:txBody>
      </p:sp>
      <p:sp>
        <p:nvSpPr>
          <p:cNvPr id="45" name="Text Box 2"/>
          <p:cNvSpPr txBox="1">
            <a:spLocks noChangeArrowheads="1"/>
          </p:cNvSpPr>
          <p:nvPr/>
        </p:nvSpPr>
        <p:spPr bwMode="auto">
          <a:xfrm>
            <a:off x="7632700" y="5634038"/>
            <a:ext cx="339513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zh-CN" altLang="en-US" sz="2400">
                <a:solidFill>
                  <a:srgbClr val="0000FF"/>
                </a:solidFill>
              </a:rPr>
              <a:t>  矩阵的秩</a:t>
            </a:r>
          </a:p>
        </p:txBody>
      </p:sp>
      <p:sp>
        <p:nvSpPr>
          <p:cNvPr id="2" name="矩形 1"/>
          <p:cNvSpPr/>
          <p:nvPr/>
        </p:nvSpPr>
        <p:spPr>
          <a:xfrm>
            <a:off x="8615701" y="479353"/>
            <a:ext cx="2555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5.1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二次型及其矩阵表示</a:t>
            </a:r>
          </a:p>
        </p:txBody>
      </p:sp>
    </p:spTree>
    <p:extLst>
      <p:ext uri="{BB962C8B-B14F-4D97-AF65-F5344CB8AC3E}">
        <p14:creationId xmlns:p14="http://schemas.microsoft.com/office/powerpoint/2010/main" val="3073214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6"/>
          <p:cNvSpPr txBox="1">
            <a:spLocks noChangeArrowheads="1"/>
          </p:cNvSpPr>
          <p:nvPr/>
        </p:nvSpPr>
        <p:spPr bwMode="auto">
          <a:xfrm>
            <a:off x="7111360" y="389852"/>
            <a:ext cx="870373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en-US" altLang="zh-CN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5.1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二次型及其矩阵表示</a:t>
            </a:r>
          </a:p>
        </p:txBody>
      </p:sp>
      <p:sp>
        <p:nvSpPr>
          <p:cNvPr id="7171" name="Rectangle 13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" name="对角圆角矩形 3"/>
          <p:cNvSpPr/>
          <p:nvPr/>
        </p:nvSpPr>
        <p:spPr>
          <a:xfrm>
            <a:off x="438693" y="1294772"/>
            <a:ext cx="1277408" cy="719137"/>
          </a:xfrm>
          <a:prstGeom prst="round2DiagRect">
            <a:avLst>
              <a:gd name="adj1" fmla="val 37516"/>
              <a:gd name="adj2" fmla="val 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dirty="0"/>
              <a:t>二次型</a:t>
            </a:r>
          </a:p>
        </p:txBody>
      </p:sp>
      <p:sp>
        <p:nvSpPr>
          <p:cNvPr id="16" name="对角圆角矩形 15"/>
          <p:cNvSpPr/>
          <p:nvPr/>
        </p:nvSpPr>
        <p:spPr>
          <a:xfrm>
            <a:off x="438693" y="3981007"/>
            <a:ext cx="1277408" cy="719137"/>
          </a:xfrm>
          <a:prstGeom prst="round2DiagRect">
            <a:avLst>
              <a:gd name="adj1" fmla="val 0"/>
              <a:gd name="adj2" fmla="val 36011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dirty="0"/>
              <a:t>实对称阵</a:t>
            </a:r>
          </a:p>
        </p:txBody>
      </p:sp>
      <p:graphicFrame>
        <p:nvGraphicFramePr>
          <p:cNvPr id="3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507410"/>
              </p:ext>
            </p:extLst>
          </p:nvPr>
        </p:nvGraphicFramePr>
        <p:xfrm>
          <a:off x="2197396" y="1469066"/>
          <a:ext cx="797560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2" name="Equation" r:id="rId3" imgW="3327400" imgH="254000" progId="Equation.DSMT4">
                  <p:embed/>
                </p:oleObj>
              </mc:Choice>
              <mc:Fallback>
                <p:oleObj name="Equation" r:id="rId3" imgW="33274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396" y="1469066"/>
                        <a:ext cx="797560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5177870"/>
              </p:ext>
            </p:extLst>
          </p:nvPr>
        </p:nvGraphicFramePr>
        <p:xfrm>
          <a:off x="2080339" y="3774633"/>
          <a:ext cx="2971800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3" name="Equation" r:id="rId5" imgW="1143000" imgH="711200" progId="Equation.DSMT4">
                  <p:embed/>
                </p:oleObj>
              </mc:Choice>
              <mc:Fallback>
                <p:oleObj name="Equation" r:id="rId5" imgW="11430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0339" y="3774633"/>
                        <a:ext cx="2971800" cy="127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9470454"/>
              </p:ext>
            </p:extLst>
          </p:nvPr>
        </p:nvGraphicFramePr>
        <p:xfrm>
          <a:off x="2191194" y="2084166"/>
          <a:ext cx="4536017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4" name="Equation" r:id="rId7" imgW="1892300" imgH="254000" progId="Equation.DSMT4">
                  <p:embed/>
                </p:oleObj>
              </mc:Choice>
              <mc:Fallback>
                <p:oleObj name="Equation" r:id="rId7" imgW="1892300" imgH="2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1194" y="2084166"/>
                        <a:ext cx="4536017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6747952"/>
              </p:ext>
            </p:extLst>
          </p:nvPr>
        </p:nvGraphicFramePr>
        <p:xfrm>
          <a:off x="5407025" y="3774633"/>
          <a:ext cx="3014133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5" name="Equation" r:id="rId9" imgW="1257300" imgH="711200" progId="Equation.DSMT4">
                  <p:embed/>
                </p:oleObj>
              </mc:Choice>
              <mc:Fallback>
                <p:oleObj name="Equation" r:id="rId9" imgW="12573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7025" y="3774633"/>
                        <a:ext cx="3014133" cy="127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五边形 1"/>
          <p:cNvSpPr/>
          <p:nvPr/>
        </p:nvSpPr>
        <p:spPr>
          <a:xfrm flipH="1">
            <a:off x="6920073" y="2013909"/>
            <a:ext cx="1900767" cy="431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dirty="0"/>
              <a:t>标准形</a:t>
            </a:r>
          </a:p>
        </p:txBody>
      </p:sp>
      <p:sp>
        <p:nvSpPr>
          <p:cNvPr id="43" name="五边形 42"/>
          <p:cNvSpPr/>
          <p:nvPr/>
        </p:nvSpPr>
        <p:spPr>
          <a:xfrm flipH="1">
            <a:off x="8670266" y="4124676"/>
            <a:ext cx="1900767" cy="4318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dirty="0"/>
              <a:t>对角阵</a:t>
            </a:r>
          </a:p>
        </p:txBody>
      </p:sp>
      <p:sp>
        <p:nvSpPr>
          <p:cNvPr id="7180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endParaRPr lang="zh-CN" altLang="en-US" sz="2000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3013513"/>
              </p:ext>
            </p:extLst>
          </p:nvPr>
        </p:nvGraphicFramePr>
        <p:xfrm>
          <a:off x="555650" y="2561524"/>
          <a:ext cx="9682163" cy="1274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6" name="Equation" r:id="rId11" imgW="4038480" imgH="711000" progId="Equation.DSMT4">
                  <p:embed/>
                </p:oleObj>
              </mc:Choice>
              <mc:Fallback>
                <p:oleObj name="Equation" r:id="rId11" imgW="4038480" imgH="711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50" y="2561524"/>
                        <a:ext cx="9682163" cy="1274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0797644"/>
              </p:ext>
            </p:extLst>
          </p:nvPr>
        </p:nvGraphicFramePr>
        <p:xfrm>
          <a:off x="438693" y="5253777"/>
          <a:ext cx="9804401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7" name="Equation" r:id="rId13" imgW="4089240" imgH="736560" progId="Equation.DSMT4">
                  <p:embed/>
                </p:oleObj>
              </mc:Choice>
              <mc:Fallback>
                <p:oleObj name="Equation" r:id="rId13" imgW="4089240" imgH="7365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693" y="5253777"/>
                        <a:ext cx="9804401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310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6"/>
          <p:cNvSpPr txBox="1">
            <a:spLocks noChangeArrowheads="1"/>
          </p:cNvSpPr>
          <p:nvPr/>
        </p:nvSpPr>
        <p:spPr bwMode="auto">
          <a:xfrm>
            <a:off x="848784" y="857761"/>
            <a:ext cx="8703733" cy="929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70000"/>
              </a:lnSpc>
              <a:buClr>
                <a:schemeClr val="accent2"/>
              </a:buClr>
              <a:buFont typeface="Wingdings" pitchFamily="2" charset="2"/>
              <a:buChar char="p"/>
            </a:pPr>
            <a:r>
              <a:rPr lang="zh-CN" altLang="en-US" sz="3200" dirty="0"/>
              <a:t>  线性替换</a:t>
            </a:r>
          </a:p>
        </p:txBody>
      </p:sp>
      <p:sp>
        <p:nvSpPr>
          <p:cNvPr id="9219" name="Rectangle 13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17" name="组合 1"/>
          <p:cNvGrpSpPr>
            <a:grpSpLocks/>
          </p:cNvGrpSpPr>
          <p:nvPr/>
        </p:nvGrpSpPr>
        <p:grpSpPr bwMode="auto">
          <a:xfrm>
            <a:off x="1818218" y="1484312"/>
            <a:ext cx="8983133" cy="646331"/>
            <a:chOff x="644610" y="1363628"/>
            <a:chExt cx="6736832" cy="645809"/>
          </a:xfrm>
        </p:grpSpPr>
        <p:sp>
          <p:nvSpPr>
            <p:cNvPr id="9241" name="Text Box 2"/>
            <p:cNvSpPr txBox="1">
              <a:spLocks noChangeArrowheads="1"/>
            </p:cNvSpPr>
            <p:nvPr/>
          </p:nvSpPr>
          <p:spPr bwMode="auto">
            <a:xfrm>
              <a:off x="644610" y="1363628"/>
              <a:ext cx="6736832" cy="6458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 dirty="0"/>
                <a:t>设两组</a:t>
              </a:r>
              <a:r>
                <a:rPr lang="zh-CN" altLang="en-US" sz="2400" dirty="0" smtClean="0"/>
                <a:t>变量                        </a:t>
              </a:r>
              <a:r>
                <a:rPr lang="zh-CN" altLang="en-US" sz="2400" dirty="0"/>
                <a:t>和 </a:t>
              </a:r>
              <a:r>
                <a:rPr lang="zh-CN" altLang="en-US" sz="2400" dirty="0" smtClean="0"/>
                <a:t>                     </a:t>
              </a:r>
              <a:r>
                <a:rPr lang="zh-CN" altLang="en-US" sz="2400" dirty="0"/>
                <a:t>有下面关系</a:t>
              </a:r>
              <a:endParaRPr lang="zh-CN" altLang="en-US" sz="2400" dirty="0">
                <a:solidFill>
                  <a:srgbClr val="0000FF"/>
                </a:solidFill>
              </a:endParaRPr>
            </a:p>
          </p:txBody>
        </p:sp>
        <p:graphicFrame>
          <p:nvGraphicFramePr>
            <p:cNvPr id="9242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59167215"/>
                </p:ext>
              </p:extLst>
            </p:nvPr>
          </p:nvGraphicFramePr>
          <p:xfrm>
            <a:off x="1987368" y="1468801"/>
            <a:ext cx="1454201" cy="4519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84" name="Equation" r:id="rId3" imgW="736600" imgH="228600" progId="Equation.DSMT4">
                    <p:embed/>
                  </p:oleObj>
                </mc:Choice>
                <mc:Fallback>
                  <p:oleObj name="Equation" r:id="rId3" imgW="7366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7368" y="1468801"/>
                          <a:ext cx="1454201" cy="4519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3" name="Object 3"/>
            <p:cNvGraphicFramePr>
              <a:graphicFrameLocks noChangeAspect="1"/>
            </p:cNvGraphicFramePr>
            <p:nvPr/>
          </p:nvGraphicFramePr>
          <p:xfrm>
            <a:off x="4122172" y="1479427"/>
            <a:ext cx="1505003" cy="4519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85" name="Equation" r:id="rId5" imgW="761669" imgH="228501" progId="Equation.DSMT4">
                    <p:embed/>
                  </p:oleObj>
                </mc:Choice>
                <mc:Fallback>
                  <p:oleObj name="Equation" r:id="rId5" imgW="761669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2172" y="1479427"/>
                          <a:ext cx="1505003" cy="4519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7378093"/>
              </p:ext>
            </p:extLst>
          </p:nvPr>
        </p:nvGraphicFramePr>
        <p:xfrm>
          <a:off x="2605420" y="2030280"/>
          <a:ext cx="4887383" cy="184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86" name="Equation" r:id="rId7" imgW="1854200" imgH="939800" progId="Equation.DSMT4">
                  <p:embed/>
                </p:oleObj>
              </mc:Choice>
              <mc:Fallback>
                <p:oleObj name="Equation" r:id="rId7" imgW="1854200" imgH="93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420" y="2030280"/>
                        <a:ext cx="4887383" cy="184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组合 1"/>
          <p:cNvGrpSpPr>
            <a:grpSpLocks/>
          </p:cNvGrpSpPr>
          <p:nvPr/>
        </p:nvGrpSpPr>
        <p:grpSpPr bwMode="auto">
          <a:xfrm>
            <a:off x="1328529" y="4010026"/>
            <a:ext cx="8981016" cy="646331"/>
            <a:chOff x="644610" y="1363628"/>
            <a:chExt cx="6736832" cy="645737"/>
          </a:xfrm>
        </p:grpSpPr>
        <p:sp>
          <p:nvSpPr>
            <p:cNvPr id="9238" name="Text Box 2"/>
            <p:cNvSpPr txBox="1">
              <a:spLocks noChangeArrowheads="1"/>
            </p:cNvSpPr>
            <p:nvPr/>
          </p:nvSpPr>
          <p:spPr bwMode="auto">
            <a:xfrm>
              <a:off x="644610" y="1363628"/>
              <a:ext cx="6736832" cy="6457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 dirty="0"/>
                <a:t>称为   </a:t>
              </a:r>
              <a:r>
                <a:rPr lang="zh-CN" altLang="en-US" sz="2400" dirty="0" smtClean="0"/>
                <a:t>                    </a:t>
              </a:r>
              <a:r>
                <a:rPr lang="zh-CN" altLang="en-US" sz="2400" dirty="0"/>
                <a:t>到 </a:t>
              </a:r>
              <a:r>
                <a:rPr lang="zh-CN" altLang="en-US" sz="2400" dirty="0" smtClean="0"/>
                <a:t>                    </a:t>
              </a:r>
              <a:r>
                <a:rPr lang="zh-CN" altLang="en-US" sz="2400" dirty="0"/>
                <a:t>的一个</a:t>
              </a:r>
              <a:r>
                <a:rPr lang="zh-CN" altLang="en-US" sz="2400" dirty="0">
                  <a:solidFill>
                    <a:srgbClr val="0000FF"/>
                  </a:solidFill>
                </a:rPr>
                <a:t>线性替换</a:t>
              </a:r>
            </a:p>
          </p:txBody>
        </p:sp>
        <p:graphicFrame>
          <p:nvGraphicFramePr>
            <p:cNvPr id="9239" name="Object 3"/>
            <p:cNvGraphicFramePr>
              <a:graphicFrameLocks noChangeAspect="1"/>
            </p:cNvGraphicFramePr>
            <p:nvPr/>
          </p:nvGraphicFramePr>
          <p:xfrm>
            <a:off x="1406657" y="1482685"/>
            <a:ext cx="1454201" cy="4519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87" name="Equation" r:id="rId9" imgW="736600" imgH="228600" progId="Equation.DSMT4">
                    <p:embed/>
                  </p:oleObj>
                </mc:Choice>
                <mc:Fallback>
                  <p:oleObj name="Equation" r:id="rId9" imgW="7366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6657" y="1482685"/>
                          <a:ext cx="1454201" cy="4519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0" name="Object 3"/>
            <p:cNvGraphicFramePr>
              <a:graphicFrameLocks noChangeAspect="1"/>
            </p:cNvGraphicFramePr>
            <p:nvPr/>
          </p:nvGraphicFramePr>
          <p:xfrm>
            <a:off x="3292921" y="1465795"/>
            <a:ext cx="1505003" cy="4519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88" name="Equation" r:id="rId10" imgW="761669" imgH="228501" progId="Equation.DSMT4">
                    <p:embed/>
                  </p:oleObj>
                </mc:Choice>
                <mc:Fallback>
                  <p:oleObj name="Equation" r:id="rId10" imgW="761669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2921" y="1465795"/>
                          <a:ext cx="1505003" cy="4519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" name="组合 1"/>
          <p:cNvGrpSpPr>
            <a:grpSpLocks/>
          </p:cNvGrpSpPr>
          <p:nvPr/>
        </p:nvGrpSpPr>
        <p:grpSpPr bwMode="auto">
          <a:xfrm>
            <a:off x="7901517" y="2670178"/>
            <a:ext cx="2269596" cy="569643"/>
            <a:chOff x="644610" y="1363628"/>
            <a:chExt cx="1702629" cy="568720"/>
          </a:xfrm>
        </p:grpSpPr>
        <p:sp>
          <p:nvSpPr>
            <p:cNvPr id="9236" name="Text Box 2"/>
            <p:cNvSpPr txBox="1">
              <a:spLocks noChangeArrowheads="1"/>
            </p:cNvSpPr>
            <p:nvPr/>
          </p:nvSpPr>
          <p:spPr bwMode="auto">
            <a:xfrm>
              <a:off x="644610" y="1363628"/>
              <a:ext cx="1008147" cy="568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 dirty="0" smtClean="0"/>
                <a:t>即</a:t>
              </a:r>
              <a:endParaRPr lang="zh-CN" altLang="en-US" sz="2400" dirty="0"/>
            </a:p>
          </p:txBody>
        </p:sp>
        <p:graphicFrame>
          <p:nvGraphicFramePr>
            <p:cNvPr id="9237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4991086"/>
                </p:ext>
              </p:extLst>
            </p:nvPr>
          </p:nvGraphicFramePr>
          <p:xfrm>
            <a:off x="1293268" y="1534797"/>
            <a:ext cx="1053971" cy="3518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89" name="Equation" r:id="rId11" imgW="533160" imgH="177480" progId="Equation.DSMT4">
                    <p:embed/>
                  </p:oleObj>
                </mc:Choice>
                <mc:Fallback>
                  <p:oleObj name="Equation" r:id="rId11" imgW="5331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3268" y="1534797"/>
                          <a:ext cx="1053971" cy="3518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" name="组合 1"/>
          <p:cNvGrpSpPr>
            <a:grpSpLocks/>
          </p:cNvGrpSpPr>
          <p:nvPr/>
        </p:nvGrpSpPr>
        <p:grpSpPr bwMode="auto">
          <a:xfrm>
            <a:off x="1488017" y="4652964"/>
            <a:ext cx="8981016" cy="661987"/>
            <a:chOff x="644610" y="1363628"/>
            <a:chExt cx="6736832" cy="660959"/>
          </a:xfrm>
        </p:grpSpPr>
        <p:sp>
          <p:nvSpPr>
            <p:cNvPr id="9234" name="Text Box 2"/>
            <p:cNvSpPr txBox="1">
              <a:spLocks noChangeArrowheads="1"/>
            </p:cNvSpPr>
            <p:nvPr/>
          </p:nvSpPr>
          <p:spPr bwMode="auto">
            <a:xfrm>
              <a:off x="644610" y="1363628"/>
              <a:ext cx="6736832" cy="645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 dirty="0"/>
                <a:t>其中 </a:t>
              </a:r>
              <a:r>
                <a:rPr lang="zh-CN" altLang="en-US" sz="2400" dirty="0" smtClean="0"/>
                <a:t>                      </a:t>
              </a:r>
              <a:r>
                <a:rPr lang="zh-CN" altLang="en-US" sz="2400" dirty="0"/>
                <a:t>为</a:t>
              </a:r>
              <a:r>
                <a:rPr lang="zh-CN" altLang="en-US" sz="2400" dirty="0">
                  <a:solidFill>
                    <a:srgbClr val="0000FF"/>
                  </a:solidFill>
                </a:rPr>
                <a:t>线性替换矩阵</a:t>
              </a:r>
            </a:p>
          </p:txBody>
        </p:sp>
        <p:graphicFrame>
          <p:nvGraphicFramePr>
            <p:cNvPr id="9235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9725777"/>
                </p:ext>
              </p:extLst>
            </p:nvPr>
          </p:nvGraphicFramePr>
          <p:xfrm>
            <a:off x="1441959" y="1447399"/>
            <a:ext cx="1379585" cy="577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90" name="Equation" r:id="rId13" imgW="698400" imgH="291960" progId="Equation.DSMT4">
                    <p:embed/>
                  </p:oleObj>
                </mc:Choice>
                <mc:Fallback>
                  <p:oleObj name="Equation" r:id="rId13" imgW="698400" imgH="291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1959" y="1447399"/>
                          <a:ext cx="1379585" cy="577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" name="组合 1"/>
          <p:cNvGrpSpPr>
            <a:grpSpLocks/>
          </p:cNvGrpSpPr>
          <p:nvPr/>
        </p:nvGrpSpPr>
        <p:grpSpPr bwMode="auto">
          <a:xfrm>
            <a:off x="1913467" y="5229226"/>
            <a:ext cx="8983133" cy="569643"/>
            <a:chOff x="644610" y="1363628"/>
            <a:chExt cx="6736832" cy="569181"/>
          </a:xfrm>
        </p:grpSpPr>
        <p:sp>
          <p:nvSpPr>
            <p:cNvPr id="9231" name="Text Box 2"/>
            <p:cNvSpPr txBox="1">
              <a:spLocks noChangeArrowheads="1"/>
            </p:cNvSpPr>
            <p:nvPr/>
          </p:nvSpPr>
          <p:spPr bwMode="auto">
            <a:xfrm>
              <a:off x="644610" y="1363628"/>
              <a:ext cx="6736832" cy="5691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buClr>
                  <a:srgbClr val="FF0000"/>
                </a:buClr>
                <a:buFont typeface="Wingdings" pitchFamily="2" charset="2"/>
                <a:buChar char="ü"/>
              </a:pPr>
              <a:r>
                <a:rPr lang="zh-CN" altLang="en-US" sz="2400" dirty="0"/>
                <a:t>若    可逆，则</a:t>
              </a:r>
              <a:r>
                <a:rPr lang="zh-CN" altLang="en-US" sz="2400" dirty="0" smtClean="0"/>
                <a:t>称              </a:t>
              </a:r>
              <a:r>
                <a:rPr lang="zh-CN" altLang="en-US" sz="2400" dirty="0"/>
                <a:t>为可逆的线性</a:t>
              </a:r>
              <a:r>
                <a:rPr lang="zh-CN" altLang="en-US" sz="2400" dirty="0" smtClean="0"/>
                <a:t>替换。</a:t>
              </a:r>
              <a:endParaRPr lang="zh-CN" altLang="en-US" sz="2400" dirty="0">
                <a:solidFill>
                  <a:srgbClr val="0000FF"/>
                </a:solidFill>
              </a:endParaRPr>
            </a:p>
          </p:txBody>
        </p:sp>
        <p:graphicFrame>
          <p:nvGraphicFramePr>
            <p:cNvPr id="9232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8546052"/>
                </p:ext>
              </p:extLst>
            </p:nvPr>
          </p:nvGraphicFramePr>
          <p:xfrm>
            <a:off x="1229956" y="1511145"/>
            <a:ext cx="301205" cy="350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91" name="Equation" r:id="rId15" imgW="152280" imgH="177480" progId="Equation.DSMT4">
                    <p:embed/>
                  </p:oleObj>
                </mc:Choice>
                <mc:Fallback>
                  <p:oleObj name="Equation" r:id="rId15" imgW="1522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9956" y="1511145"/>
                          <a:ext cx="301205" cy="3505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3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7360241"/>
                </p:ext>
              </p:extLst>
            </p:nvPr>
          </p:nvGraphicFramePr>
          <p:xfrm>
            <a:off x="2709789" y="1511145"/>
            <a:ext cx="1054813" cy="350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92" name="Equation" r:id="rId17" imgW="533160" imgH="177480" progId="Equation.DSMT4">
                    <p:embed/>
                  </p:oleObj>
                </mc:Choice>
                <mc:Fallback>
                  <p:oleObj name="Equation" r:id="rId17" imgW="5331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9789" y="1511145"/>
                          <a:ext cx="1054813" cy="3505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9" name="组合 1"/>
          <p:cNvGrpSpPr>
            <a:grpSpLocks/>
          </p:cNvGrpSpPr>
          <p:nvPr/>
        </p:nvGrpSpPr>
        <p:grpSpPr bwMode="auto">
          <a:xfrm>
            <a:off x="1913467" y="5876926"/>
            <a:ext cx="8983133" cy="646331"/>
            <a:chOff x="644610" y="1363628"/>
            <a:chExt cx="6736832" cy="645283"/>
          </a:xfrm>
        </p:grpSpPr>
        <p:sp>
          <p:nvSpPr>
            <p:cNvPr id="60" name="Text Box 2"/>
            <p:cNvSpPr txBox="1">
              <a:spLocks noChangeArrowheads="1"/>
            </p:cNvSpPr>
            <p:nvPr/>
          </p:nvSpPr>
          <p:spPr bwMode="auto">
            <a:xfrm>
              <a:off x="644610" y="1363628"/>
              <a:ext cx="6736832" cy="645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marL="342900" indent="-342900" algn="just" eaLnBrk="1" hangingPunct="1">
                <a:lnSpc>
                  <a:spcPct val="150000"/>
                </a:lnSpc>
                <a:buClr>
                  <a:srgbClr val="FF0000"/>
                </a:buClr>
                <a:buFont typeface="Wingdings" panose="05000000000000000000" pitchFamily="2" charset="2"/>
                <a:buChar char="ü"/>
                <a:defRPr/>
              </a:pPr>
              <a:r>
                <a:rPr lang="zh-CN" altLang="en-US" sz="2400" dirty="0" smtClean="0"/>
                <a:t>若    正交，则称               为</a:t>
              </a:r>
              <a:r>
                <a:rPr lang="zh-CN" altLang="en-US" sz="2400" dirty="0" smtClean="0">
                  <a:solidFill>
                    <a:schemeClr val="accent6">
                      <a:lumMod val="75000"/>
                    </a:schemeClr>
                  </a:solidFill>
                </a:rPr>
                <a:t>正交替换。</a:t>
              </a:r>
            </a:p>
          </p:txBody>
        </p:sp>
        <p:graphicFrame>
          <p:nvGraphicFramePr>
            <p:cNvPr id="922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34483296"/>
                </p:ext>
              </p:extLst>
            </p:nvPr>
          </p:nvGraphicFramePr>
          <p:xfrm>
            <a:off x="1229956" y="1512610"/>
            <a:ext cx="301205" cy="350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93" name="Equation" r:id="rId19" imgW="152280" imgH="177480" progId="Equation.DSMT4">
                    <p:embed/>
                  </p:oleObj>
                </mc:Choice>
                <mc:Fallback>
                  <p:oleObj name="Equation" r:id="rId19" imgW="1522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9956" y="1512610"/>
                          <a:ext cx="301205" cy="350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0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8474588"/>
                </p:ext>
              </p:extLst>
            </p:nvPr>
          </p:nvGraphicFramePr>
          <p:xfrm>
            <a:off x="2725266" y="1512610"/>
            <a:ext cx="1056003" cy="350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194" name="Equation" r:id="rId21" imgW="533160" imgH="177480" progId="Equation.DSMT4">
                    <p:embed/>
                  </p:oleObj>
                </mc:Choice>
                <mc:Fallback>
                  <p:oleObj name="Equation" r:id="rId21" imgW="5331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5266" y="1512610"/>
                          <a:ext cx="1056003" cy="350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27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endParaRPr lang="zh-CN" altLang="en-US" sz="2000" dirty="0"/>
          </a:p>
        </p:txBody>
      </p:sp>
      <p:sp>
        <p:nvSpPr>
          <p:cNvPr id="2" name="矩形 1"/>
          <p:cNvSpPr/>
          <p:nvPr/>
        </p:nvSpPr>
        <p:spPr>
          <a:xfrm>
            <a:off x="8783252" y="454323"/>
            <a:ext cx="2555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5.1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二次型及其矩阵表示</a:t>
            </a:r>
          </a:p>
        </p:txBody>
      </p:sp>
    </p:spTree>
    <p:extLst>
      <p:ext uri="{BB962C8B-B14F-4D97-AF65-F5344CB8AC3E}">
        <p14:creationId xmlns:p14="http://schemas.microsoft.com/office/powerpoint/2010/main" val="3475105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5.1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二次型及其矩阵表示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20503" y="1148253"/>
            <a:ext cx="3164392" cy="696036"/>
            <a:chOff x="745588" y="1310185"/>
            <a:chExt cx="1229228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1229228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03200" y="1427370"/>
              <a:ext cx="11716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二次型及其矩阵表示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23613" y="2144710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定义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910175" y="2222631"/>
            <a:ext cx="5169498" cy="496732"/>
            <a:chOff x="1910175" y="2222631"/>
            <a:chExt cx="5169498" cy="496732"/>
          </a:xfrm>
        </p:grpSpPr>
        <p:sp>
          <p:nvSpPr>
            <p:cNvPr id="14" name="文本框 13"/>
            <p:cNvSpPr txBox="1"/>
            <p:nvPr/>
          </p:nvSpPr>
          <p:spPr>
            <a:xfrm>
              <a:off x="1910175" y="2222631"/>
              <a:ext cx="51694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若二次型                     只含平方项，         </a:t>
              </a:r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806849"/>
                </p:ext>
              </p:extLst>
            </p:nvPr>
          </p:nvGraphicFramePr>
          <p:xfrm>
            <a:off x="3294207" y="2251050"/>
            <a:ext cx="1785938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174" name="Equation" r:id="rId3" imgW="952200" imgH="253800" progId="Equation.DSMT4">
                    <p:embed/>
                  </p:oleObj>
                </mc:Choice>
                <mc:Fallback>
                  <p:oleObj name="Equation" r:id="rId3" imgW="9522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294207" y="2251050"/>
                          <a:ext cx="1785938" cy="468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/>
          <p:cNvGrpSpPr/>
          <p:nvPr/>
        </p:nvGrpSpPr>
        <p:grpSpPr>
          <a:xfrm>
            <a:off x="1910175" y="3004222"/>
            <a:ext cx="5121009" cy="651368"/>
            <a:chOff x="2176854" y="3179824"/>
            <a:chExt cx="5121009" cy="651368"/>
          </a:xfrm>
        </p:grpSpPr>
        <p:grpSp>
          <p:nvGrpSpPr>
            <p:cNvPr id="16" name="组合 15"/>
            <p:cNvGrpSpPr/>
            <p:nvPr/>
          </p:nvGrpSpPr>
          <p:grpSpPr>
            <a:xfrm>
              <a:off x="2176854" y="3179824"/>
              <a:ext cx="1168134" cy="651368"/>
              <a:chOff x="405949" y="2137359"/>
              <a:chExt cx="1178369" cy="65136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" name="圆角矩形 16"/>
              <p:cNvSpPr/>
              <p:nvPr/>
            </p:nvSpPr>
            <p:spPr>
              <a:xfrm>
                <a:off x="506043" y="2137359"/>
                <a:ext cx="978181" cy="651368"/>
              </a:xfrm>
              <a:prstGeom prst="round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405949" y="2232210"/>
                <a:ext cx="11783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例 如</a:t>
                </a:r>
                <a:r>
                  <a:rPr lang="en-US" altLang="zh-CN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9226891"/>
                </p:ext>
              </p:extLst>
            </p:nvPr>
          </p:nvGraphicFramePr>
          <p:xfrm>
            <a:off x="3344988" y="3315454"/>
            <a:ext cx="3952875" cy="468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175" name="Equation" r:id="rId5" imgW="2108160" imgH="253800" progId="Equation.DSMT4">
                    <p:embed/>
                  </p:oleObj>
                </mc:Choice>
                <mc:Fallback>
                  <p:oleObj name="Equation" r:id="rId5" imgW="21081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344988" y="3315454"/>
                          <a:ext cx="3952875" cy="4683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/>
          <p:cNvGrpSpPr/>
          <p:nvPr/>
        </p:nvGrpSpPr>
        <p:grpSpPr>
          <a:xfrm>
            <a:off x="6842393" y="2244224"/>
            <a:ext cx="4033425" cy="481963"/>
            <a:chOff x="1910175" y="2222631"/>
            <a:chExt cx="4033425" cy="481963"/>
          </a:xfrm>
        </p:grpSpPr>
        <p:sp>
          <p:nvSpPr>
            <p:cNvPr id="22" name="文本框 21"/>
            <p:cNvSpPr txBox="1"/>
            <p:nvPr/>
          </p:nvSpPr>
          <p:spPr>
            <a:xfrm>
              <a:off x="1910175" y="2222631"/>
              <a:ext cx="40334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则称                    为</a:t>
              </a:r>
              <a:r>
                <a:rPr lang="zh-CN" altLang="en-US" sz="2400" dirty="0" smtClean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标准形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</a:t>
              </a:r>
            </a:p>
          </p:txBody>
        </p:sp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5357811"/>
                </p:ext>
              </p:extLst>
            </p:nvPr>
          </p:nvGraphicFramePr>
          <p:xfrm>
            <a:off x="2614575" y="2236281"/>
            <a:ext cx="1785938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176" name="Equation" r:id="rId7" imgW="952200" imgH="253800" progId="Equation.DSMT4">
                    <p:embed/>
                  </p:oleObj>
                </mc:Choice>
                <mc:Fallback>
                  <p:oleObj name="Equation" r:id="rId7" imgW="9522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614575" y="2236281"/>
                          <a:ext cx="1785938" cy="468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/>
          <p:cNvGrpSpPr/>
          <p:nvPr/>
        </p:nvGrpSpPr>
        <p:grpSpPr>
          <a:xfrm>
            <a:off x="468192" y="3994701"/>
            <a:ext cx="1168134" cy="651368"/>
            <a:chOff x="355902" y="2137359"/>
            <a:chExt cx="1178369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7" name="圆角矩形 26"/>
            <p:cNvSpPr/>
            <p:nvPr/>
          </p:nvSpPr>
          <p:spPr>
            <a:xfrm>
              <a:off x="506043" y="2137359"/>
              <a:ext cx="978181" cy="65136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355902" y="2232210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分 析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860487" y="4084827"/>
            <a:ext cx="2634437" cy="515739"/>
            <a:chOff x="1860487" y="4620776"/>
            <a:chExt cx="2634437" cy="515739"/>
          </a:xfrm>
        </p:grpSpPr>
        <p:graphicFrame>
          <p:nvGraphicFramePr>
            <p:cNvPr id="26" name="对象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7967840"/>
                </p:ext>
              </p:extLst>
            </p:nvPr>
          </p:nvGraphicFramePr>
          <p:xfrm>
            <a:off x="2365519" y="4668202"/>
            <a:ext cx="1857375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177" name="Equation" r:id="rId8" imgW="990360" imgH="253800" progId="Equation.DSMT4">
                    <p:embed/>
                  </p:oleObj>
                </mc:Choice>
                <mc:Fallback>
                  <p:oleObj name="Equation" r:id="rId8" imgW="9903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365519" y="4668202"/>
                          <a:ext cx="1857375" cy="468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文本框 28"/>
            <p:cNvSpPr txBox="1"/>
            <p:nvPr/>
          </p:nvSpPr>
          <p:spPr>
            <a:xfrm>
              <a:off x="1860487" y="4620776"/>
              <a:ext cx="26344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                       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494924" y="4106420"/>
            <a:ext cx="4330421" cy="461665"/>
            <a:chOff x="1894247" y="5787707"/>
            <a:chExt cx="4330421" cy="461665"/>
          </a:xfrm>
        </p:grpSpPr>
        <p:graphicFrame>
          <p:nvGraphicFramePr>
            <p:cNvPr id="32" name="对象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7197162"/>
                </p:ext>
              </p:extLst>
            </p:nvPr>
          </p:nvGraphicFramePr>
          <p:xfrm>
            <a:off x="3549632" y="5831214"/>
            <a:ext cx="1285875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178" name="Equation" r:id="rId10" imgW="685800" imgH="203040" progId="Equation.DSMT4">
                    <p:embed/>
                  </p:oleObj>
                </mc:Choice>
                <mc:Fallback>
                  <p:oleObj name="Equation" r:id="rId10" imgW="68580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549632" y="5831214"/>
                          <a:ext cx="1285875" cy="3746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文本框 32"/>
            <p:cNvSpPr txBox="1"/>
            <p:nvPr/>
          </p:nvSpPr>
          <p:spPr>
            <a:xfrm>
              <a:off x="1894247" y="5787707"/>
              <a:ext cx="43304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作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线性替换               可逆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1910175" y="4924834"/>
            <a:ext cx="4313865" cy="515937"/>
            <a:chOff x="1915278" y="4133558"/>
            <a:chExt cx="4313865" cy="515937"/>
          </a:xfrm>
        </p:grpSpPr>
        <p:graphicFrame>
          <p:nvGraphicFramePr>
            <p:cNvPr id="36" name="对象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7401901"/>
                </p:ext>
              </p:extLst>
            </p:nvPr>
          </p:nvGraphicFramePr>
          <p:xfrm>
            <a:off x="2466768" y="4133558"/>
            <a:ext cx="3762375" cy="515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179" name="Equation" r:id="rId12" imgW="2006280" imgH="279360" progId="Equation.DSMT4">
                    <p:embed/>
                  </p:oleObj>
                </mc:Choice>
                <mc:Fallback>
                  <p:oleObj name="Equation" r:id="rId12" imgW="20062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466768" y="4133558"/>
                          <a:ext cx="3762375" cy="5159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文本框 36"/>
            <p:cNvSpPr txBox="1"/>
            <p:nvPr/>
          </p:nvSpPr>
          <p:spPr>
            <a:xfrm>
              <a:off x="1915278" y="4147403"/>
              <a:ext cx="5587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则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        </a:t>
              </a:r>
            </a:p>
          </p:txBody>
        </p:sp>
      </p:grpSp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8357714"/>
              </p:ext>
            </p:extLst>
          </p:nvPr>
        </p:nvGraphicFramePr>
        <p:xfrm>
          <a:off x="6224040" y="4984979"/>
          <a:ext cx="1905000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80" name="Equation" r:id="rId14" imgW="1015920" imgH="228600" progId="Equation.DSMT4">
                  <p:embed/>
                </p:oleObj>
              </mc:Choice>
              <mc:Fallback>
                <p:oleObj name="Equation" r:id="rId14" imgW="10159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224040" y="4984979"/>
                        <a:ext cx="1905000" cy="420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6621186" y="4924834"/>
            <a:ext cx="1278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       ）</a:t>
            </a:r>
          </a:p>
        </p:txBody>
      </p:sp>
      <p:cxnSp>
        <p:nvCxnSpPr>
          <p:cNvPr id="41" name="直接连接符 40"/>
          <p:cNvCxnSpPr/>
          <p:nvPr/>
        </p:nvCxnSpPr>
        <p:spPr>
          <a:xfrm>
            <a:off x="6842393" y="5377353"/>
            <a:ext cx="957716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8129040" y="5169511"/>
            <a:ext cx="886944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/>
          <p:cNvGrpSpPr/>
          <p:nvPr/>
        </p:nvGrpSpPr>
        <p:grpSpPr>
          <a:xfrm>
            <a:off x="9015984" y="4890194"/>
            <a:ext cx="1959299" cy="585216"/>
            <a:chOff x="9015984" y="4890194"/>
            <a:chExt cx="1959299" cy="585216"/>
          </a:xfrm>
        </p:grpSpPr>
        <p:sp>
          <p:nvSpPr>
            <p:cNvPr id="47" name="圆角矩形 46"/>
            <p:cNvSpPr/>
            <p:nvPr/>
          </p:nvSpPr>
          <p:spPr>
            <a:xfrm>
              <a:off x="9015984" y="4890194"/>
              <a:ext cx="1859834" cy="58521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9115449" y="4977334"/>
              <a:ext cx="18598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则为标准形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6931517" y="5743248"/>
            <a:ext cx="2183932" cy="585216"/>
            <a:chOff x="6931517" y="5743248"/>
            <a:chExt cx="2183932" cy="585216"/>
          </a:xfrm>
        </p:grpSpPr>
        <p:grpSp>
          <p:nvGrpSpPr>
            <p:cNvPr id="50" name="组合 49"/>
            <p:cNvGrpSpPr/>
            <p:nvPr/>
          </p:nvGrpSpPr>
          <p:grpSpPr>
            <a:xfrm>
              <a:off x="6931517" y="5743248"/>
              <a:ext cx="2183932" cy="585216"/>
              <a:chOff x="7126739" y="6308695"/>
              <a:chExt cx="1832391" cy="585216"/>
            </a:xfrm>
          </p:grpSpPr>
          <p:sp>
            <p:nvSpPr>
              <p:cNvPr id="42" name="圆角矩形标注 41"/>
              <p:cNvSpPr/>
              <p:nvPr/>
            </p:nvSpPr>
            <p:spPr>
              <a:xfrm>
                <a:off x="7126739" y="6308695"/>
                <a:ext cx="1785938" cy="585216"/>
              </a:xfrm>
              <a:prstGeom prst="wedgeRoundRectCallout">
                <a:avLst>
                  <a:gd name="adj1" fmla="val -26977"/>
                  <a:gd name="adj2" fmla="val -103125"/>
                  <a:gd name="adj3" fmla="val 16667"/>
                </a:avLst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7164969" y="6370471"/>
                <a:ext cx="17941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若为对角阵</a:t>
                </a:r>
              </a:p>
            </p:txBody>
          </p:sp>
        </p:grpSp>
        <p:graphicFrame>
          <p:nvGraphicFramePr>
            <p:cNvPr id="51" name="对象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6624887"/>
                </p:ext>
              </p:extLst>
            </p:nvPr>
          </p:nvGraphicFramePr>
          <p:xfrm>
            <a:off x="8659142" y="5855863"/>
            <a:ext cx="28575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181" name="Equation" r:id="rId16" imgW="152280" imgH="164880" progId="Equation.DSMT4">
                    <p:embed/>
                  </p:oleObj>
                </mc:Choice>
                <mc:Fallback>
                  <p:oleObj name="Equation" r:id="rId16" imgW="1522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8659142" y="5855863"/>
                          <a:ext cx="28575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9971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520505" y="1148253"/>
            <a:ext cx="1878696" cy="696036"/>
            <a:chOff x="745589" y="1310185"/>
            <a:chExt cx="1071312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9" y="1310185"/>
              <a:ext cx="1071312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803200" y="1427370"/>
              <a:ext cx="10137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矩阵的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合同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4" name="文本框 4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5.1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二次型及其矩阵表示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520505" y="1961474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7" name="圆角矩形 56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定义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1856916" y="2036953"/>
            <a:ext cx="3144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是同阶方阵，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126589" y="2036953"/>
            <a:ext cx="3269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若存在可逆阵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，使得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843089" y="2612842"/>
            <a:ext cx="2032276" cy="706581"/>
            <a:chOff x="4614184" y="3126126"/>
            <a:chExt cx="2032276" cy="706581"/>
          </a:xfrm>
        </p:grpSpPr>
        <p:sp>
          <p:nvSpPr>
            <p:cNvPr id="12" name="圆角矩形 11"/>
            <p:cNvSpPr/>
            <p:nvPr/>
          </p:nvSpPr>
          <p:spPr>
            <a:xfrm>
              <a:off x="4614184" y="3126126"/>
              <a:ext cx="2032276" cy="706581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59" name="对象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3628094"/>
                </p:ext>
              </p:extLst>
            </p:nvPr>
          </p:nvGraphicFramePr>
          <p:xfrm>
            <a:off x="4776101" y="3238152"/>
            <a:ext cx="1727969" cy="482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33" name="Equation" r:id="rId3" imgW="672840" imgH="190440" progId="Equation.DSMT4">
                    <p:embed/>
                  </p:oleObj>
                </mc:Choice>
                <mc:Fallback>
                  <p:oleObj name="Equation" r:id="rId3" imgW="67284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776101" y="3238152"/>
                          <a:ext cx="1727969" cy="4825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0" name="文本框 59"/>
          <p:cNvSpPr txBox="1"/>
          <p:nvPr/>
        </p:nvSpPr>
        <p:spPr>
          <a:xfrm>
            <a:off x="520505" y="3588315"/>
            <a:ext cx="3144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则称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是合同的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2541015" y="4888781"/>
            <a:ext cx="5685512" cy="757953"/>
            <a:chOff x="1856916" y="5609656"/>
            <a:chExt cx="5685512" cy="757953"/>
          </a:xfrm>
        </p:grpSpPr>
        <p:sp>
          <p:nvSpPr>
            <p:cNvPr id="78" name="圆角矩形 77"/>
            <p:cNvSpPr/>
            <p:nvPr/>
          </p:nvSpPr>
          <p:spPr>
            <a:xfrm>
              <a:off x="1856916" y="5609656"/>
              <a:ext cx="5685512" cy="75795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1856916" y="5761918"/>
              <a:ext cx="50612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自反性、对称性、传递性</a:t>
              </a:r>
            </a:p>
          </p:txBody>
        </p:sp>
      </p:grpSp>
      <p:sp>
        <p:nvSpPr>
          <p:cNvPr id="42" name="圆角矩形 41"/>
          <p:cNvSpPr/>
          <p:nvPr/>
        </p:nvSpPr>
        <p:spPr>
          <a:xfrm>
            <a:off x="2541015" y="4056626"/>
            <a:ext cx="5685512" cy="75795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/>
              <a:t>合同是一类特殊的等价</a:t>
            </a:r>
            <a:endParaRPr lang="zh-CN" altLang="en-US" sz="2800" dirty="0"/>
          </a:p>
        </p:txBody>
      </p:sp>
      <p:sp>
        <p:nvSpPr>
          <p:cNvPr id="20" name="文本框 78"/>
          <p:cNvSpPr txBox="1"/>
          <p:nvPr/>
        </p:nvSpPr>
        <p:spPr>
          <a:xfrm>
            <a:off x="2853139" y="5895192"/>
            <a:ext cx="5061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自反性、对称性、传递性</a:t>
            </a:r>
          </a:p>
        </p:txBody>
      </p:sp>
      <p:sp>
        <p:nvSpPr>
          <p:cNvPr id="21" name="圆角矩形 20"/>
          <p:cNvSpPr/>
          <p:nvPr/>
        </p:nvSpPr>
        <p:spPr>
          <a:xfrm>
            <a:off x="1719618" y="5773067"/>
            <a:ext cx="7623711" cy="75795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78"/>
          <p:cNvSpPr txBox="1"/>
          <p:nvPr/>
        </p:nvSpPr>
        <p:spPr>
          <a:xfrm>
            <a:off x="1673080" y="5921212"/>
            <a:ext cx="8045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合同矩阵具有相同的秩，对称矩阵只能与对称矩阵合同。</a:t>
            </a:r>
          </a:p>
        </p:txBody>
      </p:sp>
    </p:spTree>
    <p:extLst>
      <p:ext uri="{BB962C8B-B14F-4D97-AF65-F5344CB8AC3E}">
        <p14:creationId xmlns:p14="http://schemas.microsoft.com/office/powerpoint/2010/main" val="2964469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9" grpId="0"/>
      <p:bldP spid="11" grpId="0"/>
      <p:bldP spid="60" grpId="0"/>
      <p:bldP spid="42" grpId="0" animBg="1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13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300" name="Text Box 2"/>
          <p:cNvSpPr txBox="1">
            <a:spLocks noChangeArrowheads="1"/>
          </p:cNvSpPr>
          <p:nvPr/>
        </p:nvSpPr>
        <p:spPr bwMode="auto">
          <a:xfrm>
            <a:off x="1056217" y="1296974"/>
            <a:ext cx="898313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0000FF"/>
                </a:solidFill>
              </a:rPr>
              <a:t>矩阵的三种关系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sp>
        <p:nvSpPr>
          <p:cNvPr id="2" name="椭圆 1"/>
          <p:cNvSpPr/>
          <p:nvPr/>
        </p:nvSpPr>
        <p:spPr>
          <a:xfrm>
            <a:off x="4785783" y="2154046"/>
            <a:ext cx="1706755" cy="64807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b="1" dirty="0" smtClean="0">
                <a:solidFill>
                  <a:schemeClr val="tx1"/>
                </a:solidFill>
              </a:rPr>
              <a:t>  等价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1893696" y="3854097"/>
            <a:ext cx="1706755" cy="64807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相似</a:t>
            </a:r>
          </a:p>
        </p:txBody>
      </p:sp>
      <p:sp>
        <p:nvSpPr>
          <p:cNvPr id="31" name="椭圆 30"/>
          <p:cNvSpPr/>
          <p:nvPr/>
        </p:nvSpPr>
        <p:spPr>
          <a:xfrm>
            <a:off x="7310266" y="3874492"/>
            <a:ext cx="1706755" cy="64807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合同</a:t>
            </a:r>
          </a:p>
        </p:txBody>
      </p:sp>
      <p:sp>
        <p:nvSpPr>
          <p:cNvPr id="3" name="右箭头 2"/>
          <p:cNvSpPr/>
          <p:nvPr/>
        </p:nvSpPr>
        <p:spPr>
          <a:xfrm rot="19906508">
            <a:off x="3273870" y="3194155"/>
            <a:ext cx="1701800" cy="1746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3683372" y="3281467"/>
            <a:ext cx="1547283" cy="327025"/>
            <a:chOff x="2795312" y="5013176"/>
            <a:chExt cx="1160357" cy="326134"/>
          </a:xfrm>
        </p:grpSpPr>
        <p:sp>
          <p:nvSpPr>
            <p:cNvPr id="32" name="右箭头 31"/>
            <p:cNvSpPr/>
            <p:nvPr/>
          </p:nvSpPr>
          <p:spPr>
            <a:xfrm rot="19875540" flipH="1">
              <a:off x="2795312" y="5070170"/>
              <a:ext cx="1160357" cy="17414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3312790" y="5013176"/>
              <a:ext cx="88892" cy="3261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36" name="右箭头 35"/>
          <p:cNvSpPr/>
          <p:nvPr/>
        </p:nvSpPr>
        <p:spPr>
          <a:xfrm rot="12646912">
            <a:off x="6141913" y="3194948"/>
            <a:ext cx="1701800" cy="1730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zh-CN" altLang="en-US"/>
          </a:p>
        </p:txBody>
      </p:sp>
      <p:grpSp>
        <p:nvGrpSpPr>
          <p:cNvPr id="37" name="组合 36"/>
          <p:cNvGrpSpPr>
            <a:grpSpLocks/>
          </p:cNvGrpSpPr>
          <p:nvPr/>
        </p:nvGrpSpPr>
        <p:grpSpPr bwMode="auto">
          <a:xfrm rot="-7006224">
            <a:off x="6212152" y="3343877"/>
            <a:ext cx="1160463" cy="436033"/>
            <a:chOff x="2795312" y="5013176"/>
            <a:chExt cx="1160357" cy="326134"/>
          </a:xfrm>
        </p:grpSpPr>
        <p:sp>
          <p:nvSpPr>
            <p:cNvPr id="38" name="右箭头 37"/>
            <p:cNvSpPr/>
            <p:nvPr/>
          </p:nvSpPr>
          <p:spPr>
            <a:xfrm rot="19875540" flipH="1">
              <a:off x="2796455" y="5067578"/>
              <a:ext cx="1160357" cy="17414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3312590" y="5012756"/>
              <a:ext cx="88892" cy="3261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4270343" y="4125137"/>
            <a:ext cx="2406649" cy="754063"/>
            <a:chOff x="3579966" y="4931268"/>
            <a:chExt cx="1804686" cy="753986"/>
          </a:xfrm>
        </p:grpSpPr>
        <p:sp>
          <p:nvSpPr>
            <p:cNvPr id="7" name="左右箭头 6"/>
            <p:cNvSpPr/>
            <p:nvPr/>
          </p:nvSpPr>
          <p:spPr>
            <a:xfrm>
              <a:off x="3579966" y="5245561"/>
              <a:ext cx="1804686" cy="198418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  <p:pic>
          <p:nvPicPr>
            <p:cNvPr id="11293" name="图片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05316" y="4931268"/>
              <a:ext cx="753986" cy="7539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3425792" y="5290345"/>
            <a:ext cx="5461000" cy="601661"/>
            <a:chOff x="2563829" y="5415281"/>
            <a:chExt cx="4096403" cy="602337"/>
          </a:xfrm>
        </p:grpSpPr>
        <p:sp>
          <p:nvSpPr>
            <p:cNvPr id="11" name="圆角矩形 10"/>
            <p:cNvSpPr/>
            <p:nvPr/>
          </p:nvSpPr>
          <p:spPr>
            <a:xfrm>
              <a:off x="2563829" y="5415281"/>
              <a:ext cx="1506777" cy="575320"/>
            </a:xfrm>
            <a:prstGeom prst="roundRect">
              <a:avLst/>
            </a:prstGeom>
            <a:solidFill>
              <a:srgbClr val="7030A0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zh-CN" altLang="en-US" sz="2400" dirty="0"/>
                <a:t>正交相似</a:t>
              </a:r>
            </a:p>
          </p:txBody>
        </p:sp>
        <p:sp>
          <p:nvSpPr>
            <p:cNvPr id="45" name="圆角矩形 44"/>
            <p:cNvSpPr/>
            <p:nvPr/>
          </p:nvSpPr>
          <p:spPr>
            <a:xfrm>
              <a:off x="5153454" y="5442298"/>
              <a:ext cx="1506778" cy="575320"/>
            </a:xfrm>
            <a:prstGeom prst="roundRect">
              <a:avLst/>
            </a:prstGeom>
            <a:solidFill>
              <a:srgbClr val="7030A0"/>
            </a:solidFill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zh-CN" altLang="en-US" sz="2400" dirty="0"/>
                <a:t>合同</a:t>
              </a:r>
            </a:p>
          </p:txBody>
        </p:sp>
      </p:grpSp>
      <p:sp>
        <p:nvSpPr>
          <p:cNvPr id="11287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endParaRPr lang="zh-CN" altLang="en-US" sz="2000" dirty="0"/>
          </a:p>
        </p:txBody>
      </p:sp>
      <p:sp>
        <p:nvSpPr>
          <p:cNvPr id="9" name="云形 8"/>
          <p:cNvSpPr/>
          <p:nvPr/>
        </p:nvSpPr>
        <p:spPr>
          <a:xfrm>
            <a:off x="1329070" y="5232401"/>
            <a:ext cx="2165055" cy="717550"/>
          </a:xfrm>
          <a:prstGeom prst="cloud">
            <a:avLst/>
          </a:prstGeom>
          <a:solidFill>
            <a:srgbClr val="99FF66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000" dirty="0"/>
              <a:t>实</a:t>
            </a:r>
            <a:r>
              <a:rPr lang="zh-CN" altLang="en-US" sz="2000" dirty="0" smtClean="0"/>
              <a:t>对称阵</a:t>
            </a:r>
            <a:endParaRPr lang="zh-CN" altLang="en-US" sz="2000" dirty="0"/>
          </a:p>
        </p:txBody>
      </p:sp>
      <p:sp>
        <p:nvSpPr>
          <p:cNvPr id="14" name="右箭头 13"/>
          <p:cNvSpPr/>
          <p:nvPr/>
        </p:nvSpPr>
        <p:spPr>
          <a:xfrm>
            <a:off x="5821787" y="512003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右箭头 39"/>
          <p:cNvSpPr/>
          <p:nvPr/>
        </p:nvSpPr>
        <p:spPr>
          <a:xfrm rot="10800000">
            <a:off x="5698584" y="557781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739025" y="451252"/>
            <a:ext cx="2555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5.1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二次型及其矩阵表示</a:t>
            </a:r>
          </a:p>
        </p:txBody>
      </p:sp>
    </p:spTree>
    <p:extLst>
      <p:ext uri="{BB962C8B-B14F-4D97-AF65-F5344CB8AC3E}">
        <p14:creationId xmlns:p14="http://schemas.microsoft.com/office/powerpoint/2010/main" val="245061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6" grpId="0" animBg="1"/>
      <p:bldP spid="9" grpId="0" animBg="1"/>
      <p:bldP spid="14" grpId="0" animBg="1"/>
      <p:bldP spid="4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3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0939625"/>
              </p:ext>
            </p:extLst>
          </p:nvPr>
        </p:nvGraphicFramePr>
        <p:xfrm>
          <a:off x="1421120" y="1306328"/>
          <a:ext cx="2868084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3" name="Equation" r:id="rId3" imgW="990170" imgH="253890" progId="Equation.DSMT4">
                  <p:embed/>
                </p:oleObj>
              </mc:Choice>
              <mc:Fallback>
                <p:oleObj name="Equation" r:id="rId3" imgW="990170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1120" y="1306328"/>
                        <a:ext cx="2868084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7809441"/>
              </p:ext>
            </p:extLst>
          </p:nvPr>
        </p:nvGraphicFramePr>
        <p:xfrm>
          <a:off x="4969348" y="1158432"/>
          <a:ext cx="140493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4" name="Equation" r:id="rId5" imgW="533160" imgH="164880" progId="Equation.DSMT4">
                  <p:embed/>
                </p:oleObj>
              </mc:Choice>
              <mc:Fallback>
                <p:oleObj name="Equation" r:id="rId5" imgW="53316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9348" y="1158432"/>
                        <a:ext cx="1404937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7117005"/>
              </p:ext>
            </p:extLst>
          </p:nvPr>
        </p:nvGraphicFramePr>
        <p:xfrm>
          <a:off x="7986183" y="1433923"/>
          <a:ext cx="2614084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5" name="Equation" r:id="rId7" imgW="901309" imgH="253890" progId="Equation.DSMT4">
                  <p:embed/>
                </p:oleObj>
              </mc:Choice>
              <mc:Fallback>
                <p:oleObj name="Equation" r:id="rId7" imgW="901309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6183" y="1433923"/>
                        <a:ext cx="2614084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左右箭头 35"/>
          <p:cNvSpPr/>
          <p:nvPr/>
        </p:nvSpPr>
        <p:spPr>
          <a:xfrm>
            <a:off x="4325408" y="1386111"/>
            <a:ext cx="3577167" cy="746125"/>
          </a:xfrm>
          <a:prstGeom prst="left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400" dirty="0" smtClean="0"/>
              <a:t>        可逆</a:t>
            </a:r>
            <a:r>
              <a:rPr lang="zh-CN" altLang="en-US" sz="2400" dirty="0"/>
              <a:t>线性替换</a:t>
            </a:r>
          </a:p>
        </p:txBody>
      </p: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3108425" y="1757624"/>
            <a:ext cx="588433" cy="1366947"/>
            <a:chOff x="1754127" y="2341228"/>
            <a:chExt cx="441609" cy="1366136"/>
          </a:xfrm>
        </p:grpSpPr>
        <p:graphicFrame>
          <p:nvGraphicFramePr>
            <p:cNvPr id="10256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1426591"/>
                </p:ext>
              </p:extLst>
            </p:nvPr>
          </p:nvGraphicFramePr>
          <p:xfrm>
            <a:off x="1754127" y="3227722"/>
            <a:ext cx="441609" cy="479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86" name="Equation" r:id="rId9" imgW="152268" imgH="164957" progId="Equation.DSMT4">
                    <p:embed/>
                  </p:oleObj>
                </mc:Choice>
                <mc:Fallback>
                  <p:oleObj name="Equation" r:id="rId9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4127" y="3227722"/>
                          <a:ext cx="441609" cy="4796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上下箭头 5"/>
            <p:cNvSpPr/>
            <p:nvPr/>
          </p:nvSpPr>
          <p:spPr>
            <a:xfrm>
              <a:off x="1908214" y="2341228"/>
              <a:ext cx="287522" cy="878953"/>
            </a:xfrm>
            <a:prstGeom prst="up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8999976" y="1856771"/>
            <a:ext cx="535517" cy="1315588"/>
            <a:chOff x="6603221" y="2314048"/>
            <a:chExt cx="401463" cy="1315361"/>
          </a:xfrm>
        </p:grpSpPr>
        <p:graphicFrame>
          <p:nvGraphicFramePr>
            <p:cNvPr id="10254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95660040"/>
                </p:ext>
              </p:extLst>
            </p:nvPr>
          </p:nvGraphicFramePr>
          <p:xfrm>
            <a:off x="6603221" y="3193371"/>
            <a:ext cx="401463" cy="436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87" name="Equation" r:id="rId11" imgW="152268" imgH="164957" progId="Equation.DSMT4">
                    <p:embed/>
                  </p:oleObj>
                </mc:Choice>
                <mc:Fallback>
                  <p:oleObj name="Equation" r:id="rId11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03221" y="3193371"/>
                          <a:ext cx="401463" cy="436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上下箭头 36"/>
            <p:cNvSpPr/>
            <p:nvPr/>
          </p:nvSpPr>
          <p:spPr>
            <a:xfrm>
              <a:off x="6660347" y="2314048"/>
              <a:ext cx="287212" cy="879323"/>
            </a:xfrm>
            <a:prstGeom prst="up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3892231" y="2197361"/>
            <a:ext cx="4762500" cy="822325"/>
            <a:chOff x="2627784" y="3212976"/>
            <a:chExt cx="3572318" cy="821790"/>
          </a:xfrm>
        </p:grpSpPr>
        <p:sp>
          <p:nvSpPr>
            <p:cNvPr id="4" name="左右箭头 3"/>
            <p:cNvSpPr/>
            <p:nvPr/>
          </p:nvSpPr>
          <p:spPr>
            <a:xfrm>
              <a:off x="2627784" y="3212976"/>
              <a:ext cx="3572318" cy="821790"/>
            </a:xfrm>
            <a:prstGeom prst="leftRightArrow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 sz="2400" dirty="0"/>
            </a:p>
          </p:txBody>
        </p:sp>
        <p:graphicFrame>
          <p:nvGraphicFramePr>
            <p:cNvPr id="10253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4437105"/>
                </p:ext>
              </p:extLst>
            </p:nvPr>
          </p:nvGraphicFramePr>
          <p:xfrm>
            <a:off x="3748301" y="3406524"/>
            <a:ext cx="1331284" cy="3775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88" name="Equation" r:id="rId13" imgW="672840" imgH="190440" progId="Equation.DSMT4">
                    <p:embed/>
                  </p:oleObj>
                </mc:Choice>
                <mc:Fallback>
                  <p:oleObj name="Equation" r:id="rId13" imgW="67284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8301" y="3406524"/>
                          <a:ext cx="1331284" cy="3775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414377" y="2945886"/>
            <a:ext cx="1919816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rgbClr val="0000FF"/>
                </a:solidFill>
              </a:rPr>
              <a:t>合同关系</a:t>
            </a:r>
          </a:p>
        </p:txBody>
      </p:sp>
      <p:sp>
        <p:nvSpPr>
          <p:cNvPr id="10251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endParaRPr lang="zh-CN" altLang="en-US" sz="2000" dirty="0"/>
          </a:p>
        </p:txBody>
      </p:sp>
      <p:grpSp>
        <p:nvGrpSpPr>
          <p:cNvPr id="20" name="组合 19"/>
          <p:cNvGrpSpPr/>
          <p:nvPr/>
        </p:nvGrpSpPr>
        <p:grpSpPr>
          <a:xfrm>
            <a:off x="2134317" y="3685303"/>
            <a:ext cx="7959348" cy="1479573"/>
            <a:chOff x="3665487" y="3581537"/>
            <a:chExt cx="7837623" cy="1435321"/>
          </a:xfrm>
        </p:grpSpPr>
        <p:grpSp>
          <p:nvGrpSpPr>
            <p:cNvPr id="21" name="组合 20"/>
            <p:cNvGrpSpPr/>
            <p:nvPr/>
          </p:nvGrpSpPr>
          <p:grpSpPr>
            <a:xfrm>
              <a:off x="3665487" y="3581537"/>
              <a:ext cx="7837623" cy="1435321"/>
              <a:chOff x="3782291" y="4217334"/>
              <a:chExt cx="7837623" cy="1435321"/>
            </a:xfrm>
          </p:grpSpPr>
          <p:grpSp>
            <p:nvGrpSpPr>
              <p:cNvPr id="23" name="组合 22"/>
              <p:cNvGrpSpPr/>
              <p:nvPr/>
            </p:nvGrpSpPr>
            <p:grpSpPr>
              <a:xfrm>
                <a:off x="3930246" y="4441389"/>
                <a:ext cx="7445472" cy="1069593"/>
                <a:chOff x="2461665" y="4924834"/>
                <a:chExt cx="7445472" cy="1069593"/>
              </a:xfrm>
            </p:grpSpPr>
            <p:grpSp>
              <p:nvGrpSpPr>
                <p:cNvPr id="25" name="组合 24"/>
                <p:cNvGrpSpPr/>
                <p:nvPr/>
              </p:nvGrpSpPr>
              <p:grpSpPr>
                <a:xfrm>
                  <a:off x="2461665" y="4924834"/>
                  <a:ext cx="5667375" cy="515937"/>
                  <a:chOff x="2461665" y="4924834"/>
                  <a:chExt cx="5667375" cy="515937"/>
                </a:xfrm>
              </p:grpSpPr>
              <p:graphicFrame>
                <p:nvGraphicFramePr>
                  <p:cNvPr id="38" name="对象 37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574346152"/>
                      </p:ext>
                    </p:extLst>
                  </p:nvPr>
                </p:nvGraphicFramePr>
                <p:xfrm>
                  <a:off x="2461665" y="4924834"/>
                  <a:ext cx="3762375" cy="515937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43189" name="Equation" r:id="rId15" imgW="2006280" imgH="279360" progId="Equation.DSMT4">
                          <p:embed/>
                        </p:oleObj>
                      </mc:Choice>
                      <mc:Fallback>
                        <p:oleObj name="Equation" r:id="rId15" imgW="2006280" imgH="279360" progId="Equation.DSMT4">
                          <p:embed/>
                          <p:pic>
                            <p:nvPicPr>
                              <p:cNvPr id="0" name=""/>
                              <p:cNvPicPr/>
                              <p:nvPr/>
                            </p:nvPicPr>
                            <p:blipFill>
                              <a:blip r:embed="rId16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461665" y="4924834"/>
                                <a:ext cx="3762375" cy="515937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39" name="对象 38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302765345"/>
                      </p:ext>
                    </p:extLst>
                  </p:nvPr>
                </p:nvGraphicFramePr>
                <p:xfrm>
                  <a:off x="6224040" y="4984979"/>
                  <a:ext cx="1905000" cy="420687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43190" name="Equation" r:id="rId17" imgW="1015920" imgH="228600" progId="Equation.DSMT4">
                          <p:embed/>
                        </p:oleObj>
                      </mc:Choice>
                      <mc:Fallback>
                        <p:oleObj name="Equation" r:id="rId17" imgW="1015920" imgH="228600" progId="Equation.DSMT4">
                          <p:embed/>
                          <p:pic>
                            <p:nvPicPr>
                              <p:cNvPr id="0" name=""/>
                              <p:cNvPicPr/>
                              <p:nvPr/>
                            </p:nvPicPr>
                            <p:blipFill>
                              <a:blip r:embed="rId18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6224040" y="4984979"/>
                                <a:ext cx="1905000" cy="420687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40" name="文本框 64"/>
                  <p:cNvSpPr txBox="1"/>
                  <p:nvPr/>
                </p:nvSpPr>
                <p:spPr>
                  <a:xfrm>
                    <a:off x="6621186" y="4924834"/>
                    <a:ext cx="127838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24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（       ）</a:t>
                    </a:r>
                  </a:p>
                </p:txBody>
              </p:sp>
            </p:grpSp>
            <p:cxnSp>
              <p:nvCxnSpPr>
                <p:cNvPr id="26" name="直接连接符 25"/>
                <p:cNvCxnSpPr/>
                <p:nvPr/>
              </p:nvCxnSpPr>
              <p:spPr>
                <a:xfrm>
                  <a:off x="6842393" y="5377353"/>
                  <a:ext cx="957716" cy="0"/>
                </a:xfrm>
                <a:prstGeom prst="line">
                  <a:avLst/>
                </a:prstGeom>
                <a:ln w="3810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7" name="组合 26"/>
                <p:cNvGrpSpPr/>
                <p:nvPr/>
              </p:nvGrpSpPr>
              <p:grpSpPr>
                <a:xfrm>
                  <a:off x="6875365" y="5563319"/>
                  <a:ext cx="1650821" cy="431108"/>
                  <a:chOff x="7164969" y="6335175"/>
                  <a:chExt cx="1650821" cy="431108"/>
                </a:xfrm>
              </p:grpSpPr>
              <p:sp>
                <p:nvSpPr>
                  <p:cNvPr id="34" name="圆角矩形标注 33"/>
                  <p:cNvSpPr/>
                  <p:nvPr/>
                </p:nvSpPr>
                <p:spPr>
                  <a:xfrm>
                    <a:off x="7189785" y="6335175"/>
                    <a:ext cx="1626005" cy="431108"/>
                  </a:xfrm>
                  <a:prstGeom prst="wedgeRoundRectCallout">
                    <a:avLst>
                      <a:gd name="adj1" fmla="val -25937"/>
                      <a:gd name="adj2" fmla="val -84131"/>
                      <a:gd name="adj3" fmla="val 16667"/>
                    </a:avLst>
                  </a:prstGeom>
                  <a:solidFill>
                    <a:schemeClr val="accent5">
                      <a:lumMod val="75000"/>
                    </a:schemeClr>
                  </a:solidFill>
                  <a:ln>
                    <a:solidFill>
                      <a:schemeClr val="accent5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5" name="文本框 70"/>
                  <p:cNvSpPr txBox="1"/>
                  <p:nvPr/>
                </p:nvSpPr>
                <p:spPr>
                  <a:xfrm>
                    <a:off x="7164969" y="6370471"/>
                    <a:ext cx="164083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 </a:t>
                    </a:r>
                    <a:r>
                      <a:rPr lang="zh-CN" altLang="en-US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   对角阵</a:t>
                    </a:r>
                  </a:p>
                </p:txBody>
              </p:sp>
            </p:grpSp>
            <p:cxnSp>
              <p:nvCxnSpPr>
                <p:cNvPr id="28" name="直接箭头连接符 27"/>
                <p:cNvCxnSpPr/>
                <p:nvPr/>
              </p:nvCxnSpPr>
              <p:spPr>
                <a:xfrm>
                  <a:off x="8129040" y="5169511"/>
                  <a:ext cx="387163" cy="0"/>
                </a:xfrm>
                <a:prstGeom prst="straightConnector1">
                  <a:avLst/>
                </a:prstGeom>
                <a:ln w="3810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1" name="组合 30"/>
                <p:cNvGrpSpPr/>
                <p:nvPr/>
              </p:nvGrpSpPr>
              <p:grpSpPr>
                <a:xfrm>
                  <a:off x="8526186" y="4973382"/>
                  <a:ext cx="1380951" cy="403971"/>
                  <a:chOff x="9015983" y="4890194"/>
                  <a:chExt cx="1380951" cy="403971"/>
                </a:xfrm>
              </p:grpSpPr>
              <p:sp>
                <p:nvSpPr>
                  <p:cNvPr id="32" name="圆角矩形 31"/>
                  <p:cNvSpPr/>
                  <p:nvPr/>
                </p:nvSpPr>
                <p:spPr>
                  <a:xfrm>
                    <a:off x="9015984" y="4890194"/>
                    <a:ext cx="1361071" cy="403971"/>
                  </a:xfrm>
                  <a:prstGeom prst="roundRect">
                    <a:avLst/>
                  </a:prstGeom>
                  <a:solidFill>
                    <a:srgbClr val="C0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33" name="文本框 74"/>
                  <p:cNvSpPr txBox="1"/>
                  <p:nvPr/>
                </p:nvSpPr>
                <p:spPr>
                  <a:xfrm>
                    <a:off x="9015983" y="4924833"/>
                    <a:ext cx="138095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 </a:t>
                    </a:r>
                    <a:r>
                      <a:rPr lang="zh-CN" altLang="en-US" dirty="0" smtClean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  标准形</a:t>
                    </a:r>
                  </a:p>
                </p:txBody>
              </p:sp>
            </p:grpSp>
          </p:grpSp>
          <p:sp>
            <p:nvSpPr>
              <p:cNvPr id="24" name="圆角矩形 23"/>
              <p:cNvSpPr/>
              <p:nvPr/>
            </p:nvSpPr>
            <p:spPr>
              <a:xfrm>
                <a:off x="3782291" y="4217334"/>
                <a:ext cx="7837623" cy="1435321"/>
              </a:xfrm>
              <a:prstGeom prst="roundRect">
                <a:avLst/>
              </a:prstGeom>
              <a:noFill/>
              <a:ln w="25400">
                <a:solidFill>
                  <a:schemeClr val="accent5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aphicFrame>
          <p:nvGraphicFramePr>
            <p:cNvPr id="22" name="对象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0257125"/>
                </p:ext>
              </p:extLst>
            </p:nvPr>
          </p:nvGraphicFramePr>
          <p:xfrm>
            <a:off x="9388649" y="4479373"/>
            <a:ext cx="28575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91" name="Equation" r:id="rId19" imgW="152280" imgH="164880" progId="Equation.DSMT4">
                    <p:embed/>
                  </p:oleObj>
                </mc:Choice>
                <mc:Fallback>
                  <p:oleObj name="Equation" r:id="rId19" imgW="1522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9388649" y="4479373"/>
                          <a:ext cx="28575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" name="组合 40"/>
          <p:cNvGrpSpPr/>
          <p:nvPr/>
        </p:nvGrpSpPr>
        <p:grpSpPr>
          <a:xfrm>
            <a:off x="952372" y="5556841"/>
            <a:ext cx="3490939" cy="757953"/>
            <a:chOff x="1856916" y="5609656"/>
            <a:chExt cx="3490939" cy="757953"/>
          </a:xfrm>
        </p:grpSpPr>
        <p:sp>
          <p:nvSpPr>
            <p:cNvPr id="42" name="圆角矩形 41"/>
            <p:cNvSpPr/>
            <p:nvPr/>
          </p:nvSpPr>
          <p:spPr>
            <a:xfrm>
              <a:off x="1856916" y="5609656"/>
              <a:ext cx="3490939" cy="75795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文本框 14"/>
            <p:cNvSpPr txBox="1"/>
            <p:nvPr/>
          </p:nvSpPr>
          <p:spPr>
            <a:xfrm>
              <a:off x="1856916" y="5761918"/>
              <a:ext cx="34909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化二次型         为标准形</a:t>
              </a:r>
            </a:p>
          </p:txBody>
        </p:sp>
        <p:graphicFrame>
          <p:nvGraphicFramePr>
            <p:cNvPr id="44" name="对象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5852149"/>
                </p:ext>
              </p:extLst>
            </p:nvPr>
          </p:nvGraphicFramePr>
          <p:xfrm>
            <a:off x="3181881" y="5753683"/>
            <a:ext cx="785812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92" name="Equation" r:id="rId21" imgW="419040" imgH="253800" progId="Equation.DSMT4">
                    <p:embed/>
                  </p:oleObj>
                </mc:Choice>
                <mc:Fallback>
                  <p:oleObj name="Equation" r:id="rId21" imgW="4190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181881" y="5753683"/>
                          <a:ext cx="785812" cy="469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" name="左右箭头 44"/>
          <p:cNvSpPr/>
          <p:nvPr/>
        </p:nvSpPr>
        <p:spPr>
          <a:xfrm>
            <a:off x="4605675" y="5640900"/>
            <a:ext cx="942109" cy="461665"/>
          </a:xfrm>
          <a:prstGeom prst="left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6" name="组合 45"/>
          <p:cNvGrpSpPr/>
          <p:nvPr/>
        </p:nvGrpSpPr>
        <p:grpSpPr>
          <a:xfrm>
            <a:off x="5811975" y="5452203"/>
            <a:ext cx="5685512" cy="757953"/>
            <a:chOff x="1856916" y="5609656"/>
            <a:chExt cx="5685512" cy="757953"/>
          </a:xfrm>
        </p:grpSpPr>
        <p:sp>
          <p:nvSpPr>
            <p:cNvPr id="47" name="圆角矩形 46"/>
            <p:cNvSpPr/>
            <p:nvPr/>
          </p:nvSpPr>
          <p:spPr>
            <a:xfrm>
              <a:off x="1856916" y="5609656"/>
              <a:ext cx="5685512" cy="757953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文本框 78"/>
            <p:cNvSpPr txBox="1"/>
            <p:nvPr/>
          </p:nvSpPr>
          <p:spPr>
            <a:xfrm>
              <a:off x="1856917" y="5761918"/>
              <a:ext cx="44247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对实对称阵 </a:t>
              </a:r>
              <a:r>
                <a:rPr lang="en-US" altLang="zh-CN" sz="2400" i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，找可逆阵 </a:t>
              </a:r>
              <a:r>
                <a:rPr lang="en-US" altLang="zh-CN" sz="2400" i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，使</a:t>
              </a:r>
            </a:p>
          </p:txBody>
        </p:sp>
        <p:graphicFrame>
          <p:nvGraphicFramePr>
            <p:cNvPr id="49" name="对象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2502816"/>
                </p:ext>
              </p:extLst>
            </p:nvPr>
          </p:nvGraphicFramePr>
          <p:xfrm>
            <a:off x="6210600" y="5812419"/>
            <a:ext cx="1285875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93" name="Equation" r:id="rId23" imgW="685800" imgH="190440" progId="Equation.DSMT4">
                    <p:embed/>
                  </p:oleObj>
                </mc:Choice>
                <mc:Fallback>
                  <p:oleObj name="Equation" r:id="rId23" imgW="68580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6210600" y="5812419"/>
                          <a:ext cx="1285875" cy="3524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矩形 1"/>
          <p:cNvSpPr/>
          <p:nvPr/>
        </p:nvSpPr>
        <p:spPr>
          <a:xfrm>
            <a:off x="8958970" y="328097"/>
            <a:ext cx="2555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5.1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二次型及其矩阵表示</a:t>
            </a:r>
          </a:p>
        </p:txBody>
      </p:sp>
    </p:spTree>
    <p:extLst>
      <p:ext uri="{BB962C8B-B14F-4D97-AF65-F5344CB8AC3E}">
        <p14:creationId xmlns:p14="http://schemas.microsoft.com/office/powerpoint/2010/main" val="1036391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7" grpId="0"/>
      <p:bldP spid="4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7758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6"/>
          <p:cNvSpPr txBox="1">
            <a:spLocks noChangeArrowheads="1"/>
          </p:cNvSpPr>
          <p:nvPr/>
        </p:nvSpPr>
        <p:spPr bwMode="auto">
          <a:xfrm>
            <a:off x="848784" y="836614"/>
            <a:ext cx="8703733" cy="93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70000"/>
              </a:lnSpc>
              <a:buClr>
                <a:schemeClr val="accent2"/>
              </a:buClr>
            </a:pPr>
            <a:r>
              <a:rPr lang="zh-CN" altLang="en-US" sz="3200" dirty="0" smtClean="0">
                <a:solidFill>
                  <a:srgbClr val="0000FF"/>
                </a:solidFill>
                <a:latin typeface="华文行楷" pitchFamily="2" charset="-122"/>
                <a:ea typeface="华文行楷" pitchFamily="2" charset="-122"/>
              </a:rPr>
              <a:t>  </a:t>
            </a:r>
            <a:r>
              <a:rPr lang="zh-CN" altLang="en-US" sz="3200" dirty="0">
                <a:latin typeface="华文行楷" pitchFamily="2" charset="-122"/>
                <a:ea typeface="华文行楷" pitchFamily="2" charset="-122"/>
              </a:rPr>
              <a:t>化二次型为标准型</a:t>
            </a:r>
          </a:p>
        </p:txBody>
      </p:sp>
      <p:sp>
        <p:nvSpPr>
          <p:cNvPr id="12291" name="Rectangle 13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2514600" y="2303464"/>
            <a:ext cx="2370667" cy="903287"/>
            <a:chOff x="1158290" y="1903184"/>
            <a:chExt cx="1778000" cy="903185"/>
          </a:xfrm>
        </p:grpSpPr>
        <p:graphicFrame>
          <p:nvGraphicFramePr>
            <p:cNvPr id="12323" name="Object 3"/>
            <p:cNvGraphicFramePr>
              <a:graphicFrameLocks noChangeAspect="1"/>
            </p:cNvGraphicFramePr>
            <p:nvPr/>
          </p:nvGraphicFramePr>
          <p:xfrm>
            <a:off x="1158290" y="2348880"/>
            <a:ext cx="1778000" cy="4574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90" name="Equation" r:id="rId3" imgW="990170" imgH="253890" progId="Equation.DSMT4">
                    <p:embed/>
                  </p:oleObj>
                </mc:Choice>
                <mc:Fallback>
                  <p:oleObj name="Equation" r:id="rId3" imgW="990170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8290" y="2348880"/>
                          <a:ext cx="1778000" cy="4574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4" name="TextBox 7"/>
            <p:cNvSpPr txBox="1">
              <a:spLocks noChangeArrowheads="1"/>
            </p:cNvSpPr>
            <p:nvPr/>
          </p:nvSpPr>
          <p:spPr bwMode="auto">
            <a:xfrm>
              <a:off x="1421650" y="1903184"/>
              <a:ext cx="1188132" cy="461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400"/>
                <a:t>二次型</a:t>
              </a:r>
            </a:p>
          </p:txBody>
        </p:sp>
      </p:grp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740833" y="2493964"/>
            <a:ext cx="1441451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6600"/>
                </a:solidFill>
                <a:latin typeface="华文行楷" pitchFamily="2" charset="-122"/>
                <a:ea typeface="华文行楷" pitchFamily="2" charset="-122"/>
              </a:rPr>
              <a:t>问题</a:t>
            </a:r>
          </a:p>
        </p:txBody>
      </p:sp>
      <p:grpSp>
        <p:nvGrpSpPr>
          <p:cNvPr id="72" name="组合 71"/>
          <p:cNvGrpSpPr>
            <a:grpSpLocks/>
          </p:cNvGrpSpPr>
          <p:nvPr/>
        </p:nvGrpSpPr>
        <p:grpSpPr bwMode="auto">
          <a:xfrm>
            <a:off x="8555567" y="2257425"/>
            <a:ext cx="2821517" cy="908050"/>
            <a:chOff x="6387092" y="1998255"/>
            <a:chExt cx="2115354" cy="908808"/>
          </a:xfrm>
        </p:grpSpPr>
        <p:grpSp>
          <p:nvGrpSpPr>
            <p:cNvPr id="12319" name="组合 15"/>
            <p:cNvGrpSpPr>
              <a:grpSpLocks/>
            </p:cNvGrpSpPr>
            <p:nvPr/>
          </p:nvGrpSpPr>
          <p:grpSpPr bwMode="auto">
            <a:xfrm>
              <a:off x="6387092" y="1998255"/>
              <a:ext cx="1641292" cy="908808"/>
              <a:chOff x="6315084" y="1872120"/>
              <a:chExt cx="1641292" cy="908808"/>
            </a:xfrm>
          </p:grpSpPr>
          <p:graphicFrame>
            <p:nvGraphicFramePr>
              <p:cNvPr id="12321" name="Object 3"/>
              <p:cNvGraphicFramePr>
                <a:graphicFrameLocks noChangeAspect="1"/>
              </p:cNvGraphicFramePr>
              <p:nvPr/>
            </p:nvGraphicFramePr>
            <p:xfrm>
              <a:off x="6315084" y="2323045"/>
              <a:ext cx="1641292" cy="4578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091" name="Equation" r:id="rId5" imgW="914400" imgH="254000" progId="Equation.DSMT4">
                      <p:embed/>
                    </p:oleObj>
                  </mc:Choice>
                  <mc:Fallback>
                    <p:oleObj name="Equation" r:id="rId5" imgW="914400" imgH="2540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15084" y="2323045"/>
                            <a:ext cx="1641292" cy="4578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22" name="TextBox 56"/>
              <p:cNvSpPr txBox="1">
                <a:spLocks noChangeArrowheads="1"/>
              </p:cNvSpPr>
              <p:nvPr/>
            </p:nvSpPr>
            <p:spPr bwMode="auto">
              <a:xfrm>
                <a:off x="6545294" y="1872120"/>
                <a:ext cx="118813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zh-CN" altLang="en-US" sz="2400">
                    <a:solidFill>
                      <a:srgbClr val="0000FF"/>
                    </a:solidFill>
                  </a:rPr>
                  <a:t>标准形</a:t>
                </a:r>
              </a:p>
            </p:txBody>
          </p:sp>
        </p:grpSp>
        <p:graphicFrame>
          <p:nvGraphicFramePr>
            <p:cNvPr id="12320" name="Object 3"/>
            <p:cNvGraphicFramePr>
              <a:graphicFrameLocks noChangeAspect="1"/>
            </p:cNvGraphicFramePr>
            <p:nvPr/>
          </p:nvGraphicFramePr>
          <p:xfrm>
            <a:off x="8172400" y="2185555"/>
            <a:ext cx="330046" cy="515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92" name="Equation" r:id="rId7" imgW="114102" imgH="177492" progId="Equation.DSMT4">
                    <p:embed/>
                  </p:oleObj>
                </mc:Choice>
                <mc:Fallback>
                  <p:oleObj name="Equation" r:id="rId7" imgW="114102" imgH="17749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72400" y="2185555"/>
                          <a:ext cx="330046" cy="5159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776818" y="4289425"/>
            <a:ext cx="1441449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6600"/>
                </a:solidFill>
                <a:latin typeface="华文行楷" pitchFamily="2" charset="-122"/>
                <a:ea typeface="华文行楷" pitchFamily="2" charset="-122"/>
              </a:rPr>
              <a:t>解决</a:t>
            </a:r>
          </a:p>
        </p:txBody>
      </p:sp>
      <p:grpSp>
        <p:nvGrpSpPr>
          <p:cNvPr id="71" name="组合 70"/>
          <p:cNvGrpSpPr>
            <a:grpSpLocks/>
          </p:cNvGrpSpPr>
          <p:nvPr/>
        </p:nvGrpSpPr>
        <p:grpSpPr bwMode="auto">
          <a:xfrm>
            <a:off x="5232400" y="2049463"/>
            <a:ext cx="3168651" cy="1206500"/>
            <a:chOff x="3894108" y="1791069"/>
            <a:chExt cx="2376264" cy="1205883"/>
          </a:xfrm>
        </p:grpSpPr>
        <p:graphicFrame>
          <p:nvGraphicFramePr>
            <p:cNvPr id="12315" name="Object 3"/>
            <p:cNvGraphicFramePr>
              <a:graphicFrameLocks noChangeAspect="1"/>
            </p:cNvGraphicFramePr>
            <p:nvPr/>
          </p:nvGraphicFramePr>
          <p:xfrm>
            <a:off x="4716016" y="1791069"/>
            <a:ext cx="363051" cy="567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93" name="Equation" r:id="rId9" imgW="114102" imgH="177492" progId="Equation.DSMT4">
                    <p:embed/>
                  </p:oleObj>
                </mc:Choice>
                <mc:Fallback>
                  <p:oleObj name="Equation" r:id="rId9" imgW="114102" imgH="177492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6016" y="1791069"/>
                          <a:ext cx="363051" cy="5675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316" name="组合 21"/>
            <p:cNvGrpSpPr>
              <a:grpSpLocks/>
            </p:cNvGrpSpPr>
            <p:nvPr/>
          </p:nvGrpSpPr>
          <p:grpSpPr bwMode="auto">
            <a:xfrm>
              <a:off x="3894108" y="2114753"/>
              <a:ext cx="2376264" cy="882199"/>
              <a:chOff x="3894108" y="2114753"/>
              <a:chExt cx="2376264" cy="882199"/>
            </a:xfrm>
          </p:grpSpPr>
          <p:sp>
            <p:nvSpPr>
              <p:cNvPr id="15" name="右箭头 14"/>
              <p:cNvSpPr/>
              <p:nvPr/>
            </p:nvSpPr>
            <p:spPr>
              <a:xfrm>
                <a:off x="3894108" y="2114753"/>
                <a:ext cx="2376264" cy="882199"/>
              </a:xfrm>
              <a:prstGeom prst="rightArrow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>
                  <a:defRPr/>
                </a:pPr>
                <a:endParaRPr lang="zh-CN" altLang="en-US" sz="2400" dirty="0"/>
              </a:p>
            </p:txBody>
          </p:sp>
          <p:graphicFrame>
            <p:nvGraphicFramePr>
              <p:cNvPr id="12318" name="Object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67020626"/>
                  </p:ext>
                </p:extLst>
              </p:nvPr>
            </p:nvGraphicFramePr>
            <p:xfrm>
              <a:off x="4434601" y="2408290"/>
              <a:ext cx="1053604" cy="325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094" name="Equation" r:id="rId11" imgW="533160" imgH="164880" progId="Equation.DSMT4">
                      <p:embed/>
                    </p:oleObj>
                  </mc:Choice>
                  <mc:Fallback>
                    <p:oleObj name="Equation" r:id="rId11" imgW="53316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34601" y="2408290"/>
                            <a:ext cx="1053604" cy="325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3177118" y="3241675"/>
            <a:ext cx="876300" cy="1455738"/>
            <a:chOff x="2353400" y="2983304"/>
            <a:chExt cx="655921" cy="1455603"/>
          </a:xfrm>
        </p:grpSpPr>
        <p:graphicFrame>
          <p:nvGraphicFramePr>
            <p:cNvPr id="12311" name="Object 3"/>
            <p:cNvGraphicFramePr>
              <a:graphicFrameLocks noChangeAspect="1"/>
            </p:cNvGraphicFramePr>
            <p:nvPr/>
          </p:nvGraphicFramePr>
          <p:xfrm>
            <a:off x="2453774" y="4078545"/>
            <a:ext cx="331788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95" name="Equation" r:id="rId13" imgW="152268" imgH="164957" progId="Equation.DSMT4">
                    <p:embed/>
                  </p:oleObj>
                </mc:Choice>
                <mc:Fallback>
                  <p:oleObj name="Equation" r:id="rId13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3774" y="4078545"/>
                          <a:ext cx="331788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下箭头 19"/>
            <p:cNvSpPr/>
            <p:nvPr/>
          </p:nvSpPr>
          <p:spPr>
            <a:xfrm>
              <a:off x="2353400" y="2983304"/>
              <a:ext cx="655921" cy="958427"/>
            </a:xfrm>
            <a:prstGeom prst="down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zh-CN" altLang="en-US" sz="2000" dirty="0">
                  <a:solidFill>
                    <a:schemeClr val="bg1"/>
                  </a:solidFill>
                </a:rPr>
                <a:t>写出</a:t>
              </a:r>
            </a:p>
          </p:txBody>
        </p:sp>
      </p:grpSp>
      <p:grpSp>
        <p:nvGrpSpPr>
          <p:cNvPr id="70" name="组合 69"/>
          <p:cNvGrpSpPr>
            <a:grpSpLocks/>
          </p:cNvGrpSpPr>
          <p:nvPr/>
        </p:nvGrpSpPr>
        <p:grpSpPr bwMode="auto">
          <a:xfrm>
            <a:off x="4114802" y="4087817"/>
            <a:ext cx="5298018" cy="882651"/>
            <a:chOff x="3042467" y="3829519"/>
            <a:chExt cx="3973186" cy="881977"/>
          </a:xfrm>
        </p:grpSpPr>
        <p:sp>
          <p:nvSpPr>
            <p:cNvPr id="65" name="右箭头 64"/>
            <p:cNvSpPr/>
            <p:nvPr/>
          </p:nvSpPr>
          <p:spPr>
            <a:xfrm>
              <a:off x="3042467" y="3829519"/>
              <a:ext cx="3973186" cy="881977"/>
            </a:xfrm>
            <a:prstGeom prst="rightArrow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l">
                <a:defRPr/>
              </a:pPr>
              <a:r>
                <a:rPr lang="zh-CN" altLang="en-US" sz="2400" dirty="0" smtClean="0"/>
                <a:t>          </a:t>
              </a:r>
              <a:endParaRPr lang="zh-CN" altLang="en-US" sz="2400" dirty="0"/>
            </a:p>
          </p:txBody>
        </p:sp>
        <p:graphicFrame>
          <p:nvGraphicFramePr>
            <p:cNvPr id="12310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4729828"/>
                </p:ext>
              </p:extLst>
            </p:nvPr>
          </p:nvGraphicFramePr>
          <p:xfrm>
            <a:off x="4237236" y="4104736"/>
            <a:ext cx="1252435" cy="374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96" name="Equation" r:id="rId15" imgW="685800" imgH="190440" progId="Equation.DSMT4">
                    <p:embed/>
                  </p:oleObj>
                </mc:Choice>
                <mc:Fallback>
                  <p:oleObj name="Equation" r:id="rId15" imgW="68580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7236" y="4104736"/>
                          <a:ext cx="1252435" cy="3743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7" name="组合 66"/>
          <p:cNvGrpSpPr>
            <a:grpSpLocks/>
          </p:cNvGrpSpPr>
          <p:nvPr/>
        </p:nvGrpSpPr>
        <p:grpSpPr bwMode="auto">
          <a:xfrm>
            <a:off x="9389533" y="3284539"/>
            <a:ext cx="874184" cy="1411287"/>
            <a:chOff x="2353400" y="2983304"/>
            <a:chExt cx="655921" cy="1411236"/>
          </a:xfrm>
        </p:grpSpPr>
        <p:graphicFrame>
          <p:nvGraphicFramePr>
            <p:cNvPr id="12305" name="Object 3"/>
            <p:cNvGraphicFramePr>
              <a:graphicFrameLocks noChangeAspect="1"/>
            </p:cNvGraphicFramePr>
            <p:nvPr/>
          </p:nvGraphicFramePr>
          <p:xfrm>
            <a:off x="2529115" y="4034178"/>
            <a:ext cx="331788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97" name="Equation" r:id="rId17" imgW="152268" imgH="164957" progId="Equation.DSMT4">
                    <p:embed/>
                  </p:oleObj>
                </mc:Choice>
                <mc:Fallback>
                  <p:oleObj name="Equation" r:id="rId17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9115" y="4034178"/>
                          <a:ext cx="331788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" name="下箭头 68"/>
            <p:cNvSpPr/>
            <p:nvPr/>
          </p:nvSpPr>
          <p:spPr>
            <a:xfrm>
              <a:off x="2353400" y="2983304"/>
              <a:ext cx="655921" cy="958427"/>
            </a:xfrm>
            <a:prstGeom prst="down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zh-CN" altLang="en-US" sz="2000" dirty="0">
                  <a:solidFill>
                    <a:schemeClr val="bg1"/>
                  </a:solidFill>
                </a:rPr>
                <a:t>记为</a:t>
              </a:r>
            </a:p>
          </p:txBody>
        </p:sp>
      </p:grp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3448051" y="4883150"/>
            <a:ext cx="6527800" cy="1354138"/>
            <a:chOff x="2712798" y="4625294"/>
            <a:chExt cx="4667514" cy="1353603"/>
          </a:xfrm>
        </p:grpSpPr>
        <p:sp>
          <p:nvSpPr>
            <p:cNvPr id="23" name="下弧形箭头 22"/>
            <p:cNvSpPr/>
            <p:nvPr/>
          </p:nvSpPr>
          <p:spPr>
            <a:xfrm>
              <a:off x="2712798" y="4625294"/>
              <a:ext cx="4667514" cy="1021946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304" name="TextBox 55"/>
            <p:cNvSpPr txBox="1">
              <a:spLocks noChangeArrowheads="1"/>
            </p:cNvSpPr>
            <p:nvPr/>
          </p:nvSpPr>
          <p:spPr bwMode="auto">
            <a:xfrm>
              <a:off x="4328680" y="5517232"/>
              <a:ext cx="144016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solidFill>
                    <a:srgbClr val="FF0000"/>
                  </a:solidFill>
                </a:rPr>
                <a:t>合同关系</a:t>
              </a:r>
            </a:p>
          </p:txBody>
        </p:sp>
      </p:grpSp>
      <p:sp>
        <p:nvSpPr>
          <p:cNvPr id="28" name="燕尾形 27"/>
          <p:cNvSpPr/>
          <p:nvPr/>
        </p:nvSpPr>
        <p:spPr>
          <a:xfrm rot="16200000">
            <a:off x="6277241" y="5072858"/>
            <a:ext cx="871537" cy="476249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anchor="ctr"/>
          <a:lstStyle/>
          <a:p>
            <a:pPr>
              <a:defRPr/>
            </a:pPr>
            <a:r>
              <a:rPr lang="zh-CN" altLang="en-US" sz="2000" dirty="0">
                <a:solidFill>
                  <a:srgbClr val="FF0000"/>
                </a:solidFill>
              </a:rPr>
              <a:t>转化</a:t>
            </a:r>
          </a:p>
        </p:txBody>
      </p:sp>
      <p:sp>
        <p:nvSpPr>
          <p:cNvPr id="33" name="文本框 3"/>
          <p:cNvSpPr txBox="1"/>
          <p:nvPr/>
        </p:nvSpPr>
        <p:spPr>
          <a:xfrm>
            <a:off x="7580441" y="484594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二次型化标准形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622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5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60" grpId="0"/>
      <p:bldP spid="28" grpId="0" animBg="1"/>
      <p:bldP spid="3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二次型化标准形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20502" y="1339321"/>
            <a:ext cx="3924496" cy="696036"/>
            <a:chOff x="745588" y="1310185"/>
            <a:chExt cx="930528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8" y="1310185"/>
              <a:ext cx="930528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53671" y="1427370"/>
              <a:ext cx="9224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正交变换化二次型为标准形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20502" y="2431312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圆角矩形 2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定理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892379"/>
              </p:ext>
            </p:extLst>
          </p:nvPr>
        </p:nvGraphicFramePr>
        <p:xfrm>
          <a:off x="1907064" y="3324528"/>
          <a:ext cx="3722688" cy="173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8" name="Equation" r:id="rId3" imgW="1993680" imgH="939600" progId="Equation.DSMT4">
                  <p:embed/>
                </p:oleObj>
              </mc:Choice>
              <mc:Fallback>
                <p:oleObj name="Equation" r:id="rId3" imgW="199368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7064" y="3324528"/>
                        <a:ext cx="3722688" cy="173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1907064" y="2509233"/>
            <a:ext cx="3521634" cy="468462"/>
            <a:chOff x="1910175" y="2222631"/>
            <a:chExt cx="3521634" cy="468462"/>
          </a:xfrm>
        </p:grpSpPr>
        <p:sp>
          <p:nvSpPr>
            <p:cNvPr id="8" name="文本框 7"/>
            <p:cNvSpPr txBox="1"/>
            <p:nvPr/>
          </p:nvSpPr>
          <p:spPr>
            <a:xfrm>
              <a:off x="1910175" y="2222631"/>
              <a:ext cx="3521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设二次型                    ，</a:t>
              </a:r>
            </a:p>
          </p:txBody>
        </p:sp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14375"/>
                </p:ext>
              </p:extLst>
            </p:nvPr>
          </p:nvGraphicFramePr>
          <p:xfrm>
            <a:off x="3220777" y="2222780"/>
            <a:ext cx="1857375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089" name="Equation" r:id="rId5" imgW="990360" imgH="253800" progId="Equation.DSMT4">
                    <p:embed/>
                  </p:oleObj>
                </mc:Choice>
                <mc:Fallback>
                  <p:oleObj name="Equation" r:id="rId5" imgW="9903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20777" y="2222780"/>
                          <a:ext cx="1857375" cy="468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组合 33"/>
          <p:cNvGrpSpPr/>
          <p:nvPr/>
        </p:nvGrpSpPr>
        <p:grpSpPr>
          <a:xfrm>
            <a:off x="5319008" y="2484680"/>
            <a:ext cx="4135780" cy="461665"/>
            <a:chOff x="1910175" y="2222631"/>
            <a:chExt cx="4135780" cy="461665"/>
          </a:xfrm>
        </p:grpSpPr>
        <p:sp>
          <p:nvSpPr>
            <p:cNvPr id="35" name="文本框 34"/>
            <p:cNvSpPr txBox="1"/>
            <p:nvPr/>
          </p:nvSpPr>
          <p:spPr>
            <a:xfrm>
              <a:off x="1910175" y="2222631"/>
              <a:ext cx="41357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总有正交变换           ，使得</a:t>
              </a:r>
            </a:p>
          </p:txBody>
        </p:sp>
        <p:graphicFrame>
          <p:nvGraphicFramePr>
            <p:cNvPr id="36" name="对象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3843041"/>
                </p:ext>
              </p:extLst>
            </p:nvPr>
          </p:nvGraphicFramePr>
          <p:xfrm>
            <a:off x="3978065" y="2290691"/>
            <a:ext cx="1023938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090" name="Equation" r:id="rId7" imgW="545760" imgH="203040" progId="Equation.DSMT4">
                    <p:embed/>
                  </p:oleObj>
                </mc:Choice>
                <mc:Fallback>
                  <p:oleObj name="Equation" r:id="rId7" imgW="54576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978065" y="2290691"/>
                          <a:ext cx="1023938" cy="3746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383267"/>
              </p:ext>
            </p:extLst>
          </p:nvPr>
        </p:nvGraphicFramePr>
        <p:xfrm>
          <a:off x="5765931" y="3878571"/>
          <a:ext cx="30718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91" name="Equation" r:id="rId9" imgW="1638000" imgH="241200" progId="Equation.DSMT4">
                  <p:embed/>
                </p:oleObj>
              </mc:Choice>
              <mc:Fallback>
                <p:oleObj name="Equation" r:id="rId9" imgW="16380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765931" y="3878571"/>
                        <a:ext cx="3071813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551482" y="5139019"/>
            <a:ext cx="5168834" cy="461665"/>
            <a:chOff x="1910175" y="2222631"/>
            <a:chExt cx="5168834" cy="461665"/>
          </a:xfrm>
        </p:grpSpPr>
        <p:sp>
          <p:nvSpPr>
            <p:cNvPr id="18" name="文本框 7"/>
            <p:cNvSpPr txBox="1"/>
            <p:nvPr/>
          </p:nvSpPr>
          <p:spPr>
            <a:xfrm>
              <a:off x="1910175" y="2222631"/>
              <a:ext cx="51688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其中</a:t>
              </a:r>
            </a:p>
          </p:txBody>
        </p:sp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5386409"/>
                </p:ext>
              </p:extLst>
            </p:nvPr>
          </p:nvGraphicFramePr>
          <p:xfrm>
            <a:off x="2697509" y="2239796"/>
            <a:ext cx="43815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092" name="Equation" r:id="rId11" imgW="2336760" imgH="241200" progId="Equation.DSMT4">
                    <p:embed/>
                  </p:oleObj>
                </mc:Choice>
                <mc:Fallback>
                  <p:oleObj name="Equation" r:id="rId11" imgW="233676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697509" y="2239796"/>
                          <a:ext cx="4381500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2062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13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316" name="Text Box 6"/>
          <p:cNvSpPr txBox="1">
            <a:spLocks noChangeArrowheads="1"/>
          </p:cNvSpPr>
          <p:nvPr/>
        </p:nvSpPr>
        <p:spPr bwMode="auto">
          <a:xfrm>
            <a:off x="1136932" y="1216025"/>
            <a:ext cx="40640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70000"/>
              </a:lnSpc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dirty="0"/>
              <a:t>  </a:t>
            </a:r>
            <a:r>
              <a:rPr lang="zh-CN" altLang="en-US" dirty="0" smtClean="0"/>
              <a:t>正交变换</a:t>
            </a:r>
            <a:r>
              <a:rPr lang="zh-CN" altLang="en-US" dirty="0"/>
              <a:t>法</a:t>
            </a:r>
          </a:p>
        </p:txBody>
      </p:sp>
      <p:sp>
        <p:nvSpPr>
          <p:cNvPr id="13317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endParaRPr lang="zh-CN" altLang="en-US" sz="2000" dirty="0"/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2981961465"/>
              </p:ext>
            </p:extLst>
          </p:nvPr>
        </p:nvGraphicFramePr>
        <p:xfrm>
          <a:off x="1487488" y="1806766"/>
          <a:ext cx="7976001" cy="4502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3319" name="对象 3"/>
          <p:cNvGraphicFramePr>
            <a:graphicFrameLocks noChangeAspect="1"/>
          </p:cNvGraphicFramePr>
          <p:nvPr/>
        </p:nvGraphicFramePr>
        <p:xfrm>
          <a:off x="5858933" y="2362200"/>
          <a:ext cx="12192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0" name="Equation" r:id="rId8" imgW="435285" imgH="677109" progId="Equation.DSMT4">
                  <p:embed/>
                </p:oleObj>
              </mc:Choice>
              <mc:Fallback>
                <p:oleObj name="Equation" r:id="rId8" imgW="435285" imgH="67710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8933" y="2362200"/>
                        <a:ext cx="12192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组合 1"/>
          <p:cNvGrpSpPr>
            <a:grpSpLocks/>
          </p:cNvGrpSpPr>
          <p:nvPr/>
        </p:nvGrpSpPr>
        <p:grpSpPr bwMode="auto">
          <a:xfrm>
            <a:off x="6096000" y="3990976"/>
            <a:ext cx="2880784" cy="646113"/>
            <a:chOff x="644610" y="1363628"/>
            <a:chExt cx="2160316" cy="645590"/>
          </a:xfrm>
        </p:grpSpPr>
        <p:sp>
          <p:nvSpPr>
            <p:cNvPr id="13325" name="Text Box 2"/>
            <p:cNvSpPr txBox="1">
              <a:spLocks noChangeArrowheads="1"/>
            </p:cNvSpPr>
            <p:nvPr/>
          </p:nvSpPr>
          <p:spPr bwMode="auto">
            <a:xfrm>
              <a:off x="644610" y="1363628"/>
              <a:ext cx="2160316" cy="645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>
                  <a:solidFill>
                    <a:srgbClr val="0000FF"/>
                  </a:solidFill>
                </a:rPr>
                <a:t>可求出</a:t>
              </a:r>
            </a:p>
          </p:txBody>
        </p:sp>
        <p:graphicFrame>
          <p:nvGraphicFramePr>
            <p:cNvPr id="13326" name="Object 3"/>
            <p:cNvGraphicFramePr>
              <a:graphicFrameLocks noChangeAspect="1"/>
            </p:cNvGraphicFramePr>
            <p:nvPr/>
          </p:nvGraphicFramePr>
          <p:xfrm>
            <a:off x="1737386" y="1519940"/>
            <a:ext cx="627085" cy="402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11" name="Equation" r:id="rId10" imgW="317225" imgH="203024" progId="Equation.DSMT4">
                    <p:embed/>
                  </p:oleObj>
                </mc:Choice>
                <mc:Fallback>
                  <p:oleObj name="Equation" r:id="rId10" imgW="317225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7386" y="1519940"/>
                          <a:ext cx="627085" cy="402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4" name="组合 1"/>
          <p:cNvGrpSpPr>
            <a:grpSpLocks/>
          </p:cNvGrpSpPr>
          <p:nvPr/>
        </p:nvGrpSpPr>
        <p:grpSpPr bwMode="auto">
          <a:xfrm>
            <a:off x="4629150" y="5157788"/>
            <a:ext cx="7584016" cy="1100289"/>
            <a:chOff x="984408" y="1363628"/>
            <a:chExt cx="5689243" cy="1099191"/>
          </a:xfrm>
        </p:grpSpPr>
        <p:sp>
          <p:nvSpPr>
            <p:cNvPr id="13322" name="Text Box 2"/>
            <p:cNvSpPr txBox="1">
              <a:spLocks noChangeArrowheads="1"/>
            </p:cNvSpPr>
            <p:nvPr/>
          </p:nvSpPr>
          <p:spPr bwMode="auto">
            <a:xfrm>
              <a:off x="984408" y="1363628"/>
              <a:ext cx="5689243" cy="6456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 dirty="0"/>
                <a:t>存在正交</a:t>
              </a:r>
              <a:r>
                <a:rPr lang="zh-CN" altLang="en-US" sz="2400" dirty="0" smtClean="0"/>
                <a:t>替换             </a:t>
              </a:r>
              <a:r>
                <a:rPr lang="zh-CN" altLang="en-US" sz="2400" dirty="0"/>
                <a:t>可将二次型化为标准形</a:t>
              </a:r>
            </a:p>
          </p:txBody>
        </p:sp>
        <p:graphicFrame>
          <p:nvGraphicFramePr>
            <p:cNvPr id="13323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0820420"/>
                </p:ext>
              </p:extLst>
            </p:nvPr>
          </p:nvGraphicFramePr>
          <p:xfrm>
            <a:off x="2446286" y="1485089"/>
            <a:ext cx="1077951" cy="402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12" name="Equation" r:id="rId12" imgW="545626" imgH="203024" progId="Equation.DSMT4">
                    <p:embed/>
                  </p:oleObj>
                </mc:Choice>
                <mc:Fallback>
                  <p:oleObj name="Equation" r:id="rId12" imgW="545626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6286" y="1485089"/>
                          <a:ext cx="1077951" cy="402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4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1185478"/>
                </p:ext>
              </p:extLst>
            </p:nvPr>
          </p:nvGraphicFramePr>
          <p:xfrm>
            <a:off x="2500918" y="2009314"/>
            <a:ext cx="1328786" cy="4535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13" name="Equation" r:id="rId14" imgW="672808" imgH="228501" progId="Equation.DSMT4">
                    <p:embed/>
                  </p:oleObj>
                </mc:Choice>
                <mc:Fallback>
                  <p:oleObj name="Equation" r:id="rId14" imgW="672808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0918" y="2009314"/>
                          <a:ext cx="1328786" cy="4535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二次型化标准形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3467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组合 1"/>
          <p:cNvGrpSpPr>
            <a:grpSpLocks/>
          </p:cNvGrpSpPr>
          <p:nvPr/>
        </p:nvGrpSpPr>
        <p:grpSpPr bwMode="auto">
          <a:xfrm>
            <a:off x="749300" y="1036886"/>
            <a:ext cx="10157883" cy="1754326"/>
            <a:chOff x="582613" y="1359823"/>
            <a:chExt cx="7619105" cy="1752819"/>
          </a:xfrm>
        </p:grpSpPr>
        <p:sp>
          <p:nvSpPr>
            <p:cNvPr id="14358" name="Text Box 2"/>
            <p:cNvSpPr txBox="1">
              <a:spLocks noChangeArrowheads="1"/>
            </p:cNvSpPr>
            <p:nvPr/>
          </p:nvSpPr>
          <p:spPr bwMode="auto">
            <a:xfrm>
              <a:off x="582613" y="1359823"/>
              <a:ext cx="7107532" cy="17528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lnSpc>
                  <a:spcPct val="150000"/>
                </a:lnSpc>
              </a:pPr>
              <a:r>
                <a:rPr lang="zh-CN" altLang="en-US" sz="2400" dirty="0">
                  <a:solidFill>
                    <a:schemeClr val="accent2"/>
                  </a:solidFill>
                </a:rPr>
                <a:t>例</a:t>
              </a:r>
              <a:r>
                <a:rPr lang="en-US" altLang="zh-CN" sz="2400" dirty="0">
                  <a:solidFill>
                    <a:schemeClr val="accent2"/>
                  </a:solidFill>
                </a:rPr>
                <a:t>1  </a:t>
              </a:r>
              <a:r>
                <a:rPr lang="zh-CN" altLang="en-US" sz="2400" dirty="0"/>
                <a:t>用正交</a:t>
              </a:r>
              <a:r>
                <a:rPr lang="zh-CN" altLang="en-US" sz="2400" dirty="0" smtClean="0"/>
                <a:t>替换              </a:t>
              </a:r>
              <a:r>
                <a:rPr lang="zh-CN" altLang="en-US" sz="2400" dirty="0"/>
                <a:t>将二次型</a:t>
              </a:r>
              <a:endParaRPr lang="en-US" altLang="zh-CN" sz="2400" dirty="0"/>
            </a:p>
            <a:p>
              <a:pPr algn="l" eaLnBrk="1" hangingPunct="1">
                <a:lnSpc>
                  <a:spcPct val="150000"/>
                </a:lnSpc>
              </a:pPr>
              <a:endParaRPr lang="en-US" altLang="zh-CN" sz="2400" dirty="0"/>
            </a:p>
            <a:p>
              <a:pPr algn="l" eaLnBrk="1" hangingPunct="1">
                <a:lnSpc>
                  <a:spcPct val="150000"/>
                </a:lnSpc>
              </a:pPr>
              <a:r>
                <a:rPr lang="zh-CN" altLang="en-US" sz="2400" dirty="0"/>
                <a:t>       化为标准形</a:t>
              </a:r>
            </a:p>
          </p:txBody>
        </p:sp>
        <p:graphicFrame>
          <p:nvGraphicFramePr>
            <p:cNvPr id="1435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1914852"/>
                </p:ext>
              </p:extLst>
            </p:nvPr>
          </p:nvGraphicFramePr>
          <p:xfrm>
            <a:off x="2369876" y="1515165"/>
            <a:ext cx="1082678" cy="401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62" name="Equation" r:id="rId3" imgW="545760" imgH="203040" progId="Equation.DSMT4">
                    <p:embed/>
                  </p:oleObj>
                </mc:Choice>
                <mc:Fallback>
                  <p:oleObj name="Equation" r:id="rId3" imgW="5457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9876" y="1515165"/>
                          <a:ext cx="1082678" cy="401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0" name="Object 3"/>
            <p:cNvGraphicFramePr>
              <a:graphicFrameLocks noChangeAspect="1"/>
            </p:cNvGraphicFramePr>
            <p:nvPr/>
          </p:nvGraphicFramePr>
          <p:xfrm>
            <a:off x="2239050" y="2005548"/>
            <a:ext cx="5962668" cy="5027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63" name="Equation" r:id="rId5" imgW="2997000" imgH="253800" progId="Equation.DSMT4">
                    <p:embed/>
                  </p:oleObj>
                </mc:Choice>
                <mc:Fallback>
                  <p:oleObj name="Equation" r:id="rId5" imgW="29970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9050" y="2005548"/>
                          <a:ext cx="5962668" cy="5027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39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39539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3934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677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749300" y="2761179"/>
            <a:ext cx="9120717" cy="1285875"/>
            <a:chOff x="1259632" y="1722212"/>
            <a:chExt cx="6840462" cy="1285047"/>
          </a:xfrm>
        </p:grpSpPr>
        <p:sp>
          <p:nvSpPr>
            <p:cNvPr id="29" name="TextBox 28"/>
            <p:cNvSpPr txBox="1"/>
            <p:nvPr/>
          </p:nvSpPr>
          <p:spPr>
            <a:xfrm>
              <a:off x="1259632" y="2074410"/>
              <a:ext cx="6840462" cy="93284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解：  </a:t>
              </a:r>
              <a:r>
                <a:rPr lang="zh-CN" altLang="en-US" sz="2400" dirty="0" smtClean="0">
                  <a:solidFill>
                    <a:schemeClr val="tx1"/>
                  </a:solidFill>
                </a:rPr>
                <a:t>                                 由                                得</a:t>
              </a: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     </a:t>
              </a: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r>
                <a:rPr lang="en-US" altLang="zh-CN" sz="2400" dirty="0">
                  <a:solidFill>
                    <a:schemeClr val="tx1"/>
                  </a:solidFill>
                </a:rPr>
                <a:t>    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14355" name="对象 30"/>
            <p:cNvGraphicFramePr>
              <a:graphicFrameLocks noChangeAspect="1"/>
            </p:cNvGraphicFramePr>
            <p:nvPr/>
          </p:nvGraphicFramePr>
          <p:xfrm>
            <a:off x="3901476" y="2114535"/>
            <a:ext cx="1179500" cy="449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64" name="Equation" r:id="rId7" imgW="761760" imgH="253800" progId="Equation.DSMT4">
                    <p:embed/>
                  </p:oleObj>
                </mc:Choice>
                <mc:Fallback>
                  <p:oleObj name="Equation" r:id="rId7" imgW="76176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1476" y="2114535"/>
                          <a:ext cx="1179500" cy="4491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6" name="对象 30"/>
            <p:cNvGraphicFramePr>
              <a:graphicFrameLocks noChangeAspect="1"/>
            </p:cNvGraphicFramePr>
            <p:nvPr/>
          </p:nvGraphicFramePr>
          <p:xfrm>
            <a:off x="5788819" y="2131064"/>
            <a:ext cx="1987398" cy="443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65" name="Equation" r:id="rId9" imgW="1168400" imgH="228600" progId="Equation.DSMT4">
                    <p:embed/>
                  </p:oleObj>
                </mc:Choice>
                <mc:Fallback>
                  <p:oleObj name="Equation" r:id="rId9" imgW="11684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88819" y="2131064"/>
                          <a:ext cx="1987398" cy="4434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7" name="对象 30"/>
            <p:cNvGraphicFramePr>
              <a:graphicFrameLocks noChangeAspect="1"/>
            </p:cNvGraphicFramePr>
            <p:nvPr/>
          </p:nvGraphicFramePr>
          <p:xfrm>
            <a:off x="1949239" y="1722212"/>
            <a:ext cx="1493820" cy="1255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66" name="Equation" r:id="rId11" imgW="965160" imgH="711000" progId="Equation.DSMT4">
                    <p:embed/>
                  </p:oleObj>
                </mc:Choice>
                <mc:Fallback>
                  <p:oleObj name="Equation" r:id="rId11" imgW="96516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9239" y="1722212"/>
                          <a:ext cx="1493820" cy="12553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/>
          <p:cNvGrpSpPr>
            <a:grpSpLocks/>
          </p:cNvGrpSpPr>
          <p:nvPr/>
        </p:nvGrpSpPr>
        <p:grpSpPr bwMode="auto">
          <a:xfrm>
            <a:off x="1352551" y="4066382"/>
            <a:ext cx="9160933" cy="1719264"/>
            <a:chOff x="1259632" y="1682815"/>
            <a:chExt cx="6870972" cy="1718455"/>
          </a:xfrm>
        </p:grpSpPr>
        <p:sp>
          <p:nvSpPr>
            <p:cNvPr id="33" name="TextBox 32"/>
            <p:cNvSpPr txBox="1"/>
            <p:nvPr/>
          </p:nvSpPr>
          <p:spPr>
            <a:xfrm>
              <a:off x="1259632" y="2074744"/>
              <a:ext cx="6840809" cy="13265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当 </a:t>
              </a:r>
              <a:r>
                <a:rPr lang="zh-CN" altLang="en-US" sz="2400" dirty="0" smtClean="0">
                  <a:solidFill>
                    <a:schemeClr val="tx1"/>
                  </a:solidFill>
                </a:rPr>
                <a:t>               </a:t>
              </a:r>
              <a:r>
                <a:rPr lang="zh-CN" altLang="en-US" sz="2400" dirty="0">
                  <a:solidFill>
                    <a:schemeClr val="tx1"/>
                  </a:solidFill>
                </a:rPr>
                <a:t>时，</a:t>
              </a:r>
            </a:p>
          </p:txBody>
        </p:sp>
        <p:graphicFrame>
          <p:nvGraphicFramePr>
            <p:cNvPr id="14352" name="对象 30"/>
            <p:cNvGraphicFramePr>
              <a:graphicFrameLocks noChangeAspect="1"/>
            </p:cNvGraphicFramePr>
            <p:nvPr/>
          </p:nvGraphicFramePr>
          <p:xfrm>
            <a:off x="1706382" y="2165409"/>
            <a:ext cx="654076" cy="314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67" name="Equation" r:id="rId13" imgW="355138" imgH="177569" progId="Equation.DSMT4">
                    <p:embed/>
                  </p:oleObj>
                </mc:Choice>
                <mc:Fallback>
                  <p:oleObj name="Equation" r:id="rId13" imgW="355138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6382" y="2165409"/>
                          <a:ext cx="654076" cy="314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3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1579847"/>
                </p:ext>
              </p:extLst>
            </p:nvPr>
          </p:nvGraphicFramePr>
          <p:xfrm>
            <a:off x="2748766" y="1682815"/>
            <a:ext cx="5381838" cy="12709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68" name="Equation" r:id="rId15" imgW="3466800" imgH="711000" progId="Equation.DSMT4">
                    <p:embed/>
                  </p:oleObj>
                </mc:Choice>
                <mc:Fallback>
                  <p:oleObj name="Equation" r:id="rId15" imgW="346680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8766" y="1682815"/>
                          <a:ext cx="5381838" cy="12709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" name="组合 41"/>
          <p:cNvGrpSpPr>
            <a:grpSpLocks/>
          </p:cNvGrpSpPr>
          <p:nvPr/>
        </p:nvGrpSpPr>
        <p:grpSpPr bwMode="auto">
          <a:xfrm>
            <a:off x="2080685" y="5300663"/>
            <a:ext cx="3727449" cy="1257300"/>
            <a:chOff x="1300587" y="2134487"/>
            <a:chExt cx="2794600" cy="1257281"/>
          </a:xfrm>
        </p:grpSpPr>
        <p:sp>
          <p:nvSpPr>
            <p:cNvPr id="43" name="TextBox 42"/>
            <p:cNvSpPr txBox="1"/>
            <p:nvPr/>
          </p:nvSpPr>
          <p:spPr>
            <a:xfrm>
              <a:off x="1300587" y="2515481"/>
              <a:ext cx="1715481" cy="4683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单位化为：</a:t>
              </a:r>
            </a:p>
          </p:txBody>
        </p:sp>
        <p:graphicFrame>
          <p:nvGraphicFramePr>
            <p:cNvPr id="14350" name="对象 30"/>
            <p:cNvGraphicFramePr>
              <a:graphicFrameLocks noChangeAspect="1"/>
            </p:cNvGraphicFramePr>
            <p:nvPr/>
          </p:nvGraphicFramePr>
          <p:xfrm>
            <a:off x="2871176" y="2134487"/>
            <a:ext cx="1224011" cy="1257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69" name="Equation" r:id="rId17" imgW="736600" imgH="711200" progId="Equation.DSMT4">
                    <p:embed/>
                  </p:oleObj>
                </mc:Choice>
                <mc:Fallback>
                  <p:oleObj name="Equation" r:id="rId17" imgW="7366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1176" y="2134487"/>
                          <a:ext cx="1224011" cy="1257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文本框 3"/>
          <p:cNvSpPr txBox="1"/>
          <p:nvPr/>
        </p:nvSpPr>
        <p:spPr>
          <a:xfrm>
            <a:off x="7795032" y="386891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二次型化标准形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0644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grpSp>
        <p:nvGrpSpPr>
          <p:cNvPr id="32" name="组合 31"/>
          <p:cNvGrpSpPr>
            <a:grpSpLocks/>
          </p:cNvGrpSpPr>
          <p:nvPr/>
        </p:nvGrpSpPr>
        <p:grpSpPr bwMode="auto">
          <a:xfrm>
            <a:off x="624418" y="1052513"/>
            <a:ext cx="10605557" cy="1719262"/>
            <a:chOff x="1259632" y="1682593"/>
            <a:chExt cx="7954916" cy="1718677"/>
          </a:xfrm>
        </p:grpSpPr>
        <p:sp>
          <p:nvSpPr>
            <p:cNvPr id="33" name="TextBox 32"/>
            <p:cNvSpPr txBox="1"/>
            <p:nvPr/>
          </p:nvSpPr>
          <p:spPr>
            <a:xfrm>
              <a:off x="1259632" y="2074572"/>
              <a:ext cx="6841180" cy="13266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 smtClean="0">
                  <a:solidFill>
                    <a:schemeClr val="tx1"/>
                  </a:solidFill>
                </a:rPr>
                <a:t>当                 </a:t>
              </a:r>
              <a:r>
                <a:rPr lang="zh-CN" altLang="en-US" sz="2400" dirty="0">
                  <a:solidFill>
                    <a:schemeClr val="tx1"/>
                  </a:solidFill>
                </a:rPr>
                <a:t>时，</a:t>
              </a:r>
            </a:p>
          </p:txBody>
        </p:sp>
        <p:graphicFrame>
          <p:nvGraphicFramePr>
            <p:cNvPr id="15379" name="对象 30"/>
            <p:cNvGraphicFramePr>
              <a:graphicFrameLocks noChangeAspect="1"/>
            </p:cNvGraphicFramePr>
            <p:nvPr/>
          </p:nvGraphicFramePr>
          <p:xfrm>
            <a:off x="1625541" y="2164966"/>
            <a:ext cx="817595" cy="314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79" name="Equation" r:id="rId3" imgW="444114" imgH="177646" progId="Equation.DSMT4">
                    <p:embed/>
                  </p:oleObj>
                </mc:Choice>
                <mc:Fallback>
                  <p:oleObj name="Equation" r:id="rId3" imgW="444114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5541" y="2164966"/>
                          <a:ext cx="817595" cy="314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0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9118424"/>
                </p:ext>
              </p:extLst>
            </p:nvPr>
          </p:nvGraphicFramePr>
          <p:xfrm>
            <a:off x="2747656" y="1682593"/>
            <a:ext cx="6466892" cy="12727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80" name="Equation" r:id="rId5" imgW="4165560" imgH="711000" progId="Equation.DSMT4">
                    <p:embed/>
                  </p:oleObj>
                </mc:Choice>
                <mc:Fallback>
                  <p:oleObj name="Equation" r:id="rId5" imgW="416556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7656" y="1682593"/>
                          <a:ext cx="6466892" cy="12727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" name="组合 41"/>
          <p:cNvGrpSpPr>
            <a:grpSpLocks/>
          </p:cNvGrpSpPr>
          <p:nvPr/>
        </p:nvGrpSpPr>
        <p:grpSpPr bwMode="auto">
          <a:xfrm>
            <a:off x="1276350" y="3789363"/>
            <a:ext cx="5875867" cy="1257300"/>
            <a:chOff x="1300587" y="2134811"/>
            <a:chExt cx="4405506" cy="1257281"/>
          </a:xfrm>
        </p:grpSpPr>
        <p:sp>
          <p:nvSpPr>
            <p:cNvPr id="43" name="TextBox 42"/>
            <p:cNvSpPr txBox="1"/>
            <p:nvPr/>
          </p:nvSpPr>
          <p:spPr>
            <a:xfrm>
              <a:off x="1300587" y="2515805"/>
              <a:ext cx="1715544" cy="46830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单位化为：</a:t>
              </a:r>
            </a:p>
          </p:txBody>
        </p:sp>
        <p:graphicFrame>
          <p:nvGraphicFramePr>
            <p:cNvPr id="15377" name="对象 30"/>
            <p:cNvGraphicFramePr>
              <a:graphicFrameLocks noChangeAspect="1"/>
            </p:cNvGraphicFramePr>
            <p:nvPr/>
          </p:nvGraphicFramePr>
          <p:xfrm>
            <a:off x="2794058" y="2134811"/>
            <a:ext cx="2912035" cy="1257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81" name="Equation" r:id="rId7" imgW="1752600" imgH="711200" progId="Equation.DSMT4">
                    <p:embed/>
                  </p:oleObj>
                </mc:Choice>
                <mc:Fallback>
                  <p:oleObj name="Equation" r:id="rId7" imgW="17526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4058" y="2134811"/>
                          <a:ext cx="2912035" cy="1257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/>
          <p:cNvGrpSpPr>
            <a:grpSpLocks/>
          </p:cNvGrpSpPr>
          <p:nvPr/>
        </p:nvGrpSpPr>
        <p:grpSpPr bwMode="auto">
          <a:xfrm>
            <a:off x="1295400" y="2420938"/>
            <a:ext cx="8167687" cy="1257300"/>
            <a:chOff x="1300587" y="2164211"/>
            <a:chExt cx="6123330" cy="1257281"/>
          </a:xfrm>
        </p:grpSpPr>
        <p:sp>
          <p:nvSpPr>
            <p:cNvPr id="30" name="TextBox 29"/>
            <p:cNvSpPr txBox="1"/>
            <p:nvPr/>
          </p:nvSpPr>
          <p:spPr>
            <a:xfrm>
              <a:off x="1300587" y="2515043"/>
              <a:ext cx="1715406" cy="46830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正交化为：</a:t>
              </a:r>
            </a:p>
          </p:txBody>
        </p:sp>
        <p:graphicFrame>
          <p:nvGraphicFramePr>
            <p:cNvPr id="15375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1842782"/>
                </p:ext>
              </p:extLst>
            </p:nvPr>
          </p:nvGraphicFramePr>
          <p:xfrm>
            <a:off x="2713297" y="2164211"/>
            <a:ext cx="4710620" cy="1257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82" name="Equation" r:id="rId9" imgW="2831760" imgH="711000" progId="Equation.DSMT4">
                    <p:embed/>
                  </p:oleObj>
                </mc:Choice>
                <mc:Fallback>
                  <p:oleObj name="Equation" r:id="rId9" imgW="283176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3297" y="2164211"/>
                          <a:ext cx="4710620" cy="1257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组合 35"/>
          <p:cNvGrpSpPr>
            <a:grpSpLocks/>
          </p:cNvGrpSpPr>
          <p:nvPr/>
        </p:nvGrpSpPr>
        <p:grpSpPr bwMode="auto">
          <a:xfrm>
            <a:off x="814917" y="5157788"/>
            <a:ext cx="10479616" cy="1147762"/>
            <a:chOff x="1300587" y="2366904"/>
            <a:chExt cx="7860277" cy="1148154"/>
          </a:xfrm>
        </p:grpSpPr>
        <p:sp>
          <p:nvSpPr>
            <p:cNvPr id="38" name="TextBox 37"/>
            <p:cNvSpPr txBox="1"/>
            <p:nvPr/>
          </p:nvSpPr>
          <p:spPr>
            <a:xfrm>
              <a:off x="1300587" y="2366904"/>
              <a:ext cx="7860277" cy="11481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lnSpc>
                  <a:spcPct val="150000"/>
                </a:lnSpc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所以，存在</a:t>
              </a:r>
              <a:r>
                <a:rPr lang="zh-CN" altLang="en-US" sz="2400" dirty="0" smtClean="0">
                  <a:solidFill>
                    <a:schemeClr val="tx1"/>
                  </a:solidFill>
                </a:rPr>
                <a:t>正交变换                 </a:t>
              </a:r>
              <a:r>
                <a:rPr lang="zh-CN" altLang="en-US" sz="2400" dirty="0">
                  <a:solidFill>
                    <a:schemeClr val="tx1"/>
                  </a:solidFill>
                </a:rPr>
                <a:t>，</a:t>
              </a:r>
              <a:r>
                <a:rPr lang="zh-CN" altLang="en-US" sz="2400" dirty="0" smtClean="0">
                  <a:solidFill>
                    <a:schemeClr val="tx1"/>
                  </a:solidFill>
                </a:rPr>
                <a:t>其中                            </a:t>
              </a:r>
              <a:r>
                <a:rPr lang="zh-CN" altLang="en-US" sz="2400" dirty="0">
                  <a:solidFill>
                    <a:schemeClr val="tx1"/>
                  </a:solidFill>
                </a:rPr>
                <a:t>可将二次型化为标准形</a:t>
              </a:r>
            </a:p>
          </p:txBody>
        </p:sp>
        <p:graphicFrame>
          <p:nvGraphicFramePr>
            <p:cNvPr id="15371" name="对象 30"/>
            <p:cNvGraphicFramePr>
              <a:graphicFrameLocks noChangeAspect="1"/>
            </p:cNvGraphicFramePr>
            <p:nvPr/>
          </p:nvGraphicFramePr>
          <p:xfrm>
            <a:off x="3361769" y="3066357"/>
            <a:ext cx="1813141" cy="4254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83" name="Equation" r:id="rId11" imgW="1091880" imgH="241200" progId="Equation.DSMT4">
                    <p:embed/>
                  </p:oleObj>
                </mc:Choice>
                <mc:Fallback>
                  <p:oleObj name="Equation" r:id="rId11" imgW="10918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1769" y="3066357"/>
                          <a:ext cx="1813141" cy="4254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2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68210"/>
                </p:ext>
              </p:extLst>
            </p:nvPr>
          </p:nvGraphicFramePr>
          <p:xfrm>
            <a:off x="3423639" y="2583755"/>
            <a:ext cx="870625" cy="357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84" name="Equation" r:id="rId13" imgW="545760" imgH="203040" progId="Equation.DSMT4">
                    <p:embed/>
                  </p:oleObj>
                </mc:Choice>
                <mc:Fallback>
                  <p:oleObj name="Equation" r:id="rId13" imgW="5457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3639" y="2583755"/>
                          <a:ext cx="870625" cy="357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3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6287289"/>
                </p:ext>
              </p:extLst>
            </p:nvPr>
          </p:nvGraphicFramePr>
          <p:xfrm>
            <a:off x="5000320" y="2493259"/>
            <a:ext cx="1355886" cy="4477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85" name="Equation" r:id="rId15" imgW="926698" imgH="253890" progId="Equation.DSMT4">
                    <p:embed/>
                  </p:oleObj>
                </mc:Choice>
                <mc:Fallback>
                  <p:oleObj name="Equation" r:id="rId15" imgW="926698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0320" y="2493259"/>
                          <a:ext cx="1355886" cy="4477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二次型化标准形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3008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二次型化标准形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20502" y="1162597"/>
            <a:ext cx="3652253" cy="696036"/>
            <a:chOff x="745588" y="1310185"/>
            <a:chExt cx="865977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8" y="1310185"/>
              <a:ext cx="865977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53671" y="1427370"/>
              <a:ext cx="8578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配方法化二次型为标准形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20502" y="1975818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圆角矩形 2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例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1574472"/>
              </p:ext>
            </p:extLst>
          </p:nvPr>
        </p:nvGraphicFramePr>
        <p:xfrm>
          <a:off x="1978284" y="2066552"/>
          <a:ext cx="54086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59" name="Equation" r:id="rId3" imgW="2895480" imgH="253800" progId="Equation.DSMT4">
                  <p:embed/>
                </p:oleObj>
              </mc:Choice>
              <mc:Fallback>
                <p:oleObj name="Equation" r:id="rId3" imgW="28954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8284" y="2066552"/>
                        <a:ext cx="5408613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/>
          <p:nvPr/>
        </p:nvCxnSpPr>
        <p:spPr>
          <a:xfrm>
            <a:off x="2890269" y="2506685"/>
            <a:ext cx="476518" cy="0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033701" y="2525808"/>
            <a:ext cx="612000" cy="0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5868000" y="2526401"/>
            <a:ext cx="612000" cy="0"/>
          </a:xfrm>
          <a:prstGeom prst="line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956375"/>
              </p:ext>
            </p:extLst>
          </p:nvPr>
        </p:nvGraphicFramePr>
        <p:xfrm>
          <a:off x="2662268" y="2653272"/>
          <a:ext cx="2538413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0" name="Equation" r:id="rId5" imgW="1358640" imgH="279360" progId="Equation.DSMT4">
                  <p:embed/>
                </p:oleObj>
              </mc:Choice>
              <mc:Fallback>
                <p:oleObj name="Equation" r:id="rId5" imgW="13586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62268" y="2653272"/>
                        <a:ext cx="2538413" cy="515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7926722"/>
              </p:ext>
            </p:extLst>
          </p:nvPr>
        </p:nvGraphicFramePr>
        <p:xfrm>
          <a:off x="5200681" y="2688197"/>
          <a:ext cx="23241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1" name="Equation" r:id="rId7" imgW="1244520" imgH="241200" progId="Equation.DSMT4">
                  <p:embed/>
                </p:oleObj>
              </mc:Choice>
              <mc:Fallback>
                <p:oleObj name="Equation" r:id="rId7" imgW="12445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00681" y="2688197"/>
                        <a:ext cx="2324100" cy="446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006317"/>
              </p:ext>
            </p:extLst>
          </p:nvPr>
        </p:nvGraphicFramePr>
        <p:xfrm>
          <a:off x="2631580" y="3320438"/>
          <a:ext cx="1992312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2" name="Equation" r:id="rId9" imgW="1066680" imgH="279360" progId="Equation.DSMT4">
                  <p:embed/>
                </p:oleObj>
              </mc:Choice>
              <mc:Fallback>
                <p:oleObj name="Equation" r:id="rId9" imgW="10666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31580" y="3320438"/>
                        <a:ext cx="1992312" cy="515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806445"/>
              </p:ext>
            </p:extLst>
          </p:nvPr>
        </p:nvGraphicFramePr>
        <p:xfrm>
          <a:off x="4570517" y="3355574"/>
          <a:ext cx="2159000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3" name="Equation" r:id="rId11" imgW="1155600" imgH="241200" progId="Equation.DSMT4">
                  <p:embed/>
                </p:oleObj>
              </mc:Choice>
              <mc:Fallback>
                <p:oleObj name="Equation" r:id="rId11" imgW="11556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70517" y="3355574"/>
                        <a:ext cx="2159000" cy="446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0060285"/>
              </p:ext>
            </p:extLst>
          </p:nvPr>
        </p:nvGraphicFramePr>
        <p:xfrm>
          <a:off x="6729517" y="3355574"/>
          <a:ext cx="23241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4" name="Equation" r:id="rId13" imgW="1244520" imgH="241200" progId="Equation.DSMT4">
                  <p:embed/>
                </p:oleObj>
              </mc:Choice>
              <mc:Fallback>
                <p:oleObj name="Equation" r:id="rId13" imgW="12445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729517" y="3355574"/>
                        <a:ext cx="2324100" cy="446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2682869"/>
              </p:ext>
            </p:extLst>
          </p:nvPr>
        </p:nvGraphicFramePr>
        <p:xfrm>
          <a:off x="2631580" y="3998574"/>
          <a:ext cx="405765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5" name="Equation" r:id="rId15" imgW="2171520" imgH="279360" progId="Equation.DSMT4">
                  <p:embed/>
                </p:oleObj>
              </mc:Choice>
              <mc:Fallback>
                <p:oleObj name="Equation" r:id="rId15" imgW="21715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31580" y="3998574"/>
                        <a:ext cx="4057650" cy="515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3688363"/>
              </p:ext>
            </p:extLst>
          </p:nvPr>
        </p:nvGraphicFramePr>
        <p:xfrm>
          <a:off x="2631580" y="3998573"/>
          <a:ext cx="332105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6" name="Equation" r:id="rId17" imgW="1777680" imgH="279360" progId="Equation.DSMT4">
                  <p:embed/>
                </p:oleObj>
              </mc:Choice>
              <mc:Fallback>
                <p:oleObj name="Equation" r:id="rId17" imgW="17776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631580" y="3998573"/>
                        <a:ext cx="3321050" cy="515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20502" y="5030652"/>
            <a:ext cx="2960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令                         </a:t>
            </a:r>
          </a:p>
        </p:txBody>
      </p:sp>
      <p:sp>
        <p:nvSpPr>
          <p:cNvPr id="9" name="左大括号 8"/>
          <p:cNvSpPr/>
          <p:nvPr/>
        </p:nvSpPr>
        <p:spPr>
          <a:xfrm>
            <a:off x="1135548" y="4695060"/>
            <a:ext cx="103317" cy="1268879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7303548"/>
              </p:ext>
            </p:extLst>
          </p:nvPr>
        </p:nvGraphicFramePr>
        <p:xfrm>
          <a:off x="1282205" y="4511833"/>
          <a:ext cx="194310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7" name="Equation" r:id="rId19" imgW="1041120" imgH="228600" progId="Equation.DSMT4">
                  <p:embed/>
                </p:oleObj>
              </mc:Choice>
              <mc:Fallback>
                <p:oleObj name="Equation" r:id="rId19" imgW="1041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282205" y="4511833"/>
                        <a:ext cx="1943100" cy="423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707326"/>
              </p:ext>
            </p:extLst>
          </p:nvPr>
        </p:nvGraphicFramePr>
        <p:xfrm>
          <a:off x="1282205" y="5068455"/>
          <a:ext cx="1349375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8" name="Equation" r:id="rId21" imgW="723600" imgH="228600" progId="Equation.DSMT4">
                  <p:embed/>
                </p:oleObj>
              </mc:Choice>
              <mc:Fallback>
                <p:oleObj name="Equation" r:id="rId21" imgW="723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282205" y="5068455"/>
                        <a:ext cx="1349375" cy="423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9373587"/>
              </p:ext>
            </p:extLst>
          </p:nvPr>
        </p:nvGraphicFramePr>
        <p:xfrm>
          <a:off x="1282205" y="5629317"/>
          <a:ext cx="852488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9" name="Equation" r:id="rId23" imgW="457200" imgH="228600" progId="Equation.DSMT4">
                  <p:embed/>
                </p:oleObj>
              </mc:Choice>
              <mc:Fallback>
                <p:oleObj name="Equation" r:id="rId23" imgW="457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282205" y="5629317"/>
                        <a:ext cx="852488" cy="423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3397234" y="4674952"/>
            <a:ext cx="3468371" cy="1316038"/>
            <a:chOff x="3397234" y="4674952"/>
            <a:chExt cx="3468371" cy="1316038"/>
          </a:xfrm>
        </p:grpSpPr>
        <p:graphicFrame>
          <p:nvGraphicFramePr>
            <p:cNvPr id="26" name="对象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706641"/>
                </p:ext>
              </p:extLst>
            </p:nvPr>
          </p:nvGraphicFramePr>
          <p:xfrm>
            <a:off x="3901742" y="4674952"/>
            <a:ext cx="2963863" cy="1316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70" name="Equation" r:id="rId25" imgW="1587240" imgH="711000" progId="Equation.DSMT4">
                    <p:embed/>
                  </p:oleObj>
                </mc:Choice>
                <mc:Fallback>
                  <p:oleObj name="Equation" r:id="rId25" imgW="1587240" imgH="7110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901742" y="4674952"/>
                          <a:ext cx="2963863" cy="13160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文本框 10"/>
            <p:cNvSpPr txBox="1"/>
            <p:nvPr/>
          </p:nvSpPr>
          <p:spPr>
            <a:xfrm>
              <a:off x="3397234" y="5053707"/>
              <a:ext cx="5340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即</a:t>
              </a:r>
            </a:p>
          </p:txBody>
        </p:sp>
      </p:grpSp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611659"/>
              </p:ext>
            </p:extLst>
          </p:nvPr>
        </p:nvGraphicFramePr>
        <p:xfrm>
          <a:off x="6947500" y="4627328"/>
          <a:ext cx="2395537" cy="1363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71" name="Equation" r:id="rId27" imgW="1282680" imgH="736560" progId="Equation.DSMT4">
                  <p:embed/>
                </p:oleObj>
              </mc:Choice>
              <mc:Fallback>
                <p:oleObj name="Equation" r:id="rId27" imgW="12826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947500" y="4627328"/>
                        <a:ext cx="2395537" cy="1363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9446160" y="4955800"/>
            <a:ext cx="2283277" cy="693622"/>
            <a:chOff x="9446160" y="4955800"/>
            <a:chExt cx="2283277" cy="693622"/>
          </a:xfrm>
        </p:grpSpPr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5001885"/>
                </p:ext>
              </p:extLst>
            </p:nvPr>
          </p:nvGraphicFramePr>
          <p:xfrm>
            <a:off x="9551956" y="5068455"/>
            <a:ext cx="2071687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72" name="Equation" r:id="rId29" imgW="1104840" imgH="253800" progId="Equation.DSMT4">
                    <p:embed/>
                  </p:oleObj>
                </mc:Choice>
                <mc:Fallback>
                  <p:oleObj name="Equation" r:id="rId29" imgW="11048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9551956" y="5068455"/>
                          <a:ext cx="2071687" cy="468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圆角矩形 11"/>
            <p:cNvSpPr/>
            <p:nvPr/>
          </p:nvSpPr>
          <p:spPr>
            <a:xfrm>
              <a:off x="9446160" y="4955800"/>
              <a:ext cx="2283277" cy="693622"/>
            </a:xfrm>
            <a:prstGeom prst="roundRect">
              <a:avLst/>
            </a:prstGeom>
            <a:noFill/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8418005"/>
              </p:ext>
            </p:extLst>
          </p:nvPr>
        </p:nvGraphicFramePr>
        <p:xfrm>
          <a:off x="6968641" y="4700583"/>
          <a:ext cx="2371725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73" name="Equation" r:id="rId31" imgW="1269720" imgH="711000" progId="Equation.DSMT4">
                  <p:embed/>
                </p:oleObj>
              </mc:Choice>
              <mc:Fallback>
                <p:oleObj name="Equation" r:id="rId31" imgW="126972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968641" y="4700583"/>
                        <a:ext cx="2371725" cy="1316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7623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二次型化标准形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639308" y="1324450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圆角矩形 2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例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3673200"/>
              </p:ext>
            </p:extLst>
          </p:nvPr>
        </p:nvGraphicFramePr>
        <p:xfrm>
          <a:off x="2302426" y="1324450"/>
          <a:ext cx="33432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4" name="Equation" r:id="rId3" imgW="1790640" imgH="253800" progId="Equation.DSMT4">
                  <p:embed/>
                </p:oleObj>
              </mc:Choice>
              <mc:Fallback>
                <p:oleObj name="Equation" r:id="rId3" imgW="17906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02426" y="1324450"/>
                        <a:ext cx="3343275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8339769" y="3720667"/>
            <a:ext cx="3170544" cy="693622"/>
            <a:chOff x="8941964" y="4955800"/>
            <a:chExt cx="3170544" cy="693622"/>
          </a:xfrm>
        </p:grpSpPr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1882869"/>
                </p:ext>
              </p:extLst>
            </p:nvPr>
          </p:nvGraphicFramePr>
          <p:xfrm>
            <a:off x="9064508" y="5068122"/>
            <a:ext cx="3048000" cy="468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35" name="Equation" r:id="rId5" imgW="1625400" imgH="253800" progId="Equation.DSMT4">
                    <p:embed/>
                  </p:oleObj>
                </mc:Choice>
                <mc:Fallback>
                  <p:oleObj name="Equation" r:id="rId5" imgW="16254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064508" y="5068122"/>
                          <a:ext cx="3048000" cy="4683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圆角矩形 11"/>
            <p:cNvSpPr/>
            <p:nvPr/>
          </p:nvSpPr>
          <p:spPr>
            <a:xfrm>
              <a:off x="8941964" y="4955800"/>
              <a:ext cx="3095740" cy="693622"/>
            </a:xfrm>
            <a:prstGeom prst="roundRect">
              <a:avLst/>
            </a:prstGeom>
            <a:noFill/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2121822"/>
              </p:ext>
            </p:extLst>
          </p:nvPr>
        </p:nvGraphicFramePr>
        <p:xfrm>
          <a:off x="1838421" y="1895780"/>
          <a:ext cx="5212374" cy="129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6" name="Equation" r:id="rId7" imgW="3111480" imgH="711000" progId="Equation.DSMT4">
                  <p:embed/>
                </p:oleObj>
              </mc:Choice>
              <mc:Fallback>
                <p:oleObj name="Equation" r:id="rId7" imgW="311148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38421" y="1895780"/>
                        <a:ext cx="5212374" cy="1299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4212397"/>
              </p:ext>
            </p:extLst>
          </p:nvPr>
        </p:nvGraphicFramePr>
        <p:xfrm>
          <a:off x="1187206" y="3316727"/>
          <a:ext cx="55022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7" name="Equation" r:id="rId9" imgW="2946240" imgH="253800" progId="Equation.DSMT4">
                  <p:embed/>
                </p:oleObj>
              </mc:Choice>
              <mc:Fallback>
                <p:oleObj name="Equation" r:id="rId9" imgW="29462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206" y="3316727"/>
                        <a:ext cx="550227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32826"/>
              </p:ext>
            </p:extLst>
          </p:nvPr>
        </p:nvGraphicFramePr>
        <p:xfrm>
          <a:off x="1832000" y="3898461"/>
          <a:ext cx="329723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8" name="Equation" r:id="rId11" imgW="1765080" imgH="241200" progId="Equation.DSMT4">
                  <p:embed/>
                </p:oleObj>
              </mc:Choice>
              <mc:Fallback>
                <p:oleObj name="Equation" r:id="rId11" imgW="17650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2000" y="3898461"/>
                        <a:ext cx="3297238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92941"/>
              </p:ext>
            </p:extLst>
          </p:nvPr>
        </p:nvGraphicFramePr>
        <p:xfrm>
          <a:off x="1838421" y="4403151"/>
          <a:ext cx="38909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39" name="Equation" r:id="rId13" imgW="2082600" imgH="241200" progId="Equation.DSMT4">
                  <p:embed/>
                </p:oleObj>
              </mc:Choice>
              <mc:Fallback>
                <p:oleObj name="Equation" r:id="rId13" imgW="2082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421" y="4403151"/>
                        <a:ext cx="38909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0171509"/>
              </p:ext>
            </p:extLst>
          </p:nvPr>
        </p:nvGraphicFramePr>
        <p:xfrm>
          <a:off x="884238" y="5053013"/>
          <a:ext cx="7985125" cy="130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0" name="Equation" r:id="rId15" imgW="4825800" imgH="711000" progId="Equation.DSMT4">
                  <p:embed/>
                </p:oleObj>
              </mc:Choice>
              <mc:Fallback>
                <p:oleObj name="Equation" r:id="rId15" imgW="482580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238" y="5053013"/>
                        <a:ext cx="7985125" cy="1300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9612014"/>
              </p:ext>
            </p:extLst>
          </p:nvPr>
        </p:nvGraphicFramePr>
        <p:xfrm>
          <a:off x="7340016" y="1975818"/>
          <a:ext cx="4564062" cy="130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1" name="Equation" r:id="rId17" imgW="2895480" imgH="711000" progId="Equation.DSMT4">
                  <p:embed/>
                </p:oleObj>
              </mc:Choice>
              <mc:Fallback>
                <p:oleObj name="Equation" r:id="rId17" imgW="289548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0016" y="1975818"/>
                        <a:ext cx="4564062" cy="1300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997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二次型化标准形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46260" y="1146137"/>
            <a:ext cx="3924496" cy="696036"/>
            <a:chOff x="745588" y="1310185"/>
            <a:chExt cx="930528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930528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53671" y="1427370"/>
              <a:ext cx="9224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合同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变换化二次型为标准形</a:t>
              </a:r>
            </a:p>
          </p:txBody>
        </p:sp>
      </p:grp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5140827"/>
              </p:ext>
            </p:extLst>
          </p:nvPr>
        </p:nvGraphicFramePr>
        <p:xfrm>
          <a:off x="2416244" y="2120923"/>
          <a:ext cx="78263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7" name="Equation" r:id="rId3" imgW="419040" imgH="241200" progId="Equation.DSMT4">
                  <p:embed/>
                </p:oleObj>
              </mc:Choice>
              <mc:Fallback>
                <p:oleObj name="Equation" r:id="rId3" imgW="4190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6244" y="2120923"/>
                        <a:ext cx="782638" cy="446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2048130" y="2097832"/>
            <a:ext cx="1442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        ）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7880812"/>
              </p:ext>
            </p:extLst>
          </p:nvPr>
        </p:nvGraphicFramePr>
        <p:xfrm>
          <a:off x="1858654" y="2120924"/>
          <a:ext cx="427038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8" name="Equation" r:id="rId5" imgW="228600" imgH="241200" progId="Equation.DSMT4">
                  <p:embed/>
                </p:oleObj>
              </mc:Choice>
              <mc:Fallback>
                <p:oleObj name="Equation" r:id="rId5" imgW="2286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58654" y="2120924"/>
                        <a:ext cx="427038" cy="446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549457" y="2120923"/>
            <a:ext cx="2439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                   ）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304242"/>
              </p:ext>
            </p:extLst>
          </p:nvPr>
        </p:nvGraphicFramePr>
        <p:xfrm>
          <a:off x="3420151" y="2161398"/>
          <a:ext cx="3079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9" name="Equation" r:id="rId7" imgW="164880" imgH="228600" progId="Equation.DSMT4">
                  <p:embed/>
                </p:oleObj>
              </mc:Choice>
              <mc:Fallback>
                <p:oleObj name="Equation" r:id="rId7" imgW="164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20151" y="2161398"/>
                        <a:ext cx="307975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828740" y="2081381"/>
            <a:ext cx="528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88608" y="2085972"/>
            <a:ext cx="538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943677"/>
              </p:ext>
            </p:extLst>
          </p:nvPr>
        </p:nvGraphicFramePr>
        <p:xfrm>
          <a:off x="4277891" y="2161398"/>
          <a:ext cx="3079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0" name="Equation" r:id="rId9" imgW="164880" imgH="228600" progId="Equation.DSMT4">
                  <p:embed/>
                </p:oleObj>
              </mc:Choice>
              <mc:Fallback>
                <p:oleObj name="Equation" r:id="rId9" imgW="164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77891" y="2161398"/>
                        <a:ext cx="307975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3458702"/>
              </p:ext>
            </p:extLst>
          </p:nvPr>
        </p:nvGraphicFramePr>
        <p:xfrm>
          <a:off x="967821" y="2120924"/>
          <a:ext cx="427037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1" name="Equation" r:id="rId11" imgW="228600" imgH="241200" progId="Equation.DSMT4">
                  <p:embed/>
                </p:oleObj>
              </mc:Choice>
              <mc:Fallback>
                <p:oleObj name="Equation" r:id="rId11" imgW="2286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67821" y="2120924"/>
                        <a:ext cx="427037" cy="446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810880"/>
              </p:ext>
            </p:extLst>
          </p:nvPr>
        </p:nvGraphicFramePr>
        <p:xfrm>
          <a:off x="4613344" y="2199355"/>
          <a:ext cx="522287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2" name="Equation" r:id="rId13" imgW="279360" imgH="164880" progId="Equation.DSMT4">
                  <p:embed/>
                </p:oleObj>
              </mc:Choice>
              <mc:Fallback>
                <p:oleObj name="Equation" r:id="rId13" imgW="27936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613344" y="2199355"/>
                        <a:ext cx="522287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直接箭头连接符 16"/>
          <p:cNvCxnSpPr/>
          <p:nvPr/>
        </p:nvCxnSpPr>
        <p:spPr>
          <a:xfrm flipV="1">
            <a:off x="5135631" y="2367340"/>
            <a:ext cx="88663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/>
          <p:cNvGrpSpPr/>
          <p:nvPr/>
        </p:nvGrpSpPr>
        <p:grpSpPr>
          <a:xfrm>
            <a:off x="6197845" y="1881157"/>
            <a:ext cx="3367314" cy="477249"/>
            <a:chOff x="6022261" y="2289103"/>
            <a:chExt cx="3367314" cy="477249"/>
          </a:xfrm>
        </p:grpSpPr>
        <p:sp>
          <p:nvSpPr>
            <p:cNvPr id="25" name="圆角矩形 24"/>
            <p:cNvSpPr/>
            <p:nvPr/>
          </p:nvSpPr>
          <p:spPr>
            <a:xfrm>
              <a:off x="6022261" y="2289103"/>
              <a:ext cx="3210229" cy="477249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022261" y="2296894"/>
              <a:ext cx="33673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每一层保持对称与合同</a:t>
              </a:r>
            </a:p>
          </p:txBody>
        </p:sp>
      </p:grp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9336784"/>
              </p:ext>
            </p:extLst>
          </p:nvPr>
        </p:nvGraphicFramePr>
        <p:xfrm>
          <a:off x="3279686" y="3093409"/>
          <a:ext cx="284162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3" name="Equation" r:id="rId15" imgW="152280" imgH="164880" progId="Equation.DSMT4">
                  <p:embed/>
                </p:oleObj>
              </mc:Choice>
              <mc:Fallback>
                <p:oleObj name="Equation" r:id="rId15" imgW="1522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279686" y="3093409"/>
                        <a:ext cx="284162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2351379"/>
              </p:ext>
            </p:extLst>
          </p:nvPr>
        </p:nvGraphicFramePr>
        <p:xfrm>
          <a:off x="3534259" y="3074353"/>
          <a:ext cx="94773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4" name="Equation" r:id="rId17" imgW="507960" imgH="228600" progId="Equation.DSMT4">
                  <p:embed/>
                </p:oleObj>
              </mc:Choice>
              <mc:Fallback>
                <p:oleObj name="Equation" r:id="rId17" imgW="507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534259" y="3074353"/>
                        <a:ext cx="947737" cy="425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3101745"/>
              </p:ext>
            </p:extLst>
          </p:nvPr>
        </p:nvGraphicFramePr>
        <p:xfrm>
          <a:off x="4604758" y="3133090"/>
          <a:ext cx="498475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5" name="Equation" r:id="rId19" imgW="266400" imgH="164880" progId="Equation.DSMT4">
                  <p:embed/>
                </p:oleObj>
              </mc:Choice>
              <mc:Fallback>
                <p:oleObj name="Equation" r:id="rId19" imgW="26640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604758" y="3133090"/>
                        <a:ext cx="498475" cy="307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左大括号 23"/>
          <p:cNvSpPr/>
          <p:nvPr/>
        </p:nvSpPr>
        <p:spPr>
          <a:xfrm>
            <a:off x="800427" y="2255896"/>
            <a:ext cx="150005" cy="973435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6197845" y="2494520"/>
            <a:ext cx="3635434" cy="489761"/>
            <a:chOff x="6022261" y="2276591"/>
            <a:chExt cx="3635434" cy="489761"/>
          </a:xfrm>
        </p:grpSpPr>
        <p:sp>
          <p:nvSpPr>
            <p:cNvPr id="28" name="圆角矩形 27"/>
            <p:cNvSpPr/>
            <p:nvPr/>
          </p:nvSpPr>
          <p:spPr>
            <a:xfrm>
              <a:off x="6022261" y="2289103"/>
              <a:ext cx="3210229" cy="477249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290381" y="2276591"/>
              <a:ext cx="33673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本质与配方法一致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826861" y="4407918"/>
            <a:ext cx="1028234" cy="651368"/>
            <a:chOff x="446399" y="2137359"/>
            <a:chExt cx="1037243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1" name="圆角矩形 30"/>
            <p:cNvSpPr/>
            <p:nvPr/>
          </p:nvSpPr>
          <p:spPr>
            <a:xfrm>
              <a:off x="506043" y="2137359"/>
              <a:ext cx="977599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446399" y="2232210"/>
              <a:ext cx="10119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方 法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3372777" y="4407918"/>
            <a:ext cx="1023993" cy="1668494"/>
            <a:chOff x="2067140" y="4036847"/>
            <a:chExt cx="1023993" cy="1668494"/>
          </a:xfrm>
        </p:grpSpPr>
        <p:sp>
          <p:nvSpPr>
            <p:cNvPr id="33" name="左中括号 32"/>
            <p:cNvSpPr/>
            <p:nvPr/>
          </p:nvSpPr>
          <p:spPr>
            <a:xfrm>
              <a:off x="2067140" y="4036847"/>
              <a:ext cx="222816" cy="1668494"/>
            </a:xfrm>
            <a:prstGeom prst="leftBracke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右中括号 34"/>
            <p:cNvSpPr/>
            <p:nvPr/>
          </p:nvSpPr>
          <p:spPr>
            <a:xfrm>
              <a:off x="2807563" y="4036847"/>
              <a:ext cx="283570" cy="1668494"/>
            </a:xfrm>
            <a:prstGeom prst="rightBracke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2122783" y="4871094"/>
              <a:ext cx="882208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8" name="对象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4379414"/>
                </p:ext>
              </p:extLst>
            </p:nvPr>
          </p:nvGraphicFramePr>
          <p:xfrm>
            <a:off x="2323051" y="4131698"/>
            <a:ext cx="446295" cy="4836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16" name="Equation" r:id="rId21" imgW="152280" imgH="164880" progId="Equation.DSMT4">
                    <p:embed/>
                  </p:oleObj>
                </mc:Choice>
                <mc:Fallback>
                  <p:oleObj name="Equation" r:id="rId21" imgW="1522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323051" y="4131698"/>
                          <a:ext cx="446295" cy="4836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对象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393727"/>
                </p:ext>
              </p:extLst>
            </p:nvPr>
          </p:nvGraphicFramePr>
          <p:xfrm>
            <a:off x="2282341" y="5049508"/>
            <a:ext cx="446295" cy="4836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17" name="Equation" r:id="rId23" imgW="152280" imgH="164880" progId="Equation.DSMT4">
                    <p:embed/>
                  </p:oleObj>
                </mc:Choice>
                <mc:Fallback>
                  <p:oleObj name="Equation" r:id="rId23" imgW="1522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282341" y="5049508"/>
                          <a:ext cx="446295" cy="4836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41" name="直接箭头连接符 40"/>
          <p:cNvCxnSpPr/>
          <p:nvPr/>
        </p:nvCxnSpPr>
        <p:spPr>
          <a:xfrm>
            <a:off x="4504519" y="5242165"/>
            <a:ext cx="2177217" cy="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/>
        </p:nvGrpSpPr>
        <p:grpSpPr>
          <a:xfrm>
            <a:off x="4725788" y="4595185"/>
            <a:ext cx="1528557" cy="491303"/>
            <a:chOff x="446399" y="2216183"/>
            <a:chExt cx="813404" cy="4913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3" name="圆角矩形 42"/>
            <p:cNvSpPr/>
            <p:nvPr/>
          </p:nvSpPr>
          <p:spPr>
            <a:xfrm>
              <a:off x="506044" y="2216183"/>
              <a:ext cx="753759" cy="491303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6399" y="2232210"/>
              <a:ext cx="8134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合同变换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5156630" y="5411454"/>
            <a:ext cx="746702" cy="491303"/>
            <a:chOff x="506044" y="2216183"/>
            <a:chExt cx="397349" cy="4913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6" name="圆角矩形 45"/>
            <p:cNvSpPr/>
            <p:nvPr/>
          </p:nvSpPr>
          <p:spPr>
            <a:xfrm>
              <a:off x="506044" y="2216183"/>
              <a:ext cx="397349" cy="491303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517438" y="2231001"/>
              <a:ext cx="3514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列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6900023" y="4407918"/>
            <a:ext cx="1023993" cy="1668494"/>
            <a:chOff x="5594386" y="4036847"/>
            <a:chExt cx="1023993" cy="1668494"/>
          </a:xfrm>
        </p:grpSpPr>
        <p:sp>
          <p:nvSpPr>
            <p:cNvPr id="48" name="左中括号 47"/>
            <p:cNvSpPr/>
            <p:nvPr/>
          </p:nvSpPr>
          <p:spPr>
            <a:xfrm>
              <a:off x="5594386" y="4036847"/>
              <a:ext cx="222816" cy="1668494"/>
            </a:xfrm>
            <a:prstGeom prst="leftBracke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右中括号 48"/>
            <p:cNvSpPr/>
            <p:nvPr/>
          </p:nvSpPr>
          <p:spPr>
            <a:xfrm>
              <a:off x="6334809" y="4036847"/>
              <a:ext cx="283570" cy="1668494"/>
            </a:xfrm>
            <a:prstGeom prst="rightBracket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0" name="直接连接符 49"/>
            <p:cNvCxnSpPr/>
            <p:nvPr/>
          </p:nvCxnSpPr>
          <p:spPr>
            <a:xfrm>
              <a:off x="5650029" y="4871094"/>
              <a:ext cx="882208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1" name="对象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6395734"/>
                </p:ext>
              </p:extLst>
            </p:nvPr>
          </p:nvGraphicFramePr>
          <p:xfrm>
            <a:off x="5850297" y="4131698"/>
            <a:ext cx="446295" cy="4836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18" name="Equation" r:id="rId25" imgW="152280" imgH="164880" progId="Equation.DSMT4">
                    <p:embed/>
                  </p:oleObj>
                </mc:Choice>
                <mc:Fallback>
                  <p:oleObj name="Equation" r:id="rId25" imgW="1522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850297" y="4131698"/>
                          <a:ext cx="446295" cy="4836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" name="对象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6530203"/>
                </p:ext>
              </p:extLst>
            </p:nvPr>
          </p:nvGraphicFramePr>
          <p:xfrm>
            <a:off x="5809587" y="5049508"/>
            <a:ext cx="446295" cy="4836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19" name="Equation" r:id="rId27" imgW="152280" imgH="164880" progId="Equation.DSMT4">
                    <p:embed/>
                  </p:oleObj>
                </mc:Choice>
                <mc:Fallback>
                  <p:oleObj name="Equation" r:id="rId27" imgW="1522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5809587" y="5049508"/>
                          <a:ext cx="446295" cy="4836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" name="组合 54"/>
          <p:cNvGrpSpPr/>
          <p:nvPr/>
        </p:nvGrpSpPr>
        <p:grpSpPr>
          <a:xfrm>
            <a:off x="547709" y="3643228"/>
            <a:ext cx="2847902" cy="468520"/>
            <a:chOff x="1910175" y="2222631"/>
            <a:chExt cx="2847902" cy="468520"/>
          </a:xfrm>
        </p:grpSpPr>
        <p:sp>
          <p:nvSpPr>
            <p:cNvPr id="56" name="文本框 55"/>
            <p:cNvSpPr txBox="1"/>
            <p:nvPr/>
          </p:nvSpPr>
          <p:spPr>
            <a:xfrm>
              <a:off x="1910175" y="2222631"/>
              <a:ext cx="2847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于是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       ，</a:t>
              </a:r>
            </a:p>
          </p:txBody>
        </p:sp>
        <p:graphicFrame>
          <p:nvGraphicFramePr>
            <p:cNvPr id="57" name="对象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9842416"/>
                </p:ext>
              </p:extLst>
            </p:nvPr>
          </p:nvGraphicFramePr>
          <p:xfrm>
            <a:off x="2649444" y="2222838"/>
            <a:ext cx="1857375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20" name="Equation" r:id="rId29" imgW="990360" imgH="253800" progId="Equation.DSMT4">
                    <p:embed/>
                  </p:oleObj>
                </mc:Choice>
                <mc:Fallback>
                  <p:oleObj name="Equation" r:id="rId29" imgW="9903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2649444" y="2222838"/>
                          <a:ext cx="1857375" cy="468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组合 57"/>
          <p:cNvGrpSpPr/>
          <p:nvPr/>
        </p:nvGrpSpPr>
        <p:grpSpPr>
          <a:xfrm>
            <a:off x="3372777" y="3642655"/>
            <a:ext cx="3312484" cy="507204"/>
            <a:chOff x="1910175" y="2222631"/>
            <a:chExt cx="3312484" cy="507204"/>
          </a:xfrm>
        </p:grpSpPr>
        <p:sp>
          <p:nvSpPr>
            <p:cNvPr id="59" name="文本框 58"/>
            <p:cNvSpPr txBox="1"/>
            <p:nvPr/>
          </p:nvSpPr>
          <p:spPr>
            <a:xfrm>
              <a:off x="1910175" y="2222631"/>
              <a:ext cx="28479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令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       </a:t>
              </a:r>
            </a:p>
          </p:txBody>
        </p:sp>
        <p:graphicFrame>
          <p:nvGraphicFramePr>
            <p:cNvPr id="60" name="对象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2448583"/>
                </p:ext>
              </p:extLst>
            </p:nvPr>
          </p:nvGraphicFramePr>
          <p:xfrm>
            <a:off x="2388972" y="2261522"/>
            <a:ext cx="2833687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21" name="Equation" r:id="rId31" imgW="1511280" imgH="253800" progId="Equation.DSMT4">
                    <p:embed/>
                  </p:oleObj>
                </mc:Choice>
                <mc:Fallback>
                  <p:oleObj name="Equation" r:id="rId31" imgW="15112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2388972" y="2261522"/>
                          <a:ext cx="2833687" cy="468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11530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500"/>
                            </p:stCondLst>
                            <p:childTnLst>
                              <p:par>
                                <p:cTn id="13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1" grpId="0"/>
      <p:bldP spid="2" grpId="0"/>
      <p:bldP spid="3" grpId="0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二次型化标准形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20502" y="1162597"/>
            <a:ext cx="4249802" cy="948182"/>
            <a:chOff x="745588" y="1310185"/>
            <a:chExt cx="865977" cy="94818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8" y="1310185"/>
              <a:ext cx="865977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53671" y="1427370"/>
              <a:ext cx="85789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合同变换化二次型为标准形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20502" y="1975818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圆角矩形 2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例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3343627"/>
              </p:ext>
            </p:extLst>
          </p:nvPr>
        </p:nvGraphicFramePr>
        <p:xfrm>
          <a:off x="1978284" y="2066552"/>
          <a:ext cx="54086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75" name="Equation" r:id="rId3" imgW="2895480" imgH="253800" progId="Equation.DSMT4">
                  <p:embed/>
                </p:oleObj>
              </mc:Choice>
              <mc:Fallback>
                <p:oleObj name="Equation" r:id="rId3" imgW="28954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8284" y="2066552"/>
                        <a:ext cx="5408613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712705"/>
              </p:ext>
            </p:extLst>
          </p:nvPr>
        </p:nvGraphicFramePr>
        <p:xfrm>
          <a:off x="1269312" y="5412780"/>
          <a:ext cx="3081338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76" name="Equation" r:id="rId5" imgW="1650960" imgH="711000" progId="Equation.DSMT4">
                  <p:embed/>
                </p:oleObj>
              </mc:Choice>
              <mc:Fallback>
                <p:oleObj name="Equation" r:id="rId5" imgW="165096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69312" y="5412780"/>
                        <a:ext cx="3081338" cy="1316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5186667" y="5759591"/>
            <a:ext cx="2283277" cy="693622"/>
            <a:chOff x="9446160" y="4955800"/>
            <a:chExt cx="2283277" cy="693622"/>
          </a:xfrm>
        </p:grpSpPr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1067002"/>
                </p:ext>
              </p:extLst>
            </p:nvPr>
          </p:nvGraphicFramePr>
          <p:xfrm>
            <a:off x="9551956" y="5068455"/>
            <a:ext cx="2071687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77" name="Equation" r:id="rId7" imgW="1104840" imgH="253800" progId="Equation.DSMT4">
                    <p:embed/>
                  </p:oleObj>
                </mc:Choice>
                <mc:Fallback>
                  <p:oleObj name="Equation" r:id="rId7" imgW="11048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551956" y="5068455"/>
                          <a:ext cx="2071687" cy="468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圆角矩形 11"/>
            <p:cNvSpPr/>
            <p:nvPr/>
          </p:nvSpPr>
          <p:spPr>
            <a:xfrm>
              <a:off x="9446160" y="4955800"/>
              <a:ext cx="2283277" cy="693622"/>
            </a:xfrm>
            <a:prstGeom prst="roundRect">
              <a:avLst/>
            </a:prstGeom>
            <a:noFill/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921125"/>
              </p:ext>
            </p:extLst>
          </p:nvPr>
        </p:nvGraphicFramePr>
        <p:xfrm>
          <a:off x="969485" y="2631249"/>
          <a:ext cx="3481330" cy="2458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78" name="Equation" r:id="rId9" imgW="1168200" imgH="1346040" progId="Equation.DSMT4">
                  <p:embed/>
                </p:oleObj>
              </mc:Choice>
              <mc:Fallback>
                <p:oleObj name="Equation" r:id="rId9" imgW="1168200" imgH="1346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69485" y="2631249"/>
                        <a:ext cx="3481330" cy="24585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165229"/>
              </p:ext>
            </p:extLst>
          </p:nvPr>
        </p:nvGraphicFramePr>
        <p:xfrm>
          <a:off x="4439085" y="2627186"/>
          <a:ext cx="1917647" cy="2440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79" name="Equation" r:id="rId11" imgW="1054080" imgH="1346040" progId="Equation.DSMT4">
                  <p:embed/>
                </p:oleObj>
              </mc:Choice>
              <mc:Fallback>
                <p:oleObj name="Equation" r:id="rId11" imgW="1054080" imgH="1346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39085" y="2627186"/>
                        <a:ext cx="1917647" cy="24405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914213"/>
              </p:ext>
            </p:extLst>
          </p:nvPr>
        </p:nvGraphicFramePr>
        <p:xfrm>
          <a:off x="6422069" y="2627186"/>
          <a:ext cx="1941513" cy="2440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0" name="Equation" r:id="rId13" imgW="1066680" imgH="1346040" progId="Equation.DSMT4">
                  <p:embed/>
                </p:oleObj>
              </mc:Choice>
              <mc:Fallback>
                <p:oleObj name="Equation" r:id="rId13" imgW="1066680" imgH="1346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2069" y="2627186"/>
                        <a:ext cx="1941513" cy="24405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0785997"/>
              </p:ext>
            </p:extLst>
          </p:nvPr>
        </p:nvGraphicFramePr>
        <p:xfrm>
          <a:off x="8464550" y="2627313"/>
          <a:ext cx="1963738" cy="2473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81" name="Equation" r:id="rId15" imgW="1079280" imgH="1346040" progId="Equation.DSMT4">
                  <p:embed/>
                </p:oleObj>
              </mc:Choice>
              <mc:Fallback>
                <p:oleObj name="Equation" r:id="rId15" imgW="1079280" imgH="1346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4550" y="2627313"/>
                        <a:ext cx="1963738" cy="24734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5184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二次型化标准形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637567" y="1108431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圆角矩形 2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例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9882421"/>
              </p:ext>
            </p:extLst>
          </p:nvPr>
        </p:nvGraphicFramePr>
        <p:xfrm>
          <a:off x="2027004" y="1108431"/>
          <a:ext cx="33432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4" name="Equation" r:id="rId3" imgW="1790640" imgH="253800" progId="Equation.DSMT4">
                  <p:embed/>
                </p:oleObj>
              </mc:Choice>
              <mc:Fallback>
                <p:oleObj name="Equation" r:id="rId3" imgW="17906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27004" y="1108431"/>
                        <a:ext cx="3343275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3106756" y="5965294"/>
            <a:ext cx="3217844" cy="693622"/>
            <a:chOff x="3400480" y="4955800"/>
            <a:chExt cx="3217844" cy="693622"/>
          </a:xfrm>
        </p:grpSpPr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1314414"/>
                </p:ext>
              </p:extLst>
            </p:nvPr>
          </p:nvGraphicFramePr>
          <p:xfrm>
            <a:off x="3498887" y="5069044"/>
            <a:ext cx="3119437" cy="468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35" name="Equation" r:id="rId5" imgW="1663560" imgH="253800" progId="Equation.DSMT4">
                    <p:embed/>
                  </p:oleObj>
                </mc:Choice>
                <mc:Fallback>
                  <p:oleObj name="Equation" r:id="rId5" imgW="16635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498887" y="5069044"/>
                          <a:ext cx="3119437" cy="4683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圆角矩形 11"/>
            <p:cNvSpPr/>
            <p:nvPr/>
          </p:nvSpPr>
          <p:spPr>
            <a:xfrm>
              <a:off x="3400480" y="4955800"/>
              <a:ext cx="3095740" cy="693622"/>
            </a:xfrm>
            <a:prstGeom prst="roundRect">
              <a:avLst/>
            </a:prstGeom>
            <a:noFill/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198032"/>
              </p:ext>
            </p:extLst>
          </p:nvPr>
        </p:nvGraphicFramePr>
        <p:xfrm>
          <a:off x="3483358" y="4623965"/>
          <a:ext cx="1969992" cy="130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6" name="Equation" r:id="rId7" imgW="1473120" imgH="711000" progId="Equation.DSMT4">
                  <p:embed/>
                </p:oleObj>
              </mc:Choice>
              <mc:Fallback>
                <p:oleObj name="Equation" r:id="rId7" imgW="147312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3358" y="4623965"/>
                        <a:ext cx="1969992" cy="1300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7935748"/>
              </p:ext>
            </p:extLst>
          </p:nvPr>
        </p:nvGraphicFramePr>
        <p:xfrm>
          <a:off x="637568" y="1591627"/>
          <a:ext cx="2502240" cy="2528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7" name="Equation" r:id="rId9" imgW="1307880" imgH="1346040" progId="Equation.DSMT4">
                  <p:embed/>
                </p:oleObj>
              </mc:Choice>
              <mc:Fallback>
                <p:oleObj name="Equation" r:id="rId9" imgW="1307880" imgH="1346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568" y="1591627"/>
                        <a:ext cx="2502240" cy="25286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1010129"/>
              </p:ext>
            </p:extLst>
          </p:nvPr>
        </p:nvGraphicFramePr>
        <p:xfrm>
          <a:off x="3182527" y="1679761"/>
          <a:ext cx="1918283" cy="2429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8" name="Equation" r:id="rId11" imgW="1054080" imgH="1346040" progId="Equation.DSMT4">
                  <p:embed/>
                </p:oleObj>
              </mc:Choice>
              <mc:Fallback>
                <p:oleObj name="Equation" r:id="rId11" imgW="1054080" imgH="1346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2527" y="1679761"/>
                        <a:ext cx="1918283" cy="24295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6256629"/>
              </p:ext>
            </p:extLst>
          </p:nvPr>
        </p:nvGraphicFramePr>
        <p:xfrm>
          <a:off x="5093457" y="1564394"/>
          <a:ext cx="2376487" cy="2820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39" name="Equation" r:id="rId13" imgW="1130040" imgH="2031840" progId="Equation.DSMT4">
                  <p:embed/>
                </p:oleObj>
              </mc:Choice>
              <mc:Fallback>
                <p:oleObj name="Equation" r:id="rId13" imgW="1130040" imgH="2031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3457" y="1564394"/>
                        <a:ext cx="2376487" cy="2820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4704224"/>
              </p:ext>
            </p:extLst>
          </p:nvPr>
        </p:nvGraphicFramePr>
        <p:xfrm>
          <a:off x="7469944" y="1448928"/>
          <a:ext cx="2376487" cy="282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0" name="Equation" r:id="rId15" imgW="1130040" imgH="2031840" progId="Equation.DSMT4">
                  <p:embed/>
                </p:oleObj>
              </mc:Choice>
              <mc:Fallback>
                <p:oleObj name="Equation" r:id="rId15" imgW="1130040" imgH="2031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9944" y="1448928"/>
                        <a:ext cx="2376487" cy="282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66490"/>
              </p:ext>
            </p:extLst>
          </p:nvPr>
        </p:nvGraphicFramePr>
        <p:xfrm>
          <a:off x="9732331" y="1448928"/>
          <a:ext cx="2349500" cy="282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1" name="Equation" r:id="rId17" imgW="1117440" imgH="2031840" progId="Equation.DSMT4">
                  <p:embed/>
                </p:oleObj>
              </mc:Choice>
              <mc:Fallback>
                <p:oleObj name="Equation" r:id="rId17" imgW="1117440" imgH="2031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32331" y="1448928"/>
                        <a:ext cx="2349500" cy="282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8751926"/>
              </p:ext>
            </p:extLst>
          </p:nvPr>
        </p:nvGraphicFramePr>
        <p:xfrm>
          <a:off x="946150" y="4153359"/>
          <a:ext cx="1962303" cy="2390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2" name="Equation" r:id="rId19" imgW="1066680" imgH="1346040" progId="Equation.DSMT4">
                  <p:embed/>
                </p:oleObj>
              </mc:Choice>
              <mc:Fallback>
                <p:oleObj name="Equation" r:id="rId19" imgW="1066680" imgH="1346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150" y="4153359"/>
                        <a:ext cx="1962303" cy="23906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07490"/>
              </p:ext>
            </p:extLst>
          </p:nvPr>
        </p:nvGraphicFramePr>
        <p:xfrm>
          <a:off x="6443358" y="3732064"/>
          <a:ext cx="2072682" cy="301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3" name="Equation" r:id="rId21" imgW="1536480" imgH="2539800" progId="Equation.DSMT4">
                  <p:embed/>
                </p:oleObj>
              </mc:Choice>
              <mc:Fallback>
                <p:oleObj name="Equation" r:id="rId21" imgW="1536480" imgH="253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358" y="3732064"/>
                        <a:ext cx="2072682" cy="301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7787636"/>
              </p:ext>
            </p:extLst>
          </p:nvPr>
        </p:nvGraphicFramePr>
        <p:xfrm>
          <a:off x="9231313" y="4155926"/>
          <a:ext cx="2388601" cy="1897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4" name="Equation" r:id="rId23" imgW="1942920" imgH="1320480" progId="Equation.DSMT4">
                  <p:embed/>
                </p:oleObj>
              </mc:Choice>
              <mc:Fallback>
                <p:oleObj name="Equation" r:id="rId23" imgW="1942920" imgH="1320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1313" y="4155926"/>
                        <a:ext cx="2388601" cy="18975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/>
          <p:cNvGrpSpPr/>
          <p:nvPr/>
        </p:nvGrpSpPr>
        <p:grpSpPr>
          <a:xfrm>
            <a:off x="8735696" y="6092429"/>
            <a:ext cx="3095740" cy="693622"/>
            <a:chOff x="3400480" y="4955800"/>
            <a:chExt cx="3095740" cy="693622"/>
          </a:xfrm>
        </p:grpSpPr>
        <p:graphicFrame>
          <p:nvGraphicFramePr>
            <p:cNvPr id="27" name="对象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8431862"/>
                </p:ext>
              </p:extLst>
            </p:nvPr>
          </p:nvGraphicFramePr>
          <p:xfrm>
            <a:off x="3724647" y="5069044"/>
            <a:ext cx="2667000" cy="468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45" name="Equation" r:id="rId25" imgW="1422360" imgH="253800" progId="Equation.DSMT4">
                    <p:embed/>
                  </p:oleObj>
                </mc:Choice>
                <mc:Fallback>
                  <p:oleObj name="Equation" r:id="rId25" imgW="14223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724647" y="5069044"/>
                          <a:ext cx="2667000" cy="4683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圆角矩形 29"/>
            <p:cNvSpPr/>
            <p:nvPr/>
          </p:nvSpPr>
          <p:spPr>
            <a:xfrm>
              <a:off x="3400480" y="4955800"/>
              <a:ext cx="3095740" cy="693622"/>
            </a:xfrm>
            <a:prstGeom prst="roundRect">
              <a:avLst/>
            </a:prstGeom>
            <a:noFill/>
            <a:ln w="3810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95091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6"/>
          <p:cNvSpPr txBox="1">
            <a:spLocks noChangeArrowheads="1"/>
          </p:cNvSpPr>
          <p:nvPr/>
        </p:nvSpPr>
        <p:spPr bwMode="auto">
          <a:xfrm>
            <a:off x="814917" y="914401"/>
            <a:ext cx="8703733" cy="93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70000"/>
              </a:lnSpc>
              <a:buClr>
                <a:schemeClr val="accent2"/>
              </a:buClr>
              <a:buFont typeface="Wingdings" pitchFamily="2" charset="2"/>
              <a:buChar char="p"/>
            </a:pPr>
            <a:r>
              <a:rPr lang="zh-CN" altLang="en-US" sz="3200"/>
              <a:t>  化二次型为标准型</a:t>
            </a:r>
          </a:p>
        </p:txBody>
      </p:sp>
      <p:sp>
        <p:nvSpPr>
          <p:cNvPr id="16387" name="Rectangle 13"/>
          <p:cNvSpPr>
            <a:spLocks noChangeArrowheads="1"/>
          </p:cNvSpPr>
          <p:nvPr/>
        </p:nvSpPr>
        <p:spPr bwMode="auto">
          <a:xfrm>
            <a:off x="0" y="-28467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316" name="Text Box 6"/>
          <p:cNvSpPr txBox="1">
            <a:spLocks noChangeArrowheads="1"/>
          </p:cNvSpPr>
          <p:nvPr/>
        </p:nvSpPr>
        <p:spPr bwMode="auto">
          <a:xfrm>
            <a:off x="1367367" y="2205038"/>
            <a:ext cx="40640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70000"/>
              </a:lnSpc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/>
              <a:t>  </a:t>
            </a:r>
            <a:r>
              <a:rPr lang="zh-CN" altLang="en-US">
                <a:solidFill>
                  <a:srgbClr val="FF0000"/>
                </a:solidFill>
              </a:rPr>
              <a:t>正交替换法</a:t>
            </a:r>
          </a:p>
        </p:txBody>
      </p:sp>
      <p:sp>
        <p:nvSpPr>
          <p:cNvPr id="16389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endParaRPr lang="zh-CN" altLang="en-US" sz="2000" dirty="0"/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1350433" y="3317876"/>
            <a:ext cx="4064000" cy="824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70000"/>
              </a:lnSpc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 dirty="0"/>
              <a:t>  配方法</a:t>
            </a: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1350433" y="4365625"/>
            <a:ext cx="8415867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70000"/>
              </a:lnSpc>
              <a:buClr>
                <a:schemeClr val="accent2"/>
              </a:buClr>
              <a:buFont typeface="Wingdings" pitchFamily="2" charset="2"/>
              <a:buChar char="Ø"/>
            </a:pPr>
            <a:r>
              <a:rPr lang="zh-CN" altLang="en-US"/>
              <a:t>  合同变换法（初等变换法）</a:t>
            </a:r>
          </a:p>
        </p:txBody>
      </p:sp>
      <p:sp>
        <p:nvSpPr>
          <p:cNvPr id="5" name="棱台 4"/>
          <p:cNvSpPr/>
          <p:nvPr/>
        </p:nvSpPr>
        <p:spPr>
          <a:xfrm>
            <a:off x="5611285" y="2344739"/>
            <a:ext cx="1348316" cy="644525"/>
          </a:xfrm>
          <a:prstGeom prst="bevel">
            <a:avLst>
              <a:gd name="adj" fmla="val 2180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000" dirty="0"/>
              <a:t>保形</a:t>
            </a:r>
          </a:p>
        </p:txBody>
      </p:sp>
      <p:sp>
        <p:nvSpPr>
          <p:cNvPr id="20" name="棱台 19"/>
          <p:cNvSpPr/>
          <p:nvPr/>
        </p:nvSpPr>
        <p:spPr>
          <a:xfrm>
            <a:off x="7609418" y="2347914"/>
            <a:ext cx="1348316" cy="644525"/>
          </a:xfrm>
          <a:prstGeom prst="bevel">
            <a:avLst>
              <a:gd name="adj" fmla="val 21807"/>
            </a:avLst>
          </a:prstGeom>
          <a:solidFill>
            <a:srgbClr val="0070C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000" dirty="0"/>
              <a:t>复杂</a:t>
            </a:r>
          </a:p>
        </p:txBody>
      </p:sp>
      <p:sp>
        <p:nvSpPr>
          <p:cNvPr id="21" name="棱台 20"/>
          <p:cNvSpPr/>
          <p:nvPr/>
        </p:nvSpPr>
        <p:spPr>
          <a:xfrm>
            <a:off x="9156701" y="3492501"/>
            <a:ext cx="1350433" cy="646113"/>
          </a:xfrm>
          <a:prstGeom prst="bevel">
            <a:avLst>
              <a:gd name="adj" fmla="val 2180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000" dirty="0"/>
              <a:t>易算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916333" y="3549650"/>
          <a:ext cx="787400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1" name="Equation" r:id="rId3" imgW="177480" imgH="253800" progId="Equation.DSMT4">
                  <p:embed/>
                </p:oleObj>
              </mc:Choice>
              <mc:Fallback>
                <p:oleObj name="Equation" r:id="rId3" imgW="1774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6333" y="3549650"/>
                        <a:ext cx="787400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棱台 22"/>
          <p:cNvSpPr/>
          <p:nvPr/>
        </p:nvSpPr>
        <p:spPr>
          <a:xfrm>
            <a:off x="9163052" y="4295776"/>
            <a:ext cx="1350433" cy="646113"/>
          </a:xfrm>
          <a:prstGeom prst="bevel">
            <a:avLst>
              <a:gd name="adj" fmla="val 21807"/>
            </a:avLst>
          </a:prstGeom>
          <a:solidFill>
            <a:srgbClr val="0070C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000" dirty="0"/>
              <a:t>变形</a:t>
            </a:r>
          </a:p>
        </p:txBody>
      </p:sp>
      <p:sp>
        <p:nvSpPr>
          <p:cNvPr id="13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二次型化标准形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691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/>
      <p:bldP spid="15" grpId="0"/>
      <p:bldP spid="16" grpId="0"/>
      <p:bldP spid="5" grpId="0" animBg="1"/>
      <p:bldP spid="20" grpId="0" animBg="1"/>
      <p:bldP spid="21" grpId="0" animBg="1"/>
      <p:bldP spid="23" grpId="0" animBg="1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二次型化标准形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34735" y="1158691"/>
            <a:ext cx="1199113" cy="696036"/>
            <a:chOff x="745588" y="1310185"/>
            <a:chExt cx="284319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8" y="1310185"/>
              <a:ext cx="284319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71331" y="1427370"/>
              <a:ext cx="2401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小  结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15737" y="2060403"/>
            <a:ext cx="785785" cy="651368"/>
            <a:chOff x="506043" y="2137359"/>
            <a:chExt cx="79267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圆角矩形 28"/>
            <p:cNvSpPr/>
            <p:nvPr/>
          </p:nvSpPr>
          <p:spPr>
            <a:xfrm>
              <a:off x="506043" y="2137359"/>
              <a:ext cx="79267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37295" y="2247024"/>
              <a:ext cx="7614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1531853" y="2181605"/>
            <a:ext cx="50743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标准形与变换密切相关（不唯一），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363193" y="2181605"/>
            <a:ext cx="436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可化为系数为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的规范形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615737" y="2944562"/>
            <a:ext cx="785785" cy="651368"/>
            <a:chOff x="506043" y="2137359"/>
            <a:chExt cx="79267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" name="圆角矩形 18"/>
            <p:cNvSpPr/>
            <p:nvPr/>
          </p:nvSpPr>
          <p:spPr>
            <a:xfrm>
              <a:off x="506043" y="2137359"/>
              <a:ext cx="79267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537295" y="2247024"/>
              <a:ext cx="7614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609442" y="3054227"/>
            <a:ext cx="611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秩唯一，平方项的非零项个数唯一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646718" y="4366721"/>
            <a:ext cx="785785" cy="651368"/>
            <a:chOff x="506043" y="2137359"/>
            <a:chExt cx="79267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圆角矩形 22"/>
            <p:cNvSpPr/>
            <p:nvPr/>
          </p:nvSpPr>
          <p:spPr>
            <a:xfrm>
              <a:off x="506043" y="2137359"/>
              <a:ext cx="79267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537295" y="2247024"/>
              <a:ext cx="7614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1531853" y="4527934"/>
            <a:ext cx="16167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实二次型</a:t>
            </a:r>
          </a:p>
        </p:txBody>
      </p:sp>
      <p:sp>
        <p:nvSpPr>
          <p:cNvPr id="9" name="左大括号 8"/>
          <p:cNvSpPr/>
          <p:nvPr/>
        </p:nvSpPr>
        <p:spPr>
          <a:xfrm>
            <a:off x="2984474" y="4066269"/>
            <a:ext cx="203200" cy="1335314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187674" y="3880932"/>
            <a:ext cx="1901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正项个数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endParaRPr lang="zh-CN" altLang="en-US" sz="2400" i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187674" y="4556424"/>
            <a:ext cx="1901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项个数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endParaRPr lang="zh-CN" altLang="en-US" sz="2400" i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187673" y="5210235"/>
            <a:ext cx="1770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符号差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</a:t>
            </a:r>
            <a:endParaRPr lang="zh-CN" altLang="en-US" sz="2400" i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4874434" y="3967223"/>
            <a:ext cx="693583" cy="276328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右箭头 37"/>
          <p:cNvSpPr/>
          <p:nvPr/>
        </p:nvSpPr>
        <p:spPr>
          <a:xfrm>
            <a:off x="4883505" y="4713271"/>
            <a:ext cx="693583" cy="276328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9" name="组合 38"/>
          <p:cNvGrpSpPr/>
          <p:nvPr/>
        </p:nvGrpSpPr>
        <p:grpSpPr>
          <a:xfrm>
            <a:off x="5660790" y="3771977"/>
            <a:ext cx="2138525" cy="651368"/>
            <a:chOff x="501174" y="2137359"/>
            <a:chExt cx="88511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0" name="圆角矩形 39"/>
            <p:cNvSpPr/>
            <p:nvPr/>
          </p:nvSpPr>
          <p:spPr>
            <a:xfrm>
              <a:off x="506043" y="2137359"/>
              <a:ext cx="880241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501174" y="2232210"/>
              <a:ext cx="8851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正惯性指标 </a:t>
              </a:r>
              <a:r>
                <a:rPr lang="en-US" altLang="zh-CN" sz="2400" i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5660789" y="4539184"/>
            <a:ext cx="2138525" cy="651368"/>
            <a:chOff x="501174" y="2137359"/>
            <a:chExt cx="88511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3" name="圆角矩形 42"/>
            <p:cNvSpPr/>
            <p:nvPr/>
          </p:nvSpPr>
          <p:spPr>
            <a:xfrm>
              <a:off x="506043" y="2137359"/>
              <a:ext cx="880241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501174" y="2232210"/>
              <a:ext cx="8851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负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惯性指标 </a:t>
              </a:r>
              <a:r>
                <a:rPr lang="en-US" altLang="zh-CN" sz="2400" i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q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右大括号 11"/>
          <p:cNvSpPr/>
          <p:nvPr/>
        </p:nvSpPr>
        <p:spPr>
          <a:xfrm>
            <a:off x="7926161" y="4032527"/>
            <a:ext cx="271611" cy="1349381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5643342" y="5306390"/>
            <a:ext cx="2167736" cy="651368"/>
            <a:chOff x="5753514" y="5660368"/>
            <a:chExt cx="2167736" cy="651368"/>
          </a:xfrm>
        </p:grpSpPr>
        <p:grpSp>
          <p:nvGrpSpPr>
            <p:cNvPr id="45" name="组合 44"/>
            <p:cNvGrpSpPr/>
            <p:nvPr/>
          </p:nvGrpSpPr>
          <p:grpSpPr>
            <a:xfrm>
              <a:off x="5782725" y="5660368"/>
              <a:ext cx="2138525" cy="651368"/>
              <a:chOff x="501174" y="2137359"/>
              <a:chExt cx="885110" cy="65136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6" name="圆角矩形 45"/>
              <p:cNvSpPr/>
              <p:nvPr/>
            </p:nvSpPr>
            <p:spPr>
              <a:xfrm>
                <a:off x="506043" y="2137359"/>
                <a:ext cx="880241" cy="651368"/>
              </a:xfrm>
              <a:prstGeom prst="roundRect">
                <a:avLst/>
              </a:prstGeom>
              <a:solidFill>
                <a:srgbClr val="004F8C"/>
              </a:solidFill>
              <a:ln>
                <a:solidFill>
                  <a:srgbClr val="004F8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501174" y="2232210"/>
                <a:ext cx="8851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</a:t>
                </a:r>
                <a:r>
                  <a:rPr lang="en-US" altLang="zh-CN" sz="240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8" name="文本框 47"/>
            <p:cNvSpPr txBox="1"/>
            <p:nvPr/>
          </p:nvSpPr>
          <p:spPr>
            <a:xfrm>
              <a:off x="5753514" y="5693664"/>
              <a:ext cx="21385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</a:t>
              </a:r>
              <a:r>
                <a:rPr lang="en-US" altLang="zh-CN" sz="2800" i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  -  q</a:t>
              </a:r>
              <a:r>
                <a:rPr lang="en-US" altLang="zh-CN" sz="28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8371057" y="4476386"/>
            <a:ext cx="1474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唯一性</a:t>
            </a:r>
          </a:p>
        </p:txBody>
      </p:sp>
    </p:spTree>
    <p:extLst>
      <p:ext uri="{BB962C8B-B14F-4D97-AF65-F5344CB8AC3E}">
        <p14:creationId xmlns:p14="http://schemas.microsoft.com/office/powerpoint/2010/main" val="641501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2" grpId="0"/>
      <p:bldP spid="3" grpId="0"/>
      <p:bldP spid="25" grpId="0"/>
      <p:bldP spid="9" grpId="0" animBg="1"/>
      <p:bldP spid="10" grpId="0"/>
      <p:bldP spid="32" grpId="0"/>
      <p:bldP spid="33" grpId="0"/>
      <p:bldP spid="11" grpId="0" animBg="1"/>
      <p:bldP spid="38" grpId="0" animBg="1"/>
      <p:bldP spid="12" grpId="0" animBg="1"/>
      <p:bldP spid="15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1428</TotalTime>
  <Words>616</Words>
  <Application>Microsoft Office PowerPoint</Application>
  <PresentationFormat>自定义</PresentationFormat>
  <Paragraphs>167</Paragraphs>
  <Slides>23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6" baseType="lpstr">
      <vt:lpstr>Office 主题</vt:lpstr>
      <vt:lpstr>1_Office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2.3 可逆矩阵</dc:title>
  <dc:creator>Sky123.Org</dc:creator>
  <cp:lastModifiedBy>LSG</cp:lastModifiedBy>
  <cp:revision>250</cp:revision>
  <dcterms:created xsi:type="dcterms:W3CDTF">2016-07-04T12:59:51Z</dcterms:created>
  <dcterms:modified xsi:type="dcterms:W3CDTF">2018-05-09T09:35:13Z</dcterms:modified>
</cp:coreProperties>
</file>